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3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4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5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82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6" r:id="rId4"/>
    <p:sldId id="257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custDataLst>
    <p:tags r:id="rId1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A28-4FA5-B1AD-FE2AB95E6666}"/>
              </c:ext>
            </c:extLst>
          </c:dPt>
          <c:dPt>
            <c:idx val="1"/>
            <c:bubble3D val="0"/>
            <c:spPr>
              <a:solidFill>
                <a:srgbClr val="AAB0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A28-4FA5-B1AD-FE2AB95E6666}"/>
              </c:ext>
            </c:extLst>
          </c:dPt>
          <c:dPt>
            <c:idx val="2"/>
            <c:bubble3D val="0"/>
            <c:spPr>
              <a:solidFill>
                <a:srgbClr val="E3061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A28-4FA5-B1AD-FE2AB95E6666}"/>
              </c:ext>
            </c:extLst>
          </c:dPt>
          <c:dPt>
            <c:idx val="3"/>
            <c:bubble3D val="0"/>
            <c:spPr>
              <a:solidFill>
                <a:srgbClr val="D9DD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A28-4FA5-B1AD-FE2AB95E6666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28-4FA5-B1AD-FE2AB95E6666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A28-4FA5-B1AD-FE2AB95E6666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A28-4FA5-B1AD-FE2AB95E6666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A28-4FA5-B1AD-FE2AB95E666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Omantel</c:v>
                </c:pt>
                <c:pt idx="1">
                  <c:v>Awasr</c:v>
                </c:pt>
                <c:pt idx="2">
                  <c:v>Ooredoo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28-4FA5-B1AD-FE2AB95E66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A1D2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382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DC1EA-A250-B142-C0BF-5EC675FF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164852-8461-D0E4-FFC7-902D41474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201A8-5274-F3B0-8B27-006A0D094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69F23-0D72-D908-7E51-5A4B870543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52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microsoft.com/office/2007/relationships/media" Target="../media/media1.mp4"/><Relationship Id="rId26" Type="http://schemas.openxmlformats.org/officeDocument/2006/relationships/image" Target="../media/image5.png"/><Relationship Id="rId3" Type="http://schemas.openxmlformats.org/officeDocument/2006/relationships/tags" Target="../tags/tag9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5" Type="http://schemas.openxmlformats.org/officeDocument/2006/relationships/image" Target="../media/image4.png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0" Type="http://schemas.openxmlformats.org/officeDocument/2006/relationships/tags" Target="../tags/tag24.xml"/><Relationship Id="rId29" Type="http://schemas.openxmlformats.org/officeDocument/2006/relationships/image" Target="../media/image8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24" Type="http://schemas.openxmlformats.org/officeDocument/2006/relationships/image" Target="../media/image3.png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23" Type="http://schemas.openxmlformats.org/officeDocument/2006/relationships/image" Target="../media/image2.png"/><Relationship Id="rId28" Type="http://schemas.openxmlformats.org/officeDocument/2006/relationships/image" Target="../media/image7.svg"/><Relationship Id="rId10" Type="http://schemas.openxmlformats.org/officeDocument/2006/relationships/tags" Target="../tags/tag16.xml"/><Relationship Id="rId19" Type="http://schemas.openxmlformats.org/officeDocument/2006/relationships/video" Target="../media/media1.mp4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Relationship Id="rId22" Type="http://schemas.openxmlformats.org/officeDocument/2006/relationships/notesSlide" Target="../notesSlides/notesSlide3.xml"/><Relationship Id="rId27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26" Type="http://schemas.openxmlformats.org/officeDocument/2006/relationships/tags" Target="../tags/tag48.xml"/><Relationship Id="rId39" Type="http://schemas.openxmlformats.org/officeDocument/2006/relationships/image" Target="../media/image6.png"/><Relationship Id="rId21" Type="http://schemas.openxmlformats.org/officeDocument/2006/relationships/tags" Target="../tags/tag43.xml"/><Relationship Id="rId34" Type="http://schemas.openxmlformats.org/officeDocument/2006/relationships/tags" Target="../tags/tag56.xml"/><Relationship Id="rId42" Type="http://schemas.openxmlformats.org/officeDocument/2006/relationships/image" Target="../media/image10.png"/><Relationship Id="rId47" Type="http://schemas.openxmlformats.org/officeDocument/2006/relationships/image" Target="../media/image15.png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6" Type="http://schemas.openxmlformats.org/officeDocument/2006/relationships/tags" Target="../tags/tag38.xml"/><Relationship Id="rId29" Type="http://schemas.openxmlformats.org/officeDocument/2006/relationships/tags" Target="../tags/tag51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3.xml"/><Relationship Id="rId24" Type="http://schemas.openxmlformats.org/officeDocument/2006/relationships/tags" Target="../tags/tag46.xml"/><Relationship Id="rId32" Type="http://schemas.openxmlformats.org/officeDocument/2006/relationships/tags" Target="../tags/tag54.xml"/><Relationship Id="rId37" Type="http://schemas.openxmlformats.org/officeDocument/2006/relationships/slideLayout" Target="../slideLayouts/slideLayout1.xml"/><Relationship Id="rId40" Type="http://schemas.openxmlformats.org/officeDocument/2006/relationships/image" Target="../media/image7.svg"/><Relationship Id="rId45" Type="http://schemas.openxmlformats.org/officeDocument/2006/relationships/image" Target="../media/image13.png"/><Relationship Id="rId5" Type="http://schemas.openxmlformats.org/officeDocument/2006/relationships/tags" Target="../tags/tag29.xml"/><Relationship Id="rId15" Type="http://schemas.openxmlformats.org/officeDocument/2006/relationships/tags" Target="../tags/tag37.xml"/><Relationship Id="rId23" Type="http://schemas.openxmlformats.org/officeDocument/2006/relationships/tags" Target="../tags/tag45.xml"/><Relationship Id="rId28" Type="http://schemas.openxmlformats.org/officeDocument/2006/relationships/tags" Target="../tags/tag50.xml"/><Relationship Id="rId36" Type="http://schemas.openxmlformats.org/officeDocument/2006/relationships/tags" Target="../tags/tag58.xml"/><Relationship Id="rId10" Type="http://schemas.openxmlformats.org/officeDocument/2006/relationships/tags" Target="../tags/tag32.xml"/><Relationship Id="rId19" Type="http://schemas.openxmlformats.org/officeDocument/2006/relationships/tags" Target="../tags/tag41.xml"/><Relationship Id="rId31" Type="http://schemas.openxmlformats.org/officeDocument/2006/relationships/tags" Target="../tags/tag53.xml"/><Relationship Id="rId44" Type="http://schemas.openxmlformats.org/officeDocument/2006/relationships/image" Target="../media/image12.png"/><Relationship Id="rId4" Type="http://schemas.openxmlformats.org/officeDocument/2006/relationships/tags" Target="../tags/tag28.xml"/><Relationship Id="rId9" Type="http://schemas.openxmlformats.org/officeDocument/2006/relationships/video" Target="../media/media2.mp4"/><Relationship Id="rId14" Type="http://schemas.openxmlformats.org/officeDocument/2006/relationships/tags" Target="../tags/tag36.xml"/><Relationship Id="rId22" Type="http://schemas.openxmlformats.org/officeDocument/2006/relationships/tags" Target="../tags/tag44.xml"/><Relationship Id="rId27" Type="http://schemas.openxmlformats.org/officeDocument/2006/relationships/tags" Target="../tags/tag49.xml"/><Relationship Id="rId30" Type="http://schemas.openxmlformats.org/officeDocument/2006/relationships/tags" Target="../tags/tag52.xml"/><Relationship Id="rId35" Type="http://schemas.openxmlformats.org/officeDocument/2006/relationships/tags" Target="../tags/tag57.xml"/><Relationship Id="rId43" Type="http://schemas.openxmlformats.org/officeDocument/2006/relationships/image" Target="../media/image11.png"/><Relationship Id="rId8" Type="http://schemas.microsoft.com/office/2007/relationships/media" Target="../media/media2.mp4"/><Relationship Id="rId3" Type="http://schemas.openxmlformats.org/officeDocument/2006/relationships/tags" Target="../tags/tag27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5" Type="http://schemas.openxmlformats.org/officeDocument/2006/relationships/tags" Target="../tags/tag47.xml"/><Relationship Id="rId33" Type="http://schemas.openxmlformats.org/officeDocument/2006/relationships/tags" Target="../tags/tag55.xml"/><Relationship Id="rId38" Type="http://schemas.openxmlformats.org/officeDocument/2006/relationships/notesSlide" Target="../notesSlides/notesSlide4.xml"/><Relationship Id="rId46" Type="http://schemas.openxmlformats.org/officeDocument/2006/relationships/image" Target="../media/image14.png"/><Relationship Id="rId20" Type="http://schemas.openxmlformats.org/officeDocument/2006/relationships/tags" Target="../tags/tag42.xml"/><Relationship Id="rId4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tags" Target="../tags/tag71.xml"/><Relationship Id="rId18" Type="http://schemas.openxmlformats.org/officeDocument/2006/relationships/tags" Target="../tags/tag74.xml"/><Relationship Id="rId3" Type="http://schemas.openxmlformats.org/officeDocument/2006/relationships/tags" Target="../tags/tag61.xml"/><Relationship Id="rId21" Type="http://schemas.openxmlformats.org/officeDocument/2006/relationships/image" Target="../media/image16.png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17" Type="http://schemas.openxmlformats.org/officeDocument/2006/relationships/video" Target="../media/media3.mp4"/><Relationship Id="rId2" Type="http://schemas.openxmlformats.org/officeDocument/2006/relationships/tags" Target="../tags/tag60.xml"/><Relationship Id="rId16" Type="http://schemas.microsoft.com/office/2007/relationships/media" Target="../media/media3.mp4"/><Relationship Id="rId20" Type="http://schemas.openxmlformats.org/officeDocument/2006/relationships/notesSlide" Target="../notesSlides/notesSlide5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24" Type="http://schemas.openxmlformats.org/officeDocument/2006/relationships/image" Target="../media/image17.png"/><Relationship Id="rId5" Type="http://schemas.openxmlformats.org/officeDocument/2006/relationships/tags" Target="../tags/tag63.xml"/><Relationship Id="rId15" Type="http://schemas.openxmlformats.org/officeDocument/2006/relationships/tags" Target="../tags/tag73.xml"/><Relationship Id="rId23" Type="http://schemas.openxmlformats.org/officeDocument/2006/relationships/image" Target="../media/image7.svg"/><Relationship Id="rId10" Type="http://schemas.openxmlformats.org/officeDocument/2006/relationships/tags" Target="../tags/tag68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Relationship Id="rId2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image" Target="../media/image6.png"/><Relationship Id="rId3" Type="http://schemas.openxmlformats.org/officeDocument/2006/relationships/tags" Target="../tags/tag77.xml"/><Relationship Id="rId7" Type="http://schemas.microsoft.com/office/2007/relationships/media" Target="../media/media4.mp4"/><Relationship Id="rId12" Type="http://schemas.openxmlformats.org/officeDocument/2006/relationships/chart" Target="../charts/chart1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notesSlide" Target="../notesSlides/notesSlide6.xml"/><Relationship Id="rId5" Type="http://schemas.openxmlformats.org/officeDocument/2006/relationships/tags" Target="../tags/tag79.xml"/><Relationship Id="rId15" Type="http://schemas.openxmlformats.org/officeDocument/2006/relationships/image" Target="../media/image18.png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78.xml"/><Relationship Id="rId9" Type="http://schemas.openxmlformats.org/officeDocument/2006/relationships/tags" Target="../tags/tag81.xml"/><Relationship Id="rId1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2.xml"/><Relationship Id="rId5" Type="http://schemas.openxmlformats.org/officeDocument/2006/relationships/image" Target="../media/image3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2331720"/>
            <a:ext cx="2194560" cy="2194560"/>
          </a:xfrm>
          <a:prstGeom prst="ellipse">
            <a:avLst/>
          </a:prstGeom>
          <a:solidFill>
            <a:srgbClr val="B0051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2834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OOREDOO  FALCON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Best Place to Get New FTTH Users?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886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location intelligence platform that guides the FIX team from a single question to a full go-to-market strategy.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 &amp; Solution Overview   | 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Journey — 8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single question to strategy execution</a:t>
            </a:r>
            <a:endParaRPr lang="en-US" sz="15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603504" y="1600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E30613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013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80744" y="181965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asks for the best location to get new FTTH users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1801368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>
            <p:custDataLst>
              <p:tags r:id="rId2"/>
            </p:custDataLst>
          </p:nvPr>
        </p:nvSpPr>
        <p:spPr>
          <a:xfrm>
            <a:off x="4215384" y="181965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13" name="Text 11"/>
          <p:cNvSpPr/>
          <p:nvPr>
            <p:custDataLst>
              <p:tags r:id="rId3"/>
            </p:custDataLst>
          </p:nvPr>
        </p:nvSpPr>
        <p:spPr>
          <a:xfrm>
            <a:off x="3657600" y="242316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&amp; external data: network, customers, geography, competition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600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1801368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>
            <p:custDataLst>
              <p:tags r:id="rId4"/>
            </p:custDataLst>
          </p:nvPr>
        </p:nvSpPr>
        <p:spPr>
          <a:xfrm>
            <a:off x="7050024" y="181965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Discovery</a:t>
            </a:r>
            <a:endParaRPr lang="en-US" sz="1350" dirty="0"/>
          </a:p>
        </p:txBody>
      </p:sp>
      <p:sp>
        <p:nvSpPr>
          <p:cNvPr id="18" name="Text 16"/>
          <p:cNvSpPr/>
          <p:nvPr>
            <p:custDataLst>
              <p:tags r:id="rId5"/>
            </p:custDataLst>
          </p:nvPr>
        </p:nvSpPr>
        <p:spPr>
          <a:xfrm>
            <a:off x="6492240" y="242316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identifies potential high-opportunity areas (pitations)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07424" y="1600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08592" y="1801368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930859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84664" y="181965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Selection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26880" y="242316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selects the most promising area(s) for deep analysis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3504" y="3886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087368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80744" y="410565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CV Analysis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2960" y="470916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+ AI analyze satellite images &amp; infrastructure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38144" y="3886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39312" y="4087368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31" name="Text 29"/>
          <p:cNvSpPr/>
          <p:nvPr/>
        </p:nvSpPr>
        <p:spPr>
          <a:xfrm>
            <a:off x="3639312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215384" y="410565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Potential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657600" y="470916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households, penetration and new user opportunities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72784" y="3886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73952" y="4087368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50024" y="410565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&amp; Strategy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492240" y="470916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 insights, recommendations &amp; GTM strategy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107424" y="3886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308592" y="4087368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41" name="Text 39"/>
          <p:cNvSpPr/>
          <p:nvPr/>
        </p:nvSpPr>
        <p:spPr>
          <a:xfrm>
            <a:off x="9308592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884664" y="410565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&amp; Execution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326880" y="470916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sent to Marketing &amp; Operations for execution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5C79-E306-12B5-3DC8-1BFCBF90B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5CA512-74E8-B676-E472-0FAD3E9FD83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47288" y="496197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Starts With One Question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0FA6B50-FB2E-658D-B8F1-9AA6D6E2FA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97280" y="1940859"/>
            <a:ext cx="5852160" cy="3108960"/>
          </a:xfrm>
          <a:prstGeom prst="roundRect">
            <a:avLst>
              <a:gd name="adj" fmla="val 3529"/>
            </a:avLst>
          </a:prstGeom>
          <a:solidFill>
            <a:schemeClr val="bg1">
              <a:lumMod val="65000"/>
            </a:schemeClr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6E83AE-658B-B38C-30E4-1FAE6007687D}"/>
              </a:ext>
            </a:extLst>
          </p:cNvPr>
          <p:cNvSpPr/>
          <p:nvPr/>
        </p:nvSpPr>
        <p:spPr>
          <a:xfrm>
            <a:off x="1463040" y="2306619"/>
            <a:ext cx="594360" cy="594360"/>
          </a:xfrm>
          <a:prstGeom prst="ellipse">
            <a:avLst/>
          </a:prstGeom>
          <a:solidFill>
            <a:srgbClr val="E30613"/>
          </a:solidFill>
          <a:ln/>
        </p:spPr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1C483DDD-2140-3DC6-DDC4-729CF9F8712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17574" y="2461153"/>
            <a:ext cx="285293" cy="285293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F0A85ECA-2098-9AEB-0D3F-FC52AD92646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194560" y="2352339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Ooredoo Falcon AI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160890C-25BE-B172-ABA4-3DA87F65CA1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463040" y="3200400"/>
            <a:ext cx="5120640" cy="1188720"/>
          </a:xfrm>
          <a:prstGeom prst="roundRect">
            <a:avLst>
              <a:gd name="adj" fmla="val 7692"/>
            </a:avLst>
          </a:prstGeom>
          <a:solidFill>
            <a:schemeClr val="bg1">
              <a:lumMod val="75000"/>
            </a:schemeClr>
          </a:solidFill>
          <a:ln w="9525">
            <a:solidFill>
              <a:srgbClr val="3A4046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9E34236-7940-17FD-80A0-47D60B4C8739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645920" y="3266739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“Fix Team, where is the best location to get new FTTH users?”</a:t>
            </a:r>
            <a:endParaRPr lang="en-US" sz="1500" b="1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27F58B7-4A82-A686-6B52-FB408CD9D12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463040" y="44796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The operations team identifies target areas, extracts Google Earth imagery, and analyzes locations with high growth potential where FTTH service coverage and market penetration are currently underrepresented.</a:t>
            </a:r>
            <a:endParaRPr lang="en-US" sz="12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C1F22BF-5239-6F82-DD61-040F4E3E93D6}"/>
              </a:ext>
            </a:extLst>
          </p:cNvPr>
          <p:cNvSpPr/>
          <p:nvPr/>
        </p:nvSpPr>
        <p:spPr>
          <a:xfrm>
            <a:off x="7223760" y="1920240"/>
            <a:ext cx="548640" cy="548640"/>
          </a:xfrm>
          <a:prstGeom prst="ellipse">
            <a:avLst/>
          </a:prstGeom>
          <a:solidFill>
            <a:srgbClr val="F4F4F6"/>
          </a:solidFill>
          <a:ln/>
        </p:spPr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4FA13E30-9875-C62B-1E3A-A458721D82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66406" y="2062886"/>
            <a:ext cx="263347" cy="263347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90422812-6453-BABC-380C-87553BEFC28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9552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FTTH Coverage Gaps</a:t>
            </a:r>
            <a:endParaRPr lang="en-US" sz="15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D9F26EB-CCB5-2C57-8C12-9C6077BA88B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95528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the FTTH network to identify areas with low service penetration and high market potential.</a:t>
            </a:r>
            <a:endParaRPr lang="en-US" sz="12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0E6D0F61-5201-FA07-C66B-9C824FCA5BF8}"/>
              </a:ext>
            </a:extLst>
          </p:cNvPr>
          <p:cNvSpPr/>
          <p:nvPr/>
        </p:nvSpPr>
        <p:spPr>
          <a:xfrm>
            <a:off x="7223760" y="3017520"/>
            <a:ext cx="548640" cy="548640"/>
          </a:xfrm>
          <a:prstGeom prst="ellipse">
            <a:avLst/>
          </a:prstGeom>
          <a:solidFill>
            <a:srgbClr val="F4F4F6"/>
          </a:solidFill>
          <a:ln/>
        </p:spPr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7679C9DB-E086-C98D-023D-3FB827566CB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66406" y="3160166"/>
            <a:ext cx="263347" cy="263347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2732BD07-A9CB-88C2-D85D-4213E908A0B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9552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Target Area</a:t>
            </a:r>
            <a:endParaRPr lang="en-US" sz="15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BDE5F6C2-D63A-D27E-2A95-3723F125E128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7955280" y="3291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the user to choose a specific geographic area for detailed market potential analysis.</a:t>
            </a:r>
            <a:endParaRPr lang="en-US" sz="12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35DB9D88-848B-6AD4-0E29-8BD078250291}"/>
              </a:ext>
            </a:extLst>
          </p:cNvPr>
          <p:cNvSpPr/>
          <p:nvPr/>
        </p:nvSpPr>
        <p:spPr>
          <a:xfrm>
            <a:off x="7223760" y="4114800"/>
            <a:ext cx="548640" cy="548640"/>
          </a:xfrm>
          <a:prstGeom prst="ellipse">
            <a:avLst/>
          </a:prstGeom>
          <a:solidFill>
            <a:srgbClr val="F4F4F6"/>
          </a:solidFill>
          <a:ln/>
        </p:spPr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CF7F5A87-FB24-28DC-C16B-90ABB5125B8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66406" y="4257446"/>
            <a:ext cx="263347" cy="263347"/>
          </a:xfrm>
          <a:prstGeom prst="rect">
            <a:avLst/>
          </a:prstGeom>
        </p:spPr>
      </p:pic>
      <p:sp>
        <p:nvSpPr>
          <p:cNvPr id="21" name="Text 15">
            <a:extLst>
              <a:ext uri="{FF2B5EF4-FFF2-40B4-BE49-F238E27FC236}">
                <a16:creationId xmlns:a16="http://schemas.microsoft.com/office/drawing/2014/main" id="{291692D9-1298-88DB-E958-24B8D4E5D21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95528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Prepares Google Earth Inputs</a:t>
            </a:r>
            <a:endParaRPr lang="en-US" sz="15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0C5EEFEF-12AD-07EA-B357-F05EC9132B42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955280" y="4389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and prepares high-resolution Google Earth imagery for AI-based analysis and opportunity detection.</a:t>
            </a:r>
            <a:endParaRPr lang="en-US" sz="12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BC2A6509-F739-D0BD-F90B-B064CB9C5B71}"/>
              </a:ext>
            </a:extLst>
          </p:cNvPr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460CAC3B-1EEE-3E0A-B946-78B1DA90DC1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0" y="-34962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E30613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28B61597-537B-C213-B0ED-06CC9EA5DD0A}"/>
              </a:ext>
            </a:extLst>
          </p:cNvPr>
          <p:cNvSpPr/>
          <p:nvPr/>
        </p:nvSpPr>
        <p:spPr>
          <a:xfrm>
            <a:off x="201168" y="16620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74770B5F-3F22-FBEF-CE5A-BA04C4099130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777240" y="184494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</a:t>
            </a:r>
            <a:endParaRPr lang="en-US" sz="135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BCDDCE6A-3810-F1EB-C5D1-0A1D2E0E022F}"/>
              </a:ext>
            </a:extLst>
          </p:cNvPr>
          <p:cNvSpPr/>
          <p:nvPr/>
        </p:nvSpPr>
        <p:spPr>
          <a:xfrm>
            <a:off x="219456" y="787998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asks for the best location to get new FTTH users</a:t>
            </a:r>
            <a:endParaRPr lang="en-US" sz="1150" dirty="0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786A38C3-53C7-5804-FC92-53FA394F75F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547466" y="5394960"/>
            <a:ext cx="2435906" cy="1175054"/>
          </a:xfrm>
          <a:prstGeom prst="roundRect">
            <a:avLst>
              <a:gd name="adj" fmla="val 4186"/>
            </a:avLst>
          </a:prstGeom>
          <a:solidFill>
            <a:srgbClr val="E30613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8B35D68F-1651-676F-AAF0-50D35D33E563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758433" y="5492369"/>
            <a:ext cx="1601692" cy="273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</a:t>
            </a:r>
            <a:endParaRPr lang="en-US" sz="1350" dirty="0"/>
          </a:p>
        </p:txBody>
      </p:sp>
      <p:pic>
        <p:nvPicPr>
          <p:cNvPr id="37" name="Graphic 36" descr="Presentation with media">
            <a:extLst>
              <a:ext uri="{FF2B5EF4-FFF2-40B4-BE49-F238E27FC236}">
                <a16:creationId xmlns:a16="http://schemas.microsoft.com/office/drawing/2014/main" id="{F13B9786-8A38-EC50-4627-949832B9947B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725728" y="5525287"/>
            <a:ext cx="914400" cy="914400"/>
          </a:xfrm>
          <a:prstGeom prst="rect">
            <a:avLst/>
          </a:prstGeom>
        </p:spPr>
      </p:pic>
      <p:pic>
        <p:nvPicPr>
          <p:cNvPr id="28" name="first_step_B">
            <a:hlinkClick r:id="" action="ppaction://media"/>
            <a:extLst>
              <a:ext uri="{FF2B5EF4-FFF2-40B4-BE49-F238E27FC236}">
                <a16:creationId xmlns:a16="http://schemas.microsoft.com/office/drawing/2014/main" id="{9452A07B-6F1E-1DA4-35D1-70120AA6AE10}"/>
              </a:ext>
            </a:extLst>
          </p:cNvPr>
          <p:cNvPicPr>
            <a:picLocks noChangeAspect="1"/>
          </p:cNvPicPr>
          <p:nvPr>
            <a:videoFile r:link="rId19"/>
            <p:custDataLst>
              <p:tags r:id="rId20"/>
            </p:custDataLst>
            <p:extLst>
              <p:ext uri="{DAA4B4D4-6D71-4841-9C94-3DE7FCFB9230}">
                <p14:media xmlns:p14="http://schemas.microsoft.com/office/powerpoint/2010/main" r:embed="rId18"/>
              </p:ext>
            </p:extLst>
          </p:nvPr>
        </p:nvPicPr>
        <p:blipFill>
          <a:blip r:embed="rId29"/>
          <a:stretch>
            <a:fillRect/>
          </a:stretch>
        </p:blipFill>
        <p:spPr>
          <a:xfrm>
            <a:off x="5640128" y="5730647"/>
            <a:ext cx="1210967" cy="80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69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104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3447288" y="496197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: Multi-Source Data Collection</a:t>
            </a:r>
          </a:p>
        </p:txBody>
      </p:sp>
      <p:sp>
        <p:nvSpPr>
          <p:cNvPr id="23" name="Text 17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F9D60965-60D6-A2C3-896D-F7F575A264F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-34962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E30613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53F7E2D5-32C4-BD90-0FC8-1A5C24627297}"/>
              </a:ext>
            </a:extLst>
          </p:cNvPr>
          <p:cNvSpPr/>
          <p:nvPr/>
        </p:nvSpPr>
        <p:spPr>
          <a:xfrm>
            <a:off x="201168" y="16620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462BE28C-AE5E-9CBB-C015-443EA0632B3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77240" y="184494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4767DB80-6D47-2415-6209-B2A00AC3482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19456" y="787998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&amp; external data: network, customers, geography, competition</a:t>
            </a: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803AA668-F676-3079-3EB8-87C6EB547FC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015619" y="5562893"/>
            <a:ext cx="2435906" cy="1175054"/>
          </a:xfrm>
          <a:prstGeom prst="roundRect">
            <a:avLst>
              <a:gd name="adj" fmla="val 4186"/>
            </a:avLst>
          </a:prstGeom>
          <a:solidFill>
            <a:srgbClr val="E30613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1CEA59EE-6815-C1A6-A70E-374DD07E808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333172" y="5644815"/>
            <a:ext cx="1601692" cy="273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</a:t>
            </a:r>
            <a:endParaRPr lang="en-US" sz="1350" dirty="0"/>
          </a:p>
        </p:txBody>
      </p:sp>
      <p:pic>
        <p:nvPicPr>
          <p:cNvPr id="37" name="Graphic 36" descr="Presentation with media">
            <a:extLst>
              <a:ext uri="{FF2B5EF4-FFF2-40B4-BE49-F238E27FC236}">
                <a16:creationId xmlns:a16="http://schemas.microsoft.com/office/drawing/2014/main" id="{6343CE85-BE36-56E4-3E20-20FF2A1372D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4193881" y="5693220"/>
            <a:ext cx="914400" cy="914400"/>
          </a:xfrm>
          <a:prstGeom prst="rect">
            <a:avLst/>
          </a:prstGeom>
        </p:spPr>
      </p:pic>
      <p:pic>
        <p:nvPicPr>
          <p:cNvPr id="40" name="first_step_A">
            <a:hlinkClick r:id="" action="ppaction://media"/>
            <a:extLst>
              <a:ext uri="{FF2B5EF4-FFF2-40B4-BE49-F238E27FC236}">
                <a16:creationId xmlns:a16="http://schemas.microsoft.com/office/drawing/2014/main" id="{38621BB9-B25D-B998-464C-F4D4CF772996}"/>
              </a:ext>
            </a:extLst>
          </p:cNvPr>
          <p:cNvPicPr>
            <a:picLocks noChangeAspect="1"/>
          </p:cNvPicPr>
          <p:nvPr>
            <a:videoFile r:link="rId9"/>
            <p:custDataLst>
              <p:tags r:id="rId10"/>
            </p:custDataLst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41"/>
          <a:stretch>
            <a:fillRect/>
          </a:stretch>
        </p:blipFill>
        <p:spPr>
          <a:xfrm flipV="1">
            <a:off x="5888219" y="5205166"/>
            <a:ext cx="3184676" cy="1689303"/>
          </a:xfrm>
          <a:prstGeom prst="rect">
            <a:avLst/>
          </a:prstGeom>
        </p:spPr>
      </p:pic>
      <p:sp>
        <p:nvSpPr>
          <p:cNvPr id="69" name="Shape 2">
            <a:extLst>
              <a:ext uri="{FF2B5EF4-FFF2-40B4-BE49-F238E27FC236}">
                <a16:creationId xmlns:a16="http://schemas.microsoft.com/office/drawing/2014/main" id="{67FD113C-D64F-E97F-BC8B-364990248B6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55904" y="2077302"/>
            <a:ext cx="2720663" cy="1490142"/>
          </a:xfrm>
          <a:prstGeom prst="roundRect">
            <a:avLst>
              <a:gd name="adj" fmla="val 4286"/>
            </a:avLst>
          </a:prstGeom>
          <a:solidFill>
            <a:srgbClr val="F4F4F6"/>
          </a:solidFill>
          <a:ln/>
        </p:spPr>
      </p:sp>
      <p:sp>
        <p:nvSpPr>
          <p:cNvPr id="70" name="Shape 3">
            <a:extLst>
              <a:ext uri="{FF2B5EF4-FFF2-40B4-BE49-F238E27FC236}">
                <a16:creationId xmlns:a16="http://schemas.microsoft.com/office/drawing/2014/main" id="{0EC7F123-B7F7-0ED0-4A54-95A7E952B74F}"/>
              </a:ext>
            </a:extLst>
          </p:cNvPr>
          <p:cNvSpPr/>
          <p:nvPr/>
        </p:nvSpPr>
        <p:spPr>
          <a:xfrm>
            <a:off x="838099" y="2081441"/>
            <a:ext cx="474372" cy="418759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1" name="Image 0" descr="preencoded.png">
            <a:extLst>
              <a:ext uri="{FF2B5EF4-FFF2-40B4-BE49-F238E27FC236}">
                <a16:creationId xmlns:a16="http://schemas.microsoft.com/office/drawing/2014/main" id="{6CF909C2-1193-4DA2-AA3C-AB28518AAE64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956978" y="2203992"/>
            <a:ext cx="227698" cy="227698"/>
          </a:xfrm>
          <a:prstGeom prst="rect">
            <a:avLst/>
          </a:prstGeom>
        </p:spPr>
      </p:pic>
      <p:sp>
        <p:nvSpPr>
          <p:cNvPr id="72" name="Text 4">
            <a:extLst>
              <a:ext uri="{FF2B5EF4-FFF2-40B4-BE49-F238E27FC236}">
                <a16:creationId xmlns:a16="http://schemas.microsoft.com/office/drawing/2014/main" id="{4A83D011-714F-D539-E406-863FE1775288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390618" y="2160415"/>
            <a:ext cx="2330004" cy="2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FTTH Network</a:t>
            </a:r>
            <a:endParaRPr lang="en-US" sz="1400" dirty="0"/>
          </a:p>
        </p:txBody>
      </p:sp>
      <p:sp>
        <p:nvSpPr>
          <p:cNvPr id="73" name="Text 5">
            <a:extLst>
              <a:ext uri="{FF2B5EF4-FFF2-40B4-BE49-F238E27FC236}">
                <a16:creationId xmlns:a16="http://schemas.microsoft.com/office/drawing/2014/main" id="{D3C8C104-6956-5000-BC00-33037EDC9CDE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983726" y="2763132"/>
            <a:ext cx="2330004" cy="369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Coverage, capacity and current fiber footprint</a:t>
            </a:r>
            <a:endParaRPr lang="en-US" sz="1150" dirty="0"/>
          </a:p>
        </p:txBody>
      </p:sp>
      <p:sp>
        <p:nvSpPr>
          <p:cNvPr id="74" name="Shape 6">
            <a:extLst>
              <a:ext uri="{FF2B5EF4-FFF2-40B4-BE49-F238E27FC236}">
                <a16:creationId xmlns:a16="http://schemas.microsoft.com/office/drawing/2014/main" id="{C6FC2472-0BE2-0F76-84FD-F819513540A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545001" y="2055597"/>
            <a:ext cx="2720663" cy="1483816"/>
          </a:xfrm>
          <a:prstGeom prst="roundRect">
            <a:avLst>
              <a:gd name="adj" fmla="val 4286"/>
            </a:avLst>
          </a:prstGeom>
          <a:solidFill>
            <a:srgbClr val="F4F4F6"/>
          </a:solidFill>
          <a:ln/>
        </p:spPr>
      </p:sp>
      <p:sp>
        <p:nvSpPr>
          <p:cNvPr id="75" name="Shape 7">
            <a:extLst>
              <a:ext uri="{FF2B5EF4-FFF2-40B4-BE49-F238E27FC236}">
                <a16:creationId xmlns:a16="http://schemas.microsoft.com/office/drawing/2014/main" id="{A1D1AC99-21F0-19F2-3774-CA24B09BBEAB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4639026" y="2072740"/>
            <a:ext cx="474372" cy="418759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6" name="Image 1" descr="preencoded.png">
            <a:extLst>
              <a:ext uri="{FF2B5EF4-FFF2-40B4-BE49-F238E27FC236}">
                <a16:creationId xmlns:a16="http://schemas.microsoft.com/office/drawing/2014/main" id="{B7729BA9-1676-8E53-B125-E31E44C16B32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4765635" y="2195602"/>
            <a:ext cx="227698" cy="227698"/>
          </a:xfrm>
          <a:prstGeom prst="rect">
            <a:avLst/>
          </a:prstGeom>
        </p:spPr>
      </p:pic>
      <p:sp>
        <p:nvSpPr>
          <p:cNvPr id="77" name="Text 8">
            <a:extLst>
              <a:ext uri="{FF2B5EF4-FFF2-40B4-BE49-F238E27FC236}">
                <a16:creationId xmlns:a16="http://schemas.microsoft.com/office/drawing/2014/main" id="{A04B02E6-5FFF-FF9E-4A86-39160B88CACD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5365457" y="2194676"/>
            <a:ext cx="2330004" cy="2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1400" dirty="0"/>
          </a:p>
        </p:txBody>
      </p:sp>
      <p:sp>
        <p:nvSpPr>
          <p:cNvPr id="78" name="Text 9">
            <a:extLst>
              <a:ext uri="{FF2B5EF4-FFF2-40B4-BE49-F238E27FC236}">
                <a16:creationId xmlns:a16="http://schemas.microsoft.com/office/drawing/2014/main" id="{FFAB85E6-E588-35F3-2514-2BC159AE6FFE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4762363" y="2769839"/>
            <a:ext cx="2330004" cy="369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base, churn and service adoption patterns</a:t>
            </a:r>
            <a:endParaRPr lang="en-US" sz="1150" dirty="0"/>
          </a:p>
        </p:txBody>
      </p:sp>
      <p:sp>
        <p:nvSpPr>
          <p:cNvPr id="79" name="Shape 10">
            <a:extLst>
              <a:ext uri="{FF2B5EF4-FFF2-40B4-BE49-F238E27FC236}">
                <a16:creationId xmlns:a16="http://schemas.microsoft.com/office/drawing/2014/main" id="{5A00B981-4AA7-9B41-90B1-7BEE930BE2C6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8334098" y="2043247"/>
            <a:ext cx="2720663" cy="1524197"/>
          </a:xfrm>
          <a:prstGeom prst="roundRect">
            <a:avLst>
              <a:gd name="adj" fmla="val 4286"/>
            </a:avLst>
          </a:prstGeom>
          <a:solidFill>
            <a:srgbClr val="F4F4F6"/>
          </a:solidFill>
          <a:ln/>
        </p:spPr>
      </p:sp>
      <p:sp>
        <p:nvSpPr>
          <p:cNvPr id="80" name="Shape 11">
            <a:extLst>
              <a:ext uri="{FF2B5EF4-FFF2-40B4-BE49-F238E27FC236}">
                <a16:creationId xmlns:a16="http://schemas.microsoft.com/office/drawing/2014/main" id="{38882457-1288-175E-03B1-FFA41D8DB9F2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8389678" y="2072739"/>
            <a:ext cx="474372" cy="418759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1" name="Image 2" descr="preencoded.png">
            <a:extLst>
              <a:ext uri="{FF2B5EF4-FFF2-40B4-BE49-F238E27FC236}">
                <a16:creationId xmlns:a16="http://schemas.microsoft.com/office/drawing/2014/main" id="{AFC5B6F1-BA21-A013-B207-FFF78E968E03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8579047" y="2168269"/>
            <a:ext cx="227698" cy="227698"/>
          </a:xfrm>
          <a:prstGeom prst="rect">
            <a:avLst/>
          </a:prstGeom>
        </p:spPr>
      </p:pic>
      <p:sp>
        <p:nvSpPr>
          <p:cNvPr id="82" name="Text 12">
            <a:extLst>
              <a:ext uri="{FF2B5EF4-FFF2-40B4-BE49-F238E27FC236}">
                <a16:creationId xmlns:a16="http://schemas.microsoft.com/office/drawing/2014/main" id="{9EE774A5-BE71-1D40-40BA-A13E41F16BA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9053419" y="2149638"/>
            <a:ext cx="2330004" cy="2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&amp; Demographics</a:t>
            </a:r>
            <a:endParaRPr lang="en-US" sz="1400" dirty="0"/>
          </a:p>
        </p:txBody>
      </p:sp>
      <p:sp>
        <p:nvSpPr>
          <p:cNvPr id="83" name="Text 13">
            <a:extLst>
              <a:ext uri="{FF2B5EF4-FFF2-40B4-BE49-F238E27FC236}">
                <a16:creationId xmlns:a16="http://schemas.microsoft.com/office/drawing/2014/main" id="{D0B77D3E-C8CD-E994-A9D1-A044ED84FFD7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8626864" y="2675616"/>
            <a:ext cx="2330004" cy="369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density, income levels and geographic layers</a:t>
            </a:r>
            <a:endParaRPr lang="en-US" sz="1150" dirty="0"/>
          </a:p>
        </p:txBody>
      </p:sp>
      <p:sp>
        <p:nvSpPr>
          <p:cNvPr id="84" name="Shape 14">
            <a:extLst>
              <a:ext uri="{FF2B5EF4-FFF2-40B4-BE49-F238E27FC236}">
                <a16:creationId xmlns:a16="http://schemas.microsoft.com/office/drawing/2014/main" id="{619D9578-19DD-9F07-38CA-D4D84C542CD5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755903" y="4068136"/>
            <a:ext cx="2720663" cy="1293227"/>
          </a:xfrm>
          <a:prstGeom prst="roundRect">
            <a:avLst>
              <a:gd name="adj" fmla="val 4286"/>
            </a:avLst>
          </a:prstGeom>
          <a:solidFill>
            <a:srgbClr val="F4F4F6"/>
          </a:solidFill>
          <a:ln/>
        </p:spPr>
      </p:sp>
      <p:sp>
        <p:nvSpPr>
          <p:cNvPr id="85" name="Shape 15">
            <a:extLst>
              <a:ext uri="{FF2B5EF4-FFF2-40B4-BE49-F238E27FC236}">
                <a16:creationId xmlns:a16="http://schemas.microsoft.com/office/drawing/2014/main" id="{936928DB-EC6E-7F9F-FBF4-E652E86E3B55}"/>
              </a:ext>
            </a:extLst>
          </p:cNvPr>
          <p:cNvSpPr/>
          <p:nvPr/>
        </p:nvSpPr>
        <p:spPr>
          <a:xfrm>
            <a:off x="824290" y="4119385"/>
            <a:ext cx="474372" cy="418759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6" name="Image 3" descr="preencoded.png">
            <a:extLst>
              <a:ext uri="{FF2B5EF4-FFF2-40B4-BE49-F238E27FC236}">
                <a16:creationId xmlns:a16="http://schemas.microsoft.com/office/drawing/2014/main" id="{22171FA6-A765-30E7-DA53-BF3FB9D7A6FC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45"/>
          <a:stretch>
            <a:fillRect/>
          </a:stretch>
        </p:blipFill>
        <p:spPr>
          <a:xfrm>
            <a:off x="974197" y="4218148"/>
            <a:ext cx="227698" cy="227698"/>
          </a:xfrm>
          <a:prstGeom prst="rect">
            <a:avLst/>
          </a:prstGeom>
        </p:spPr>
      </p:pic>
      <p:sp>
        <p:nvSpPr>
          <p:cNvPr id="87" name="Text 16">
            <a:extLst>
              <a:ext uri="{FF2B5EF4-FFF2-40B4-BE49-F238E27FC236}">
                <a16:creationId xmlns:a16="http://schemas.microsoft.com/office/drawing/2014/main" id="{501DC00C-21B8-3C9C-D5EE-90FEBA153CE0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1481696" y="4241867"/>
            <a:ext cx="2330004" cy="2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Imagery</a:t>
            </a:r>
            <a:endParaRPr lang="en-US" sz="1400" dirty="0"/>
          </a:p>
        </p:txBody>
      </p:sp>
      <p:sp>
        <p:nvSpPr>
          <p:cNvPr id="89" name="Shape 18">
            <a:extLst>
              <a:ext uri="{FF2B5EF4-FFF2-40B4-BE49-F238E27FC236}">
                <a16:creationId xmlns:a16="http://schemas.microsoft.com/office/drawing/2014/main" id="{BEB68276-9B86-1028-4F81-77A6B1D620F1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4596384" y="4084320"/>
            <a:ext cx="2720663" cy="1293227"/>
          </a:xfrm>
          <a:prstGeom prst="roundRect">
            <a:avLst>
              <a:gd name="adj" fmla="val 4286"/>
            </a:avLst>
          </a:prstGeom>
          <a:solidFill>
            <a:srgbClr val="F4F4F6"/>
          </a:solidFill>
          <a:ln/>
        </p:spPr>
      </p:sp>
      <p:sp>
        <p:nvSpPr>
          <p:cNvPr id="90" name="Shape 19">
            <a:extLst>
              <a:ext uri="{FF2B5EF4-FFF2-40B4-BE49-F238E27FC236}">
                <a16:creationId xmlns:a16="http://schemas.microsoft.com/office/drawing/2014/main" id="{85A8FC3D-E6C0-3E12-8A9B-FA34EE85B04A}"/>
              </a:ext>
            </a:extLst>
          </p:cNvPr>
          <p:cNvSpPr/>
          <p:nvPr/>
        </p:nvSpPr>
        <p:spPr>
          <a:xfrm>
            <a:off x="4639026" y="4139897"/>
            <a:ext cx="474372" cy="418759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1" name="Image 4" descr="preencoded.png">
            <a:extLst>
              <a:ext uri="{FF2B5EF4-FFF2-40B4-BE49-F238E27FC236}">
                <a16:creationId xmlns:a16="http://schemas.microsoft.com/office/drawing/2014/main" id="{16E6220D-C2B2-6AAE-8D3D-64A357928D02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4762363" y="4260498"/>
            <a:ext cx="227698" cy="227698"/>
          </a:xfrm>
          <a:prstGeom prst="rect">
            <a:avLst/>
          </a:prstGeom>
        </p:spPr>
      </p:pic>
      <p:sp>
        <p:nvSpPr>
          <p:cNvPr id="92" name="Text 20">
            <a:extLst>
              <a:ext uri="{FF2B5EF4-FFF2-40B4-BE49-F238E27FC236}">
                <a16:creationId xmlns:a16="http://schemas.microsoft.com/office/drawing/2014/main" id="{F7F275EE-382E-DB3B-C835-88600F9C93ED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5393628" y="4205044"/>
            <a:ext cx="2330004" cy="2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Coverage</a:t>
            </a:r>
            <a:endParaRPr lang="en-US" sz="1400" dirty="0"/>
          </a:p>
        </p:txBody>
      </p:sp>
      <p:sp>
        <p:nvSpPr>
          <p:cNvPr id="93" name="Text 21">
            <a:extLst>
              <a:ext uri="{FF2B5EF4-FFF2-40B4-BE49-F238E27FC236}">
                <a16:creationId xmlns:a16="http://schemas.microsoft.com/office/drawing/2014/main" id="{C793F978-A43D-D47E-207C-61A36C0AC02C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4876212" y="4702385"/>
            <a:ext cx="2330004" cy="369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Omantel, Awasr and other operators' footprints</a:t>
            </a:r>
            <a:endParaRPr lang="en-US" sz="1150" dirty="0"/>
          </a:p>
        </p:txBody>
      </p:sp>
      <p:sp>
        <p:nvSpPr>
          <p:cNvPr id="94" name="Shape 22">
            <a:extLst>
              <a:ext uri="{FF2B5EF4-FFF2-40B4-BE49-F238E27FC236}">
                <a16:creationId xmlns:a16="http://schemas.microsoft.com/office/drawing/2014/main" id="{B56F741E-21AF-F3CF-3181-5A1D37AB5A9A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8436864" y="4084320"/>
            <a:ext cx="2720663" cy="1293227"/>
          </a:xfrm>
          <a:prstGeom prst="roundRect">
            <a:avLst>
              <a:gd name="adj" fmla="val 4286"/>
            </a:avLst>
          </a:prstGeom>
          <a:solidFill>
            <a:srgbClr val="F4F4F6"/>
          </a:solidFill>
          <a:ln/>
        </p:spPr>
      </p:sp>
      <p:sp>
        <p:nvSpPr>
          <p:cNvPr id="95" name="Shape 23">
            <a:extLst>
              <a:ext uri="{FF2B5EF4-FFF2-40B4-BE49-F238E27FC236}">
                <a16:creationId xmlns:a16="http://schemas.microsoft.com/office/drawing/2014/main" id="{FE73E324-879A-A80D-6E3B-4355310431F6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8479935" y="4157864"/>
            <a:ext cx="474372" cy="418759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6" name="Image 5" descr="preencoded.png">
            <a:extLst>
              <a:ext uri="{FF2B5EF4-FFF2-40B4-BE49-F238E27FC236}">
                <a16:creationId xmlns:a16="http://schemas.microsoft.com/office/drawing/2014/main" id="{6E59649A-0750-6FB6-EA21-315D678A690E}"/>
              </a:ext>
            </a:extLst>
          </p:cNvPr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47"/>
          <a:stretch>
            <a:fillRect/>
          </a:stretch>
        </p:blipFill>
        <p:spPr>
          <a:xfrm>
            <a:off x="8626864" y="4253394"/>
            <a:ext cx="227698" cy="227698"/>
          </a:xfrm>
          <a:prstGeom prst="rect">
            <a:avLst/>
          </a:prstGeom>
        </p:spPr>
      </p:pic>
      <p:sp>
        <p:nvSpPr>
          <p:cNvPr id="97" name="Text 24">
            <a:extLst>
              <a:ext uri="{FF2B5EF4-FFF2-40B4-BE49-F238E27FC236}">
                <a16:creationId xmlns:a16="http://schemas.microsoft.com/office/drawing/2014/main" id="{5B37D373-A54A-6502-25E8-CAC82BCF9254}"/>
              </a:ext>
            </a:extLst>
          </p:cNvPr>
          <p:cNvSpPr/>
          <p:nvPr/>
        </p:nvSpPr>
        <p:spPr>
          <a:xfrm>
            <a:off x="9234108" y="4205044"/>
            <a:ext cx="2330004" cy="2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Data</a:t>
            </a:r>
            <a:endParaRPr lang="en-US" sz="1400" dirty="0"/>
          </a:p>
        </p:txBody>
      </p:sp>
      <p:sp>
        <p:nvSpPr>
          <p:cNvPr id="98" name="Text 25">
            <a:extLst>
              <a:ext uri="{FF2B5EF4-FFF2-40B4-BE49-F238E27FC236}">
                <a16:creationId xmlns:a16="http://schemas.microsoft.com/office/drawing/2014/main" id="{B82570FF-AF08-032E-1E1F-CCBC5372FCE3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8896386" y="4731696"/>
            <a:ext cx="2330004" cy="369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Roads, utilities, developments and construction activity</a:t>
            </a:r>
            <a:endParaRPr lang="en-US" sz="1150" dirty="0"/>
          </a:p>
        </p:txBody>
      </p:sp>
      <p:sp>
        <p:nvSpPr>
          <p:cNvPr id="99" name="Text 26">
            <a:extLst>
              <a:ext uri="{FF2B5EF4-FFF2-40B4-BE49-F238E27FC236}">
                <a16:creationId xmlns:a16="http://schemas.microsoft.com/office/drawing/2014/main" id="{2A8FCBC4-355E-3C16-2CE8-913A36FE76F5}"/>
              </a:ext>
            </a:extLst>
          </p:cNvPr>
          <p:cNvSpPr/>
          <p:nvPr/>
        </p:nvSpPr>
        <p:spPr>
          <a:xfrm>
            <a:off x="11564112" y="6553200"/>
            <a:ext cx="348803" cy="18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00" name="Text 17">
            <a:extLst>
              <a:ext uri="{FF2B5EF4-FFF2-40B4-BE49-F238E27FC236}">
                <a16:creationId xmlns:a16="http://schemas.microsoft.com/office/drawing/2014/main" id="{A77D217A-6E68-F477-15D8-5E0A97EDC315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995810" y="4736629"/>
            <a:ext cx="2330004" cy="369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High-resolution imagery of buildings and land use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947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2807855" y="320040"/>
            <a:ext cx="88050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3 - 4 : Area Discovery &amp; Selection</a:t>
            </a:r>
            <a:endParaRPr lang="en-US" sz="3200" dirty="0"/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4073236" y="960120"/>
            <a:ext cx="7539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highlights high-potential pitations; the user picks the best area for deep analysis</a:t>
            </a:r>
            <a:endParaRPr lang="en-US" sz="1500" dirty="0"/>
          </a:p>
        </p:txBody>
      </p:sp>
      <p:sp>
        <p:nvSpPr>
          <p:cNvPr id="4" name="Shape 2"/>
          <p:cNvSpPr/>
          <p:nvPr>
            <p:custDataLst>
              <p:tags r:id="rId3"/>
            </p:custDataLst>
          </p:nvPr>
        </p:nvSpPr>
        <p:spPr>
          <a:xfrm>
            <a:off x="624840" y="1691640"/>
            <a:ext cx="5394960" cy="3829322"/>
          </a:xfrm>
          <a:prstGeom prst="roundRect">
            <a:avLst>
              <a:gd name="adj" fmla="val 2041"/>
            </a:avLst>
          </a:prstGeom>
          <a:solidFill>
            <a:srgbClr val="F4F4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1326" y="21086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Identifies Opportunities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914400" y="2346592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zone is scored with a data-driven opportunity model combining demand, competition and infrastructure signals.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Heat-mapped results rank areas from low to high opportunity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blend household density, FTTH gaps and growth signals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drills into the most promising the map</a:t>
            </a:r>
            <a:endParaRPr lang="en-US" sz="1250" dirty="0"/>
          </a:p>
        </p:txBody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914400" y="4422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score</a:t>
            </a:r>
            <a:endParaRPr lang="en-US" sz="1100" dirty="0"/>
          </a:p>
        </p:txBody>
      </p:sp>
      <p:sp>
        <p:nvSpPr>
          <p:cNvPr id="10" name="Shape 7"/>
          <p:cNvSpPr/>
          <p:nvPr>
            <p:custDataLst>
              <p:tags r:id="rId6"/>
            </p:custDataLst>
          </p:nvPr>
        </p:nvSpPr>
        <p:spPr>
          <a:xfrm>
            <a:off x="826225" y="4844225"/>
            <a:ext cx="1188720" cy="25603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Shape 8"/>
          <p:cNvSpPr/>
          <p:nvPr/>
        </p:nvSpPr>
        <p:spPr>
          <a:xfrm>
            <a:off x="2014945" y="4844225"/>
            <a:ext cx="1188720" cy="256032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2" name="Shape 9"/>
          <p:cNvSpPr/>
          <p:nvPr/>
        </p:nvSpPr>
        <p:spPr>
          <a:xfrm>
            <a:off x="3203665" y="4844225"/>
            <a:ext cx="118872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Shape 10"/>
          <p:cNvSpPr/>
          <p:nvPr/>
        </p:nvSpPr>
        <p:spPr>
          <a:xfrm>
            <a:off x="4392385" y="4844225"/>
            <a:ext cx="1188720" cy="2560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4" name="Text 11"/>
          <p:cNvSpPr/>
          <p:nvPr/>
        </p:nvSpPr>
        <p:spPr>
          <a:xfrm>
            <a:off x="826225" y="5136833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00" dirty="0"/>
          </a:p>
        </p:txBody>
      </p:sp>
      <p:sp>
        <p:nvSpPr>
          <p:cNvPr id="15" name="Text 12"/>
          <p:cNvSpPr/>
          <p:nvPr>
            <p:custDataLst>
              <p:tags r:id="rId7"/>
            </p:custDataLst>
          </p:nvPr>
        </p:nvSpPr>
        <p:spPr>
          <a:xfrm>
            <a:off x="4841487" y="517639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6" name="Shape 13"/>
          <p:cNvSpPr/>
          <p:nvPr>
            <p:custDataLst>
              <p:tags r:id="rId8"/>
            </p:custDataLst>
          </p:nvPr>
        </p:nvSpPr>
        <p:spPr>
          <a:xfrm>
            <a:off x="6272784" y="1691640"/>
            <a:ext cx="5303520" cy="3829322"/>
          </a:xfrm>
          <a:prstGeom prst="roundRect">
            <a:avLst>
              <a:gd name="adj" fmla="val 2041"/>
            </a:avLst>
          </a:prstGeom>
          <a:solidFill>
            <a:srgbClr val="1A1D21"/>
          </a:solidFill>
          <a:ln/>
        </p:spPr>
      </p:sp>
      <p:sp>
        <p:nvSpPr>
          <p:cNvPr id="17" name="Text 14"/>
          <p:cNvSpPr/>
          <p:nvPr/>
        </p:nvSpPr>
        <p:spPr>
          <a:xfrm>
            <a:off x="6629400" y="1965960"/>
            <a:ext cx="4572000" cy="351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Area Summary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629400" y="2560320"/>
            <a:ext cx="2331720" cy="1172241"/>
          </a:xfrm>
          <a:prstGeom prst="roundRect">
            <a:avLst>
              <a:gd name="adj" fmla="val 5333"/>
            </a:avLst>
          </a:prstGeom>
          <a:solidFill>
            <a:srgbClr val="23272B"/>
          </a:solidFill>
          <a:ln/>
        </p:spPr>
      </p:sp>
      <p:sp>
        <p:nvSpPr>
          <p:cNvPr id="19" name="Text 16"/>
          <p:cNvSpPr/>
          <p:nvPr/>
        </p:nvSpPr>
        <p:spPr>
          <a:xfrm>
            <a:off x="6766560" y="2743200"/>
            <a:ext cx="2057400" cy="46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km²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766560" y="3383280"/>
            <a:ext cx="2057400" cy="3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size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235440" y="2560320"/>
            <a:ext cx="2331720" cy="1172241"/>
          </a:xfrm>
          <a:prstGeom prst="roundRect">
            <a:avLst>
              <a:gd name="adj" fmla="val 5333"/>
            </a:avLst>
          </a:prstGeom>
          <a:solidFill>
            <a:srgbClr val="23272B"/>
          </a:solidFill>
          <a:ln/>
        </p:spPr>
      </p:sp>
      <p:sp>
        <p:nvSpPr>
          <p:cNvPr id="22" name="Text 19"/>
          <p:cNvSpPr/>
          <p:nvPr/>
        </p:nvSpPr>
        <p:spPr>
          <a:xfrm>
            <a:off x="9372600" y="2743200"/>
            <a:ext cx="2057400" cy="46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12,846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9372600" y="3383280"/>
            <a:ext cx="2057400" cy="3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households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629400" y="4206240"/>
            <a:ext cx="2331720" cy="1172241"/>
          </a:xfrm>
          <a:prstGeom prst="roundRect">
            <a:avLst>
              <a:gd name="adj" fmla="val 5333"/>
            </a:avLst>
          </a:prstGeom>
          <a:solidFill>
            <a:srgbClr val="23272B"/>
          </a:solidFill>
          <a:ln/>
        </p:spPr>
      </p:sp>
      <p:sp>
        <p:nvSpPr>
          <p:cNvPr id="25" name="Text 22"/>
          <p:cNvSpPr/>
          <p:nvPr/>
        </p:nvSpPr>
        <p:spPr>
          <a:xfrm>
            <a:off x="6766560" y="4389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38,721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766560" y="5029200"/>
            <a:ext cx="2057400" cy="3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150" dirty="0"/>
          </a:p>
        </p:txBody>
      </p:sp>
      <p:sp>
        <p:nvSpPr>
          <p:cNvPr id="27" name="Shape 24"/>
          <p:cNvSpPr/>
          <p:nvPr>
            <p:custDataLst>
              <p:tags r:id="rId9"/>
            </p:custDataLst>
          </p:nvPr>
        </p:nvSpPr>
        <p:spPr>
          <a:xfrm>
            <a:off x="9235440" y="4206240"/>
            <a:ext cx="2331720" cy="1172241"/>
          </a:xfrm>
          <a:prstGeom prst="roundRect">
            <a:avLst>
              <a:gd name="adj" fmla="val 5333"/>
            </a:avLst>
          </a:prstGeom>
          <a:solidFill>
            <a:srgbClr val="23272B"/>
          </a:solidFill>
          <a:ln/>
        </p:spPr>
      </p:sp>
      <p:sp>
        <p:nvSpPr>
          <p:cNvPr id="28" name="Text 25"/>
          <p:cNvSpPr/>
          <p:nvPr/>
        </p:nvSpPr>
        <p:spPr>
          <a:xfrm>
            <a:off x="9372600" y="4389120"/>
            <a:ext cx="2057400" cy="46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/ 100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9372600" y="5029200"/>
            <a:ext cx="2057400" cy="3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score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7423B7FA-9A76-7DAB-7651-BCB9ACA2C0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7668" y="5653253"/>
            <a:ext cx="2435906" cy="1175054"/>
          </a:xfrm>
          <a:prstGeom prst="roundRect">
            <a:avLst>
              <a:gd name="adj" fmla="val 4186"/>
            </a:avLst>
          </a:prstGeom>
          <a:solidFill>
            <a:srgbClr val="E30613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6CCBA513-B313-3AA2-ED81-24B489E9E27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025184" y="5735506"/>
            <a:ext cx="1601692" cy="273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</a:t>
            </a:r>
            <a:endParaRPr lang="en-US" sz="1350" dirty="0"/>
          </a:p>
        </p:txBody>
      </p:sp>
      <p:pic>
        <p:nvPicPr>
          <p:cNvPr id="39" name="Graphic 38" descr="Presentation with media">
            <a:extLst>
              <a:ext uri="{FF2B5EF4-FFF2-40B4-BE49-F238E27FC236}">
                <a16:creationId xmlns:a16="http://schemas.microsoft.com/office/drawing/2014/main" id="{F2B26373-9624-0659-3AC4-AE3C2552118F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916559" y="5783580"/>
            <a:ext cx="914400" cy="914400"/>
          </a:xfrm>
          <a:prstGeom prst="rect">
            <a:avLst/>
          </a:prstGeom>
        </p:spPr>
      </p:pic>
      <p:sp>
        <p:nvSpPr>
          <p:cNvPr id="33" name="Shape 2">
            <a:extLst>
              <a:ext uri="{FF2B5EF4-FFF2-40B4-BE49-F238E27FC236}">
                <a16:creationId xmlns:a16="http://schemas.microsoft.com/office/drawing/2014/main" id="{46D87C8C-5946-2F94-466F-9A0C669E7EB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0" y="-34962"/>
            <a:ext cx="2670048" cy="1594311"/>
          </a:xfrm>
          <a:prstGeom prst="roundRect">
            <a:avLst>
              <a:gd name="adj" fmla="val 4186"/>
            </a:avLst>
          </a:prstGeom>
          <a:solidFill>
            <a:srgbClr val="E30613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BB3AFED4-3A75-294D-4F8F-BEDD87FA87E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777240" y="184494"/>
            <a:ext cx="1755648" cy="370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Discovery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D1298C9F-5A9E-0802-AB5E-7E1BF68CED3A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219456" y="676299"/>
            <a:ext cx="2231136" cy="77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identifies potential high-opportunity areas (</a:t>
            </a:r>
            <a:r>
              <a:rPr lang="en-US" sz="1150" dirty="0" err="1">
                <a:solidFill>
                  <a:srgbClr val="FFD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pitations</a:t>
            </a:r>
            <a:r>
              <a:rPr lang="en-US" sz="1150" dirty="0">
                <a:solidFill>
                  <a:srgbClr val="FFD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</p:txBody>
      </p:sp>
      <p:pic>
        <p:nvPicPr>
          <p:cNvPr id="30" name="first_step">
            <a:hlinkClick r:id="" action="ppaction://media"/>
            <a:extLst>
              <a:ext uri="{FF2B5EF4-FFF2-40B4-BE49-F238E27FC236}">
                <a16:creationId xmlns:a16="http://schemas.microsoft.com/office/drawing/2014/main" id="{C9D4BD77-4273-8B39-0783-3E6E8A7CE433}"/>
              </a:ext>
            </a:extLst>
          </p:cNvPr>
          <p:cNvPicPr>
            <a:picLocks noChangeAspect="1"/>
          </p:cNvPicPr>
          <p:nvPr>
            <a:videoFile r:link="rId17"/>
            <p:custDataLst>
              <p:tags r:id="rId18"/>
            </p:custDataLst>
            <p:extLst>
              <p:ext uri="{DAA4B4D4-6D71-4841-9C94-3DE7FCFB9230}">
                <p14:media xmlns:p14="http://schemas.microsoft.com/office/powerpoint/2010/main" r:embed="rId16"/>
              </p:ext>
            </p:extLst>
          </p:nvPr>
        </p:nvPicPr>
        <p:blipFill>
          <a:blip r:embed="rId24"/>
          <a:stretch>
            <a:fillRect/>
          </a:stretch>
        </p:blipFill>
        <p:spPr>
          <a:xfrm flipV="1">
            <a:off x="4778290" y="6093858"/>
            <a:ext cx="1427954" cy="649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465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5–6 — AI Vision &amp; Market Potential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reads the ground truth; AI estimates the opportunity for Ooredoo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3504" y="178308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9476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12,846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86384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households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58184" y="178308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/>
        </p:spPr>
      </p:sp>
      <p:sp>
        <p:nvSpPr>
          <p:cNvPr id="8" name="Text 6"/>
          <p:cNvSpPr/>
          <p:nvPr/>
        </p:nvSpPr>
        <p:spPr>
          <a:xfrm>
            <a:off x="3941064" y="19476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15,230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941064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buildings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" y="34747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63931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8,972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86384" y="4343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FTTH users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58184" y="34747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3941064" y="363931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69.8%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941064" y="4343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potential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" y="5257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detects buildings, roads, density and land use directly from satellite imagery — classifying residential, commercial and other structures.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3232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 Assumption</a:t>
            </a:r>
            <a:endParaRPr lang="en-US" sz="1600" dirty="0"/>
          </a:p>
        </p:txBody>
      </p:sp>
      <p:graphicFrame>
        <p:nvGraphicFramePr>
          <p:cNvPr id="18" name="Chart 0"/>
          <p:cNvGraphicFramePr/>
          <p:nvPr>
            <p:custDataLst>
              <p:tags r:id="rId2"/>
            </p:custDataLst>
          </p:nvPr>
        </p:nvGraphicFramePr>
        <p:xfrm>
          <a:off x="6858000" y="2148840"/>
          <a:ext cx="47548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9" name="Text 16"/>
          <p:cNvSpPr/>
          <p:nvPr>
            <p:custDataLst>
              <p:tags r:id="rId3"/>
            </p:custDataLst>
          </p:nvPr>
        </p:nvSpPr>
        <p:spPr>
          <a:xfrm>
            <a:off x="7132320" y="5532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F66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Ooredoo holds ~20% today — the selected pitation is headroom to grow against a 70% competitor share.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75709A69-5ABB-4D5C-ECE9-BB32E4892A7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717668" y="5653253"/>
            <a:ext cx="2435906" cy="1175054"/>
          </a:xfrm>
          <a:prstGeom prst="roundRect">
            <a:avLst>
              <a:gd name="adj" fmla="val 4186"/>
            </a:avLst>
          </a:prstGeom>
          <a:solidFill>
            <a:srgbClr val="E30613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73751E5D-D438-454D-63B5-5603E1F5094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025184" y="5735506"/>
            <a:ext cx="1601692" cy="273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</a:t>
            </a:r>
            <a:endParaRPr lang="en-US" sz="1350" dirty="0"/>
          </a:p>
        </p:txBody>
      </p:sp>
      <p:pic>
        <p:nvPicPr>
          <p:cNvPr id="23" name="Graphic 22" descr="Presentation with media">
            <a:extLst>
              <a:ext uri="{FF2B5EF4-FFF2-40B4-BE49-F238E27FC236}">
                <a16:creationId xmlns:a16="http://schemas.microsoft.com/office/drawing/2014/main" id="{DB104FEA-1A18-2DFE-8D34-C22F2A16AD3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16559" y="5783580"/>
            <a:ext cx="914400" cy="914400"/>
          </a:xfrm>
          <a:prstGeom prst="rect">
            <a:avLst/>
          </a:prstGeom>
        </p:spPr>
      </p:pic>
      <p:pic>
        <p:nvPicPr>
          <p:cNvPr id="24" name="third_step">
            <a:hlinkClick r:id="" action="ppaction://media"/>
            <a:extLst>
              <a:ext uri="{FF2B5EF4-FFF2-40B4-BE49-F238E27FC236}">
                <a16:creationId xmlns:a16="http://schemas.microsoft.com/office/drawing/2014/main" id="{42C76004-F69D-1396-498D-DD035515DBD6}"/>
              </a:ext>
            </a:extLst>
          </p:cNvPr>
          <p:cNvPicPr>
            <a:picLocks noChangeAspect="1"/>
          </p:cNvPicPr>
          <p:nvPr>
            <a:videoFile r:link="rId8"/>
            <p:custDataLst>
              <p:tags r:id="rId9"/>
            </p:custDataLst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7399136" y="4043082"/>
            <a:ext cx="3573663" cy="16862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8776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— AI-Generated Insights &amp;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turns analysis into recommendations and a go-to-market plan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3504" y="1737360"/>
            <a:ext cx="5440680" cy="4389120"/>
          </a:xfrm>
          <a:prstGeom prst="roundRect">
            <a:avLst>
              <a:gd name="adj" fmla="val 2083"/>
            </a:avLst>
          </a:prstGeom>
          <a:solidFill>
            <a:srgbClr val="F4F4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E3061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21543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83464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residential density in the selected pitation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current FTTH penetration — large untapped base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growth potential from new developments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presence dominated by Omantel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18504" y="1737360"/>
            <a:ext cx="5257800" cy="4389120"/>
          </a:xfrm>
          <a:prstGeom prst="roundRect">
            <a:avLst>
              <a:gd name="adj" fmla="val 2083"/>
            </a:avLst>
          </a:prstGeom>
          <a:solidFill>
            <a:srgbClr val="1A1D21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011680"/>
            <a:ext cx="548640" cy="548640"/>
          </a:xfrm>
          <a:prstGeom prst="ellipse">
            <a:avLst/>
          </a:prstGeom>
          <a:solidFill>
            <a:srgbClr val="E3061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046" y="21543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Strategy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75120" y="28346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villa clusters &amp; new developments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targeted offers for the area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door-to-door with digital campaigns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real-estate developers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 — AI &amp; Data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stages run automatically between the question and the answer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3504" y="2834640"/>
            <a:ext cx="1051560" cy="105156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10" y="3108046"/>
            <a:ext cx="504749" cy="504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" y="4069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728216" y="3131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258568" y="2834640"/>
            <a:ext cx="1051560" cy="105156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974" y="3108046"/>
            <a:ext cx="504749" cy="5047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38528" y="4069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383280" y="3131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913632" y="2834640"/>
            <a:ext cx="1051560" cy="105156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038" y="3108046"/>
            <a:ext cx="504749" cy="5047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93592" y="4069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038344" y="3131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568696" y="2834640"/>
            <a:ext cx="1051560" cy="105156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102" y="3108046"/>
            <a:ext cx="504749" cy="5047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48656" y="4069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693408" y="3131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7223760" y="2834640"/>
            <a:ext cx="1051560" cy="105156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7166" y="3108046"/>
            <a:ext cx="504749" cy="50474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03720" y="4069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Potential Model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8348472" y="3131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8878824" y="2834640"/>
            <a:ext cx="1051560" cy="105156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2230" y="3108046"/>
            <a:ext cx="504749" cy="50474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558784" y="4069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Analysis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10003536" y="3131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0"/>
          <p:cNvSpPr/>
          <p:nvPr/>
        </p:nvSpPr>
        <p:spPr>
          <a:xfrm>
            <a:off x="10533888" y="2834640"/>
            <a:ext cx="1051560" cy="1051560"/>
          </a:xfrm>
          <a:prstGeom prst="ellipse">
            <a:avLst/>
          </a:prstGeom>
          <a:solidFill>
            <a:srgbClr val="E30613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07294" y="3108046"/>
            <a:ext cx="504749" cy="50474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213848" y="4069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&amp; Strategy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1828800" y="5212080"/>
            <a:ext cx="8531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feeds the next — raw multi-source data becomes structured features, vision-derived ground truth, market estimates, and finally an LLM-written strategy.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 — Outputs &amp; Execution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Ready-to-use deliverables are routed to the teams that act on them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" y="2057400"/>
            <a:ext cx="566928" cy="566928"/>
          </a:xfrm>
          <a:prstGeom prst="ellipse">
            <a:avLst/>
          </a:prstGeom>
          <a:solidFill>
            <a:srgbClr val="F4F4F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05" y="22048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20299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53312" y="23500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Concise PDF summary for leadership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3504" y="3090672"/>
            <a:ext cx="566928" cy="566928"/>
          </a:xfrm>
          <a:prstGeom prst="ellipse">
            <a:avLst/>
          </a:prstGeom>
          <a:solidFill>
            <a:srgbClr val="F4F4F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05" y="323807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3063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Report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53312" y="3383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analysis deck for stakeholders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3504" y="4123944"/>
            <a:ext cx="566928" cy="566928"/>
          </a:xfrm>
          <a:prstGeom prst="ellipse">
            <a:avLst/>
          </a:prstGeom>
          <a:solidFill>
            <a:srgbClr val="F4F4F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05" y="4271345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53312" y="4096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353312" y="4416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maps, scores and KPIs to explore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3504" y="5157216"/>
            <a:ext cx="566928" cy="566928"/>
          </a:xfrm>
          <a:prstGeom prst="ellipse">
            <a:avLst/>
          </a:prstGeom>
          <a:solidFill>
            <a:srgbClr val="F4F4F6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905" y="5304617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53312" y="51297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Strategy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353312" y="54498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plan with offers, channels and targets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40080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TO TEAMS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00800" y="2057400"/>
            <a:ext cx="2487168" cy="1874520"/>
          </a:xfrm>
          <a:prstGeom prst="roundRect">
            <a:avLst>
              <a:gd name="adj" fmla="val 4390"/>
            </a:avLst>
          </a:prstGeom>
          <a:solidFill>
            <a:srgbClr val="F4F4F6"/>
          </a:solidFill>
          <a:ln/>
        </p:spPr>
      </p:sp>
      <p:sp>
        <p:nvSpPr>
          <p:cNvPr id="23" name="Shape 17"/>
          <p:cNvSpPr/>
          <p:nvPr/>
        </p:nvSpPr>
        <p:spPr>
          <a:xfrm>
            <a:off x="6620256" y="227685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902" y="2419502"/>
            <a:ext cx="263347" cy="26334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620256" y="29260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Operations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620256" y="333756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campaigns &amp; targeted offers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9144000" y="2057400"/>
            <a:ext cx="2487168" cy="1874520"/>
          </a:xfrm>
          <a:prstGeom prst="roundRect">
            <a:avLst>
              <a:gd name="adj" fmla="val 4390"/>
            </a:avLst>
          </a:prstGeom>
          <a:solidFill>
            <a:srgbClr val="F4F4F6"/>
          </a:solidFill>
          <a:ln/>
        </p:spPr>
      </p:sp>
      <p:sp>
        <p:nvSpPr>
          <p:cNvPr id="28" name="Shape 21"/>
          <p:cNvSpPr/>
          <p:nvPr/>
        </p:nvSpPr>
        <p:spPr>
          <a:xfrm>
            <a:off x="9363456" y="227685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6102" y="2419502"/>
            <a:ext cx="263347" cy="26334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363456" y="29260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Teams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9363456" y="333756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Door-to-door and direct acquisition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400800" y="4187952"/>
            <a:ext cx="2487168" cy="1874520"/>
          </a:xfrm>
          <a:prstGeom prst="roundRect">
            <a:avLst>
              <a:gd name="adj" fmla="val 4390"/>
            </a:avLst>
          </a:prstGeom>
          <a:solidFill>
            <a:srgbClr val="F4F4F6"/>
          </a:solidFill>
          <a:ln/>
        </p:spPr>
      </p:sp>
      <p:sp>
        <p:nvSpPr>
          <p:cNvPr id="33" name="Shape 25"/>
          <p:cNvSpPr/>
          <p:nvPr/>
        </p:nvSpPr>
        <p:spPr>
          <a:xfrm>
            <a:off x="6620256" y="44074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902" y="4550054"/>
            <a:ext cx="263347" cy="263347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620256" y="505663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Planning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6620256" y="5468112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Prioritizes fiber build &amp; capacity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9144000" y="4187952"/>
            <a:ext cx="2487168" cy="1874520"/>
          </a:xfrm>
          <a:prstGeom prst="roundRect">
            <a:avLst>
              <a:gd name="adj" fmla="val 4390"/>
            </a:avLst>
          </a:prstGeom>
          <a:solidFill>
            <a:srgbClr val="F4F4F6"/>
          </a:solidFill>
          <a:ln/>
        </p:spPr>
      </p:sp>
      <p:sp>
        <p:nvSpPr>
          <p:cNvPr id="38" name="Shape 29"/>
          <p:cNvSpPr/>
          <p:nvPr/>
        </p:nvSpPr>
        <p:spPr>
          <a:xfrm>
            <a:off x="9363456" y="44074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6102" y="4550054"/>
            <a:ext cx="263347" cy="263347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9363456" y="505663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Operations</a:t>
            </a:r>
            <a:endParaRPr lang="en-US" sz="1250" dirty="0"/>
          </a:p>
        </p:txBody>
      </p:sp>
      <p:sp>
        <p:nvSpPr>
          <p:cNvPr id="41" name="Text 31"/>
          <p:cNvSpPr/>
          <p:nvPr/>
        </p:nvSpPr>
        <p:spPr>
          <a:xfrm>
            <a:off x="9363456" y="5468112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installs on the ground</a:t>
            </a:r>
            <a:endParaRPr lang="en-US" sz="1050" dirty="0"/>
          </a:p>
        </p:txBody>
      </p:sp>
      <p:sp>
        <p:nvSpPr>
          <p:cNvPr id="42" name="Text 32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3061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8580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920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35661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Ooredoo Falcon helps the FIX team find the right pitations to acquire new FTTH users with AI-powered intelligence.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289304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1"/>
            </p:custDataLst>
          </p:nvPr>
        </p:nvSpPr>
        <p:spPr>
          <a:xfrm>
            <a:off x="5440680" y="12344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best locations to acquire new FTTH users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157984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40680" y="21031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decision making replaces guesswork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026664"/>
            <a:ext cx="384048" cy="3840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40680" y="29718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marketing investments per area</a:t>
            </a:r>
            <a:endParaRPr lang="en-US" sz="16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895344"/>
            <a:ext cx="384048" cy="3840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440680" y="38404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conversion rates &amp; ROI on acquisition</a:t>
            </a:r>
            <a:endParaRPr lang="en-US" sz="16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764024"/>
            <a:ext cx="384048" cy="38404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440680" y="4709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FTTH expansion across the network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5440680" y="5943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Ooredoo Falcon  •  AI-Powered FTTH Location Intelligence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CUSTOMSORTGLOBALLY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EXPORTMODE" val="4"/>
  <p:tag name="SLIDEFAB_POWERPOINTTABLESTARTINROW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EXPORTMODE" val="4"/>
  <p:tag name="SLIDEFAB_POWERPOINTTABLESTARTINROW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EXPORTMODE" val="4"/>
  <p:tag name="SLIDEFAB_POWERPOINTTABLESTARTINROW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EXPORTMODE" val="4"/>
  <p:tag name="SLIDEFAB_POWERPOINTTABLESTARTINROW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EXPORTMODE" val="4"/>
  <p:tag name="SLIDEFAB_POWERPOINTTABLESTARTINROW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EXPORTMODE" val="4"/>
  <p:tag name="SLIDEFAB_POWERPOINTTABLESTARTINROW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EXPORTMODE" val="4"/>
  <p:tag name="SLIDEFAB_POWERPOINTTABLESTARTINROW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EXPORTMODE" val="4"/>
  <p:tag name="SLIDEFAB_POWERPOINTTABLESTARTINROW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EXPORTMODE" val="4"/>
  <p:tag name="SLIDEFAB_POWERPOINTTABLESTARTINROW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EXPORTMODE" val="4"/>
  <p:tag name="SLIDEFAB_POWERPOINTTABLESTARTINROW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EXPORTMODE" val="4"/>
  <p:tag name="SLIDEFAB_POWERPOINTTABLESTARTINROW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EXPORTMODE" val="4"/>
  <p:tag name="SLIDEFAB_POWERPOINTTABLESTARTINROW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EXPORTMODE" val="4"/>
  <p:tag name="SLIDEFAB_POWERPOINTTABLESTARTINROW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EXPORTMODE" val="4"/>
  <p:tag name="SLIDEFAB_POWERPOINTTABLESTARTINROW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856</Words>
  <Application>Microsoft Office PowerPoint</Application>
  <PresentationFormat>Widescreen</PresentationFormat>
  <Paragraphs>176</Paragraphs>
  <Slides>10</Slides>
  <Notes>10</Notes>
  <HiddenSlides>0</HiddenSlides>
  <MMClips>4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Abdelouaheb  Hocine</cp:lastModifiedBy>
  <cp:revision>5</cp:revision>
  <dcterms:created xsi:type="dcterms:W3CDTF">2026-07-11T11:08:33Z</dcterms:created>
  <dcterms:modified xsi:type="dcterms:W3CDTF">2026-07-11T13:42:38Z</dcterms:modified>
</cp:coreProperties>
</file>