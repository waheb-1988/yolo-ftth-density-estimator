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9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41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media" Target="../media/media2.mp4"/><Relationship Id="rId13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tags" Target="../tags/tag5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video" Target="../media/media1.mp4"/><Relationship Id="rId11" Type="http://schemas.openxmlformats.org/officeDocument/2006/relationships/slideLayout" Target="../slideLayouts/slideLayout1.xml"/><Relationship Id="rId5" Type="http://schemas.microsoft.com/office/2007/relationships/media" Target="../media/media1.mp4"/><Relationship Id="rId10" Type="http://schemas.openxmlformats.org/officeDocument/2006/relationships/tags" Target="../tags/tag6.xml"/><Relationship Id="rId4" Type="http://schemas.openxmlformats.org/officeDocument/2006/relationships/tags" Target="../tags/tag4.xml"/><Relationship Id="rId9" Type="http://schemas.openxmlformats.org/officeDocument/2006/relationships/video" Target="../media/media2.mp4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1738335" y="6872"/>
            <a:ext cx="5378349" cy="40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2,3 &amp; 4 : Data Collection &amp; Area Discovery</a:t>
            </a: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1CEA59EE-6815-C1A6-A70E-374DD07E808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999879" y="4011557"/>
            <a:ext cx="1201269" cy="20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26">
            <a:extLst>
              <a:ext uri="{FF2B5EF4-FFF2-40B4-BE49-F238E27FC236}">
                <a16:creationId xmlns:a16="http://schemas.microsoft.com/office/drawing/2014/main" id="{2A8FCBC4-355E-3C16-2CE8-913A36FE76F5}"/>
              </a:ext>
            </a:extLst>
          </p:cNvPr>
          <p:cNvSpPr/>
          <p:nvPr/>
        </p:nvSpPr>
        <p:spPr>
          <a:xfrm>
            <a:off x="8673085" y="4692846"/>
            <a:ext cx="261602" cy="13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75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6F3399C5-3F0F-4AF5-E719-09B70592424E}"/>
              </a:ext>
            </a:extLst>
          </p:cNvPr>
          <p:cNvSpPr/>
          <p:nvPr/>
        </p:nvSpPr>
        <p:spPr>
          <a:xfrm>
            <a:off x="182880" y="476810"/>
            <a:ext cx="2606040" cy="2377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SIGNALS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9FC5A19-6676-42E0-AB5F-E8D00CF79628}"/>
              </a:ext>
            </a:extLst>
          </p:cNvPr>
          <p:cNvSpPr/>
          <p:nvPr/>
        </p:nvSpPr>
        <p:spPr>
          <a:xfrm>
            <a:off x="182880" y="769418"/>
            <a:ext cx="2606040" cy="5486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A5C38AB-55EF-2471-E098-450D2CD1E7E2}"/>
              </a:ext>
            </a:extLst>
          </p:cNvPr>
          <p:cNvSpPr/>
          <p:nvPr/>
        </p:nvSpPr>
        <p:spPr>
          <a:xfrm>
            <a:off x="256032" y="897434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F65ADB7-6495-C2FA-9723-B5DE1110A5C2}"/>
              </a:ext>
            </a:extLst>
          </p:cNvPr>
          <p:cNvSpPr/>
          <p:nvPr/>
        </p:nvSpPr>
        <p:spPr>
          <a:xfrm>
            <a:off x="594360" y="82428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Existing FTTH Network</a:t>
            </a:r>
            <a:endParaRPr lang="en-US" sz="1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71084F4-C97A-3AB7-D7B5-C4A2FC1F0B8D}"/>
              </a:ext>
            </a:extLst>
          </p:cNvPr>
          <p:cNvSpPr/>
          <p:nvPr/>
        </p:nvSpPr>
        <p:spPr>
          <a:xfrm>
            <a:off x="594360" y="104373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Coverage, capacity &amp; Ooredoo fiber footprint</a:t>
            </a:r>
            <a:endParaRPr lang="en-US" sz="8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2DCFB3A7-9386-85D6-20E8-4315B1313A0F}"/>
              </a:ext>
            </a:extLst>
          </p:cNvPr>
          <p:cNvSpPr/>
          <p:nvPr/>
        </p:nvSpPr>
        <p:spPr>
          <a:xfrm>
            <a:off x="182880" y="1391210"/>
            <a:ext cx="2606040" cy="5486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E8A3BC9C-3D70-958E-9C32-9E5586CEDF2C}"/>
              </a:ext>
            </a:extLst>
          </p:cNvPr>
          <p:cNvSpPr/>
          <p:nvPr/>
        </p:nvSpPr>
        <p:spPr>
          <a:xfrm>
            <a:off x="256032" y="1519226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CA2C1BC6-06F1-D6F8-842A-C5CF8EE1D7C3}"/>
              </a:ext>
            </a:extLst>
          </p:cNvPr>
          <p:cNvSpPr/>
          <p:nvPr/>
        </p:nvSpPr>
        <p:spPr>
          <a:xfrm>
            <a:off x="594360" y="144607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0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90981493-91B5-374B-9F65-DE0027085447}"/>
              </a:ext>
            </a:extLst>
          </p:cNvPr>
          <p:cNvSpPr/>
          <p:nvPr/>
        </p:nvSpPr>
        <p:spPr>
          <a:xfrm>
            <a:off x="594360" y="166553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Subscribers, churn &amp; service adoption patterns</a:t>
            </a:r>
            <a:endParaRPr lang="en-US" sz="80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DF9299EB-C512-2DE1-BCF9-2A64B3376456}"/>
              </a:ext>
            </a:extLst>
          </p:cNvPr>
          <p:cNvSpPr/>
          <p:nvPr/>
        </p:nvSpPr>
        <p:spPr>
          <a:xfrm>
            <a:off x="182880" y="2013002"/>
            <a:ext cx="2606040" cy="548640"/>
          </a:xfrm>
          <a:prstGeom prst="rect">
            <a:avLst/>
          </a:prstGeom>
          <a:solidFill>
            <a:schemeClr val="bg1"/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047CCB96-C5C3-1A06-5815-C96A0B7937E4}"/>
              </a:ext>
            </a:extLst>
          </p:cNvPr>
          <p:cNvSpPr/>
          <p:nvPr/>
        </p:nvSpPr>
        <p:spPr>
          <a:xfrm>
            <a:off x="256032" y="2141018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16551ADD-151D-C889-2D8F-15B8D5AA7D2A}"/>
              </a:ext>
            </a:extLst>
          </p:cNvPr>
          <p:cNvSpPr/>
          <p:nvPr/>
        </p:nvSpPr>
        <p:spPr>
          <a:xfrm>
            <a:off x="594360" y="206786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GIS &amp; Demographics</a:t>
            </a:r>
            <a:endParaRPr lang="en-US" sz="10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5E92FED3-E125-1B99-FEAC-7BA31B738DD7}"/>
              </a:ext>
            </a:extLst>
          </p:cNvPr>
          <p:cNvSpPr/>
          <p:nvPr/>
        </p:nvSpPr>
        <p:spPr>
          <a:xfrm>
            <a:off x="594360" y="228732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density, income &amp; geographic layers</a:t>
            </a:r>
            <a:endParaRPr lang="en-US" sz="800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CFF16FE4-B5D1-E6F0-C5A5-52F3B538677F}"/>
              </a:ext>
            </a:extLst>
          </p:cNvPr>
          <p:cNvSpPr/>
          <p:nvPr/>
        </p:nvSpPr>
        <p:spPr>
          <a:xfrm>
            <a:off x="182880" y="2634794"/>
            <a:ext cx="2606040" cy="548640"/>
          </a:xfrm>
          <a:prstGeom prst="rect">
            <a:avLst/>
          </a:prstGeom>
          <a:solidFill>
            <a:schemeClr val="bg1"/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0C1D37F4-327F-AC9B-3A54-B85B0F00B65A}"/>
              </a:ext>
            </a:extLst>
          </p:cNvPr>
          <p:cNvSpPr/>
          <p:nvPr/>
        </p:nvSpPr>
        <p:spPr>
          <a:xfrm>
            <a:off x="256032" y="2762810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B28E9C4C-6D22-078A-5675-D9C2B5A763FE}"/>
              </a:ext>
            </a:extLst>
          </p:cNvPr>
          <p:cNvSpPr/>
          <p:nvPr/>
        </p:nvSpPr>
        <p:spPr>
          <a:xfrm>
            <a:off x="594360" y="268965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</a:t>
            </a:r>
            <a:endParaRPr lang="en-US" sz="100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CC855381-B1F8-7CDE-E85A-12D20C888D5D}"/>
              </a:ext>
            </a:extLst>
          </p:cNvPr>
          <p:cNvSpPr/>
          <p:nvPr/>
        </p:nvSpPr>
        <p:spPr>
          <a:xfrm>
            <a:off x="594360" y="290911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building imagery &amp; land use analysis</a:t>
            </a:r>
            <a:endParaRPr lang="en-US" sz="800" dirty="0"/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5EAEBB82-5B7D-96A3-76B6-4129AE97665E}"/>
              </a:ext>
            </a:extLst>
          </p:cNvPr>
          <p:cNvSpPr/>
          <p:nvPr/>
        </p:nvSpPr>
        <p:spPr>
          <a:xfrm>
            <a:off x="182880" y="3256586"/>
            <a:ext cx="2606040" cy="548640"/>
          </a:xfrm>
          <a:prstGeom prst="rect">
            <a:avLst/>
          </a:prstGeom>
          <a:solidFill>
            <a:schemeClr val="bg1"/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8EC1C384-92BB-CF22-8BDE-702A667B7CB0}"/>
              </a:ext>
            </a:extLst>
          </p:cNvPr>
          <p:cNvSpPr/>
          <p:nvPr/>
        </p:nvSpPr>
        <p:spPr>
          <a:xfrm>
            <a:off x="256032" y="3384602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300C4401-B269-6DF4-CBA5-15608CC3A708}"/>
              </a:ext>
            </a:extLst>
          </p:cNvPr>
          <p:cNvSpPr/>
          <p:nvPr/>
        </p:nvSpPr>
        <p:spPr>
          <a:xfrm>
            <a:off x="594360" y="331145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Coverage</a:t>
            </a:r>
            <a:endParaRPr lang="en-US" sz="1000" dirty="0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406F0604-F195-02D5-7B7F-51E217F96F11}"/>
              </a:ext>
            </a:extLst>
          </p:cNvPr>
          <p:cNvSpPr/>
          <p:nvPr/>
        </p:nvSpPr>
        <p:spPr>
          <a:xfrm>
            <a:off x="594360" y="353090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Omantel, Awasr and other operators’ footprints</a:t>
            </a:r>
            <a:endParaRPr lang="en-US" sz="800" dirty="0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01D5F2CB-656A-D23D-90E1-E8D229345CDE}"/>
              </a:ext>
            </a:extLst>
          </p:cNvPr>
          <p:cNvSpPr/>
          <p:nvPr/>
        </p:nvSpPr>
        <p:spPr>
          <a:xfrm>
            <a:off x="182880" y="3878378"/>
            <a:ext cx="2606040" cy="548640"/>
          </a:xfrm>
          <a:prstGeom prst="rect">
            <a:avLst/>
          </a:prstGeom>
          <a:solidFill>
            <a:schemeClr val="bg1"/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8A5B77DA-5A25-103C-4E89-C9E3E3605FFB}"/>
              </a:ext>
            </a:extLst>
          </p:cNvPr>
          <p:cNvSpPr/>
          <p:nvPr/>
        </p:nvSpPr>
        <p:spPr>
          <a:xfrm>
            <a:off x="256032" y="4006394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955E82E1-68F5-833F-E2BE-A3CD0DF35B23}"/>
              </a:ext>
            </a:extLst>
          </p:cNvPr>
          <p:cNvSpPr/>
          <p:nvPr/>
        </p:nvSpPr>
        <p:spPr>
          <a:xfrm>
            <a:off x="594360" y="393324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5B2C4677-82C4-D2B8-45E8-E290A774BA90}"/>
              </a:ext>
            </a:extLst>
          </p:cNvPr>
          <p:cNvSpPr/>
          <p:nvPr/>
        </p:nvSpPr>
        <p:spPr>
          <a:xfrm>
            <a:off x="594360" y="415269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Roads, utilities, developments &amp; construction activity</a:t>
            </a:r>
            <a:endParaRPr lang="en-US" sz="800" dirty="0"/>
          </a:p>
        </p:txBody>
      </p:sp>
      <p:sp>
        <p:nvSpPr>
          <p:cNvPr id="65" name="Shape 29">
            <a:extLst>
              <a:ext uri="{FF2B5EF4-FFF2-40B4-BE49-F238E27FC236}">
                <a16:creationId xmlns:a16="http://schemas.microsoft.com/office/drawing/2014/main" id="{2F696228-5317-2C94-AABC-F6AF1B14B6C0}"/>
              </a:ext>
            </a:extLst>
          </p:cNvPr>
          <p:cNvSpPr/>
          <p:nvPr/>
        </p:nvSpPr>
        <p:spPr>
          <a:xfrm>
            <a:off x="3154680" y="509465"/>
            <a:ext cx="2834640" cy="395020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7DDE329D-9252-E4CE-7EB6-D8EBB2D824E4}"/>
              </a:ext>
            </a:extLst>
          </p:cNvPr>
          <p:cNvSpPr/>
          <p:nvPr/>
        </p:nvSpPr>
        <p:spPr>
          <a:xfrm>
            <a:off x="3154680" y="619193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ENGINE</a:t>
            </a:r>
            <a:endParaRPr lang="en-US" sz="1100" dirty="0"/>
          </a:p>
        </p:txBody>
      </p:sp>
      <p:sp>
        <p:nvSpPr>
          <p:cNvPr id="88" name="Shape 31">
            <a:extLst>
              <a:ext uri="{FF2B5EF4-FFF2-40B4-BE49-F238E27FC236}">
                <a16:creationId xmlns:a16="http://schemas.microsoft.com/office/drawing/2014/main" id="{7EE30521-28AA-BFC7-3594-D307CF1F3834}"/>
              </a:ext>
            </a:extLst>
          </p:cNvPr>
          <p:cNvSpPr/>
          <p:nvPr/>
        </p:nvSpPr>
        <p:spPr>
          <a:xfrm>
            <a:off x="3355848" y="930089"/>
            <a:ext cx="2432304" cy="4206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32">
            <a:extLst>
              <a:ext uri="{FF2B5EF4-FFF2-40B4-BE49-F238E27FC236}">
                <a16:creationId xmlns:a16="http://schemas.microsoft.com/office/drawing/2014/main" id="{860BA904-7C74-7822-75E3-564F6097D67B}"/>
              </a:ext>
            </a:extLst>
          </p:cNvPr>
          <p:cNvSpPr/>
          <p:nvPr/>
        </p:nvSpPr>
        <p:spPr>
          <a:xfrm>
            <a:off x="3355848" y="930089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FTTH Opportunity Index</a:t>
            </a:r>
            <a:endParaRPr lang="en-US" sz="1300" dirty="0"/>
          </a:p>
        </p:txBody>
      </p:sp>
      <p:sp>
        <p:nvSpPr>
          <p:cNvPr id="104" name="Shape 33">
            <a:extLst>
              <a:ext uri="{FF2B5EF4-FFF2-40B4-BE49-F238E27FC236}">
                <a16:creationId xmlns:a16="http://schemas.microsoft.com/office/drawing/2014/main" id="{BDB87DDF-74A3-6389-EB8C-5E5E76D3842F}"/>
              </a:ext>
            </a:extLst>
          </p:cNvPr>
          <p:cNvSpPr/>
          <p:nvPr/>
        </p:nvSpPr>
        <p:spPr>
          <a:xfrm>
            <a:off x="3319272" y="1442153"/>
            <a:ext cx="2505456" cy="512064"/>
          </a:xfrm>
          <a:prstGeom prst="rect">
            <a:avLst/>
          </a:prstGeom>
          <a:solidFill>
            <a:schemeClr val="tx1"/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34">
            <a:extLst>
              <a:ext uri="{FF2B5EF4-FFF2-40B4-BE49-F238E27FC236}">
                <a16:creationId xmlns:a16="http://schemas.microsoft.com/office/drawing/2014/main" id="{408C765C-8CFE-6010-9F2A-401FF6F3A0BD}"/>
              </a:ext>
            </a:extLst>
          </p:cNvPr>
          <p:cNvSpPr/>
          <p:nvPr/>
        </p:nvSpPr>
        <p:spPr>
          <a:xfrm>
            <a:off x="3374136" y="1561025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35">
            <a:extLst>
              <a:ext uri="{FF2B5EF4-FFF2-40B4-BE49-F238E27FC236}">
                <a16:creationId xmlns:a16="http://schemas.microsoft.com/office/drawing/2014/main" id="{F3002173-FA9E-397A-A110-4DE1410FA72E}"/>
              </a:ext>
            </a:extLst>
          </p:cNvPr>
          <p:cNvSpPr/>
          <p:nvPr/>
        </p:nvSpPr>
        <p:spPr>
          <a:xfrm>
            <a:off x="3374136" y="156102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0" name="Text 36">
            <a:extLst>
              <a:ext uri="{FF2B5EF4-FFF2-40B4-BE49-F238E27FC236}">
                <a16:creationId xmlns:a16="http://schemas.microsoft.com/office/drawing/2014/main" id="{14AC88E2-193F-CE49-F42E-457C5EFB9A8D}"/>
              </a:ext>
            </a:extLst>
          </p:cNvPr>
          <p:cNvSpPr/>
          <p:nvPr/>
        </p:nvSpPr>
        <p:spPr>
          <a:xfrm>
            <a:off x="3666744" y="1487873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</a:t>
            </a:r>
            <a:endParaRPr lang="en-US" sz="900" dirty="0"/>
          </a:p>
        </p:txBody>
      </p:sp>
      <p:sp>
        <p:nvSpPr>
          <p:cNvPr id="112" name="Text 37">
            <a:extLst>
              <a:ext uri="{FF2B5EF4-FFF2-40B4-BE49-F238E27FC236}">
                <a16:creationId xmlns:a16="http://schemas.microsoft.com/office/drawing/2014/main" id="{D55570F7-A985-5E8B-47A5-A299975B4397}"/>
              </a:ext>
            </a:extLst>
          </p:cNvPr>
          <p:cNvSpPr/>
          <p:nvPr/>
        </p:nvSpPr>
        <p:spPr>
          <a:xfrm>
            <a:off x="3666744" y="1698185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density + growth trends</a:t>
            </a:r>
            <a:endParaRPr lang="en-US" sz="750" dirty="0"/>
          </a:p>
        </p:txBody>
      </p:sp>
      <p:sp>
        <p:nvSpPr>
          <p:cNvPr id="114" name="Shape 38">
            <a:extLst>
              <a:ext uri="{FF2B5EF4-FFF2-40B4-BE49-F238E27FC236}">
                <a16:creationId xmlns:a16="http://schemas.microsoft.com/office/drawing/2014/main" id="{AB1693F2-8AC1-E8F7-B884-4659FE3308D5}"/>
              </a:ext>
            </a:extLst>
          </p:cNvPr>
          <p:cNvSpPr/>
          <p:nvPr/>
        </p:nvSpPr>
        <p:spPr>
          <a:xfrm>
            <a:off x="3319272" y="2027369"/>
            <a:ext cx="2505456" cy="512064"/>
          </a:xfrm>
          <a:prstGeom prst="rect">
            <a:avLst/>
          </a:prstGeom>
          <a:solidFill>
            <a:schemeClr val="tx1"/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39">
            <a:extLst>
              <a:ext uri="{FF2B5EF4-FFF2-40B4-BE49-F238E27FC236}">
                <a16:creationId xmlns:a16="http://schemas.microsoft.com/office/drawing/2014/main" id="{812C286F-80B3-F0F0-5F95-D5755A8DD085}"/>
              </a:ext>
            </a:extLst>
          </p:cNvPr>
          <p:cNvSpPr/>
          <p:nvPr/>
        </p:nvSpPr>
        <p:spPr>
          <a:xfrm>
            <a:off x="3374136" y="2146241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Text 40">
            <a:extLst>
              <a:ext uri="{FF2B5EF4-FFF2-40B4-BE49-F238E27FC236}">
                <a16:creationId xmlns:a16="http://schemas.microsoft.com/office/drawing/2014/main" id="{66C62567-352E-4182-174E-CEF44E9ECEE7}"/>
              </a:ext>
            </a:extLst>
          </p:cNvPr>
          <p:cNvSpPr/>
          <p:nvPr/>
        </p:nvSpPr>
        <p:spPr>
          <a:xfrm>
            <a:off x="3374136" y="21462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0" name="Text 41">
            <a:extLst>
              <a:ext uri="{FF2B5EF4-FFF2-40B4-BE49-F238E27FC236}">
                <a16:creationId xmlns:a16="http://schemas.microsoft.com/office/drawing/2014/main" id="{9530C251-ED27-D16D-375F-561584747B0A}"/>
              </a:ext>
            </a:extLst>
          </p:cNvPr>
          <p:cNvSpPr/>
          <p:nvPr/>
        </p:nvSpPr>
        <p:spPr>
          <a:xfrm>
            <a:off x="3666744" y="2073089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FTTH Gap Score</a:t>
            </a:r>
            <a:endParaRPr lang="en-US" sz="900" dirty="0"/>
          </a:p>
        </p:txBody>
      </p:sp>
      <p:sp>
        <p:nvSpPr>
          <p:cNvPr id="122" name="Text 42">
            <a:extLst>
              <a:ext uri="{FF2B5EF4-FFF2-40B4-BE49-F238E27FC236}">
                <a16:creationId xmlns:a16="http://schemas.microsoft.com/office/drawing/2014/main" id="{883D723D-AB29-3023-8ADF-5E6B2F635464}"/>
              </a:ext>
            </a:extLst>
          </p:cNvPr>
          <p:cNvSpPr/>
          <p:nvPr/>
        </p:nvSpPr>
        <p:spPr>
          <a:xfrm>
            <a:off x="3666744" y="2283401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Uncovered areas + low-penetration zones</a:t>
            </a:r>
            <a:endParaRPr lang="en-US" sz="750" dirty="0"/>
          </a:p>
        </p:txBody>
      </p:sp>
      <p:sp>
        <p:nvSpPr>
          <p:cNvPr id="124" name="Shape 43">
            <a:extLst>
              <a:ext uri="{FF2B5EF4-FFF2-40B4-BE49-F238E27FC236}">
                <a16:creationId xmlns:a16="http://schemas.microsoft.com/office/drawing/2014/main" id="{17773FDE-735F-3A85-E994-685B85D467AE}"/>
              </a:ext>
            </a:extLst>
          </p:cNvPr>
          <p:cNvSpPr/>
          <p:nvPr/>
        </p:nvSpPr>
        <p:spPr>
          <a:xfrm>
            <a:off x="3319272" y="2612585"/>
            <a:ext cx="2505456" cy="512064"/>
          </a:xfrm>
          <a:prstGeom prst="rect">
            <a:avLst/>
          </a:prstGeom>
          <a:solidFill>
            <a:schemeClr val="tx1"/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Shape 44">
            <a:extLst>
              <a:ext uri="{FF2B5EF4-FFF2-40B4-BE49-F238E27FC236}">
                <a16:creationId xmlns:a16="http://schemas.microsoft.com/office/drawing/2014/main" id="{423A3102-DEE9-FCA2-A6AC-BC90A81BD8DC}"/>
              </a:ext>
            </a:extLst>
          </p:cNvPr>
          <p:cNvSpPr/>
          <p:nvPr/>
        </p:nvSpPr>
        <p:spPr>
          <a:xfrm>
            <a:off x="3374136" y="2731457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Text 45">
            <a:extLst>
              <a:ext uri="{FF2B5EF4-FFF2-40B4-BE49-F238E27FC236}">
                <a16:creationId xmlns:a16="http://schemas.microsoft.com/office/drawing/2014/main" id="{A1BFB93E-BF1B-C4B3-F272-4E9527EA17D6}"/>
              </a:ext>
            </a:extLst>
          </p:cNvPr>
          <p:cNvSpPr/>
          <p:nvPr/>
        </p:nvSpPr>
        <p:spPr>
          <a:xfrm>
            <a:off x="3374136" y="273145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0" name="Text 46">
            <a:extLst>
              <a:ext uri="{FF2B5EF4-FFF2-40B4-BE49-F238E27FC236}">
                <a16:creationId xmlns:a16="http://schemas.microsoft.com/office/drawing/2014/main" id="{8E590B57-EA6F-D3AB-7487-A04AA1CCA297}"/>
              </a:ext>
            </a:extLst>
          </p:cNvPr>
          <p:cNvSpPr/>
          <p:nvPr/>
        </p:nvSpPr>
        <p:spPr>
          <a:xfrm>
            <a:off x="3666744" y="2658305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Index</a:t>
            </a:r>
            <a:endParaRPr lang="en-US" sz="900" dirty="0"/>
          </a:p>
        </p:txBody>
      </p:sp>
      <p:sp>
        <p:nvSpPr>
          <p:cNvPr id="132" name="Text 47">
            <a:extLst>
              <a:ext uri="{FF2B5EF4-FFF2-40B4-BE49-F238E27FC236}">
                <a16:creationId xmlns:a16="http://schemas.microsoft.com/office/drawing/2014/main" id="{2D791D4E-0F2A-27E9-CC0D-C92EF6A8802D}"/>
              </a:ext>
            </a:extLst>
          </p:cNvPr>
          <p:cNvSpPr/>
          <p:nvPr/>
        </p:nvSpPr>
        <p:spPr>
          <a:xfrm>
            <a:off x="3666744" y="2868617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coverage &amp; market share</a:t>
            </a:r>
            <a:endParaRPr lang="en-US" sz="750" dirty="0"/>
          </a:p>
        </p:txBody>
      </p:sp>
      <p:sp>
        <p:nvSpPr>
          <p:cNvPr id="134" name="Shape 48">
            <a:extLst>
              <a:ext uri="{FF2B5EF4-FFF2-40B4-BE49-F238E27FC236}">
                <a16:creationId xmlns:a16="http://schemas.microsoft.com/office/drawing/2014/main" id="{C59E6177-D18A-CB6C-BCB5-F8C31F0F2C03}"/>
              </a:ext>
            </a:extLst>
          </p:cNvPr>
          <p:cNvSpPr/>
          <p:nvPr/>
        </p:nvSpPr>
        <p:spPr>
          <a:xfrm>
            <a:off x="3319272" y="3197801"/>
            <a:ext cx="2505456" cy="512064"/>
          </a:xfrm>
          <a:prstGeom prst="rect">
            <a:avLst/>
          </a:prstGeom>
          <a:solidFill>
            <a:schemeClr val="tx1"/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Shape 49">
            <a:extLst>
              <a:ext uri="{FF2B5EF4-FFF2-40B4-BE49-F238E27FC236}">
                <a16:creationId xmlns:a16="http://schemas.microsoft.com/office/drawing/2014/main" id="{6DDE8C7D-AAFE-FC6C-CA5D-4B23F9FEB150}"/>
              </a:ext>
            </a:extLst>
          </p:cNvPr>
          <p:cNvSpPr/>
          <p:nvPr/>
        </p:nvSpPr>
        <p:spPr>
          <a:xfrm>
            <a:off x="3374136" y="3316673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Text 50">
            <a:extLst>
              <a:ext uri="{FF2B5EF4-FFF2-40B4-BE49-F238E27FC236}">
                <a16:creationId xmlns:a16="http://schemas.microsoft.com/office/drawing/2014/main" id="{95DC5F83-CEC2-417F-4C4A-7978B23D4424}"/>
              </a:ext>
            </a:extLst>
          </p:cNvPr>
          <p:cNvSpPr/>
          <p:nvPr/>
        </p:nvSpPr>
        <p:spPr>
          <a:xfrm>
            <a:off x="3374136" y="331667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0" name="Text 51">
            <a:extLst>
              <a:ext uri="{FF2B5EF4-FFF2-40B4-BE49-F238E27FC236}">
                <a16:creationId xmlns:a16="http://schemas.microsoft.com/office/drawing/2014/main" id="{E849745F-21E7-3356-14A4-A6386795CAE6}"/>
              </a:ext>
            </a:extLst>
          </p:cNvPr>
          <p:cNvSpPr/>
          <p:nvPr/>
        </p:nvSpPr>
        <p:spPr>
          <a:xfrm>
            <a:off x="3666744" y="3243521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Score</a:t>
            </a:r>
            <a:endParaRPr lang="en-US" sz="900" dirty="0"/>
          </a:p>
        </p:txBody>
      </p:sp>
      <p:sp>
        <p:nvSpPr>
          <p:cNvPr id="142" name="Text 52">
            <a:extLst>
              <a:ext uri="{FF2B5EF4-FFF2-40B4-BE49-F238E27FC236}">
                <a16:creationId xmlns:a16="http://schemas.microsoft.com/office/drawing/2014/main" id="{C3F402EC-6E01-8B76-F9D0-99C5428F207A}"/>
              </a:ext>
            </a:extLst>
          </p:cNvPr>
          <p:cNvSpPr/>
          <p:nvPr/>
        </p:nvSpPr>
        <p:spPr>
          <a:xfrm>
            <a:off x="3666744" y="3453833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deployment readiness in area</a:t>
            </a:r>
            <a:endParaRPr lang="en-US" sz="750" dirty="0"/>
          </a:p>
        </p:txBody>
      </p:sp>
      <p:sp>
        <p:nvSpPr>
          <p:cNvPr id="144" name="Shape 53">
            <a:extLst>
              <a:ext uri="{FF2B5EF4-FFF2-40B4-BE49-F238E27FC236}">
                <a16:creationId xmlns:a16="http://schemas.microsoft.com/office/drawing/2014/main" id="{CA3060CA-1904-F327-B424-C6A839D82ACA}"/>
              </a:ext>
            </a:extLst>
          </p:cNvPr>
          <p:cNvSpPr/>
          <p:nvPr/>
        </p:nvSpPr>
        <p:spPr>
          <a:xfrm>
            <a:off x="3319272" y="3995948"/>
            <a:ext cx="2505456" cy="4023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Text 54">
            <a:extLst>
              <a:ext uri="{FF2B5EF4-FFF2-40B4-BE49-F238E27FC236}">
                <a16:creationId xmlns:a16="http://schemas.microsoft.com/office/drawing/2014/main" id="{7B3B4279-5849-B09E-9E69-957F5589F889}"/>
              </a:ext>
            </a:extLst>
          </p:cNvPr>
          <p:cNvSpPr/>
          <p:nvPr/>
        </p:nvSpPr>
        <p:spPr>
          <a:xfrm>
            <a:off x="3319272" y="400639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Heat-mapped output ranks all areas</a:t>
            </a:r>
            <a:endParaRPr lang="en-US" sz="800" dirty="0"/>
          </a:p>
        </p:txBody>
      </p:sp>
      <p:sp>
        <p:nvSpPr>
          <p:cNvPr id="148" name="Text 55">
            <a:extLst>
              <a:ext uri="{FF2B5EF4-FFF2-40B4-BE49-F238E27FC236}">
                <a16:creationId xmlns:a16="http://schemas.microsoft.com/office/drawing/2014/main" id="{CF70DB87-BFB1-57E1-A054-D08184461EB2}"/>
              </a:ext>
            </a:extLst>
          </p:cNvPr>
          <p:cNvSpPr/>
          <p:nvPr/>
        </p:nvSpPr>
        <p:spPr>
          <a:xfrm>
            <a:off x="3319272" y="418666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 Opportunity     Medium     High Opportunity</a:t>
            </a:r>
            <a:endParaRPr lang="en-US" sz="750" dirty="0"/>
          </a:p>
        </p:txBody>
      </p:sp>
      <p:sp>
        <p:nvSpPr>
          <p:cNvPr id="150" name="Text 56">
            <a:extLst>
              <a:ext uri="{FF2B5EF4-FFF2-40B4-BE49-F238E27FC236}">
                <a16:creationId xmlns:a16="http://schemas.microsoft.com/office/drawing/2014/main" id="{B967283F-7659-C958-0057-9D6E08087D47}"/>
              </a:ext>
            </a:extLst>
          </p:cNvPr>
          <p:cNvSpPr/>
          <p:nvPr/>
        </p:nvSpPr>
        <p:spPr>
          <a:xfrm>
            <a:off x="6035040" y="2082233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2" name="Shape 58">
            <a:extLst>
              <a:ext uri="{FF2B5EF4-FFF2-40B4-BE49-F238E27FC236}">
                <a16:creationId xmlns:a16="http://schemas.microsoft.com/office/drawing/2014/main" id="{88D6AE3B-E19E-67B4-254A-9BBBB4410683}"/>
              </a:ext>
            </a:extLst>
          </p:cNvPr>
          <p:cNvSpPr/>
          <p:nvPr/>
        </p:nvSpPr>
        <p:spPr>
          <a:xfrm>
            <a:off x="6355080" y="736763"/>
            <a:ext cx="2514600" cy="969264"/>
          </a:xfrm>
          <a:prstGeom prst="rect">
            <a:avLst/>
          </a:prstGeom>
          <a:solidFill>
            <a:schemeClr val="bg1"/>
          </a:solidFill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Shape 59">
            <a:extLst>
              <a:ext uri="{FF2B5EF4-FFF2-40B4-BE49-F238E27FC236}">
                <a16:creationId xmlns:a16="http://schemas.microsoft.com/office/drawing/2014/main" id="{9E079672-C6EB-DAE2-181E-A0E1D2A26659}"/>
              </a:ext>
            </a:extLst>
          </p:cNvPr>
          <p:cNvSpPr/>
          <p:nvPr/>
        </p:nvSpPr>
        <p:spPr>
          <a:xfrm>
            <a:off x="6355080" y="736763"/>
            <a:ext cx="274320" cy="9692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Text 60">
            <a:extLst>
              <a:ext uri="{FF2B5EF4-FFF2-40B4-BE49-F238E27FC236}">
                <a16:creationId xmlns:a16="http://schemas.microsoft.com/office/drawing/2014/main" id="{1C67CA3E-B8EB-E7DD-5BE5-5E2CB56C8130}"/>
              </a:ext>
            </a:extLst>
          </p:cNvPr>
          <p:cNvSpPr/>
          <p:nvPr/>
        </p:nvSpPr>
        <p:spPr>
          <a:xfrm>
            <a:off x="6355080" y="1102523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158" name="Text 61">
            <a:extLst>
              <a:ext uri="{FF2B5EF4-FFF2-40B4-BE49-F238E27FC236}">
                <a16:creationId xmlns:a16="http://schemas.microsoft.com/office/drawing/2014/main" id="{EEEE9B57-4BE0-4962-AEBE-852C96A6C5BE}"/>
              </a:ext>
            </a:extLst>
          </p:cNvPr>
          <p:cNvSpPr/>
          <p:nvPr/>
        </p:nvSpPr>
        <p:spPr>
          <a:xfrm>
            <a:off x="6684264" y="791627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Zone A – Al </a:t>
            </a:r>
            <a:r>
              <a:rPr lang="en-US" sz="9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Marafah</a:t>
            </a:r>
            <a:endParaRPr lang="en-US" sz="900" dirty="0"/>
          </a:p>
        </p:txBody>
      </p:sp>
      <p:sp>
        <p:nvSpPr>
          <p:cNvPr id="160" name="Text 62">
            <a:extLst>
              <a:ext uri="{FF2B5EF4-FFF2-40B4-BE49-F238E27FC236}">
                <a16:creationId xmlns:a16="http://schemas.microsoft.com/office/drawing/2014/main" id="{1DD93951-8B3D-C067-31F5-5EC8E6A9FD05}"/>
              </a:ext>
            </a:extLst>
          </p:cNvPr>
          <p:cNvSpPr/>
          <p:nvPr/>
        </p:nvSpPr>
        <p:spPr>
          <a:xfrm>
            <a:off x="6684264" y="1011083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</a:t>
            </a:r>
            <a:endParaRPr lang="en-US" sz="750" dirty="0"/>
          </a:p>
        </p:txBody>
      </p:sp>
      <p:sp>
        <p:nvSpPr>
          <p:cNvPr id="162" name="Text 63">
            <a:extLst>
              <a:ext uri="{FF2B5EF4-FFF2-40B4-BE49-F238E27FC236}">
                <a16:creationId xmlns:a16="http://schemas.microsoft.com/office/drawing/2014/main" id="{3D702E17-F1D7-7D1F-E751-F6BC41019276}"/>
              </a:ext>
            </a:extLst>
          </p:cNvPr>
          <p:cNvSpPr/>
          <p:nvPr/>
        </p:nvSpPr>
        <p:spPr>
          <a:xfrm>
            <a:off x="8019288" y="974507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400" dirty="0"/>
          </a:p>
        </p:txBody>
      </p:sp>
      <p:sp>
        <p:nvSpPr>
          <p:cNvPr id="164" name="Text 64">
            <a:extLst>
              <a:ext uri="{FF2B5EF4-FFF2-40B4-BE49-F238E27FC236}">
                <a16:creationId xmlns:a16="http://schemas.microsoft.com/office/drawing/2014/main" id="{29C2C993-DF9E-F968-9B6E-949B9A0038BF}"/>
              </a:ext>
            </a:extLst>
          </p:cNvPr>
          <p:cNvSpPr/>
          <p:nvPr/>
        </p:nvSpPr>
        <p:spPr>
          <a:xfrm>
            <a:off x="8458200" y="1011083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750" dirty="0"/>
          </a:p>
        </p:txBody>
      </p:sp>
      <p:sp>
        <p:nvSpPr>
          <p:cNvPr id="166" name="Text 65">
            <a:extLst>
              <a:ext uri="{FF2B5EF4-FFF2-40B4-BE49-F238E27FC236}">
                <a16:creationId xmlns:a16="http://schemas.microsoft.com/office/drawing/2014/main" id="{9B8A53EF-1F72-41D9-BF8E-D0C9D5D5A9A8}"/>
              </a:ext>
            </a:extLst>
          </p:cNvPr>
          <p:cNvSpPr/>
          <p:nvPr/>
        </p:nvSpPr>
        <p:spPr>
          <a:xfrm>
            <a:off x="6684264" y="1212251"/>
            <a:ext cx="2139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Households:  4,200</a:t>
            </a:r>
            <a:endParaRPr lang="en-US" sz="750" dirty="0"/>
          </a:p>
        </p:txBody>
      </p:sp>
      <p:sp>
        <p:nvSpPr>
          <p:cNvPr id="168" name="Text 66">
            <a:extLst>
              <a:ext uri="{FF2B5EF4-FFF2-40B4-BE49-F238E27FC236}">
                <a16:creationId xmlns:a16="http://schemas.microsoft.com/office/drawing/2014/main" id="{0B9A727A-7F77-321B-8637-3A613090CCE4}"/>
              </a:ext>
            </a:extLst>
          </p:cNvPr>
          <p:cNvSpPr/>
          <p:nvPr/>
        </p:nvSpPr>
        <p:spPr>
          <a:xfrm>
            <a:off x="6684264" y="1367699"/>
            <a:ext cx="2139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   11,800</a:t>
            </a:r>
            <a:endParaRPr lang="en-US" sz="750" dirty="0"/>
          </a:p>
        </p:txBody>
      </p:sp>
      <p:sp>
        <p:nvSpPr>
          <p:cNvPr id="170" name="Text 67">
            <a:extLst>
              <a:ext uri="{FF2B5EF4-FFF2-40B4-BE49-F238E27FC236}">
                <a16:creationId xmlns:a16="http://schemas.microsoft.com/office/drawing/2014/main" id="{C0B9D27C-0E2D-8C6D-639E-79627D3B7AA5}"/>
              </a:ext>
            </a:extLst>
          </p:cNvPr>
          <p:cNvSpPr/>
          <p:nvPr/>
        </p:nvSpPr>
        <p:spPr>
          <a:xfrm>
            <a:off x="6684264" y="1523147"/>
            <a:ext cx="2139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Area size:      5.4 km²</a:t>
            </a:r>
            <a:endParaRPr lang="en-US" sz="750" dirty="0"/>
          </a:p>
        </p:txBody>
      </p:sp>
      <p:sp>
        <p:nvSpPr>
          <p:cNvPr id="172" name="Shape 68">
            <a:extLst>
              <a:ext uri="{FF2B5EF4-FFF2-40B4-BE49-F238E27FC236}">
                <a16:creationId xmlns:a16="http://schemas.microsoft.com/office/drawing/2014/main" id="{8998AEBB-0848-5434-FC43-426384A01C57}"/>
              </a:ext>
            </a:extLst>
          </p:cNvPr>
          <p:cNvSpPr/>
          <p:nvPr/>
        </p:nvSpPr>
        <p:spPr>
          <a:xfrm>
            <a:off x="6355080" y="1797467"/>
            <a:ext cx="2514600" cy="969264"/>
          </a:xfrm>
          <a:prstGeom prst="rect">
            <a:avLst/>
          </a:prstGeom>
          <a:solidFill>
            <a:schemeClr val="bg1"/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4" name="Shape 69">
            <a:extLst>
              <a:ext uri="{FF2B5EF4-FFF2-40B4-BE49-F238E27FC236}">
                <a16:creationId xmlns:a16="http://schemas.microsoft.com/office/drawing/2014/main" id="{D27C7541-145F-730F-A4F9-990BA5551201}"/>
              </a:ext>
            </a:extLst>
          </p:cNvPr>
          <p:cNvSpPr/>
          <p:nvPr/>
        </p:nvSpPr>
        <p:spPr>
          <a:xfrm>
            <a:off x="6355080" y="1797467"/>
            <a:ext cx="274320" cy="969264"/>
          </a:xfrm>
          <a:prstGeom prst="rect">
            <a:avLst/>
          </a:prstGeom>
          <a:solidFill>
            <a:schemeClr val="tx1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6" name="Text 70">
            <a:extLst>
              <a:ext uri="{FF2B5EF4-FFF2-40B4-BE49-F238E27FC236}">
                <a16:creationId xmlns:a16="http://schemas.microsoft.com/office/drawing/2014/main" id="{05AC6CA5-6EAD-D893-099E-7BBA62ED110A}"/>
              </a:ext>
            </a:extLst>
          </p:cNvPr>
          <p:cNvSpPr/>
          <p:nvPr/>
        </p:nvSpPr>
        <p:spPr>
          <a:xfrm>
            <a:off x="6355080" y="2163227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178" name="Text 71">
            <a:extLst>
              <a:ext uri="{FF2B5EF4-FFF2-40B4-BE49-F238E27FC236}">
                <a16:creationId xmlns:a16="http://schemas.microsoft.com/office/drawing/2014/main" id="{04892EF7-67CB-9EFE-FAAC-6B7C90CEBAF4}"/>
              </a:ext>
            </a:extLst>
          </p:cNvPr>
          <p:cNvSpPr/>
          <p:nvPr/>
        </p:nvSpPr>
        <p:spPr>
          <a:xfrm>
            <a:off x="6684264" y="1852331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Zone B – East Suburbs</a:t>
            </a:r>
            <a:endParaRPr lang="en-US" sz="900" dirty="0"/>
          </a:p>
        </p:txBody>
      </p:sp>
      <p:sp>
        <p:nvSpPr>
          <p:cNvPr id="180" name="Text 72">
            <a:extLst>
              <a:ext uri="{FF2B5EF4-FFF2-40B4-BE49-F238E27FC236}">
                <a16:creationId xmlns:a16="http://schemas.microsoft.com/office/drawing/2014/main" id="{D700412C-FF82-0180-9C12-9608704480BB}"/>
              </a:ext>
            </a:extLst>
          </p:cNvPr>
          <p:cNvSpPr/>
          <p:nvPr/>
        </p:nvSpPr>
        <p:spPr>
          <a:xfrm>
            <a:off x="6684264" y="2071787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</a:t>
            </a:r>
            <a:endParaRPr lang="en-US" sz="750" dirty="0"/>
          </a:p>
        </p:txBody>
      </p:sp>
      <p:sp>
        <p:nvSpPr>
          <p:cNvPr id="182" name="Text 73">
            <a:extLst>
              <a:ext uri="{FF2B5EF4-FFF2-40B4-BE49-F238E27FC236}">
                <a16:creationId xmlns:a16="http://schemas.microsoft.com/office/drawing/2014/main" id="{ADB65683-7C18-23CE-0CED-AF7354FC9D66}"/>
              </a:ext>
            </a:extLst>
          </p:cNvPr>
          <p:cNvSpPr/>
          <p:nvPr/>
        </p:nvSpPr>
        <p:spPr>
          <a:xfrm>
            <a:off x="8019288" y="2035211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400" dirty="0"/>
          </a:p>
        </p:txBody>
      </p:sp>
      <p:sp>
        <p:nvSpPr>
          <p:cNvPr id="184" name="Text 74">
            <a:extLst>
              <a:ext uri="{FF2B5EF4-FFF2-40B4-BE49-F238E27FC236}">
                <a16:creationId xmlns:a16="http://schemas.microsoft.com/office/drawing/2014/main" id="{6696482F-FED5-D0E7-9C12-35806FE4179F}"/>
              </a:ext>
            </a:extLst>
          </p:cNvPr>
          <p:cNvSpPr/>
          <p:nvPr/>
        </p:nvSpPr>
        <p:spPr>
          <a:xfrm>
            <a:off x="8458200" y="2071787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750" dirty="0"/>
          </a:p>
        </p:txBody>
      </p:sp>
      <p:sp>
        <p:nvSpPr>
          <p:cNvPr id="186" name="Text 75">
            <a:extLst>
              <a:ext uri="{FF2B5EF4-FFF2-40B4-BE49-F238E27FC236}">
                <a16:creationId xmlns:a16="http://schemas.microsoft.com/office/drawing/2014/main" id="{BF05F492-84AA-F8C4-03C2-77DBBC19DEFB}"/>
              </a:ext>
            </a:extLst>
          </p:cNvPr>
          <p:cNvSpPr/>
          <p:nvPr/>
        </p:nvSpPr>
        <p:spPr>
          <a:xfrm>
            <a:off x="6684264" y="2272955"/>
            <a:ext cx="2139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Households:  3,100</a:t>
            </a:r>
            <a:endParaRPr lang="en-US" sz="750" dirty="0"/>
          </a:p>
        </p:txBody>
      </p:sp>
      <p:sp>
        <p:nvSpPr>
          <p:cNvPr id="188" name="Text 76">
            <a:extLst>
              <a:ext uri="{FF2B5EF4-FFF2-40B4-BE49-F238E27FC236}">
                <a16:creationId xmlns:a16="http://schemas.microsoft.com/office/drawing/2014/main" id="{4D859B15-3CE2-2918-155C-4A71F8BFDDF7}"/>
              </a:ext>
            </a:extLst>
          </p:cNvPr>
          <p:cNvSpPr/>
          <p:nvPr/>
        </p:nvSpPr>
        <p:spPr>
          <a:xfrm>
            <a:off x="6684264" y="2428403"/>
            <a:ext cx="2139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    8,400</a:t>
            </a:r>
            <a:endParaRPr lang="en-US" sz="750" dirty="0"/>
          </a:p>
        </p:txBody>
      </p:sp>
      <p:sp>
        <p:nvSpPr>
          <p:cNvPr id="190" name="Text 77">
            <a:extLst>
              <a:ext uri="{FF2B5EF4-FFF2-40B4-BE49-F238E27FC236}">
                <a16:creationId xmlns:a16="http://schemas.microsoft.com/office/drawing/2014/main" id="{AF2B3045-ABD9-5C44-FC77-C2ADD8B0125C}"/>
              </a:ext>
            </a:extLst>
          </p:cNvPr>
          <p:cNvSpPr/>
          <p:nvPr/>
        </p:nvSpPr>
        <p:spPr>
          <a:xfrm>
            <a:off x="6684264" y="2583851"/>
            <a:ext cx="2139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Area size:       9.8 km²</a:t>
            </a:r>
            <a:endParaRPr lang="en-US" sz="750" dirty="0"/>
          </a:p>
        </p:txBody>
      </p:sp>
      <p:sp>
        <p:nvSpPr>
          <p:cNvPr id="192" name="Shape 78">
            <a:extLst>
              <a:ext uri="{FF2B5EF4-FFF2-40B4-BE49-F238E27FC236}">
                <a16:creationId xmlns:a16="http://schemas.microsoft.com/office/drawing/2014/main" id="{78457236-268C-40B6-8835-DFA049671054}"/>
              </a:ext>
            </a:extLst>
          </p:cNvPr>
          <p:cNvSpPr/>
          <p:nvPr/>
        </p:nvSpPr>
        <p:spPr>
          <a:xfrm>
            <a:off x="6355080" y="2858171"/>
            <a:ext cx="2514600" cy="969264"/>
          </a:xfrm>
          <a:prstGeom prst="rect">
            <a:avLst/>
          </a:prstGeom>
          <a:solidFill>
            <a:schemeClr val="bg1"/>
          </a:solidFill>
          <a:ln w="6350">
            <a:solidFill>
              <a:srgbClr val="253B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4" name="Shape 79">
            <a:extLst>
              <a:ext uri="{FF2B5EF4-FFF2-40B4-BE49-F238E27FC236}">
                <a16:creationId xmlns:a16="http://schemas.microsoft.com/office/drawing/2014/main" id="{7126A15F-F8BD-CBDE-AD8D-14E0915E0C44}"/>
              </a:ext>
            </a:extLst>
          </p:cNvPr>
          <p:cNvSpPr/>
          <p:nvPr/>
        </p:nvSpPr>
        <p:spPr>
          <a:xfrm>
            <a:off x="6355080" y="2858171"/>
            <a:ext cx="274320" cy="969264"/>
          </a:xfrm>
          <a:prstGeom prst="rect">
            <a:avLst/>
          </a:prstGeom>
          <a:solidFill>
            <a:schemeClr val="tx1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6" name="Text 80">
            <a:extLst>
              <a:ext uri="{FF2B5EF4-FFF2-40B4-BE49-F238E27FC236}">
                <a16:creationId xmlns:a16="http://schemas.microsoft.com/office/drawing/2014/main" id="{8F799C1F-F8A7-EB5D-81CA-8D0B178468AD}"/>
              </a:ext>
            </a:extLst>
          </p:cNvPr>
          <p:cNvSpPr/>
          <p:nvPr/>
        </p:nvSpPr>
        <p:spPr>
          <a:xfrm>
            <a:off x="6355080" y="3223931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198" name="Text 81">
            <a:extLst>
              <a:ext uri="{FF2B5EF4-FFF2-40B4-BE49-F238E27FC236}">
                <a16:creationId xmlns:a16="http://schemas.microsoft.com/office/drawing/2014/main" id="{28CE4878-9740-28C2-927F-31341268E06D}"/>
              </a:ext>
            </a:extLst>
          </p:cNvPr>
          <p:cNvSpPr/>
          <p:nvPr/>
        </p:nvSpPr>
        <p:spPr>
          <a:xfrm>
            <a:off x="6684264" y="2913035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Zone C – Industrial West</a:t>
            </a:r>
            <a:endParaRPr lang="en-US" sz="900" dirty="0"/>
          </a:p>
        </p:txBody>
      </p:sp>
      <p:sp>
        <p:nvSpPr>
          <p:cNvPr id="200" name="Text 82">
            <a:extLst>
              <a:ext uri="{FF2B5EF4-FFF2-40B4-BE49-F238E27FC236}">
                <a16:creationId xmlns:a16="http://schemas.microsoft.com/office/drawing/2014/main" id="{FABDBEC8-373C-04C7-FB72-0EC44A4D050F}"/>
              </a:ext>
            </a:extLst>
          </p:cNvPr>
          <p:cNvSpPr/>
          <p:nvPr/>
        </p:nvSpPr>
        <p:spPr>
          <a:xfrm>
            <a:off x="6684264" y="3132491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</a:t>
            </a:r>
            <a:endParaRPr lang="en-US" sz="750" dirty="0"/>
          </a:p>
        </p:txBody>
      </p:sp>
      <p:sp>
        <p:nvSpPr>
          <p:cNvPr id="202" name="Text 83">
            <a:extLst>
              <a:ext uri="{FF2B5EF4-FFF2-40B4-BE49-F238E27FC236}">
                <a16:creationId xmlns:a16="http://schemas.microsoft.com/office/drawing/2014/main" id="{4E47DC4D-F788-A2A3-C128-95363B116DEE}"/>
              </a:ext>
            </a:extLst>
          </p:cNvPr>
          <p:cNvSpPr/>
          <p:nvPr/>
        </p:nvSpPr>
        <p:spPr>
          <a:xfrm>
            <a:off x="8019288" y="3095915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400" dirty="0"/>
          </a:p>
        </p:txBody>
      </p:sp>
      <p:sp>
        <p:nvSpPr>
          <p:cNvPr id="204" name="Text 84">
            <a:extLst>
              <a:ext uri="{FF2B5EF4-FFF2-40B4-BE49-F238E27FC236}">
                <a16:creationId xmlns:a16="http://schemas.microsoft.com/office/drawing/2014/main" id="{A597D18B-7383-822C-8E19-DDB08929BB79}"/>
              </a:ext>
            </a:extLst>
          </p:cNvPr>
          <p:cNvSpPr/>
          <p:nvPr/>
        </p:nvSpPr>
        <p:spPr>
          <a:xfrm>
            <a:off x="8458200" y="3132491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750" dirty="0"/>
          </a:p>
        </p:txBody>
      </p:sp>
      <p:sp>
        <p:nvSpPr>
          <p:cNvPr id="206" name="Text 85">
            <a:extLst>
              <a:ext uri="{FF2B5EF4-FFF2-40B4-BE49-F238E27FC236}">
                <a16:creationId xmlns:a16="http://schemas.microsoft.com/office/drawing/2014/main" id="{F3449971-AB36-7620-DF2F-A836D425DBC3}"/>
              </a:ext>
            </a:extLst>
          </p:cNvPr>
          <p:cNvSpPr/>
          <p:nvPr/>
        </p:nvSpPr>
        <p:spPr>
          <a:xfrm>
            <a:off x="6684264" y="3333659"/>
            <a:ext cx="2139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Households:  1,900</a:t>
            </a:r>
            <a:endParaRPr lang="en-US" sz="750" dirty="0"/>
          </a:p>
        </p:txBody>
      </p:sp>
      <p:sp>
        <p:nvSpPr>
          <p:cNvPr id="208" name="Text 86">
            <a:extLst>
              <a:ext uri="{FF2B5EF4-FFF2-40B4-BE49-F238E27FC236}">
                <a16:creationId xmlns:a16="http://schemas.microsoft.com/office/drawing/2014/main" id="{8D15989E-57A9-94CA-B09A-8AD05B32A7FA}"/>
              </a:ext>
            </a:extLst>
          </p:cNvPr>
          <p:cNvSpPr/>
          <p:nvPr/>
        </p:nvSpPr>
        <p:spPr>
          <a:xfrm>
            <a:off x="6684264" y="3489107"/>
            <a:ext cx="2139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    5,200</a:t>
            </a:r>
            <a:endParaRPr lang="en-US" sz="750" dirty="0"/>
          </a:p>
        </p:txBody>
      </p:sp>
      <p:sp>
        <p:nvSpPr>
          <p:cNvPr id="210" name="Text 87">
            <a:extLst>
              <a:ext uri="{FF2B5EF4-FFF2-40B4-BE49-F238E27FC236}">
                <a16:creationId xmlns:a16="http://schemas.microsoft.com/office/drawing/2014/main" id="{FB71B36A-CCC3-A805-BD7B-9B5EFB049269}"/>
              </a:ext>
            </a:extLst>
          </p:cNvPr>
          <p:cNvSpPr/>
          <p:nvPr/>
        </p:nvSpPr>
        <p:spPr>
          <a:xfrm>
            <a:off x="6684264" y="3644555"/>
            <a:ext cx="2139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Area size:       7.1 km²</a:t>
            </a:r>
            <a:endParaRPr lang="en-US" sz="750" dirty="0"/>
          </a:p>
        </p:txBody>
      </p:sp>
      <p:sp>
        <p:nvSpPr>
          <p:cNvPr id="212" name="Shape 88">
            <a:extLst>
              <a:ext uri="{FF2B5EF4-FFF2-40B4-BE49-F238E27FC236}">
                <a16:creationId xmlns:a16="http://schemas.microsoft.com/office/drawing/2014/main" id="{13264064-6C07-8694-B33D-F8DDE569A490}"/>
              </a:ext>
            </a:extLst>
          </p:cNvPr>
          <p:cNvSpPr/>
          <p:nvPr/>
        </p:nvSpPr>
        <p:spPr>
          <a:xfrm>
            <a:off x="6355080" y="3900587"/>
            <a:ext cx="2514600" cy="3474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4" name="Text 89">
            <a:extLst>
              <a:ext uri="{FF2B5EF4-FFF2-40B4-BE49-F238E27FC236}">
                <a16:creationId xmlns:a16="http://schemas.microsoft.com/office/drawing/2014/main" id="{23C1E5B5-3AFB-D108-CB1B-9E3DA01A64ED}"/>
              </a:ext>
            </a:extLst>
          </p:cNvPr>
          <p:cNvSpPr/>
          <p:nvPr/>
        </p:nvSpPr>
        <p:spPr>
          <a:xfrm>
            <a:off x="6355080" y="3884915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hotspot</a:t>
            </a:r>
            <a:endParaRPr lang="en-US" sz="1000" dirty="0"/>
          </a:p>
        </p:txBody>
      </p:sp>
      <p:sp>
        <p:nvSpPr>
          <p:cNvPr id="216" name="Text 90">
            <a:extLst>
              <a:ext uri="{FF2B5EF4-FFF2-40B4-BE49-F238E27FC236}">
                <a16:creationId xmlns:a16="http://schemas.microsoft.com/office/drawing/2014/main" id="{B015A00A-00B8-E70D-F4D5-8AAD51A9B839}"/>
              </a:ext>
            </a:extLst>
          </p:cNvPr>
          <p:cNvSpPr/>
          <p:nvPr/>
        </p:nvSpPr>
        <p:spPr>
          <a:xfrm>
            <a:off x="6387735" y="4048205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 deep-dive AI analysis</a:t>
            </a:r>
            <a:endParaRPr lang="en-US" sz="850" dirty="0"/>
          </a:p>
        </p:txBody>
      </p:sp>
      <p:sp>
        <p:nvSpPr>
          <p:cNvPr id="392" name="Text 57">
            <a:extLst>
              <a:ext uri="{FF2B5EF4-FFF2-40B4-BE49-F238E27FC236}">
                <a16:creationId xmlns:a16="http://schemas.microsoft.com/office/drawing/2014/main" id="{BCC162E0-7AC2-D688-EE27-8DC659C17BDF}"/>
              </a:ext>
            </a:extLst>
          </p:cNvPr>
          <p:cNvSpPr/>
          <p:nvPr/>
        </p:nvSpPr>
        <p:spPr>
          <a:xfrm>
            <a:off x="6355080" y="444155"/>
            <a:ext cx="2514600" cy="2377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RANKED HOTSPOTS</a:t>
            </a:r>
            <a:endParaRPr lang="en-US" sz="1000" dirty="0"/>
          </a:p>
        </p:txBody>
      </p:sp>
      <p:sp>
        <p:nvSpPr>
          <p:cNvPr id="396" name="Shape 2">
            <a:extLst>
              <a:ext uri="{FF2B5EF4-FFF2-40B4-BE49-F238E27FC236}">
                <a16:creationId xmlns:a16="http://schemas.microsoft.com/office/drawing/2014/main" id="{066A56E3-DEA5-BD91-B16B-1B1B3DAE06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954291" y="4412775"/>
            <a:ext cx="1485989" cy="633499"/>
          </a:xfrm>
          <a:prstGeom prst="roundRect">
            <a:avLst>
              <a:gd name="adj" fmla="val 7151"/>
            </a:avLst>
          </a:prstGeom>
          <a:solidFill>
            <a:schemeClr val="bg1">
              <a:lumMod val="85000"/>
            </a:schemeClr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defTabSz="685800"/>
            <a:endParaRPr lang="en-GB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7" name="Arrow: Right 396">
            <a:extLst>
              <a:ext uri="{FF2B5EF4-FFF2-40B4-BE49-F238E27FC236}">
                <a16:creationId xmlns:a16="http://schemas.microsoft.com/office/drawing/2014/main" id="{F943A2AD-8B7C-CF30-78EC-AA98DD4B20CB}"/>
              </a:ext>
            </a:extLst>
          </p:cNvPr>
          <p:cNvSpPr/>
          <p:nvPr/>
        </p:nvSpPr>
        <p:spPr>
          <a:xfrm>
            <a:off x="2826150" y="2201105"/>
            <a:ext cx="301752" cy="26517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Arrow: Right 398">
            <a:extLst>
              <a:ext uri="{FF2B5EF4-FFF2-40B4-BE49-F238E27FC236}">
                <a16:creationId xmlns:a16="http://schemas.microsoft.com/office/drawing/2014/main" id="{1E581DD4-0CB7-8C6A-2FEA-53753C924FC2}"/>
              </a:ext>
            </a:extLst>
          </p:cNvPr>
          <p:cNvSpPr/>
          <p:nvPr/>
        </p:nvSpPr>
        <p:spPr>
          <a:xfrm>
            <a:off x="6027855" y="2178245"/>
            <a:ext cx="301752" cy="26517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2" name="Arrow: Right 401">
            <a:extLst>
              <a:ext uri="{FF2B5EF4-FFF2-40B4-BE49-F238E27FC236}">
                <a16:creationId xmlns:a16="http://schemas.microsoft.com/office/drawing/2014/main" id="{67DFD19A-95ED-5A3D-C54B-E74CF7F9C21C}"/>
              </a:ext>
            </a:extLst>
          </p:cNvPr>
          <p:cNvSpPr/>
          <p:nvPr/>
        </p:nvSpPr>
        <p:spPr>
          <a:xfrm>
            <a:off x="4317268" y="4242836"/>
            <a:ext cx="61428" cy="731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4" name="Arrow: Right 403">
            <a:extLst>
              <a:ext uri="{FF2B5EF4-FFF2-40B4-BE49-F238E27FC236}">
                <a16:creationId xmlns:a16="http://schemas.microsoft.com/office/drawing/2014/main" id="{E039925F-56E2-9562-0EB3-265954DDE422}"/>
              </a:ext>
            </a:extLst>
          </p:cNvPr>
          <p:cNvSpPr/>
          <p:nvPr/>
        </p:nvSpPr>
        <p:spPr>
          <a:xfrm>
            <a:off x="4763581" y="4245017"/>
            <a:ext cx="61428" cy="731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6" name="Shape 2">
            <a:extLst>
              <a:ext uri="{FF2B5EF4-FFF2-40B4-BE49-F238E27FC236}">
                <a16:creationId xmlns:a16="http://schemas.microsoft.com/office/drawing/2014/main" id="{B3CBA862-9D40-210D-71F7-A8B24B211AC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60" y="4470521"/>
            <a:ext cx="1485989" cy="633499"/>
          </a:xfrm>
          <a:prstGeom prst="roundRect">
            <a:avLst>
              <a:gd name="adj" fmla="val 7151"/>
            </a:avLst>
          </a:prstGeom>
          <a:solidFill>
            <a:schemeClr val="bg1">
              <a:lumMod val="85000"/>
            </a:schemeClr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defTabSz="685800"/>
            <a:endParaRPr lang="en-GB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0" name="first_step_A">
            <a:hlinkClick r:id="" action="ppaction://media"/>
            <a:extLst>
              <a:ext uri="{FF2B5EF4-FFF2-40B4-BE49-F238E27FC236}">
                <a16:creationId xmlns:a16="http://schemas.microsoft.com/office/drawing/2014/main" id="{38621BB9-B25D-B998-464C-F4D4CF772996}"/>
              </a:ext>
            </a:extLst>
          </p:cNvPr>
          <p:cNvPicPr>
            <a:picLocks noChangeAspect="1"/>
          </p:cNvPicPr>
          <p:nvPr>
            <a:videoFile r:link="rId6"/>
            <p:custDataLst>
              <p:tags r:id="rId7"/>
            </p:custDataLst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91856" y="4493639"/>
            <a:ext cx="1090259" cy="578326"/>
          </a:xfrm>
          <a:prstGeom prst="rect">
            <a:avLst/>
          </a:prstGeom>
        </p:spPr>
      </p:pic>
      <p:pic>
        <p:nvPicPr>
          <p:cNvPr id="407" name="first_step">
            <a:hlinkClick r:id="" action="ppaction://media"/>
            <a:extLst>
              <a:ext uri="{FF2B5EF4-FFF2-40B4-BE49-F238E27FC236}">
                <a16:creationId xmlns:a16="http://schemas.microsoft.com/office/drawing/2014/main" id="{B2CEB369-B460-6FAF-C0C1-47F772BF4697}"/>
              </a:ext>
            </a:extLst>
          </p:cNvPr>
          <p:cNvPicPr>
            <a:picLocks noChangeAspect="1"/>
          </p:cNvPicPr>
          <p:nvPr>
            <a:videoFile r:link="rId9"/>
            <p:custDataLst>
              <p:tags r:id="rId10"/>
            </p:custDataLst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7116684" y="4459674"/>
            <a:ext cx="1184607" cy="5387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947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1465" fill="hold"/>
                                        <p:tgtEl>
                                          <p:spTgt spid="4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4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7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407"/>
                </p:tgtEl>
              </p:cMediaNode>
            </p:vide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200</Words>
  <Application>Microsoft Office PowerPoint</Application>
  <PresentationFormat>On-screen Show (16:9)</PresentationFormat>
  <Paragraphs>60</Paragraphs>
  <Slides>1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Kurt LLuwellyn Petersen</cp:lastModifiedBy>
  <cp:revision>14</cp:revision>
  <dcterms:created xsi:type="dcterms:W3CDTF">2026-07-11T18:16:54Z</dcterms:created>
  <dcterms:modified xsi:type="dcterms:W3CDTF">2026-07-12T15:48:53Z</dcterms:modified>
</cp:coreProperties>
</file>