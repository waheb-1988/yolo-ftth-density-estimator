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7280"/>
              </a:solidFill>
              <a:effectLst/>
            </c:spPr>
          </c:dPt>
          <c:dPt>
            <c:idx val="1"/>
            <c:bubble3D val="0"/>
            <c:spPr>
              <a:solidFill>
                <a:srgbClr val="AAB0B6"/>
              </a:solidFill>
              <a:effectLst/>
            </c:spPr>
          </c:dPt>
          <c:dPt>
            <c:idx val="2"/>
            <c:bubble3D val="0"/>
            <c:spPr>
              <a:solidFill>
                <a:srgbClr val="E30613"/>
              </a:solidFill>
              <a:effectLst/>
            </c:spPr>
          </c:dPt>
          <c:dPt>
            <c:idx val="3"/>
            <c:bubble3D val="0"/>
            <c:spPr>
              <a:solidFill>
                <a:srgbClr val="D9DDE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Omantel</c:v>
                </c:pt>
                <c:pt idx="1">
                  <c:v>Awasr</c:v>
                </c:pt>
                <c:pt idx="2">
                  <c:v>Ooredoo</c:v>
                </c:pt>
                <c:pt idx="3">
                  <c:v>Others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1A1D2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2331720"/>
            <a:ext cx="2194560" cy="2194560"/>
          </a:xfrm>
          <a:prstGeom prst="ellipse">
            <a:avLst/>
          </a:prstGeom>
          <a:solidFill>
            <a:srgbClr val="B0051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83464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234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OOREDOO  FALCON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Best Place to Get New FTTH Users?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886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location intelligence platform that guides the FIX team from a single question to a full go-to-market strategy.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Journey &amp; Solution Overview   | 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Starts With One Question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natural-language query from the FIX team triggers the entire analysis pipeline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852160" cy="3108960"/>
          </a:xfrm>
          <a:prstGeom prst="roundRect">
            <a:avLst>
              <a:gd name="adj" fmla="val 3529"/>
            </a:avLst>
          </a:prstGeom>
          <a:solidFill>
            <a:srgbClr val="1A1D21"/>
          </a:solidFill>
          <a:ln/>
          <a:effectLst>
            <a:outerShdw sx="100000" sy="100000" kx="0" ky="0" algn="bl" rotWithShape="0" blurRad="1270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94560"/>
            <a:ext cx="594360" cy="594360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814" y="23490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Ooredoo Falcon AI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97280" y="306324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23272B"/>
          </a:solidFill>
          <a:ln w="9525">
            <a:solidFill>
              <a:srgbClr val="3A40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31546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“Fix Team, where is the best location to get new FTTH users?”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4434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understands the intent and prepares the analysis pipeline automatically.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23760" y="1920240"/>
            <a:ext cx="548640" cy="548640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406" y="206288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9552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intent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95528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the natural-language question into an analysis goal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223760" y="3017520"/>
            <a:ext cx="548640" cy="548640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406" y="31601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Scopes the search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955280" y="3291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candidate zones (“pitations”) across the network footprint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23760" y="4114800"/>
            <a:ext cx="548640" cy="548640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406" y="425744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552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Orchestrates the pipeline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955280" y="4389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Kicks off data collection, AI scoring and market analysis end-to-end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Journey — 8 Steps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 question to strategy execution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E30613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013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80744" y="1819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Question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9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 for the best location to get new FTTH users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38144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39312" y="1801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15384" y="1819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0" y="2423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&amp; external data: network, customers, geography, competition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801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50024" y="1819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Discovery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2423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potential high-opportunity areas (pitations)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07424" y="1600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08592" y="1801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84664" y="1819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Selection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326880" y="2423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selects the most promising area(s) for deep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3504" y="3886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087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80744" y="4105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CV Analysis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4709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+ AI analyze satellite images &amp; infrastructure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38144" y="3886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39312" y="4087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1" name="Text 29"/>
          <p:cNvSpPr/>
          <p:nvPr/>
        </p:nvSpPr>
        <p:spPr>
          <a:xfrm>
            <a:off x="363931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215384" y="4105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57600" y="4709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households, penetration and new user opportunities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72784" y="3886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3952" y="4087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6" name="Text 34"/>
          <p:cNvSpPr/>
          <p:nvPr/>
        </p:nvSpPr>
        <p:spPr>
          <a:xfrm>
            <a:off x="647395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50024" y="4105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Strategy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92240" y="4709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insights, recommendations &amp; GTM strategy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07424" y="3886200"/>
            <a:ext cx="267004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08592" y="4087368"/>
            <a:ext cx="457200" cy="457200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41" name="Text 39"/>
          <p:cNvSpPr/>
          <p:nvPr/>
        </p:nvSpPr>
        <p:spPr>
          <a:xfrm>
            <a:off x="9308592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884664" y="410565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&amp; Execution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326880" y="470916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sent to Marketing &amp; Operations for execution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Multi-Source Data Collection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relevant data is collected and unified for AI processing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" y="194767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202" y="2109338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9536" y="26517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FTTH Network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9536" y="301752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Coverage, capacity and current fiber footprint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43984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4700016" y="194767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682" y="210933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0016" y="26517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700016" y="301752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base, churn and service adoption patterns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84464" y="16916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0496" y="194767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162" y="2109338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0496" y="265176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&amp; Demographics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540496" y="301752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density, income levels and geographic layers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3504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20" name="Shape 15"/>
          <p:cNvSpPr/>
          <p:nvPr/>
        </p:nvSpPr>
        <p:spPr>
          <a:xfrm>
            <a:off x="859536" y="418795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202" y="4349618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9536" y="48920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Imagery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59536" y="52578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High-resolution imagery of buildings and land use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43984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25" name="Shape 19"/>
          <p:cNvSpPr/>
          <p:nvPr/>
        </p:nvSpPr>
        <p:spPr>
          <a:xfrm>
            <a:off x="4700016" y="418795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682" y="4349618"/>
            <a:ext cx="298460" cy="298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0016" y="48920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Coverage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700016" y="52578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Omantel, Awasr and other operators' footprints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284464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4F4F6"/>
          </a:solidFill>
          <a:ln/>
        </p:spPr>
      </p:sp>
      <p:sp>
        <p:nvSpPr>
          <p:cNvPr id="30" name="Shape 23"/>
          <p:cNvSpPr/>
          <p:nvPr/>
        </p:nvSpPr>
        <p:spPr>
          <a:xfrm>
            <a:off x="8540496" y="4187952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162" y="4349618"/>
            <a:ext cx="298460" cy="298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0496" y="489204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Data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540496" y="525780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Roads, utilities, developments and construction activity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3–4 — Area Discovery &amp; Selection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highlights high-potential pitations; the user picks the best area for deep analysis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169164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4F4F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10860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11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Identifies Opportunities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zone is scored with a data-driven opportunity model combining demand, competition and infrastructure signals.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Heat-mapped results rank areas from low to high opportunity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blend household density, FTTH gaps and growth signals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drills into the most promising pitation on the map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score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5394960"/>
            <a:ext cx="1188720" cy="2560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Shape 8"/>
          <p:cNvSpPr/>
          <p:nvPr/>
        </p:nvSpPr>
        <p:spPr>
          <a:xfrm>
            <a:off x="2103120" y="5394960"/>
            <a:ext cx="1188720" cy="256032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2" name="Shape 9"/>
          <p:cNvSpPr/>
          <p:nvPr/>
        </p:nvSpPr>
        <p:spPr>
          <a:xfrm>
            <a:off x="3291840" y="5394960"/>
            <a:ext cx="1188720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5394960"/>
            <a:ext cx="1188720" cy="256032"/>
          </a:xfrm>
          <a:prstGeom prst="rect">
            <a:avLst/>
          </a:prstGeom>
          <a:solidFill>
            <a:srgbClr val="E30613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5687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46320" y="5687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72784" y="1691640"/>
            <a:ext cx="5303520" cy="4480560"/>
          </a:xfrm>
          <a:prstGeom prst="roundRect">
            <a:avLst>
              <a:gd name="adj" fmla="val 2041"/>
            </a:avLst>
          </a:prstGeom>
          <a:solidFill>
            <a:srgbClr val="1A1D21"/>
          </a:solidFill>
          <a:ln/>
        </p:spPr>
      </p:sp>
      <p:sp>
        <p:nvSpPr>
          <p:cNvPr id="17" name="Text 14"/>
          <p:cNvSpPr/>
          <p:nvPr/>
        </p:nvSpPr>
        <p:spPr>
          <a:xfrm>
            <a:off x="662940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Area Summary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629400" y="25603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3272B"/>
          </a:solidFill>
          <a:ln/>
        </p:spPr>
      </p:sp>
      <p:sp>
        <p:nvSpPr>
          <p:cNvPr id="19" name="Text 16"/>
          <p:cNvSpPr/>
          <p:nvPr/>
        </p:nvSpPr>
        <p:spPr>
          <a:xfrm>
            <a:off x="6766560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km²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766560" y="3383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size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235440" y="25603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3272B"/>
          </a:solidFill>
          <a:ln/>
        </p:spPr>
      </p:sp>
      <p:sp>
        <p:nvSpPr>
          <p:cNvPr id="22" name="Text 19"/>
          <p:cNvSpPr/>
          <p:nvPr/>
        </p:nvSpPr>
        <p:spPr>
          <a:xfrm>
            <a:off x="9372600" y="27432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12,846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9372600" y="3383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households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629400" y="4206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3272B"/>
          </a:solidFill>
          <a:ln/>
        </p:spPr>
      </p:sp>
      <p:sp>
        <p:nvSpPr>
          <p:cNvPr id="25" name="Text 22"/>
          <p:cNvSpPr/>
          <p:nvPr/>
        </p:nvSpPr>
        <p:spPr>
          <a:xfrm>
            <a:off x="6766560" y="4389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38,721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766560" y="5029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235440" y="420624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3272B"/>
          </a:solidFill>
          <a:ln/>
        </p:spPr>
      </p:sp>
      <p:sp>
        <p:nvSpPr>
          <p:cNvPr id="28" name="Text 25"/>
          <p:cNvSpPr/>
          <p:nvPr/>
        </p:nvSpPr>
        <p:spPr>
          <a:xfrm>
            <a:off x="9372600" y="43891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/ 100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9372600" y="5029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score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629400" y="5715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user confirms the area and launches deep AI analysis.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Approaches to Zone Prioritization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AI Computer Vision enter the workflow — before or after ranking?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164592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0195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30613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9019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AI-Led Upfront Planning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761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all zones with AI before execution begins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96112" y="3246120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32095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maximum number of candidate zones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3721608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AI + Computer Vision across all of them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4197096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delivers planning details &amp; a full ranking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672584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19" name="Text 17"/>
          <p:cNvSpPr/>
          <p:nvPr/>
        </p:nvSpPr>
        <p:spPr>
          <a:xfrm>
            <a:off x="896112" y="4672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46360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zones in ranked order, one by one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6112" y="52578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Complete visibility — every zone planned before work starts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One consistent, data-driven ranking for all zones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Higher upfront cost &amp; time (imagery + AI for every zone)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64224" y="1645920"/>
            <a:ext cx="5486400" cy="4709160"/>
          </a:xfrm>
          <a:prstGeom prst="roundRect">
            <a:avLst>
              <a:gd name="adj" fmla="val 1942"/>
            </a:avLst>
          </a:prstGeom>
          <a:solidFill>
            <a:srgbClr val="1A1D21"/>
          </a:solidFill>
          <a:ln/>
          <a:effectLst>
            <a:outerShdw sx="100000" sy="100000" kx="0" ky="0" algn="bl" rotWithShape="0" blurRad="76200" dist="25400" dir="54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56832" y="1901952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656832" y="190195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56832" y="2395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Business-Led Phased Prioritization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656832" y="27614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first with business knowledge, apply AI where it matters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56832" y="3246120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28" name="Text 26"/>
          <p:cNvSpPr/>
          <p:nvPr/>
        </p:nvSpPr>
        <p:spPr>
          <a:xfrm>
            <a:off x="6656832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86600" y="320954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existing data — network, customers, competitors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56832" y="3721608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1" name="Text 29"/>
          <p:cNvSpPr/>
          <p:nvPr/>
        </p:nvSpPr>
        <p:spPr>
          <a:xfrm>
            <a:off x="6656832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8660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zones using business knowledge (no AI yet)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656832" y="4197096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4" name="Text 32"/>
          <p:cNvSpPr/>
          <p:nvPr/>
        </p:nvSpPr>
        <p:spPr>
          <a:xfrm>
            <a:off x="6656832" y="4197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86600" y="4160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satellite imagery for top-priority zones only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656832" y="4672584"/>
            <a:ext cx="310896" cy="310896"/>
          </a:xfrm>
          <a:prstGeom prst="ellipse">
            <a:avLst/>
          </a:prstGeom>
          <a:solidFill>
            <a:srgbClr val="E30613"/>
          </a:solidFill>
          <a:ln/>
        </p:spPr>
      </p:sp>
      <p:sp>
        <p:nvSpPr>
          <p:cNvPr id="37" name="Text 35"/>
          <p:cNvSpPr/>
          <p:nvPr/>
        </p:nvSpPr>
        <p:spPr>
          <a:xfrm>
            <a:off x="6656832" y="4672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86600" y="46360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AI + Computer Vision deep analysis on those zones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656832" y="52578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Fast start with low upfront cost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Imagery &amp; AI spend focused only on priority zones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Initial ranking relies on judgment — refined later by AI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5–6 — AI Vision &amp; Market Potential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reads the ground truth; AI estimates the opportunity for Ooredoo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178308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947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12,846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86384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households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58184" y="178308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3941064" y="194767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15,230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941064" y="2651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buildings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" y="34747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6393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8,972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86384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FTTH users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58184" y="3474720"/>
            <a:ext cx="2880360" cy="1417320"/>
          </a:xfrm>
          <a:prstGeom prst="roundRect">
            <a:avLst>
              <a:gd name="adj" fmla="val 5161"/>
            </a:avLst>
          </a:prstGeom>
          <a:solidFill>
            <a:srgbClr val="F4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3941064" y="36393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69.8%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941064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Penetration potential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" y="5257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 detects buildings, roads, density and land use directly from satellite imagery — classifying residential, commercial and other structures.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32320" y="1737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 Assumption</a:t>
            </a:r>
            <a:endParaRPr lang="en-US" sz="16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858000" y="2148840"/>
          <a:ext cx="47548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/>
          <p:nvPr/>
        </p:nvSpPr>
        <p:spPr>
          <a:xfrm>
            <a:off x="7132320" y="55321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Ooredoo holds ~20% today — the selected pitation is headroom to grow against a 70% competitor share.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 — AI-Generated Insights &amp; Strategy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turns analysis into recommendations and a go-to-market plan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1737360"/>
            <a:ext cx="5440680" cy="4389120"/>
          </a:xfrm>
          <a:prstGeom prst="roundRect">
            <a:avLst>
              <a:gd name="adj" fmla="val 2083"/>
            </a:avLst>
          </a:prstGeom>
          <a:solidFill>
            <a:srgbClr val="F4F4F6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1543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residential density in the selected pitation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current FTTH penetration — large untapped base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growth potential from new developments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presence dominated by Omantel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18504" y="1737360"/>
            <a:ext cx="5257800" cy="4389120"/>
          </a:xfrm>
          <a:prstGeom prst="roundRect">
            <a:avLst>
              <a:gd name="adj" fmla="val 2083"/>
            </a:avLst>
          </a:prstGeom>
          <a:solidFill>
            <a:srgbClr val="1A1D21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11680"/>
            <a:ext cx="548640" cy="548640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046" y="215432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574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Strategy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75120" y="28346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villa clusters &amp; new developments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targeted offers for the area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door-to-door with digital campaigns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8E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real-estate developers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the Scenes — AI &amp; Data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stages run automatically between the question and the answer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03504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910" y="310804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3464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728216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258568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974" y="3108046"/>
            <a:ext cx="504749" cy="5047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38528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3383280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913632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038" y="3108046"/>
            <a:ext cx="504749" cy="5047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93592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038344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568696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102" y="3108046"/>
            <a:ext cx="504749" cy="50474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248656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693408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7223760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7166" y="3108046"/>
            <a:ext cx="504749" cy="50474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03720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 Model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8348472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7"/>
          <p:cNvSpPr/>
          <p:nvPr/>
        </p:nvSpPr>
        <p:spPr>
          <a:xfrm>
            <a:off x="8878824" y="2834640"/>
            <a:ext cx="1051560" cy="1051560"/>
          </a:xfrm>
          <a:prstGeom prst="ellipse">
            <a:avLst/>
          </a:prstGeom>
          <a:solidFill>
            <a:srgbClr val="23272B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230" y="3108046"/>
            <a:ext cx="504749" cy="504749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558784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Analysis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10003536" y="31318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0"/>
          <p:cNvSpPr/>
          <p:nvPr/>
        </p:nvSpPr>
        <p:spPr>
          <a:xfrm>
            <a:off x="10533888" y="2834640"/>
            <a:ext cx="1051560" cy="1051560"/>
          </a:xfrm>
          <a:prstGeom prst="ellipse">
            <a:avLst/>
          </a:prstGeom>
          <a:solidFill>
            <a:srgbClr val="E30613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7294" y="3108046"/>
            <a:ext cx="504749" cy="50474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213848" y="40690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&amp; Strategy</a:t>
            </a:r>
            <a:endParaRPr lang="en-US" sz="1150" dirty="0"/>
          </a:p>
        </p:txBody>
      </p:sp>
      <p:sp>
        <p:nvSpPr>
          <p:cNvPr id="31" name="Text 22"/>
          <p:cNvSpPr/>
          <p:nvPr/>
        </p:nvSpPr>
        <p:spPr>
          <a:xfrm>
            <a:off x="1828800" y="5212080"/>
            <a:ext cx="8531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feeds the next — raw multi-source data becomes structured features, vision-derived ground truth, market estimates, and finally an LLM-written strategy.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8 — Outputs &amp; Execution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Ready-to-use deliverables are routed to the teams that act on them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3504" y="2057400"/>
            <a:ext cx="566928" cy="566928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05" y="22048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202996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53312" y="23500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Concise PDF summary for leadership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3504" y="3090672"/>
            <a:ext cx="566928" cy="566928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905" y="323807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53312" y="30632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Report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53312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analysis deck for stakeholders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" y="4123944"/>
            <a:ext cx="566928" cy="566928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05" y="4271345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3312" y="40965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Dashboard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53312" y="4416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maps, scores and KPIs to explore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504" y="5157216"/>
            <a:ext cx="566928" cy="566928"/>
          </a:xfrm>
          <a:prstGeom prst="ellipse">
            <a:avLst/>
          </a:prstGeom>
          <a:solidFill>
            <a:srgbClr val="F4F4F6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05" y="5304617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53312" y="51297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Strategy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353312" y="5449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GTM plan with offers, channels and targets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4008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TEAMS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00800" y="2057400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4F6"/>
          </a:solidFill>
          <a:ln/>
        </p:spPr>
      </p:sp>
      <p:sp>
        <p:nvSpPr>
          <p:cNvPr id="23" name="Shape 17"/>
          <p:cNvSpPr/>
          <p:nvPr/>
        </p:nvSpPr>
        <p:spPr>
          <a:xfrm>
            <a:off x="6620256" y="22768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902" y="2419502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620256" y="29260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Operations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620256" y="333756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campaigns &amp; targeted offers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9144000" y="2057400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4F6"/>
          </a:solidFill>
          <a:ln/>
        </p:spPr>
      </p:sp>
      <p:sp>
        <p:nvSpPr>
          <p:cNvPr id="28" name="Shape 21"/>
          <p:cNvSpPr/>
          <p:nvPr/>
        </p:nvSpPr>
        <p:spPr>
          <a:xfrm>
            <a:off x="9363456" y="227685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6102" y="2419502"/>
            <a:ext cx="263347" cy="26334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363456" y="292608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Teams</a:t>
            </a:r>
            <a:endParaRPr lang="en-US" sz="1250" dirty="0"/>
          </a:p>
        </p:txBody>
      </p:sp>
      <p:sp>
        <p:nvSpPr>
          <p:cNvPr id="31" name="Text 23"/>
          <p:cNvSpPr/>
          <p:nvPr/>
        </p:nvSpPr>
        <p:spPr>
          <a:xfrm>
            <a:off x="9363456" y="3337560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Door-to-door and direct acquisition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400800" y="4187952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4F6"/>
          </a:solidFill>
          <a:ln/>
        </p:spPr>
      </p:sp>
      <p:sp>
        <p:nvSpPr>
          <p:cNvPr id="33" name="Shape 25"/>
          <p:cNvSpPr/>
          <p:nvPr/>
        </p:nvSpPr>
        <p:spPr>
          <a:xfrm>
            <a:off x="6620256" y="44074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902" y="4550054"/>
            <a:ext cx="263347" cy="26334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620256" y="50566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Planning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6620256" y="546811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Prioritizes fiber build &amp; capacity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9144000" y="4187952"/>
            <a:ext cx="2487168" cy="1874520"/>
          </a:xfrm>
          <a:prstGeom prst="roundRect">
            <a:avLst>
              <a:gd name="adj" fmla="val 4390"/>
            </a:avLst>
          </a:prstGeom>
          <a:solidFill>
            <a:srgbClr val="F4F4F6"/>
          </a:solidFill>
          <a:ln/>
        </p:spPr>
      </p:sp>
      <p:sp>
        <p:nvSpPr>
          <p:cNvPr id="38" name="Shape 29"/>
          <p:cNvSpPr/>
          <p:nvPr/>
        </p:nvSpPr>
        <p:spPr>
          <a:xfrm>
            <a:off x="9363456" y="440740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6102" y="4550054"/>
            <a:ext cx="263347" cy="263347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363456" y="5056632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Operations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9363456" y="546811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Executes installs on the ground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1141171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0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3061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8580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920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640080" y="35661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Ooredoo Falcon helps the FIX team find the right pitations to acquire new FTTH users with AI-powered intelligence.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289304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0680" y="12344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best locations to acquire new FTTH users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57984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40680" y="210312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 making replaces guesswork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026664"/>
            <a:ext cx="384048" cy="3840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0680" y="29718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marketing investments per area</a:t>
            </a:r>
            <a:endParaRPr lang="en-US" sz="1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895344"/>
            <a:ext cx="384048" cy="38404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40680" y="38404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conversion rates &amp; ROI on acquisition</a:t>
            </a:r>
            <a:endParaRPr lang="en-US" sz="16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764024"/>
            <a:ext cx="384048" cy="38404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440680" y="470916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FTTH expansion across the network</a:t>
            </a:r>
            <a:endParaRPr lang="en-US" sz="1600" dirty="0"/>
          </a:p>
        </p:txBody>
      </p:sp>
      <p:sp>
        <p:nvSpPr>
          <p:cNvPr id="16" name="Text 8"/>
          <p:cNvSpPr/>
          <p:nvPr/>
        </p:nvSpPr>
        <p:spPr>
          <a:xfrm>
            <a:off x="5440680" y="5943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Ooredoo Falcon  •  AI-Powered FTTH Location Intelligence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2026-07-12T16:34:53Z</dcterms:created>
  <dcterms:modified xsi:type="dcterms:W3CDTF">2026-07-12T16:34:53Z</dcterms:modified>
</cp:coreProperties>
</file>