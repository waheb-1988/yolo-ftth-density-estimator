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custDataLst>
    <p:tags r:id="rId9"/>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28F622D-3344-74E5-5812-479B8C1502F5}">
          <p14:sldIdLst>
            <p14:sldId id="256"/>
          </p14:sldIdLst>
        </p14:section>
        <p14:section name="Approach" id="{CAF2C21E-BBBE-1DD5-3306-E030AD48D6C3}">
          <p14:sldIdLst>
            <p14:sldId id="257"/>
            <p14:sldId id="258"/>
          </p14:sldIdLst>
        </p14:section>
        <p14:section name="Evidence" id="{FD532475-5A60-C0AB-EC86-6680BB9FDFC2}">
          <p14:sldIdLst>
            <p14:sldId id="259"/>
            <p14:sldId id="260"/>
          </p14:sldIdLst>
        </p14:section>
        <p14:section name="Next steps" id="{D65B8157-22B3-566F-74D2-9C0F9D2FD609}">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7150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replaced the fixed NBO and NBA pipelines with a decision council of four agents. Each agent chooses which evidence to gather through tools, the critic enforces business guardrails, and the messenger writes a bilingual message. Everything shown in this deck runs today on a laptop GPU with a local 3B model; the same code moves to the company GPU server with vLLM by changing one setting.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 pipelines ran the same steps for everyone and the LLM only re-ranked a list. In the council, the specialists pick their own tools, offers are compared on simulated expected value, and a critic reviews the joint decision. Hard guardrails such as never pushing a sale to a high churn-risk customer are enforced by code, not by the prompt, so they cannot be talked around.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UI talks to FastAPI, which streams every agent event to the browser over Server-Sent Events. The council runs a policy-enforced ReAct loop: the model chooses each step, but code checks required evidence, validates answers, stops loops and falls back deterministically if the LLM fails. Tools wrap the models we already had: the Vowpal Wabbit bandit, the cohort graph, BPR collaborative filtering and the production business rules, plus a new expected-value simulator. The LLM sits behind an OpenAI-compatible API: llama.cpp on a laptop today, vLLM on the GPU server in production.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run, not a mock-up. The Vowpal Wabbit bandit wanted to upsell customer 15 with 83% probability. The NBA strategist looked at the churn propensity of 58% and the falling revenue trend and chose RETAIN, explaining why. The NBO specialist then ranked eligible retention-friendly packs by simulated expected value. The expected-value model is a documented heuristic today; replacing it with an uptake model trained on campaign history is a next step.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Ooredoo edition is now the main app. Dashboard, Customers, Customer 360 and the Copilot were mock pages; they now read the live portfolio from the backend. The NBA and NBO pages run the agents and show their reasoning as it happens. The Copilot answers from tool calls only; tool outputs carry preformatted units because small models tend to mis-convert percentages and currencies.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are measured on this laptop: about 30 seconds for the full council with a 3B model on a 4 GB GPU. Hard guardrails are enforced by code and covered by tests, so a violating decision cannot ship even if the model or the LLM critic gets it wrong. Moving to production is a configuration change: point LLM_BACKEND at vLLM on the GPU server. The real business proof is the pilot: an A/B test against the current NBA on one segment.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BX_TITLE">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234440"/>
            <a:ext cx="5669280" cy="320040"/>
          </a:xfrm>
          <a:prstGeom prst="rect">
            <a:avLst/>
          </a:prstGeom>
          <a:noFill/>
          <a:ln/>
        </p:spPr>
        <p:txBody>
          <a:bodyPr wrap="square" rtlCol="0"/>
          <a:lstStyle>
            <a:lvl1pPr marL="0" indent="0">
              <a:buNone/>
              <a:defRPr lang="en-US" sz="1200" b="1" kern="0" spc="300" dirty="0">
                <a:solidFill>
                  <a:schemeClr val="accent1"/>
                </a:solidFill>
              </a:defRPr>
            </a:lvl1pPr>
          </a:lstStyle>
          <a:p>
            <a:pPr marL="0" indent="0">
              <a:buNone/>
            </a:pPr>
            <a:endParaRPr lang="en-US" sz="1200" dirty="0"/>
          </a:p>
        </p:txBody>
      </p:sp>
      <p:sp>
        <p:nvSpPr>
          <p:cNvPr id="3" name="Text 0"/>
          <p:cNvSpPr>
            <a:spLocks noGrp="1"/>
          </p:cNvSpPr>
          <p:nvPr>
            <p:ph type="title" idx="101" hasCustomPrompt="1"/>
          </p:nvPr>
        </p:nvSpPr>
        <p:spPr>
          <a:xfrm>
            <a:off x="548640" y="1600200"/>
            <a:ext cx="5669280" cy="1600200"/>
          </a:xfrm>
          <a:prstGeom prst="rect">
            <a:avLst/>
          </a:prstGeom>
          <a:noFill/>
          <a:ln/>
        </p:spPr>
        <p:txBody>
          <a:bodyPr wrap="square" rtlCol="0"/>
          <a:lstStyle>
            <a:lvl1pPr marL="0" indent="0" algn="l">
              <a:buNone/>
              <a:defRPr lang="en-US" sz="3800" b="1" dirty="0">
                <a:solidFill>
                  <a:schemeClr val="tx1"/>
                </a:solidFill>
              </a:defRPr>
            </a:lvl1pPr>
          </a:lstStyle>
          <a:p>
            <a:pPr marL="0" indent="0" algn="l">
              <a:buNone/>
            </a:pPr>
            <a:endParaRPr lang="en-US" sz="3800" dirty="0"/>
          </a:p>
        </p:txBody>
      </p:sp>
      <p:sp>
        <p:nvSpPr>
          <p:cNvPr id="4" name="Text 0"/>
          <p:cNvSpPr>
            <a:spLocks noGrp="1"/>
          </p:cNvSpPr>
          <p:nvPr>
            <p:ph type="body" idx="102" hasCustomPrompt="1"/>
          </p:nvPr>
        </p:nvSpPr>
        <p:spPr>
          <a:xfrm>
            <a:off x="548640" y="3383280"/>
            <a:ext cx="5486400" cy="1097280"/>
          </a:xfrm>
          <a:prstGeom prst="rect">
            <a:avLst/>
          </a:prstGeom>
          <a:noFill/>
          <a:ln/>
        </p:spPr>
        <p:txBody>
          <a:bodyPr wrap="square" rtlCol="0"/>
          <a:lstStyle>
            <a:lvl1pPr marL="0" indent="0" algn="l">
              <a:buNone/>
              <a:defRPr lang="en-US" sz="1600" dirty="0">
                <a:solidFill>
                  <a:schemeClr val="tx2"/>
                </a:solidFill>
              </a:defRPr>
            </a:lvl1pPr>
          </a:lstStyle>
          <a:p>
            <a:pPr marL="0" indent="0" algn="l">
              <a:buNone/>
            </a:pPr>
            <a:endParaRPr lang="en-US" sz="1600" dirty="0"/>
          </a:p>
        </p:txBody>
      </p:sp>
      <p:sp>
        <p:nvSpPr>
          <p:cNvPr id="5"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tx2"/>
                </a:solidFill>
              </a:rPr>
              <a:t>NBX  ·  Agentic Next Best Action &amp; Offer for Ooredoo Oman</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BX_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64240" cy="274320"/>
          </a:xfrm>
          <a:prstGeom prst="rect">
            <a:avLst/>
          </a:prstGeom>
          <a:noFill/>
          <a:ln/>
        </p:spPr>
        <p:txBody>
          <a:bodyPr wrap="square" rtlCol="0"/>
          <a:lstStyle>
            <a:lvl1pPr marL="0" indent="0">
              <a:buNone/>
              <a:defRPr lang="en-US" sz="1100" b="1" kern="0" spc="300" dirty="0">
                <a:solidFill>
                  <a:schemeClr val="accent1"/>
                </a:solidFill>
              </a:defRPr>
            </a:lvl1pPr>
          </a:lstStyle>
          <a:p>
            <a:pPr marL="0" indent="0">
              <a:buNone/>
            </a:pPr>
            <a:endParaRPr lang="en-US" sz="1100" dirty="0"/>
          </a:p>
        </p:txBody>
      </p:sp>
      <p:sp>
        <p:nvSpPr>
          <p:cNvPr id="3" name="Text 0"/>
          <p:cNvSpPr>
            <a:spLocks noGrp="1"/>
          </p:cNvSpPr>
          <p:nvPr>
            <p:ph type="title" idx="101" hasCustomPrompt="1"/>
          </p:nvPr>
        </p:nvSpPr>
        <p:spPr>
          <a:xfrm>
            <a:off x="548640" y="594360"/>
            <a:ext cx="11064240" cy="68580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tx2"/>
                </a:solidFill>
              </a:rPr>
              <a:t>NBX  ·  Agentic Next Best Action &amp; Offer for Ooredoo Oman</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234440"/>
            <a:ext cx="5669280" cy="320040"/>
          </a:xfrm>
          <a:prstGeom prst="rect">
            <a:avLst/>
          </a:prstGeom>
          <a:noFill/>
          <a:ln/>
        </p:spPr>
        <p:txBody>
          <a:bodyPr wrap="square" lIns="0" tIns="0" rIns="0" bIns="0" rtlCol="0"/>
          <a:lstStyle/>
          <a:p>
            <a:pPr marL="0" indent="0">
              <a:buNone/>
            </a:pPr>
            <a:r>
              <a:rPr lang="en-US" sz="1200" b="1" kern="0" spc="300" dirty="0">
                <a:solidFill>
                  <a:schemeClr val="accent1"/>
                </a:solidFill>
              </a:rPr>
              <a:t>AGENTIC AI  ·  OOREDOO OMAN</a:t>
            </a:r>
            <a:endParaRPr lang="en-US" sz="1200" dirty="0"/>
          </a:p>
        </p:txBody>
      </p:sp>
      <p:sp>
        <p:nvSpPr>
          <p:cNvPr id="3" name="Text 0"/>
          <p:cNvSpPr>
            <a:spLocks noGrp="1"/>
          </p:cNvSpPr>
          <p:nvPr>
            <p:ph type="title" idx="101" hasCustomPrompt="1"/>
          </p:nvPr>
        </p:nvSpPr>
        <p:spPr>
          <a:xfrm>
            <a:off x="548640" y="1600200"/>
            <a:ext cx="5669280" cy="1600200"/>
          </a:xfrm>
          <a:prstGeom prst="rect">
            <a:avLst/>
          </a:prstGeom>
          <a:noFill/>
          <a:ln/>
        </p:spPr>
        <p:txBody>
          <a:bodyPr wrap="square" lIns="0" tIns="0" rIns="0" bIns="0" rtlCol="0" anchor="t"/>
          <a:lstStyle/>
          <a:p>
            <a:pPr marL="0" indent="0" algn="l">
              <a:buNone/>
            </a:pPr>
            <a:r>
              <a:rPr lang="en-US" sz="3800" b="1" dirty="0">
                <a:solidFill>
                  <a:schemeClr val="tx1"/>
                </a:solidFill>
              </a:rPr>
              <a:t>Agentic Next Best Action &amp; Next Best Offer</a:t>
            </a:r>
            <a:endParaRPr lang="en-US" sz="3800" dirty="0"/>
          </a:p>
        </p:txBody>
      </p:sp>
      <p:sp>
        <p:nvSpPr>
          <p:cNvPr id="4" name="Text 0"/>
          <p:cNvSpPr>
            <a:spLocks noGrp="1"/>
          </p:cNvSpPr>
          <p:nvPr>
            <p:ph type="body" idx="102" hasCustomPrompt="1"/>
          </p:nvPr>
        </p:nvSpPr>
        <p:spPr>
          <a:xfrm>
            <a:off x="548640" y="3383280"/>
            <a:ext cx="5486400" cy="1097280"/>
          </a:xfrm>
          <a:prstGeom prst="rect">
            <a:avLst/>
          </a:prstGeom>
          <a:noFill/>
          <a:ln/>
        </p:spPr>
        <p:txBody>
          <a:bodyPr wrap="square" lIns="0" tIns="0" rIns="0" bIns="0" rtlCol="0" anchor="t"/>
          <a:lstStyle/>
          <a:p>
            <a:pPr marL="0" indent="0" algn="l">
              <a:buNone/>
            </a:pPr>
            <a:r>
              <a:rPr lang="en-US" sz="1600" dirty="0">
                <a:solidFill>
                  <a:schemeClr val="tx2"/>
                </a:solidFill>
              </a:rPr>
              <a:t>A council of AI agents that investigates each customer with real tools, checks itself against business guardrails, and writes the outreach in Arabic and English.</a:t>
            </a:r>
            <a:endParaRPr lang="en-US" sz="1600" dirty="0"/>
          </a:p>
        </p:txBody>
      </p:sp>
      <p:sp>
        <p:nvSpPr>
          <p:cNvPr id="5" name="stat cooperating agents"/>
          <p:cNvSpPr/>
          <p:nvPr/>
        </p:nvSpPr>
        <p:spPr>
          <a:xfrm>
            <a:off x="548640" y="4709160"/>
            <a:ext cx="1691640" cy="1097280"/>
          </a:xfrm>
          <a:prstGeom prst="roundRect">
            <a:avLst>
              <a:gd name="adj" fmla="val 10000"/>
            </a:avLst>
          </a:prstGeom>
          <a:solidFill>
            <a:schemeClr val="bg2"/>
          </a:solidFill>
          <a:ln w="12700">
            <a:solidFill>
              <a:srgbClr val="2A2A2E"/>
            </a:solidFill>
            <a:prstDash val="solid"/>
          </a:ln>
        </p:spPr>
      </p:sp>
      <p:sp>
        <p:nvSpPr>
          <p:cNvPr id="6" name="Text 4"/>
          <p:cNvSpPr txBox="1"/>
          <p:nvPr/>
        </p:nvSpPr>
        <p:spPr>
          <a:xfrm>
            <a:off x="731520" y="4818888"/>
            <a:ext cx="1371600" cy="548640"/>
          </a:xfrm>
          <a:prstGeom prst="rect">
            <a:avLst/>
          </a:prstGeom>
          <a:noFill/>
          <a:ln/>
        </p:spPr>
        <p:txBody>
          <a:bodyPr wrap="square" lIns="0" tIns="0" rIns="0" bIns="0" rtlCol="0" anchor="t"/>
          <a:lstStyle/>
          <a:p>
            <a:pPr marL="0" indent="0">
              <a:buNone/>
            </a:pPr>
            <a:r>
              <a:rPr lang="en-US" sz="3200" b="1" dirty="0">
                <a:solidFill>
                  <a:schemeClr val="accent1"/>
                </a:solidFill>
              </a:rPr>
              <a:t>4</a:t>
            </a:r>
            <a:endParaRPr lang="en-US" sz="3200" dirty="0"/>
          </a:p>
        </p:txBody>
      </p:sp>
      <p:sp>
        <p:nvSpPr>
          <p:cNvPr id="7" name="Text 5"/>
          <p:cNvSpPr txBox="1"/>
          <p:nvPr/>
        </p:nvSpPr>
        <p:spPr>
          <a:xfrm>
            <a:off x="731520" y="5376672"/>
            <a:ext cx="1417320" cy="320040"/>
          </a:xfrm>
          <a:prstGeom prst="rect">
            <a:avLst/>
          </a:prstGeom>
          <a:noFill/>
          <a:ln/>
        </p:spPr>
        <p:txBody>
          <a:bodyPr wrap="square" lIns="0" tIns="0" rIns="0" bIns="0" rtlCol="0" anchor="t"/>
          <a:lstStyle/>
          <a:p>
            <a:pPr marL="0" indent="0">
              <a:buNone/>
            </a:pPr>
            <a:r>
              <a:rPr lang="en-US" sz="1100" dirty="0">
                <a:solidFill>
                  <a:schemeClr val="tx2"/>
                </a:solidFill>
              </a:rPr>
              <a:t>cooperating agents</a:t>
            </a:r>
            <a:endParaRPr lang="en-US" sz="1100" dirty="0"/>
          </a:p>
        </p:txBody>
      </p:sp>
      <p:sp>
        <p:nvSpPr>
          <p:cNvPr id="8" name="stat tools over live data"/>
          <p:cNvSpPr/>
          <p:nvPr/>
        </p:nvSpPr>
        <p:spPr>
          <a:xfrm>
            <a:off x="2423160" y="4709160"/>
            <a:ext cx="1691640" cy="1097280"/>
          </a:xfrm>
          <a:prstGeom prst="roundRect">
            <a:avLst>
              <a:gd name="adj" fmla="val 10000"/>
            </a:avLst>
          </a:prstGeom>
          <a:solidFill>
            <a:schemeClr val="bg2"/>
          </a:solidFill>
          <a:ln w="12700">
            <a:solidFill>
              <a:srgbClr val="2A2A2E"/>
            </a:solidFill>
            <a:prstDash val="solid"/>
          </a:ln>
        </p:spPr>
      </p:sp>
      <p:sp>
        <p:nvSpPr>
          <p:cNvPr id="9" name="Text 7"/>
          <p:cNvSpPr txBox="1"/>
          <p:nvPr/>
        </p:nvSpPr>
        <p:spPr>
          <a:xfrm>
            <a:off x="2606040" y="4818888"/>
            <a:ext cx="1371600" cy="548640"/>
          </a:xfrm>
          <a:prstGeom prst="rect">
            <a:avLst/>
          </a:prstGeom>
          <a:noFill/>
          <a:ln/>
        </p:spPr>
        <p:txBody>
          <a:bodyPr wrap="square" lIns="0" tIns="0" rIns="0" bIns="0" rtlCol="0" anchor="t"/>
          <a:lstStyle/>
          <a:p>
            <a:pPr marL="0" indent="0">
              <a:buNone/>
            </a:pPr>
            <a:r>
              <a:rPr lang="en-US" sz="3200" b="1" dirty="0">
                <a:solidFill>
                  <a:schemeClr val="accent1"/>
                </a:solidFill>
              </a:rPr>
              <a:t>10</a:t>
            </a:r>
            <a:endParaRPr lang="en-US" sz="3200" dirty="0"/>
          </a:p>
        </p:txBody>
      </p:sp>
      <p:sp>
        <p:nvSpPr>
          <p:cNvPr id="10" name="Text 8"/>
          <p:cNvSpPr txBox="1"/>
          <p:nvPr/>
        </p:nvSpPr>
        <p:spPr>
          <a:xfrm>
            <a:off x="2606040" y="5376672"/>
            <a:ext cx="1417320" cy="320040"/>
          </a:xfrm>
          <a:prstGeom prst="rect">
            <a:avLst/>
          </a:prstGeom>
          <a:noFill/>
          <a:ln/>
        </p:spPr>
        <p:txBody>
          <a:bodyPr wrap="square" lIns="0" tIns="0" rIns="0" bIns="0" rtlCol="0" anchor="t"/>
          <a:lstStyle/>
          <a:p>
            <a:pPr marL="0" indent="0">
              <a:buNone/>
            </a:pPr>
            <a:r>
              <a:rPr lang="en-US" sz="1100" dirty="0">
                <a:solidFill>
                  <a:schemeClr val="tx2"/>
                </a:solidFill>
              </a:rPr>
              <a:t>tools over live data</a:t>
            </a:r>
            <a:endParaRPr lang="en-US" sz="1100" dirty="0"/>
          </a:p>
        </p:txBody>
      </p:sp>
      <p:sp>
        <p:nvSpPr>
          <p:cNvPr id="11" name="stat automated tests"/>
          <p:cNvSpPr/>
          <p:nvPr/>
        </p:nvSpPr>
        <p:spPr>
          <a:xfrm>
            <a:off x="4297680" y="4709160"/>
            <a:ext cx="1691640" cy="1097280"/>
          </a:xfrm>
          <a:prstGeom prst="roundRect">
            <a:avLst>
              <a:gd name="adj" fmla="val 10000"/>
            </a:avLst>
          </a:prstGeom>
          <a:solidFill>
            <a:schemeClr val="bg2"/>
          </a:solidFill>
          <a:ln w="12700">
            <a:solidFill>
              <a:srgbClr val="2A2A2E"/>
            </a:solidFill>
            <a:prstDash val="solid"/>
          </a:ln>
        </p:spPr>
      </p:sp>
      <p:sp>
        <p:nvSpPr>
          <p:cNvPr id="12" name="Text 10"/>
          <p:cNvSpPr txBox="1"/>
          <p:nvPr/>
        </p:nvSpPr>
        <p:spPr>
          <a:xfrm>
            <a:off x="4480560" y="4818888"/>
            <a:ext cx="1371600" cy="548640"/>
          </a:xfrm>
          <a:prstGeom prst="rect">
            <a:avLst/>
          </a:prstGeom>
          <a:noFill/>
          <a:ln/>
        </p:spPr>
        <p:txBody>
          <a:bodyPr wrap="square" lIns="0" tIns="0" rIns="0" bIns="0" rtlCol="0" anchor="t"/>
          <a:lstStyle/>
          <a:p>
            <a:pPr marL="0" indent="0">
              <a:buNone/>
            </a:pPr>
            <a:r>
              <a:rPr lang="en-US" sz="3200" b="1" dirty="0">
                <a:solidFill>
                  <a:schemeClr val="accent1"/>
                </a:solidFill>
              </a:rPr>
              <a:t>35</a:t>
            </a:r>
            <a:endParaRPr lang="en-US" sz="3200" dirty="0"/>
          </a:p>
        </p:txBody>
      </p:sp>
      <p:sp>
        <p:nvSpPr>
          <p:cNvPr id="13" name="Text 11"/>
          <p:cNvSpPr txBox="1"/>
          <p:nvPr/>
        </p:nvSpPr>
        <p:spPr>
          <a:xfrm>
            <a:off x="4480560" y="5376672"/>
            <a:ext cx="1417320" cy="320040"/>
          </a:xfrm>
          <a:prstGeom prst="rect">
            <a:avLst/>
          </a:prstGeom>
          <a:noFill/>
          <a:ln/>
        </p:spPr>
        <p:txBody>
          <a:bodyPr wrap="square" lIns="0" tIns="0" rIns="0" bIns="0" rtlCol="0" anchor="t"/>
          <a:lstStyle/>
          <a:p>
            <a:pPr marL="0" indent="0">
              <a:buNone/>
            </a:pPr>
            <a:r>
              <a:rPr lang="en-US" sz="1100" dirty="0">
                <a:solidFill>
                  <a:schemeClr val="tx2"/>
                </a:solidFill>
              </a:rPr>
              <a:t>automated tests</a:t>
            </a:r>
            <a:endParaRPr lang="en-US" sz="1100" dirty="0"/>
          </a:p>
        </p:txBody>
      </p:sp>
      <p:sp>
        <p:nvSpPr>
          <p:cNvPr id="14" name="Decision Council screenshot frame"/>
          <p:cNvSpPr/>
          <p:nvPr/>
        </p:nvSpPr>
        <p:spPr>
          <a:xfrm>
            <a:off x="6382512" y="1170432"/>
            <a:ext cx="5385816" cy="3414370"/>
          </a:xfrm>
          <a:prstGeom prst="roundRect">
            <a:avLst>
              <a:gd name="adj" fmla="val 3214"/>
            </a:avLst>
          </a:prstGeom>
          <a:solidFill>
            <a:schemeClr val="bg2"/>
          </a:solidFill>
          <a:ln w="15875">
            <a:solidFill>
              <a:srgbClr val="5A1020"/>
            </a:solidFill>
            <a:prstDash val="solid"/>
          </a:ln>
          <a:effectLst>
            <a:outerShdw blurRad="152400" dist="38100" dir="5400000" algn="bl" rotWithShape="0">
              <a:srgbClr val="000000">
                <a:alpha val="45000"/>
              </a:srgbClr>
            </a:outerShdw>
          </a:effectLst>
        </p:spPr>
      </p:sp>
      <p:pic>
        <p:nvPicPr>
          <p:cNvPr id="15" name="Decision Council screenshot" descr="Decision Council screenshot"/>
          <p:cNvPicPr>
            <a:picLocks noChangeAspect="1"/>
          </p:cNvPicPr>
          <p:nvPr/>
        </p:nvPicPr>
        <p:blipFill>
          <a:blip r:embed="rId3"/>
          <a:stretch>
            <a:fillRect/>
          </a:stretch>
        </p:blipFill>
        <p:spPr>
          <a:xfrm>
            <a:off x="6446520" y="1234440"/>
            <a:ext cx="5257800" cy="3286354"/>
          </a:xfrm>
          <a:prstGeom prst="rect">
            <a:avLst/>
          </a:prstGeom>
        </p:spPr>
      </p:pic>
      <p:sp>
        <p:nvSpPr>
          <p:cNvPr id="16" name="Text 13"/>
          <p:cNvSpPr txBox="1"/>
          <p:nvPr/>
        </p:nvSpPr>
        <p:spPr>
          <a:xfrm>
            <a:off x="6446520" y="4663440"/>
            <a:ext cx="5257800" cy="548640"/>
          </a:xfrm>
          <a:prstGeom prst="rect">
            <a:avLst/>
          </a:prstGeom>
          <a:noFill/>
          <a:ln/>
        </p:spPr>
        <p:txBody>
          <a:bodyPr wrap="square" lIns="0" tIns="0" rIns="0" bIns="0" rtlCol="0" anchor="t"/>
          <a:lstStyle/>
          <a:p>
            <a:pPr marL="0" indent="0">
              <a:buNone/>
            </a:pPr>
            <a:r>
              <a:rPr lang="en-US" sz="1200" i="1" dirty="0">
                <a:solidFill>
                  <a:schemeClr val="tx2"/>
                </a:solidFill>
              </a:rPr>
              <a:t>Live run in the Ooredoo UI: four agents decide for customer #15, every step streamed.</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64240" cy="274320"/>
          </a:xfrm>
          <a:prstGeom prst="rect">
            <a:avLst/>
          </a:prstGeom>
          <a:noFill/>
          <a:ln/>
        </p:spPr>
        <p:txBody>
          <a:bodyPr wrap="square" lIns="0" tIns="0" rIns="0" bIns="0" rtlCol="0"/>
          <a:lstStyle/>
          <a:p>
            <a:pPr marL="0" indent="0">
              <a:buNone/>
            </a:pPr>
            <a:r>
              <a:rPr lang="en-US" sz="1100" b="1" kern="0" spc="300" dirty="0">
                <a:solidFill>
                  <a:schemeClr val="accent1"/>
                </a:solidFill>
              </a:rPr>
              <a:t>WHY AGENTIC</a:t>
            </a:r>
            <a:endParaRPr lang="en-US" sz="1100" dirty="0"/>
          </a:p>
        </p:txBody>
      </p:sp>
      <p:sp>
        <p:nvSpPr>
          <p:cNvPr id="3" name="Text 0"/>
          <p:cNvSpPr>
            <a:spLocks noGrp="1"/>
          </p:cNvSpPr>
          <p:nvPr>
            <p:ph type="title" idx="101" hasCustomPrompt="1"/>
          </p:nvPr>
        </p:nvSpPr>
        <p:spPr>
          <a:xfrm>
            <a:off x="548640" y="594360"/>
            <a:ext cx="11064240" cy="685800"/>
          </a:xfrm>
          <a:prstGeom prst="rect">
            <a:avLst/>
          </a:prstGeom>
          <a:noFill/>
          <a:ln/>
        </p:spPr>
        <p:txBody>
          <a:bodyPr wrap="square" lIns="0" tIns="0" rIns="0" bIns="0" rtlCol="0" anchor="t"/>
          <a:lstStyle/>
          <a:p>
            <a:pPr marL="0" indent="0" algn="l">
              <a:buNone/>
            </a:pPr>
            <a:r>
              <a:rPr lang="en-US" sz="3200" b="1" dirty="0">
                <a:solidFill>
                  <a:schemeClr val="tx1"/>
                </a:solidFill>
              </a:rPr>
              <a:t>From a fixed pipeline to a decision council</a:t>
            </a:r>
            <a:endParaRPr lang="en-US" sz="3200" dirty="0"/>
          </a:p>
        </p:txBody>
      </p:sp>
      <p:sp>
        <p:nvSpPr>
          <p:cNvPr id="4" name="before column"/>
          <p:cNvSpPr/>
          <p:nvPr/>
        </p:nvSpPr>
        <p:spPr>
          <a:xfrm>
            <a:off x="548640" y="1600200"/>
            <a:ext cx="5074920" cy="4160520"/>
          </a:xfrm>
          <a:prstGeom prst="roundRect">
            <a:avLst>
              <a:gd name="adj" fmla="val 2637"/>
            </a:avLst>
          </a:prstGeom>
          <a:solidFill>
            <a:schemeClr val="bg2"/>
          </a:solidFill>
          <a:ln w="12700">
            <a:solidFill>
              <a:srgbClr val="2A2A2E"/>
            </a:solidFill>
            <a:prstDash val="solid"/>
          </a:ln>
        </p:spPr>
      </p:sp>
      <p:sp>
        <p:nvSpPr>
          <p:cNvPr id="5" name="Text 3"/>
          <p:cNvSpPr txBox="1"/>
          <p:nvPr/>
        </p:nvSpPr>
        <p:spPr>
          <a:xfrm>
            <a:off x="868680" y="1874520"/>
            <a:ext cx="4480560" cy="411480"/>
          </a:xfrm>
          <a:prstGeom prst="rect">
            <a:avLst/>
          </a:prstGeom>
          <a:noFill/>
          <a:ln/>
        </p:spPr>
        <p:txBody>
          <a:bodyPr wrap="square" lIns="0" tIns="0" rIns="0" bIns="0" rtlCol="0" anchor="t"/>
          <a:lstStyle/>
          <a:p>
            <a:pPr marL="0" indent="0">
              <a:buNone/>
            </a:pPr>
            <a:r>
              <a:rPr lang="en-US" sz="2000" b="1" dirty="0">
                <a:solidFill>
                  <a:schemeClr val="tx2"/>
                </a:solidFill>
              </a:rPr>
              <a:t>Before: fixed pipeline</a:t>
            </a:r>
            <a:endParaRPr lang="en-US" sz="2000" dirty="0"/>
          </a:p>
        </p:txBody>
      </p:sp>
      <p:sp>
        <p:nvSpPr>
          <p:cNvPr id="6" name="Text 4"/>
          <p:cNvSpPr txBox="1"/>
          <p:nvPr/>
        </p:nvSpPr>
        <p:spPr>
          <a:xfrm>
            <a:off x="868680" y="2468880"/>
            <a:ext cx="4526280" cy="30175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2"/>
                </a:solidFill>
              </a:rPr>
              <a:t>Same four steps for every customer, whatever the case</a:t>
            </a:r>
            <a:endParaRPr lang="en-US" sz="1500" dirty="0"/>
          </a:p>
          <a:p>
            <a:pPr marL="342900" indent="-342900">
              <a:spcAft>
                <a:spcPts val="1000"/>
              </a:spcAft>
              <a:buSzPct val="100000"/>
              <a:buChar char="•"/>
            </a:pPr>
            <a:r>
              <a:rPr lang="en-US" sz="1500" dirty="0">
                <a:solidFill>
                  <a:schemeClr val="tx2"/>
                </a:solidFill>
              </a:rPr>
              <a:t>LLM re-ranks offers retrieved by text similarity</a:t>
            </a:r>
            <a:endParaRPr lang="en-US" sz="1500" dirty="0"/>
          </a:p>
          <a:p>
            <a:pPr marL="342900" indent="-342900">
              <a:spcAft>
                <a:spcPts val="1000"/>
              </a:spcAft>
              <a:buSzPct val="100000"/>
              <a:buChar char="•"/>
            </a:pPr>
            <a:r>
              <a:rPr lang="en-US" sz="1500" dirty="0">
                <a:solidFill>
                  <a:schemeClr val="tx2"/>
                </a:solidFill>
              </a:rPr>
              <a:t>One blended score; nobody reviews the decision</a:t>
            </a:r>
            <a:endParaRPr lang="en-US" sz="1500" dirty="0"/>
          </a:p>
          <a:p>
            <a:pPr marL="342900" indent="-342900">
              <a:spcAft>
                <a:spcPts val="1000"/>
              </a:spcAft>
              <a:buSzPct val="100000"/>
              <a:buChar char="•"/>
            </a:pPr>
            <a:r>
              <a:rPr lang="en-US" sz="1500" dirty="0">
                <a:solidFill>
                  <a:schemeClr val="tx2"/>
                </a:solidFill>
              </a:rPr>
              <a:t>Business rules only reorder the final list</a:t>
            </a:r>
            <a:endParaRPr lang="en-US" sz="1500" dirty="0"/>
          </a:p>
          <a:p>
            <a:pPr marL="342900" indent="-342900">
              <a:spcAft>
                <a:spcPts val="1000"/>
              </a:spcAft>
              <a:buSzPct val="100000"/>
              <a:buChar char="•"/>
            </a:pPr>
            <a:r>
              <a:rPr lang="en-US" sz="1500" dirty="0">
                <a:solidFill>
                  <a:schemeClr val="tx2"/>
                </a:solidFill>
              </a:rPr>
              <a:t>No trace of why an offer was chosen</a:t>
            </a:r>
            <a:endParaRPr lang="en-US" sz="1500" dirty="0"/>
          </a:p>
        </p:txBody>
      </p:sp>
      <p:sp>
        <p:nvSpPr>
          <p:cNvPr id="7" name="arrow"/>
          <p:cNvSpPr/>
          <p:nvPr/>
        </p:nvSpPr>
        <p:spPr>
          <a:xfrm>
            <a:off x="5760720" y="3360420"/>
            <a:ext cx="685800" cy="640080"/>
          </a:xfrm>
          <a:prstGeom prst="rightArrow">
            <a:avLst/>
          </a:prstGeom>
          <a:solidFill>
            <a:schemeClr val="accent1"/>
          </a:solidFill>
          <a:ln w="12700">
            <a:solidFill>
              <a:schemeClr val="accent1"/>
            </a:solidFill>
            <a:prstDash val="solid"/>
          </a:ln>
        </p:spPr>
      </p:sp>
      <p:sp>
        <p:nvSpPr>
          <p:cNvPr id="8" name="now column"/>
          <p:cNvSpPr/>
          <p:nvPr/>
        </p:nvSpPr>
        <p:spPr>
          <a:xfrm>
            <a:off x="6583680" y="1600200"/>
            <a:ext cx="5074920" cy="4160520"/>
          </a:xfrm>
          <a:prstGeom prst="roundRect">
            <a:avLst>
              <a:gd name="adj" fmla="val 2637"/>
            </a:avLst>
          </a:prstGeom>
          <a:solidFill>
            <a:schemeClr val="accent2">
              <a:alpha val="45000"/>
            </a:schemeClr>
          </a:solidFill>
          <a:ln w="19050">
            <a:solidFill>
              <a:srgbClr val="D3163B"/>
            </a:solidFill>
            <a:prstDash val="solid"/>
          </a:ln>
          <a:effectLst>
            <a:outerShdw blurRad="152400" dist="38100" dir="5400000" algn="bl" rotWithShape="0">
              <a:srgbClr val="000000">
                <a:alpha val="45000"/>
              </a:srgbClr>
            </a:outerShdw>
          </a:effectLst>
        </p:spPr>
      </p:sp>
      <p:sp>
        <p:nvSpPr>
          <p:cNvPr id="9" name="Text 7"/>
          <p:cNvSpPr txBox="1"/>
          <p:nvPr/>
        </p:nvSpPr>
        <p:spPr>
          <a:xfrm>
            <a:off x="6903720" y="1874520"/>
            <a:ext cx="4480560" cy="411480"/>
          </a:xfrm>
          <a:prstGeom prst="rect">
            <a:avLst/>
          </a:prstGeom>
          <a:noFill/>
          <a:ln/>
        </p:spPr>
        <p:txBody>
          <a:bodyPr wrap="square" lIns="0" tIns="0" rIns="0" bIns="0" rtlCol="0" anchor="t"/>
          <a:lstStyle/>
          <a:p>
            <a:pPr marL="0" indent="0">
              <a:buNone/>
            </a:pPr>
            <a:r>
              <a:rPr lang="en-US" sz="2000" b="1" dirty="0">
                <a:solidFill>
                  <a:schemeClr val="tx1"/>
                </a:solidFill>
              </a:rPr>
              <a:t>Now: agentic council</a:t>
            </a:r>
            <a:endParaRPr lang="en-US" sz="2000" dirty="0"/>
          </a:p>
        </p:txBody>
      </p:sp>
      <p:sp>
        <p:nvSpPr>
          <p:cNvPr id="10" name="Text 8"/>
          <p:cNvSpPr txBox="1"/>
          <p:nvPr/>
        </p:nvSpPr>
        <p:spPr>
          <a:xfrm>
            <a:off x="6903720" y="2468880"/>
            <a:ext cx="4526280" cy="30175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Agents decide which evidence to gather, and when they have enough</a:t>
            </a:r>
            <a:endParaRPr lang="en-US" sz="1500" dirty="0"/>
          </a:p>
          <a:p>
            <a:pPr marL="342900" indent="-342900">
              <a:spcAft>
                <a:spcPts val="1000"/>
              </a:spcAft>
              <a:buSzPct val="100000"/>
              <a:buChar char="•"/>
            </a:pPr>
            <a:r>
              <a:rPr lang="en-US" sz="1500" dirty="0">
                <a:solidFill>
                  <a:schemeClr val="tx1"/>
                </a:solidFill>
              </a:rPr>
              <a:t>Offers chosen on expected value: P(accept) × revenue + retention value</a:t>
            </a:r>
            <a:endParaRPr lang="en-US" sz="1500" dirty="0"/>
          </a:p>
          <a:p>
            <a:pPr marL="342900" indent="-342900">
              <a:spcAft>
                <a:spcPts val="1000"/>
              </a:spcAft>
              <a:buSzPct val="100000"/>
              <a:buChar char="•"/>
            </a:pPr>
            <a:r>
              <a:rPr lang="en-US" sz="1500" dirty="0">
                <a:solidFill>
                  <a:schemeClr val="tx1"/>
                </a:solidFill>
              </a:rPr>
              <a:t>A critic enforces hard guardrails and can send the decision back once</a:t>
            </a:r>
            <a:endParaRPr lang="en-US" sz="1500" dirty="0"/>
          </a:p>
          <a:p>
            <a:pPr marL="342900" indent="-342900">
              <a:spcAft>
                <a:spcPts val="1000"/>
              </a:spcAft>
              <a:buSzPct val="100000"/>
              <a:buChar char="•"/>
            </a:pPr>
            <a:r>
              <a:rPr lang="en-US" sz="1500" dirty="0">
                <a:solidFill>
                  <a:schemeClr val="tx1"/>
                </a:solidFill>
              </a:rPr>
              <a:t>Compliant bilingual SMS and call script, checked in code</a:t>
            </a:r>
            <a:endParaRPr lang="en-US" sz="1500" dirty="0"/>
          </a:p>
          <a:p>
            <a:pPr marL="342900" indent="-342900">
              <a:spcAft>
                <a:spcPts val="1000"/>
              </a:spcAft>
              <a:buSzPct val="100000"/>
              <a:buChar char="•"/>
            </a:pPr>
            <a:r>
              <a:rPr lang="en-US" sz="1500" dirty="0">
                <a:solidFill>
                  <a:schemeClr val="tx1"/>
                </a:solidFill>
              </a:rPr>
              <a:t>Every thought and tool call streamed live and auditable</a:t>
            </a:r>
            <a:endParaRPr lang="en-US" sz="1500" dirty="0"/>
          </a:p>
        </p:txBody>
      </p:sp>
      <p:sp>
        <p:nvSpPr>
          <p:cNvPr id="11" name="Text 9"/>
          <p:cNvSpPr txBox="1"/>
          <p:nvPr/>
        </p:nvSpPr>
        <p:spPr>
          <a:xfrm>
            <a:off x="548640" y="5897880"/>
            <a:ext cx="11064240" cy="365760"/>
          </a:xfrm>
          <a:prstGeom prst="rect">
            <a:avLst/>
          </a:prstGeom>
          <a:noFill/>
          <a:ln/>
        </p:spPr>
        <p:txBody>
          <a:bodyPr wrap="square" lIns="0" tIns="0" rIns="0" bIns="0" rtlCol="0" anchor="t"/>
          <a:lstStyle/>
          <a:p>
            <a:pPr marL="0" indent="0">
              <a:buNone/>
            </a:pPr>
            <a:r>
              <a:rPr lang="en-US" sz="1300" i="1" dirty="0">
                <a:solidFill>
                  <a:schemeClr val="tx2"/>
                </a:solidFill>
              </a:rPr>
              <a:t>The bandit, collaborative filtering and cohort graph are still here, now as tools the agents call, not as fixed steps.</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64240" cy="274320"/>
          </a:xfrm>
          <a:prstGeom prst="rect">
            <a:avLst/>
          </a:prstGeom>
          <a:noFill/>
          <a:ln/>
        </p:spPr>
        <p:txBody>
          <a:bodyPr wrap="square" lIns="0" tIns="0" rIns="0" bIns="0" rtlCol="0"/>
          <a:lstStyle/>
          <a:p>
            <a:pPr marL="0" indent="0">
              <a:buNone/>
            </a:pPr>
            <a:r>
              <a:rPr lang="en-US" sz="1100" b="1" kern="0" spc="300" dirty="0">
                <a:solidFill>
                  <a:schemeClr val="accent1"/>
                </a:solidFill>
              </a:rPr>
              <a:t>ARCHITECTURE</a:t>
            </a:r>
            <a:endParaRPr lang="en-US" sz="1100" dirty="0"/>
          </a:p>
        </p:txBody>
      </p:sp>
      <p:sp>
        <p:nvSpPr>
          <p:cNvPr id="3" name="Text 0"/>
          <p:cNvSpPr>
            <a:spLocks noGrp="1"/>
          </p:cNvSpPr>
          <p:nvPr>
            <p:ph type="title" idx="101" hasCustomPrompt="1"/>
          </p:nvPr>
        </p:nvSpPr>
        <p:spPr>
          <a:xfrm>
            <a:off x="548640" y="594360"/>
            <a:ext cx="11064240" cy="685800"/>
          </a:xfrm>
          <a:prstGeom prst="rect">
            <a:avLst/>
          </a:prstGeom>
          <a:noFill/>
          <a:ln/>
        </p:spPr>
        <p:txBody>
          <a:bodyPr wrap="square" lIns="0" tIns="0" rIns="0" bIns="0" rtlCol="0" anchor="t"/>
          <a:lstStyle/>
          <a:p>
            <a:pPr marL="0" indent="0" algn="l">
              <a:buNone/>
            </a:pPr>
            <a:r>
              <a:rPr lang="en-US" sz="3200" b="1" dirty="0">
                <a:solidFill>
                  <a:schemeClr val="tx1"/>
                </a:solidFill>
              </a:rPr>
              <a:t>How the platform fits together</a:t>
            </a:r>
            <a:endParaRPr lang="en-US" sz="3200" dirty="0"/>
          </a:p>
        </p:txBody>
      </p:sp>
      <p:sp>
        <p:nvSpPr>
          <p:cNvPr id="4" name="Ooredoo UI"/>
          <p:cNvSpPr/>
          <p:nvPr/>
        </p:nvSpPr>
        <p:spPr>
          <a:xfrm>
            <a:off x="548640" y="1508760"/>
            <a:ext cx="2057400" cy="2697480"/>
          </a:xfrm>
          <a:prstGeom prst="roundRect">
            <a:avLst>
              <a:gd name="adj" fmla="val 5333"/>
            </a:avLst>
          </a:prstGeom>
          <a:solidFill>
            <a:schemeClr val="bg2"/>
          </a:solidFill>
          <a:ln w="12700">
            <a:solidFill>
              <a:srgbClr val="2A2A2E"/>
            </a:solidFill>
            <a:prstDash val="solid"/>
          </a:ln>
        </p:spPr>
      </p:sp>
      <p:sp>
        <p:nvSpPr>
          <p:cNvPr id="5" name="Text 3"/>
          <p:cNvSpPr txBox="1"/>
          <p:nvPr/>
        </p:nvSpPr>
        <p:spPr>
          <a:xfrm>
            <a:off x="731520" y="1691640"/>
            <a:ext cx="1691640" cy="365760"/>
          </a:xfrm>
          <a:prstGeom prst="rect">
            <a:avLst/>
          </a:prstGeom>
          <a:noFill/>
          <a:ln/>
        </p:spPr>
        <p:txBody>
          <a:bodyPr wrap="square" lIns="0" tIns="0" rIns="0" bIns="0" rtlCol="0" anchor="t"/>
          <a:lstStyle/>
          <a:p>
            <a:pPr marL="0" indent="0">
              <a:buNone/>
            </a:pPr>
            <a:r>
              <a:rPr lang="en-US" sz="1500" b="1" dirty="0">
                <a:solidFill>
                  <a:schemeClr val="tx1"/>
                </a:solidFill>
              </a:rPr>
              <a:t>Ooredoo UI</a:t>
            </a:r>
            <a:endParaRPr lang="en-US" sz="1500" dirty="0"/>
          </a:p>
        </p:txBody>
      </p:sp>
      <p:sp>
        <p:nvSpPr>
          <p:cNvPr id="6" name="Text 4"/>
          <p:cNvSpPr txBox="1"/>
          <p:nvPr/>
        </p:nvSpPr>
        <p:spPr>
          <a:xfrm>
            <a:off x="731520" y="2148840"/>
            <a:ext cx="1691640" cy="1920240"/>
          </a:xfrm>
          <a:prstGeom prst="rect">
            <a:avLst/>
          </a:prstGeom>
          <a:noFill/>
          <a:ln/>
        </p:spPr>
        <p:txBody>
          <a:bodyPr wrap="square" lIns="0" tIns="0" rIns="0" bIns="0" rtlCol="0" anchor="t"/>
          <a:lstStyle/>
          <a:p>
            <a:pPr marL="0" indent="0">
              <a:spcAft>
                <a:spcPts val="500"/>
              </a:spcAft>
              <a:buNone/>
            </a:pPr>
            <a:r>
              <a:rPr lang="en-US" sz="1200" dirty="0">
                <a:solidFill>
                  <a:schemeClr val="tx2"/>
                </a:solidFill>
              </a:rPr>
              <a:t>Next.js</a:t>
            </a:r>
            <a:endParaRPr lang="en-US" sz="1200" dirty="0"/>
          </a:p>
          <a:p>
            <a:pPr marL="0" indent="0">
              <a:spcAft>
                <a:spcPts val="500"/>
              </a:spcAft>
              <a:buNone/>
            </a:pPr>
            <a:r>
              <a:rPr lang="en-US" sz="1200" dirty="0">
                <a:solidFill>
                  <a:schemeClr val="tx2"/>
                </a:solidFill>
              </a:rPr>
              <a:t>Dashboard</a:t>
            </a:r>
            <a:endParaRPr lang="en-US" sz="1200" dirty="0"/>
          </a:p>
          <a:p>
            <a:pPr marL="0" indent="0">
              <a:spcAft>
                <a:spcPts val="500"/>
              </a:spcAft>
              <a:buNone/>
            </a:pPr>
            <a:r>
              <a:rPr lang="en-US" sz="1200" dirty="0">
                <a:solidFill>
                  <a:schemeClr val="tx2"/>
                </a:solidFill>
              </a:rPr>
              <a:t>Customer 360</a:t>
            </a:r>
            <a:endParaRPr lang="en-US" sz="1200" dirty="0"/>
          </a:p>
          <a:p>
            <a:pPr marL="0" indent="0">
              <a:spcAft>
                <a:spcPts val="500"/>
              </a:spcAft>
              <a:buNone/>
            </a:pPr>
            <a:r>
              <a:rPr lang="en-US" sz="1200" dirty="0">
                <a:solidFill>
                  <a:schemeClr val="tx2"/>
                </a:solidFill>
              </a:rPr>
              <a:t>Decision Council</a:t>
            </a:r>
            <a:endParaRPr lang="en-US" sz="1200" dirty="0"/>
          </a:p>
          <a:p>
            <a:pPr marL="0" indent="0">
              <a:spcAft>
                <a:spcPts val="500"/>
              </a:spcAft>
              <a:buNone/>
            </a:pPr>
            <a:r>
              <a:rPr lang="en-US" sz="1200" dirty="0">
                <a:solidFill>
                  <a:schemeClr val="tx2"/>
                </a:solidFill>
              </a:rPr>
              <a:t>NBA / NBO agents</a:t>
            </a:r>
            <a:endParaRPr lang="en-US" sz="1200" dirty="0"/>
          </a:p>
          <a:p>
            <a:pPr marL="0" indent="0">
              <a:spcAft>
                <a:spcPts val="500"/>
              </a:spcAft>
              <a:buNone/>
            </a:pPr>
            <a:r>
              <a:rPr lang="en-US" sz="1200" dirty="0">
                <a:solidFill>
                  <a:schemeClr val="tx2"/>
                </a:solidFill>
              </a:rPr>
              <a:t>AI Copilot</a:t>
            </a:r>
            <a:endParaRPr lang="en-US" sz="1200" dirty="0"/>
          </a:p>
        </p:txBody>
      </p:sp>
      <p:sp>
        <p:nvSpPr>
          <p:cNvPr id="7" name="arrow SSE + REST"/>
          <p:cNvSpPr/>
          <p:nvPr/>
        </p:nvSpPr>
        <p:spPr>
          <a:xfrm>
            <a:off x="2697480" y="2606040"/>
            <a:ext cx="411480" cy="365760"/>
          </a:xfrm>
          <a:prstGeom prst="rightArrow">
            <a:avLst/>
          </a:prstGeom>
          <a:solidFill>
            <a:schemeClr val="accent3"/>
          </a:solidFill>
          <a:ln w="12700">
            <a:solidFill>
              <a:schemeClr val="accent3"/>
            </a:solidFill>
            <a:prstDash val="solid"/>
          </a:ln>
        </p:spPr>
      </p:sp>
      <p:sp>
        <p:nvSpPr>
          <p:cNvPr id="8" name="Text 6"/>
          <p:cNvSpPr txBox="1"/>
          <p:nvPr/>
        </p:nvSpPr>
        <p:spPr>
          <a:xfrm>
            <a:off x="2660904" y="2075688"/>
            <a:ext cx="484632" cy="457200"/>
          </a:xfrm>
          <a:prstGeom prst="rect">
            <a:avLst/>
          </a:prstGeom>
          <a:noFill/>
          <a:ln/>
        </p:spPr>
        <p:txBody>
          <a:bodyPr wrap="square" lIns="0" tIns="0" rIns="0" bIns="0" rtlCol="0" anchor="b"/>
          <a:lstStyle/>
          <a:p>
            <a:pPr marL="0" indent="0" algn="ctr">
              <a:buNone/>
            </a:pPr>
            <a:r>
              <a:rPr lang="en-US" sz="900" dirty="0">
                <a:solidFill>
                  <a:schemeClr val="tx2"/>
                </a:solidFill>
              </a:rPr>
              <a:t>SSE + REST</a:t>
            </a:r>
            <a:endParaRPr lang="en-US" sz="900" dirty="0"/>
          </a:p>
        </p:txBody>
      </p:sp>
      <p:sp>
        <p:nvSpPr>
          <p:cNvPr id="9" name="FastAPI"/>
          <p:cNvSpPr/>
          <p:nvPr/>
        </p:nvSpPr>
        <p:spPr>
          <a:xfrm>
            <a:off x="3200400" y="1508760"/>
            <a:ext cx="1874520" cy="2697480"/>
          </a:xfrm>
          <a:prstGeom prst="roundRect">
            <a:avLst>
              <a:gd name="adj" fmla="val 5854"/>
            </a:avLst>
          </a:prstGeom>
          <a:solidFill>
            <a:schemeClr val="bg2"/>
          </a:solidFill>
          <a:ln w="12700">
            <a:solidFill>
              <a:srgbClr val="2A2A2E"/>
            </a:solidFill>
            <a:prstDash val="solid"/>
          </a:ln>
        </p:spPr>
      </p:sp>
      <p:sp>
        <p:nvSpPr>
          <p:cNvPr id="10" name="Text 8"/>
          <p:cNvSpPr txBox="1"/>
          <p:nvPr/>
        </p:nvSpPr>
        <p:spPr>
          <a:xfrm>
            <a:off x="3383280" y="1691640"/>
            <a:ext cx="1508760" cy="365760"/>
          </a:xfrm>
          <a:prstGeom prst="rect">
            <a:avLst/>
          </a:prstGeom>
          <a:noFill/>
          <a:ln/>
        </p:spPr>
        <p:txBody>
          <a:bodyPr wrap="square" lIns="0" tIns="0" rIns="0" bIns="0" rtlCol="0" anchor="t"/>
          <a:lstStyle/>
          <a:p>
            <a:pPr marL="0" indent="0">
              <a:buNone/>
            </a:pPr>
            <a:r>
              <a:rPr lang="en-US" sz="1500" b="1" dirty="0">
                <a:solidFill>
                  <a:schemeClr val="tx1"/>
                </a:solidFill>
              </a:rPr>
              <a:t>FastAPI</a:t>
            </a:r>
            <a:endParaRPr lang="en-US" sz="1500" dirty="0"/>
          </a:p>
        </p:txBody>
      </p:sp>
      <p:sp>
        <p:nvSpPr>
          <p:cNvPr id="11" name="Text 9"/>
          <p:cNvSpPr txBox="1"/>
          <p:nvPr/>
        </p:nvSpPr>
        <p:spPr>
          <a:xfrm>
            <a:off x="3383280" y="2148840"/>
            <a:ext cx="1508760" cy="1920240"/>
          </a:xfrm>
          <a:prstGeom prst="rect">
            <a:avLst/>
          </a:prstGeom>
          <a:noFill/>
          <a:ln/>
        </p:spPr>
        <p:txBody>
          <a:bodyPr wrap="square" lIns="0" tIns="0" rIns="0" bIns="0" rtlCol="0" anchor="t"/>
          <a:lstStyle/>
          <a:p>
            <a:pPr marL="0" indent="0">
              <a:spcAft>
                <a:spcPts val="500"/>
              </a:spcAft>
              <a:buNone/>
            </a:pPr>
            <a:r>
              <a:rPr lang="en-US" sz="1200" dirty="0">
                <a:solidFill>
                  <a:schemeClr val="tx2"/>
                </a:solidFill>
              </a:rPr>
              <a:t>/agentic/stream</a:t>
            </a:r>
            <a:endParaRPr lang="en-US" sz="1200" dirty="0"/>
          </a:p>
          <a:p>
            <a:pPr marL="0" indent="0">
              <a:spcAft>
                <a:spcPts val="500"/>
              </a:spcAft>
              <a:buNone/>
            </a:pPr>
            <a:r>
              <a:rPr lang="en-US" sz="1200" dirty="0">
                <a:solidFill>
                  <a:schemeClr val="tx2"/>
                </a:solidFill>
              </a:rPr>
              <a:t>/agentic/decide</a:t>
            </a:r>
            <a:endParaRPr lang="en-US" sz="1200" dirty="0"/>
          </a:p>
          <a:p>
            <a:pPr marL="0" indent="0">
              <a:spcAft>
                <a:spcPts val="500"/>
              </a:spcAft>
              <a:buNone/>
            </a:pPr>
            <a:r>
              <a:rPr lang="en-US" sz="1200" dirty="0">
                <a:solidFill>
                  <a:schemeClr val="tx2"/>
                </a:solidFill>
              </a:rPr>
              <a:t>/copilot/chat</a:t>
            </a:r>
            <a:endParaRPr lang="en-US" sz="1200" dirty="0"/>
          </a:p>
          <a:p>
            <a:pPr marL="0" indent="0">
              <a:spcAft>
                <a:spcPts val="500"/>
              </a:spcAft>
              <a:buNone/>
            </a:pPr>
            <a:r>
              <a:rPr lang="en-US" sz="1200" dirty="0">
                <a:solidFill>
                  <a:schemeClr val="tx2"/>
                </a:solidFill>
              </a:rPr>
              <a:t>/portfolio/summary</a:t>
            </a:r>
            <a:endParaRPr lang="en-US" sz="1200" dirty="0"/>
          </a:p>
          <a:p>
            <a:pPr marL="0" indent="0">
              <a:spcAft>
                <a:spcPts val="500"/>
              </a:spcAft>
              <a:buNone/>
            </a:pPr>
            <a:r>
              <a:rPr lang="en-US" sz="1200" dirty="0">
                <a:solidFill>
                  <a:schemeClr val="tx2"/>
                </a:solidFill>
              </a:rPr>
              <a:t>/customers</a:t>
            </a:r>
            <a:endParaRPr lang="en-US" sz="1200" dirty="0"/>
          </a:p>
        </p:txBody>
      </p:sp>
      <p:sp>
        <p:nvSpPr>
          <p:cNvPr id="12" name="arrow events"/>
          <p:cNvSpPr/>
          <p:nvPr/>
        </p:nvSpPr>
        <p:spPr>
          <a:xfrm>
            <a:off x="5166360" y="2606040"/>
            <a:ext cx="411480" cy="365760"/>
          </a:xfrm>
          <a:prstGeom prst="rightArrow">
            <a:avLst/>
          </a:prstGeom>
          <a:solidFill>
            <a:schemeClr val="accent3"/>
          </a:solidFill>
          <a:ln w="12700">
            <a:solidFill>
              <a:schemeClr val="accent3"/>
            </a:solidFill>
            <a:prstDash val="solid"/>
          </a:ln>
        </p:spPr>
      </p:sp>
      <p:sp>
        <p:nvSpPr>
          <p:cNvPr id="13" name="Text 11"/>
          <p:cNvSpPr txBox="1"/>
          <p:nvPr/>
        </p:nvSpPr>
        <p:spPr>
          <a:xfrm>
            <a:off x="5129784" y="2075688"/>
            <a:ext cx="484632" cy="457200"/>
          </a:xfrm>
          <a:prstGeom prst="rect">
            <a:avLst/>
          </a:prstGeom>
          <a:noFill/>
          <a:ln/>
        </p:spPr>
        <p:txBody>
          <a:bodyPr wrap="square" lIns="0" tIns="0" rIns="0" bIns="0" rtlCol="0" anchor="b"/>
          <a:lstStyle/>
          <a:p>
            <a:pPr marL="0" indent="0" algn="ctr">
              <a:buNone/>
            </a:pPr>
            <a:r>
              <a:rPr lang="en-US" sz="900" dirty="0">
                <a:solidFill>
                  <a:schemeClr val="tx2"/>
                </a:solidFill>
              </a:rPr>
              <a:t>events</a:t>
            </a:r>
            <a:endParaRPr lang="en-US" sz="900" dirty="0"/>
          </a:p>
        </p:txBody>
      </p:sp>
      <p:sp>
        <p:nvSpPr>
          <p:cNvPr id="14" name="decision council"/>
          <p:cNvSpPr/>
          <p:nvPr/>
        </p:nvSpPr>
        <p:spPr>
          <a:xfrm>
            <a:off x="5669280" y="1508760"/>
            <a:ext cx="3794760" cy="2697480"/>
          </a:xfrm>
          <a:prstGeom prst="roundRect">
            <a:avLst>
              <a:gd name="adj" fmla="val 4068"/>
            </a:avLst>
          </a:prstGeom>
          <a:solidFill>
            <a:schemeClr val="accent2">
              <a:alpha val="40000"/>
            </a:schemeClr>
          </a:solidFill>
          <a:ln w="19050">
            <a:solidFill>
              <a:srgbClr val="D3163B"/>
            </a:solidFill>
            <a:prstDash val="solid"/>
          </a:ln>
          <a:effectLst>
            <a:outerShdw blurRad="152400" dist="38100" dir="5400000" algn="bl" rotWithShape="0">
              <a:srgbClr val="000000">
                <a:alpha val="45000"/>
              </a:srgbClr>
            </a:outerShdw>
          </a:effectLst>
        </p:spPr>
      </p:sp>
      <p:sp>
        <p:nvSpPr>
          <p:cNvPr id="15" name="Text 13"/>
          <p:cNvSpPr txBox="1"/>
          <p:nvPr/>
        </p:nvSpPr>
        <p:spPr>
          <a:xfrm>
            <a:off x="5852160" y="1691640"/>
            <a:ext cx="3429000" cy="365760"/>
          </a:xfrm>
          <a:prstGeom prst="rect">
            <a:avLst/>
          </a:prstGeom>
          <a:noFill/>
          <a:ln/>
        </p:spPr>
        <p:txBody>
          <a:bodyPr wrap="square" lIns="0" tIns="0" rIns="0" bIns="0" rtlCol="0" anchor="t"/>
          <a:lstStyle/>
          <a:p>
            <a:pPr marL="0" indent="0">
              <a:buNone/>
            </a:pPr>
            <a:r>
              <a:rPr lang="en-US" sz="1500" b="1" dirty="0">
                <a:solidFill>
                  <a:schemeClr val="tx1"/>
                </a:solidFill>
              </a:rPr>
              <a:t>Decision council</a:t>
            </a:r>
            <a:endParaRPr lang="en-US" sz="1500" dirty="0"/>
          </a:p>
        </p:txBody>
      </p:sp>
      <p:sp>
        <p:nvSpPr>
          <p:cNvPr id="16" name="agent NBA Strategist"/>
          <p:cNvSpPr/>
          <p:nvPr/>
        </p:nvSpPr>
        <p:spPr>
          <a:xfrm>
            <a:off x="5897880" y="2167128"/>
            <a:ext cx="2103120" cy="365760"/>
          </a:xfrm>
          <a:prstGeom prst="roundRect">
            <a:avLst>
              <a:gd name="adj" fmla="val 20000"/>
            </a:avLst>
          </a:prstGeom>
          <a:solidFill>
            <a:schemeClr val="bg1"/>
          </a:solidFill>
          <a:ln w="12700">
            <a:solidFill>
              <a:srgbClr val="D3163B"/>
            </a:solidFill>
            <a:prstDash val="solid"/>
          </a:ln>
        </p:spPr>
      </p:sp>
      <p:sp>
        <p:nvSpPr>
          <p:cNvPr id="17" name="Text 15"/>
          <p:cNvSpPr txBox="1"/>
          <p:nvPr/>
        </p:nvSpPr>
        <p:spPr>
          <a:xfrm>
            <a:off x="6016752" y="2240280"/>
            <a:ext cx="1920240" cy="237744"/>
          </a:xfrm>
          <a:prstGeom prst="rect">
            <a:avLst/>
          </a:prstGeom>
          <a:noFill/>
          <a:ln/>
        </p:spPr>
        <p:txBody>
          <a:bodyPr wrap="square" lIns="0" tIns="0" rIns="0" bIns="0" rtlCol="0" anchor="t"/>
          <a:lstStyle/>
          <a:p>
            <a:pPr marL="0" indent="0">
              <a:buNone/>
            </a:pPr>
            <a:r>
              <a:rPr lang="en-US" sz="1200" b="1" dirty="0">
                <a:solidFill>
                  <a:schemeClr val="tx1"/>
                </a:solidFill>
              </a:rPr>
              <a:t>1  NBA Strategist</a:t>
            </a:r>
            <a:endParaRPr lang="en-US" sz="1200" dirty="0"/>
          </a:p>
        </p:txBody>
      </p:sp>
      <p:sp>
        <p:nvSpPr>
          <p:cNvPr id="18" name="agent NBO Specialist"/>
          <p:cNvSpPr/>
          <p:nvPr/>
        </p:nvSpPr>
        <p:spPr>
          <a:xfrm>
            <a:off x="5897880" y="2624328"/>
            <a:ext cx="2103120" cy="365760"/>
          </a:xfrm>
          <a:prstGeom prst="roundRect">
            <a:avLst>
              <a:gd name="adj" fmla="val 20000"/>
            </a:avLst>
          </a:prstGeom>
          <a:solidFill>
            <a:schemeClr val="bg1"/>
          </a:solidFill>
          <a:ln w="12700">
            <a:solidFill>
              <a:srgbClr val="D3163B"/>
            </a:solidFill>
            <a:prstDash val="solid"/>
          </a:ln>
        </p:spPr>
      </p:sp>
      <p:sp>
        <p:nvSpPr>
          <p:cNvPr id="19" name="Text 17"/>
          <p:cNvSpPr txBox="1"/>
          <p:nvPr/>
        </p:nvSpPr>
        <p:spPr>
          <a:xfrm>
            <a:off x="6016752" y="2697480"/>
            <a:ext cx="1920240" cy="237744"/>
          </a:xfrm>
          <a:prstGeom prst="rect">
            <a:avLst/>
          </a:prstGeom>
          <a:noFill/>
          <a:ln/>
        </p:spPr>
        <p:txBody>
          <a:bodyPr wrap="square" lIns="0" tIns="0" rIns="0" bIns="0" rtlCol="0" anchor="t"/>
          <a:lstStyle/>
          <a:p>
            <a:pPr marL="0" indent="0">
              <a:buNone/>
            </a:pPr>
            <a:r>
              <a:rPr lang="en-US" sz="1200" b="1" dirty="0">
                <a:solidFill>
                  <a:schemeClr val="tx1"/>
                </a:solidFill>
              </a:rPr>
              <a:t>2  NBO Specialist</a:t>
            </a:r>
            <a:endParaRPr lang="en-US" sz="1200" dirty="0"/>
          </a:p>
        </p:txBody>
      </p:sp>
      <p:sp>
        <p:nvSpPr>
          <p:cNvPr id="20" name="agent Critic"/>
          <p:cNvSpPr/>
          <p:nvPr/>
        </p:nvSpPr>
        <p:spPr>
          <a:xfrm>
            <a:off x="5897880" y="3081528"/>
            <a:ext cx="2103120" cy="365760"/>
          </a:xfrm>
          <a:prstGeom prst="roundRect">
            <a:avLst>
              <a:gd name="adj" fmla="val 20000"/>
            </a:avLst>
          </a:prstGeom>
          <a:solidFill>
            <a:schemeClr val="bg1"/>
          </a:solidFill>
          <a:ln w="12700">
            <a:solidFill>
              <a:srgbClr val="D3163B"/>
            </a:solidFill>
            <a:prstDash val="solid"/>
          </a:ln>
        </p:spPr>
      </p:sp>
      <p:sp>
        <p:nvSpPr>
          <p:cNvPr id="21" name="Text 19"/>
          <p:cNvSpPr txBox="1"/>
          <p:nvPr/>
        </p:nvSpPr>
        <p:spPr>
          <a:xfrm>
            <a:off x="6016752" y="3154680"/>
            <a:ext cx="1920240" cy="237744"/>
          </a:xfrm>
          <a:prstGeom prst="rect">
            <a:avLst/>
          </a:prstGeom>
          <a:noFill/>
          <a:ln/>
        </p:spPr>
        <p:txBody>
          <a:bodyPr wrap="square" lIns="0" tIns="0" rIns="0" bIns="0" rtlCol="0" anchor="t"/>
          <a:lstStyle/>
          <a:p>
            <a:pPr marL="0" indent="0">
              <a:buNone/>
            </a:pPr>
            <a:r>
              <a:rPr lang="en-US" sz="1200" b="1" dirty="0">
                <a:solidFill>
                  <a:schemeClr val="tx1"/>
                </a:solidFill>
              </a:rPr>
              <a:t>3  Critic</a:t>
            </a:r>
            <a:endParaRPr lang="en-US" sz="1200" dirty="0"/>
          </a:p>
        </p:txBody>
      </p:sp>
      <p:sp>
        <p:nvSpPr>
          <p:cNvPr id="22" name="agent Messenger"/>
          <p:cNvSpPr/>
          <p:nvPr/>
        </p:nvSpPr>
        <p:spPr>
          <a:xfrm>
            <a:off x="5897880" y="3538728"/>
            <a:ext cx="2103120" cy="365760"/>
          </a:xfrm>
          <a:prstGeom prst="roundRect">
            <a:avLst>
              <a:gd name="adj" fmla="val 20000"/>
            </a:avLst>
          </a:prstGeom>
          <a:solidFill>
            <a:schemeClr val="bg1"/>
          </a:solidFill>
          <a:ln w="12700">
            <a:solidFill>
              <a:srgbClr val="D3163B"/>
            </a:solidFill>
            <a:prstDash val="solid"/>
          </a:ln>
        </p:spPr>
      </p:sp>
      <p:sp>
        <p:nvSpPr>
          <p:cNvPr id="23" name="Text 21"/>
          <p:cNvSpPr txBox="1"/>
          <p:nvPr/>
        </p:nvSpPr>
        <p:spPr>
          <a:xfrm>
            <a:off x="6016752" y="3611880"/>
            <a:ext cx="1920240" cy="237744"/>
          </a:xfrm>
          <a:prstGeom prst="rect">
            <a:avLst/>
          </a:prstGeom>
          <a:noFill/>
          <a:ln/>
        </p:spPr>
        <p:txBody>
          <a:bodyPr wrap="square" lIns="0" tIns="0" rIns="0" bIns="0" rtlCol="0" anchor="t"/>
          <a:lstStyle/>
          <a:p>
            <a:pPr marL="0" indent="0">
              <a:buNone/>
            </a:pPr>
            <a:r>
              <a:rPr lang="en-US" sz="1200" b="1" dirty="0">
                <a:solidFill>
                  <a:schemeClr val="tx1"/>
                </a:solidFill>
              </a:rPr>
              <a:t>4  Messenger</a:t>
            </a:r>
            <a:endParaRPr lang="en-US" sz="1200" dirty="0"/>
          </a:p>
        </p:txBody>
      </p:sp>
      <p:sp>
        <p:nvSpPr>
          <p:cNvPr id="24" name="Text 22"/>
          <p:cNvSpPr txBox="1"/>
          <p:nvPr/>
        </p:nvSpPr>
        <p:spPr>
          <a:xfrm>
            <a:off x="8138160" y="2167128"/>
            <a:ext cx="1234440" cy="1920240"/>
          </a:xfrm>
          <a:prstGeom prst="rect">
            <a:avLst/>
          </a:prstGeom>
          <a:noFill/>
          <a:ln/>
        </p:spPr>
        <p:txBody>
          <a:bodyPr wrap="square" lIns="0" tIns="0" rIns="0" bIns="0" rtlCol="0" anchor="t"/>
          <a:lstStyle/>
          <a:p>
            <a:pPr marL="0" indent="0">
              <a:spcAft>
                <a:spcPts val="300"/>
              </a:spcAft>
              <a:buNone/>
            </a:pPr>
            <a:r>
              <a:rPr lang="en-US" sz="1000" b="1" dirty="0">
                <a:solidFill>
                  <a:schemeClr val="tx1"/>
                </a:solidFill>
              </a:rPr>
              <a:t>ReAct loop, policy enforced in code:</a:t>
            </a:r>
            <a:endParaRPr lang="en-US" sz="1000" dirty="0"/>
          </a:p>
          <a:p>
            <a:pPr marL="0" indent="0">
              <a:spcAft>
                <a:spcPts val="300"/>
              </a:spcAft>
              <a:buNone/>
            </a:pPr>
            <a:r>
              <a:rPr lang="en-US" sz="1000" dirty="0">
                <a:solidFill>
                  <a:schemeClr val="tx2"/>
                </a:solidFill>
              </a:rPr>
              <a:t>required evidence</a:t>
            </a:r>
            <a:endParaRPr lang="en-US" sz="1000" dirty="0"/>
          </a:p>
          <a:p>
            <a:pPr marL="0" indent="0">
              <a:spcAft>
                <a:spcPts val="300"/>
              </a:spcAft>
              <a:buNone/>
            </a:pPr>
            <a:r>
              <a:rPr lang="en-US" sz="1000" dirty="0">
                <a:solidFill>
                  <a:schemeClr val="tx2"/>
                </a:solidFill>
              </a:rPr>
              <a:t>schema validation</a:t>
            </a:r>
            <a:endParaRPr lang="en-US" sz="1000" dirty="0"/>
          </a:p>
          <a:p>
            <a:pPr marL="0" indent="0">
              <a:spcAft>
                <a:spcPts val="300"/>
              </a:spcAft>
              <a:buNone/>
            </a:pPr>
            <a:r>
              <a:rPr lang="en-US" sz="1000" dirty="0">
                <a:solidFill>
                  <a:schemeClr val="tx2"/>
                </a:solidFill>
              </a:rPr>
              <a:t>loop guard</a:t>
            </a:r>
            <a:endParaRPr lang="en-US" sz="1000" dirty="0"/>
          </a:p>
          <a:p>
            <a:pPr marL="0" indent="0">
              <a:spcAft>
                <a:spcPts val="300"/>
              </a:spcAft>
              <a:buNone/>
            </a:pPr>
            <a:r>
              <a:rPr lang="en-US" sz="1000" dirty="0">
                <a:solidFill>
                  <a:schemeClr val="tx2"/>
                </a:solidFill>
              </a:rPr>
              <a:t>1 critic revision</a:t>
            </a:r>
            <a:endParaRPr lang="en-US" sz="1000" dirty="0"/>
          </a:p>
          <a:p>
            <a:pPr marL="0" indent="0">
              <a:spcAft>
                <a:spcPts val="300"/>
              </a:spcAft>
              <a:buNone/>
            </a:pPr>
            <a:r>
              <a:rPr lang="en-US" sz="1000" dirty="0">
                <a:solidFill>
                  <a:schemeClr val="tx2"/>
                </a:solidFill>
              </a:rPr>
              <a:t>deterministic fallback</a:t>
            </a:r>
            <a:endParaRPr lang="en-US" sz="1000" dirty="0"/>
          </a:p>
        </p:txBody>
      </p:sp>
      <p:sp>
        <p:nvSpPr>
          <p:cNvPr id="25" name="arrow OpenAI API"/>
          <p:cNvSpPr/>
          <p:nvPr/>
        </p:nvSpPr>
        <p:spPr>
          <a:xfrm>
            <a:off x="9555480" y="2606040"/>
            <a:ext cx="411480" cy="365760"/>
          </a:xfrm>
          <a:prstGeom prst="rightArrow">
            <a:avLst/>
          </a:prstGeom>
          <a:solidFill>
            <a:schemeClr val="accent3"/>
          </a:solidFill>
          <a:ln w="12700">
            <a:solidFill>
              <a:schemeClr val="accent3"/>
            </a:solidFill>
            <a:prstDash val="solid"/>
          </a:ln>
        </p:spPr>
      </p:sp>
      <p:sp>
        <p:nvSpPr>
          <p:cNvPr id="26" name="Text 24"/>
          <p:cNvSpPr txBox="1"/>
          <p:nvPr/>
        </p:nvSpPr>
        <p:spPr>
          <a:xfrm>
            <a:off x="9518904" y="2075688"/>
            <a:ext cx="484632" cy="457200"/>
          </a:xfrm>
          <a:prstGeom prst="rect">
            <a:avLst/>
          </a:prstGeom>
          <a:noFill/>
          <a:ln/>
        </p:spPr>
        <p:txBody>
          <a:bodyPr wrap="square" lIns="0" tIns="0" rIns="0" bIns="0" rtlCol="0" anchor="b"/>
          <a:lstStyle/>
          <a:p>
            <a:pPr marL="0" indent="0" algn="ctr">
              <a:buNone/>
            </a:pPr>
            <a:r>
              <a:rPr lang="en-US" sz="900" dirty="0">
                <a:solidFill>
                  <a:schemeClr val="tx2"/>
                </a:solidFill>
              </a:rPr>
              <a:t>OpenAI API</a:t>
            </a:r>
            <a:endParaRPr lang="en-US" sz="900" dirty="0"/>
          </a:p>
        </p:txBody>
      </p:sp>
      <p:sp>
        <p:nvSpPr>
          <p:cNvPr id="27" name="LLM server"/>
          <p:cNvSpPr/>
          <p:nvPr/>
        </p:nvSpPr>
        <p:spPr>
          <a:xfrm>
            <a:off x="10058400" y="1508760"/>
            <a:ext cx="1600200" cy="2697480"/>
          </a:xfrm>
          <a:prstGeom prst="roundRect">
            <a:avLst>
              <a:gd name="adj" fmla="val 6857"/>
            </a:avLst>
          </a:prstGeom>
          <a:solidFill>
            <a:schemeClr val="bg2"/>
          </a:solidFill>
          <a:ln w="12700">
            <a:solidFill>
              <a:srgbClr val="2A2A2E"/>
            </a:solidFill>
            <a:prstDash val="solid"/>
          </a:ln>
        </p:spPr>
      </p:sp>
      <p:sp>
        <p:nvSpPr>
          <p:cNvPr id="28" name="Text 26"/>
          <p:cNvSpPr txBox="1"/>
          <p:nvPr/>
        </p:nvSpPr>
        <p:spPr>
          <a:xfrm>
            <a:off x="10241280" y="1691640"/>
            <a:ext cx="1234440" cy="365760"/>
          </a:xfrm>
          <a:prstGeom prst="rect">
            <a:avLst/>
          </a:prstGeom>
          <a:noFill/>
          <a:ln/>
        </p:spPr>
        <p:txBody>
          <a:bodyPr wrap="square" lIns="0" tIns="0" rIns="0" bIns="0" rtlCol="0" anchor="t"/>
          <a:lstStyle/>
          <a:p>
            <a:pPr marL="0" indent="0">
              <a:buNone/>
            </a:pPr>
            <a:r>
              <a:rPr lang="en-US" sz="1500" b="1" dirty="0">
                <a:solidFill>
                  <a:schemeClr val="tx1"/>
                </a:solidFill>
              </a:rPr>
              <a:t>LLM server</a:t>
            </a:r>
            <a:endParaRPr lang="en-US" sz="1500" dirty="0"/>
          </a:p>
        </p:txBody>
      </p:sp>
      <p:sp>
        <p:nvSpPr>
          <p:cNvPr id="29" name="Text 27"/>
          <p:cNvSpPr txBox="1"/>
          <p:nvPr/>
        </p:nvSpPr>
        <p:spPr>
          <a:xfrm>
            <a:off x="10241280" y="2148840"/>
            <a:ext cx="1234440" cy="1920240"/>
          </a:xfrm>
          <a:prstGeom prst="rect">
            <a:avLst/>
          </a:prstGeom>
          <a:noFill/>
          <a:ln/>
        </p:spPr>
        <p:txBody>
          <a:bodyPr wrap="square" lIns="0" tIns="0" rIns="0" bIns="0" rtlCol="0" anchor="t"/>
          <a:lstStyle/>
          <a:p>
            <a:pPr marL="0" indent="0">
              <a:spcAft>
                <a:spcPts val="500"/>
              </a:spcAft>
              <a:buNone/>
            </a:pPr>
            <a:r>
              <a:rPr lang="en-US" sz="1200" dirty="0">
                <a:solidFill>
                  <a:schemeClr val="tx2"/>
                </a:solidFill>
              </a:rPr>
              <a:t>Laptop:</a:t>
            </a:r>
            <a:endParaRPr lang="en-US" sz="1200" dirty="0"/>
          </a:p>
          <a:p>
            <a:pPr marL="0" indent="0">
              <a:spcAft>
                <a:spcPts val="500"/>
              </a:spcAft>
              <a:buNone/>
            </a:pPr>
            <a:r>
              <a:rPr lang="en-US" sz="1200" dirty="0">
                <a:solidFill>
                  <a:schemeClr val="tx2"/>
                </a:solidFill>
              </a:rPr>
              <a:t>llama.cpp +</a:t>
            </a:r>
            <a:endParaRPr lang="en-US" sz="1200" dirty="0"/>
          </a:p>
          <a:p>
            <a:pPr marL="0" indent="0">
              <a:spcAft>
                <a:spcPts val="500"/>
              </a:spcAft>
              <a:buNone/>
            </a:pPr>
            <a:r>
              <a:rPr lang="en-US" sz="1200" dirty="0">
                <a:solidFill>
                  <a:schemeClr val="tx2"/>
                </a:solidFill>
              </a:rPr>
              <a:t>Qwen2.5-3B</a:t>
            </a:r>
            <a:endParaRPr lang="en-US" sz="1200" dirty="0"/>
          </a:p>
          <a:p>
            <a:pPr marL="0" indent="0">
              <a:spcAft>
                <a:spcPts val="500"/>
              </a:spcAft>
              <a:buNone/>
            </a:pPr>
            <a:endParaRPr lang="en-US" sz="1200" dirty="0"/>
          </a:p>
          <a:p>
            <a:pPr marL="0" indent="0">
              <a:spcAft>
                <a:spcPts val="500"/>
              </a:spcAft>
              <a:buNone/>
            </a:pPr>
            <a:r>
              <a:rPr lang="en-US" sz="1200" dirty="0">
                <a:solidFill>
                  <a:schemeClr val="tx2"/>
                </a:solidFill>
              </a:rPr>
              <a:t>GPU server:</a:t>
            </a:r>
            <a:endParaRPr lang="en-US" sz="1200" dirty="0"/>
          </a:p>
          <a:p>
            <a:pPr marL="0" indent="0">
              <a:spcAft>
                <a:spcPts val="500"/>
              </a:spcAft>
              <a:buNone/>
            </a:pPr>
            <a:r>
              <a:rPr lang="en-US" sz="1200" dirty="0">
                <a:solidFill>
                  <a:schemeClr val="tx2"/>
                </a:solidFill>
              </a:rPr>
              <a:t>vLLM + 7B</a:t>
            </a:r>
            <a:endParaRPr lang="en-US" sz="1200" dirty="0"/>
          </a:p>
        </p:txBody>
      </p:sp>
      <p:sp>
        <p:nvSpPr>
          <p:cNvPr id="30" name="Text 28"/>
          <p:cNvSpPr txBox="1"/>
          <p:nvPr/>
        </p:nvSpPr>
        <p:spPr>
          <a:xfrm>
            <a:off x="548640" y="4526280"/>
            <a:ext cx="5486400" cy="274320"/>
          </a:xfrm>
          <a:prstGeom prst="rect">
            <a:avLst/>
          </a:prstGeom>
          <a:noFill/>
          <a:ln/>
        </p:spPr>
        <p:txBody>
          <a:bodyPr wrap="square" lIns="0" tIns="0" rIns="0" bIns="0" rtlCol="0" anchor="t"/>
          <a:lstStyle/>
          <a:p>
            <a:pPr marL="0" indent="0">
              <a:buNone/>
            </a:pPr>
            <a:r>
              <a:rPr lang="en-US" sz="1100" b="1" kern="0" spc="200" dirty="0">
                <a:solidFill>
                  <a:schemeClr val="accent1"/>
                </a:solidFill>
              </a:rPr>
              <a:t>TOOLS  (facts only, no LLM)</a:t>
            </a:r>
            <a:endParaRPr lang="en-US" sz="1100" dirty="0"/>
          </a:p>
        </p:txBody>
      </p:sp>
      <p:sp>
        <p:nvSpPr>
          <p:cNvPr id="31" name="tool Risk scores"/>
          <p:cNvSpPr/>
          <p:nvPr/>
        </p:nvSpPr>
        <p:spPr>
          <a:xfrm>
            <a:off x="548640" y="4873752"/>
            <a:ext cx="1268730" cy="566928"/>
          </a:xfrm>
          <a:prstGeom prst="roundRect">
            <a:avLst>
              <a:gd name="adj" fmla="val 12903"/>
            </a:avLst>
          </a:prstGeom>
          <a:solidFill>
            <a:schemeClr val="bg2"/>
          </a:solidFill>
          <a:ln w="12700">
            <a:solidFill>
              <a:srgbClr val="3A3A40"/>
            </a:solidFill>
            <a:prstDash val="solid"/>
          </a:ln>
        </p:spPr>
      </p:sp>
      <p:sp>
        <p:nvSpPr>
          <p:cNvPr id="32" name="Text 30"/>
          <p:cNvSpPr txBox="1"/>
          <p:nvPr/>
        </p:nvSpPr>
        <p:spPr>
          <a:xfrm>
            <a:off x="621792" y="4873752"/>
            <a:ext cx="1122426" cy="566928"/>
          </a:xfrm>
          <a:prstGeom prst="rect">
            <a:avLst/>
          </a:prstGeom>
          <a:noFill/>
          <a:ln/>
        </p:spPr>
        <p:txBody>
          <a:bodyPr wrap="square" lIns="0" tIns="0" rIns="0" bIns="0" rtlCol="0" anchor="ctr"/>
          <a:lstStyle/>
          <a:p>
            <a:pPr marL="0" indent="0" algn="ctr">
              <a:buNone/>
            </a:pPr>
            <a:r>
              <a:rPr lang="en-US" sz="1100" b="1" dirty="0">
                <a:solidFill>
                  <a:schemeClr val="tx1"/>
                </a:solidFill>
              </a:rPr>
              <a:t>Risk scores</a:t>
            </a:r>
            <a:endParaRPr lang="en-US" sz="1100" dirty="0"/>
          </a:p>
        </p:txBody>
      </p:sp>
      <p:sp>
        <p:nvSpPr>
          <p:cNvPr id="33" name="tool Usage trends"/>
          <p:cNvSpPr/>
          <p:nvPr/>
        </p:nvSpPr>
        <p:spPr>
          <a:xfrm>
            <a:off x="1954530" y="4873752"/>
            <a:ext cx="1268730" cy="566928"/>
          </a:xfrm>
          <a:prstGeom prst="roundRect">
            <a:avLst>
              <a:gd name="adj" fmla="val 12903"/>
            </a:avLst>
          </a:prstGeom>
          <a:solidFill>
            <a:schemeClr val="bg2"/>
          </a:solidFill>
          <a:ln w="12700">
            <a:solidFill>
              <a:srgbClr val="3A3A40"/>
            </a:solidFill>
            <a:prstDash val="solid"/>
          </a:ln>
        </p:spPr>
      </p:sp>
      <p:sp>
        <p:nvSpPr>
          <p:cNvPr id="34" name="Text 32"/>
          <p:cNvSpPr txBox="1"/>
          <p:nvPr/>
        </p:nvSpPr>
        <p:spPr>
          <a:xfrm>
            <a:off x="2027682" y="4873752"/>
            <a:ext cx="1122426" cy="566928"/>
          </a:xfrm>
          <a:prstGeom prst="rect">
            <a:avLst/>
          </a:prstGeom>
          <a:noFill/>
          <a:ln/>
        </p:spPr>
        <p:txBody>
          <a:bodyPr wrap="square" lIns="0" tIns="0" rIns="0" bIns="0" rtlCol="0" anchor="ctr"/>
          <a:lstStyle/>
          <a:p>
            <a:pPr marL="0" indent="0" algn="ctr">
              <a:buNone/>
            </a:pPr>
            <a:r>
              <a:rPr lang="en-US" sz="1100" b="1" dirty="0">
                <a:solidFill>
                  <a:schemeClr val="tx1"/>
                </a:solidFill>
              </a:rPr>
              <a:t>Usage trends</a:t>
            </a:r>
            <a:endParaRPr lang="en-US" sz="1100" dirty="0"/>
          </a:p>
        </p:txBody>
      </p:sp>
      <p:sp>
        <p:nvSpPr>
          <p:cNvPr id="35" name="tool VW contextual bandit"/>
          <p:cNvSpPr/>
          <p:nvPr/>
        </p:nvSpPr>
        <p:spPr>
          <a:xfrm>
            <a:off x="3360420" y="4873752"/>
            <a:ext cx="1268730" cy="566928"/>
          </a:xfrm>
          <a:prstGeom prst="roundRect">
            <a:avLst>
              <a:gd name="adj" fmla="val 12903"/>
            </a:avLst>
          </a:prstGeom>
          <a:solidFill>
            <a:schemeClr val="bg2"/>
          </a:solidFill>
          <a:ln w="12700">
            <a:solidFill>
              <a:srgbClr val="3A3A40"/>
            </a:solidFill>
            <a:prstDash val="solid"/>
          </a:ln>
        </p:spPr>
      </p:sp>
      <p:sp>
        <p:nvSpPr>
          <p:cNvPr id="36" name="Text 34"/>
          <p:cNvSpPr txBox="1"/>
          <p:nvPr/>
        </p:nvSpPr>
        <p:spPr>
          <a:xfrm>
            <a:off x="3433572" y="4873752"/>
            <a:ext cx="1122426" cy="566928"/>
          </a:xfrm>
          <a:prstGeom prst="rect">
            <a:avLst/>
          </a:prstGeom>
          <a:noFill/>
          <a:ln/>
        </p:spPr>
        <p:txBody>
          <a:bodyPr wrap="square" lIns="0" tIns="0" rIns="0" bIns="0" rtlCol="0" anchor="ctr"/>
          <a:lstStyle/>
          <a:p>
            <a:pPr marL="0" indent="0" algn="ctr">
              <a:buNone/>
            </a:pPr>
            <a:r>
              <a:rPr lang="en-US" sz="1100" b="1" dirty="0">
                <a:solidFill>
                  <a:schemeClr val="tx1"/>
                </a:solidFill>
              </a:rPr>
              <a:t>VW contextual bandit</a:t>
            </a:r>
            <a:endParaRPr lang="en-US" sz="1100" dirty="0"/>
          </a:p>
        </p:txBody>
      </p:sp>
      <p:sp>
        <p:nvSpPr>
          <p:cNvPr id="37" name="tool Contact policy"/>
          <p:cNvSpPr/>
          <p:nvPr/>
        </p:nvSpPr>
        <p:spPr>
          <a:xfrm>
            <a:off x="4766310" y="4873752"/>
            <a:ext cx="1268730" cy="566928"/>
          </a:xfrm>
          <a:prstGeom prst="roundRect">
            <a:avLst>
              <a:gd name="adj" fmla="val 12903"/>
            </a:avLst>
          </a:prstGeom>
          <a:solidFill>
            <a:schemeClr val="bg2"/>
          </a:solidFill>
          <a:ln w="12700">
            <a:solidFill>
              <a:srgbClr val="3A3A40"/>
            </a:solidFill>
            <a:prstDash val="solid"/>
          </a:ln>
        </p:spPr>
      </p:sp>
      <p:sp>
        <p:nvSpPr>
          <p:cNvPr id="38" name="Text 36"/>
          <p:cNvSpPr txBox="1"/>
          <p:nvPr/>
        </p:nvSpPr>
        <p:spPr>
          <a:xfrm>
            <a:off x="4839462" y="4873752"/>
            <a:ext cx="1122426" cy="566928"/>
          </a:xfrm>
          <a:prstGeom prst="rect">
            <a:avLst/>
          </a:prstGeom>
          <a:noFill/>
          <a:ln/>
        </p:spPr>
        <p:txBody>
          <a:bodyPr wrap="square" lIns="0" tIns="0" rIns="0" bIns="0" rtlCol="0" anchor="ctr"/>
          <a:lstStyle/>
          <a:p>
            <a:pPr marL="0" indent="0" algn="ctr">
              <a:buNone/>
            </a:pPr>
            <a:r>
              <a:rPr lang="en-US" sz="1100" b="1" dirty="0">
                <a:solidFill>
                  <a:schemeClr val="tx1"/>
                </a:solidFill>
              </a:rPr>
              <a:t>Contact policy</a:t>
            </a:r>
            <a:endParaRPr lang="en-US" sz="1100" dirty="0"/>
          </a:p>
        </p:txBody>
      </p:sp>
      <p:sp>
        <p:nvSpPr>
          <p:cNvPr id="39" name="tool Cohort graph"/>
          <p:cNvSpPr/>
          <p:nvPr/>
        </p:nvSpPr>
        <p:spPr>
          <a:xfrm>
            <a:off x="6172200" y="4873752"/>
            <a:ext cx="1268730" cy="566928"/>
          </a:xfrm>
          <a:prstGeom prst="roundRect">
            <a:avLst>
              <a:gd name="adj" fmla="val 12903"/>
            </a:avLst>
          </a:prstGeom>
          <a:solidFill>
            <a:schemeClr val="bg2"/>
          </a:solidFill>
          <a:ln w="12700">
            <a:solidFill>
              <a:srgbClr val="3A3A40"/>
            </a:solidFill>
            <a:prstDash val="solid"/>
          </a:ln>
        </p:spPr>
      </p:sp>
      <p:sp>
        <p:nvSpPr>
          <p:cNvPr id="40" name="Text 38"/>
          <p:cNvSpPr txBox="1"/>
          <p:nvPr/>
        </p:nvSpPr>
        <p:spPr>
          <a:xfrm>
            <a:off x="6245352" y="4873752"/>
            <a:ext cx="1122426" cy="566928"/>
          </a:xfrm>
          <a:prstGeom prst="rect">
            <a:avLst/>
          </a:prstGeom>
          <a:noFill/>
          <a:ln/>
        </p:spPr>
        <p:txBody>
          <a:bodyPr wrap="square" lIns="0" tIns="0" rIns="0" bIns="0" rtlCol="0" anchor="ctr"/>
          <a:lstStyle/>
          <a:p>
            <a:pPr marL="0" indent="0" algn="ctr">
              <a:buNone/>
            </a:pPr>
            <a:r>
              <a:rPr lang="en-US" sz="1100" b="1" dirty="0">
                <a:solidFill>
                  <a:schemeClr val="tx1"/>
                </a:solidFill>
              </a:rPr>
              <a:t>Cohort graph</a:t>
            </a:r>
            <a:endParaRPr lang="en-US" sz="1100" dirty="0"/>
          </a:p>
        </p:txBody>
      </p:sp>
      <p:sp>
        <p:nvSpPr>
          <p:cNvPr id="41" name="tool BPR collab. filtering"/>
          <p:cNvSpPr/>
          <p:nvPr/>
        </p:nvSpPr>
        <p:spPr>
          <a:xfrm>
            <a:off x="7578090" y="4873752"/>
            <a:ext cx="1268730" cy="566928"/>
          </a:xfrm>
          <a:prstGeom prst="roundRect">
            <a:avLst>
              <a:gd name="adj" fmla="val 12903"/>
            </a:avLst>
          </a:prstGeom>
          <a:solidFill>
            <a:schemeClr val="bg2"/>
          </a:solidFill>
          <a:ln w="12700">
            <a:solidFill>
              <a:srgbClr val="3A3A40"/>
            </a:solidFill>
            <a:prstDash val="solid"/>
          </a:ln>
        </p:spPr>
      </p:sp>
      <p:sp>
        <p:nvSpPr>
          <p:cNvPr id="42" name="Text 40"/>
          <p:cNvSpPr txBox="1"/>
          <p:nvPr/>
        </p:nvSpPr>
        <p:spPr>
          <a:xfrm>
            <a:off x="7651242" y="4873752"/>
            <a:ext cx="1122426" cy="566928"/>
          </a:xfrm>
          <a:prstGeom prst="rect">
            <a:avLst/>
          </a:prstGeom>
          <a:noFill/>
          <a:ln/>
        </p:spPr>
        <p:txBody>
          <a:bodyPr wrap="square" lIns="0" tIns="0" rIns="0" bIns="0" rtlCol="0" anchor="ctr"/>
          <a:lstStyle/>
          <a:p>
            <a:pPr marL="0" indent="0" algn="ctr">
              <a:buNone/>
            </a:pPr>
            <a:r>
              <a:rPr lang="en-US" sz="1100" b="1" dirty="0">
                <a:solidFill>
                  <a:schemeClr val="tx1"/>
                </a:solidFill>
              </a:rPr>
              <a:t>BPR collab. filtering</a:t>
            </a:r>
            <a:endParaRPr lang="en-US" sz="1100" dirty="0"/>
          </a:p>
        </p:txBody>
      </p:sp>
      <p:sp>
        <p:nvSpPr>
          <p:cNvPr id="43" name="tool Eligibility rules"/>
          <p:cNvSpPr/>
          <p:nvPr/>
        </p:nvSpPr>
        <p:spPr>
          <a:xfrm>
            <a:off x="8983980" y="4873752"/>
            <a:ext cx="1268730" cy="566928"/>
          </a:xfrm>
          <a:prstGeom prst="roundRect">
            <a:avLst>
              <a:gd name="adj" fmla="val 12903"/>
            </a:avLst>
          </a:prstGeom>
          <a:solidFill>
            <a:schemeClr val="bg2"/>
          </a:solidFill>
          <a:ln w="12700">
            <a:solidFill>
              <a:srgbClr val="3A3A40"/>
            </a:solidFill>
            <a:prstDash val="solid"/>
          </a:ln>
        </p:spPr>
      </p:sp>
      <p:sp>
        <p:nvSpPr>
          <p:cNvPr id="44" name="Text 42"/>
          <p:cNvSpPr txBox="1"/>
          <p:nvPr/>
        </p:nvSpPr>
        <p:spPr>
          <a:xfrm>
            <a:off x="9057132" y="4873752"/>
            <a:ext cx="1122426" cy="566928"/>
          </a:xfrm>
          <a:prstGeom prst="rect">
            <a:avLst/>
          </a:prstGeom>
          <a:noFill/>
          <a:ln/>
        </p:spPr>
        <p:txBody>
          <a:bodyPr wrap="square" lIns="0" tIns="0" rIns="0" bIns="0" rtlCol="0" anchor="ctr"/>
          <a:lstStyle/>
          <a:p>
            <a:pPr marL="0" indent="0" algn="ctr">
              <a:buNone/>
            </a:pPr>
            <a:r>
              <a:rPr lang="en-US" sz="1100" b="1" dirty="0">
                <a:solidFill>
                  <a:schemeClr val="tx1"/>
                </a:solidFill>
              </a:rPr>
              <a:t>Eligibility rules</a:t>
            </a:r>
            <a:endParaRPr lang="en-US" sz="1100" dirty="0"/>
          </a:p>
        </p:txBody>
      </p:sp>
      <p:sp>
        <p:nvSpPr>
          <p:cNvPr id="45" name="tool EV simulator"/>
          <p:cNvSpPr/>
          <p:nvPr/>
        </p:nvSpPr>
        <p:spPr>
          <a:xfrm>
            <a:off x="10389870" y="4873752"/>
            <a:ext cx="1268730" cy="566928"/>
          </a:xfrm>
          <a:prstGeom prst="roundRect">
            <a:avLst>
              <a:gd name="adj" fmla="val 12903"/>
            </a:avLst>
          </a:prstGeom>
          <a:solidFill>
            <a:schemeClr val="bg2"/>
          </a:solidFill>
          <a:ln w="12700">
            <a:solidFill>
              <a:srgbClr val="3A3A40"/>
            </a:solidFill>
            <a:prstDash val="solid"/>
          </a:ln>
        </p:spPr>
      </p:sp>
      <p:sp>
        <p:nvSpPr>
          <p:cNvPr id="46" name="Text 44"/>
          <p:cNvSpPr txBox="1"/>
          <p:nvPr/>
        </p:nvSpPr>
        <p:spPr>
          <a:xfrm>
            <a:off x="10463022" y="4873752"/>
            <a:ext cx="1122426" cy="566928"/>
          </a:xfrm>
          <a:prstGeom prst="rect">
            <a:avLst/>
          </a:prstGeom>
          <a:noFill/>
          <a:ln/>
        </p:spPr>
        <p:txBody>
          <a:bodyPr wrap="square" lIns="0" tIns="0" rIns="0" bIns="0" rtlCol="0" anchor="ctr"/>
          <a:lstStyle/>
          <a:p>
            <a:pPr marL="0" indent="0" algn="ctr">
              <a:buNone/>
            </a:pPr>
            <a:r>
              <a:rPr lang="en-US" sz="1100" b="1" dirty="0">
                <a:solidFill>
                  <a:schemeClr val="tx1"/>
                </a:solidFill>
              </a:rPr>
              <a:t>EV simulator</a:t>
            </a:r>
            <a:endParaRPr lang="en-US" sz="1100" dirty="0"/>
          </a:p>
        </p:txBody>
      </p:sp>
      <p:sp>
        <p:nvSpPr>
          <p:cNvPr id="47" name="data"/>
          <p:cNvSpPr/>
          <p:nvPr/>
        </p:nvSpPr>
        <p:spPr>
          <a:xfrm>
            <a:off x="548640" y="5623560"/>
            <a:ext cx="11109960" cy="548640"/>
          </a:xfrm>
          <a:prstGeom prst="roundRect">
            <a:avLst>
              <a:gd name="adj" fmla="val 20000"/>
            </a:avLst>
          </a:prstGeom>
          <a:solidFill>
            <a:schemeClr val="bg2"/>
          </a:solidFill>
          <a:ln w="12700">
            <a:solidFill>
              <a:srgbClr val="2A2A2E"/>
            </a:solidFill>
            <a:prstDash val="solid"/>
          </a:ln>
        </p:spPr>
      </p:sp>
      <p:sp>
        <p:nvSpPr>
          <p:cNvPr id="48" name="Text 46"/>
          <p:cNvSpPr txBox="1"/>
          <p:nvPr/>
        </p:nvSpPr>
        <p:spPr>
          <a:xfrm>
            <a:off x="777240" y="5623560"/>
            <a:ext cx="10698480" cy="548640"/>
          </a:xfrm>
          <a:prstGeom prst="rect">
            <a:avLst/>
          </a:prstGeom>
          <a:noFill/>
          <a:ln/>
        </p:spPr>
        <p:txBody>
          <a:bodyPr wrap="square" lIns="0" tIns="0" rIns="0" bIns="0" rtlCol="0" anchor="ctr"/>
          <a:lstStyle/>
          <a:p>
            <a:pPr marL="0" indent="0">
              <a:buNone/>
            </a:pPr>
            <a:r>
              <a:rPr lang="en-US" sz="1200" b="1" dirty="0">
                <a:solidFill>
                  <a:schemeClr val="accent1"/>
                </a:solidFill>
              </a:rPr>
              <a:t>DATA   </a:t>
            </a:r>
            <a:r>
              <a:rPr lang="en-US" sz="1200" dirty="0">
                <a:solidFill>
                  <a:schemeClr val="tx2"/>
                </a:solidFill>
              </a:rPr>
              <a:t>subscribers · churn / appetency / fragility propensities · weekly + monthly revenue · purchase history · offer catalog</a:t>
            </a:r>
            <a:endParaRPr lang="en-US" sz="1200" dirty="0"/>
          </a:p>
        </p:txBody>
      </p:sp>
      <p:sp>
        <p:nvSpPr>
          <p:cNvPr id="49"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64240" cy="274320"/>
          </a:xfrm>
          <a:prstGeom prst="rect">
            <a:avLst/>
          </a:prstGeom>
          <a:noFill/>
          <a:ln/>
        </p:spPr>
        <p:txBody>
          <a:bodyPr wrap="square" lIns="0" tIns="0" rIns="0" bIns="0" rtlCol="0"/>
          <a:lstStyle/>
          <a:p>
            <a:pPr marL="0" indent="0">
              <a:buNone/>
            </a:pPr>
            <a:r>
              <a:rPr lang="en-US" sz="1100" b="1" kern="0" spc="300" dirty="0">
                <a:solidFill>
                  <a:schemeClr val="accent1"/>
                </a:solidFill>
              </a:rPr>
              <a:t>ONE REAL DECISION  ·  CUSTOMER #15</a:t>
            </a:r>
            <a:endParaRPr lang="en-US" sz="1100" dirty="0"/>
          </a:p>
        </p:txBody>
      </p:sp>
      <p:sp>
        <p:nvSpPr>
          <p:cNvPr id="3" name="Text 0"/>
          <p:cNvSpPr>
            <a:spLocks noGrp="1"/>
          </p:cNvSpPr>
          <p:nvPr>
            <p:ph type="title" idx="101" hasCustomPrompt="1"/>
          </p:nvPr>
        </p:nvSpPr>
        <p:spPr>
          <a:xfrm>
            <a:off x="548640" y="594360"/>
            <a:ext cx="11064240" cy="685800"/>
          </a:xfrm>
          <a:prstGeom prst="rect">
            <a:avLst/>
          </a:prstGeom>
          <a:noFill/>
          <a:ln/>
        </p:spPr>
        <p:txBody>
          <a:bodyPr wrap="square" lIns="0" tIns="0" rIns="0" bIns="0" rtlCol="0" anchor="t"/>
          <a:lstStyle/>
          <a:p>
            <a:pPr marL="0" indent="0" algn="l">
              <a:buNone/>
            </a:pPr>
            <a:r>
              <a:rPr lang="en-US" sz="3200" b="1" dirty="0">
                <a:solidFill>
                  <a:schemeClr val="tx1"/>
                </a:solidFill>
              </a:rPr>
              <a:t>The strategist overruled the bandit, with evidence</a:t>
            </a:r>
            <a:endParaRPr lang="en-US" sz="3200" dirty="0"/>
          </a:p>
        </p:txBody>
      </p:sp>
      <p:sp>
        <p:nvSpPr>
          <p:cNvPr id="4" name="step 1"/>
          <p:cNvSpPr/>
          <p:nvPr/>
        </p:nvSpPr>
        <p:spPr>
          <a:xfrm>
            <a:off x="548640" y="1591056"/>
            <a:ext cx="384048" cy="384048"/>
          </a:xfrm>
          <a:prstGeom prst="ellipse">
            <a:avLst/>
          </a:prstGeom>
          <a:solidFill>
            <a:schemeClr val="accent1"/>
          </a:solidFill>
          <a:ln w="12700">
            <a:solidFill>
              <a:schemeClr val="accent1"/>
            </a:solidFill>
            <a:prstDash val="solid"/>
          </a:ln>
        </p:spPr>
      </p:sp>
      <p:sp>
        <p:nvSpPr>
          <p:cNvPr id="5" name="Text 3"/>
          <p:cNvSpPr txBox="1"/>
          <p:nvPr/>
        </p:nvSpPr>
        <p:spPr>
          <a:xfrm>
            <a:off x="548640" y="159105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6" name="Text 4"/>
          <p:cNvSpPr txBox="1"/>
          <p:nvPr/>
        </p:nvSpPr>
        <p:spPr>
          <a:xfrm>
            <a:off x="1097280" y="1554480"/>
            <a:ext cx="4480560" cy="320040"/>
          </a:xfrm>
          <a:prstGeom prst="rect">
            <a:avLst/>
          </a:prstGeom>
          <a:noFill/>
          <a:ln/>
        </p:spPr>
        <p:txBody>
          <a:bodyPr wrap="square" lIns="0" tIns="0" rIns="0" bIns="0" rtlCol="0" anchor="t"/>
          <a:lstStyle/>
          <a:p>
            <a:pPr marL="0" indent="0">
              <a:buNone/>
            </a:pPr>
            <a:r>
              <a:rPr lang="en-US" sz="1600" b="1" dirty="0">
                <a:solidFill>
                  <a:schemeClr val="tx1"/>
                </a:solidFill>
              </a:rPr>
              <a:t>Bandit prior</a:t>
            </a:r>
            <a:endParaRPr lang="en-US" sz="1600" dirty="0"/>
          </a:p>
        </p:txBody>
      </p:sp>
      <p:sp>
        <p:nvSpPr>
          <p:cNvPr id="7" name="Text 5"/>
          <p:cNvSpPr txBox="1"/>
          <p:nvPr/>
        </p:nvSpPr>
        <p:spPr>
          <a:xfrm>
            <a:off x="1097280" y="1883664"/>
            <a:ext cx="4480560" cy="530352"/>
          </a:xfrm>
          <a:prstGeom prst="rect">
            <a:avLst/>
          </a:prstGeom>
          <a:noFill/>
          <a:ln/>
        </p:spPr>
        <p:txBody>
          <a:bodyPr wrap="square" lIns="0" tIns="0" rIns="0" bIns="0" rtlCol="0" anchor="t"/>
          <a:lstStyle/>
          <a:p>
            <a:pPr marL="0" indent="0">
              <a:buNone/>
            </a:pPr>
            <a:r>
              <a:rPr lang="en-US" sz="1300" dirty="0">
                <a:solidFill>
                  <a:schemeClr val="tx2"/>
                </a:solidFill>
              </a:rPr>
              <a:t>The contextual bandit proposes UPSELL with p = 0.83</a:t>
            </a:r>
            <a:endParaRPr lang="en-US" sz="1300" dirty="0"/>
          </a:p>
        </p:txBody>
      </p:sp>
      <p:sp>
        <p:nvSpPr>
          <p:cNvPr id="8" name="connector 1"/>
          <p:cNvSpPr/>
          <p:nvPr/>
        </p:nvSpPr>
        <p:spPr>
          <a:xfrm>
            <a:off x="740664" y="2011680"/>
            <a:ext cx="0" cy="457200"/>
          </a:xfrm>
          <a:prstGeom prst="line">
            <a:avLst/>
          </a:prstGeom>
          <a:noFill/>
          <a:ln w="19050">
            <a:solidFill>
              <a:srgbClr val="5A1020"/>
            </a:solidFill>
            <a:prstDash val="solid"/>
          </a:ln>
        </p:spPr>
      </p:sp>
      <p:sp>
        <p:nvSpPr>
          <p:cNvPr id="9" name="step 2"/>
          <p:cNvSpPr/>
          <p:nvPr/>
        </p:nvSpPr>
        <p:spPr>
          <a:xfrm>
            <a:off x="548640" y="2487168"/>
            <a:ext cx="384048" cy="384048"/>
          </a:xfrm>
          <a:prstGeom prst="ellipse">
            <a:avLst/>
          </a:prstGeom>
          <a:solidFill>
            <a:schemeClr val="accent1"/>
          </a:solidFill>
          <a:ln w="12700">
            <a:solidFill>
              <a:schemeClr val="accent1"/>
            </a:solidFill>
            <a:prstDash val="solid"/>
          </a:ln>
        </p:spPr>
      </p:sp>
      <p:sp>
        <p:nvSpPr>
          <p:cNvPr id="10" name="Text 8"/>
          <p:cNvSpPr txBox="1"/>
          <p:nvPr/>
        </p:nvSpPr>
        <p:spPr>
          <a:xfrm>
            <a:off x="548640" y="248716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1" name="Text 9"/>
          <p:cNvSpPr txBox="1"/>
          <p:nvPr/>
        </p:nvSpPr>
        <p:spPr>
          <a:xfrm>
            <a:off x="1097280" y="2450592"/>
            <a:ext cx="4480560" cy="320040"/>
          </a:xfrm>
          <a:prstGeom prst="rect">
            <a:avLst/>
          </a:prstGeom>
          <a:noFill/>
          <a:ln/>
        </p:spPr>
        <p:txBody>
          <a:bodyPr wrap="square" lIns="0" tIns="0" rIns="0" bIns="0" rtlCol="0" anchor="t"/>
          <a:lstStyle/>
          <a:p>
            <a:pPr marL="0" indent="0">
              <a:buNone/>
            </a:pPr>
            <a:r>
              <a:rPr lang="en-US" sz="1600" b="1" dirty="0">
                <a:solidFill>
                  <a:schemeClr val="tx1"/>
                </a:solidFill>
              </a:rPr>
              <a:t>NBA Strategist</a:t>
            </a:r>
            <a:endParaRPr lang="en-US" sz="1600" dirty="0"/>
          </a:p>
        </p:txBody>
      </p:sp>
      <p:sp>
        <p:nvSpPr>
          <p:cNvPr id="12" name="Text 10"/>
          <p:cNvSpPr txBox="1"/>
          <p:nvPr/>
        </p:nvSpPr>
        <p:spPr>
          <a:xfrm>
            <a:off x="1097280" y="2779776"/>
            <a:ext cx="4480560" cy="530352"/>
          </a:xfrm>
          <a:prstGeom prst="rect">
            <a:avLst/>
          </a:prstGeom>
          <a:noFill/>
          <a:ln/>
        </p:spPr>
        <p:txBody>
          <a:bodyPr wrap="square" lIns="0" tIns="0" rIns="0" bIns="0" rtlCol="0" anchor="t"/>
          <a:lstStyle/>
          <a:p>
            <a:pPr marL="0" indent="0">
              <a:buNone/>
            </a:pPr>
            <a:r>
              <a:rPr lang="en-US" sz="1300" dirty="0">
                <a:solidFill>
                  <a:schemeClr val="tx2"/>
                </a:solidFill>
              </a:rPr>
              <a:t>Reads churn 58% and a falling revenue trend, then chooses RETAIN</a:t>
            </a:r>
            <a:endParaRPr lang="en-US" sz="1300" dirty="0"/>
          </a:p>
        </p:txBody>
      </p:sp>
      <p:sp>
        <p:nvSpPr>
          <p:cNvPr id="13" name="connector 2"/>
          <p:cNvSpPr/>
          <p:nvPr/>
        </p:nvSpPr>
        <p:spPr>
          <a:xfrm>
            <a:off x="740664" y="2907792"/>
            <a:ext cx="0" cy="457200"/>
          </a:xfrm>
          <a:prstGeom prst="line">
            <a:avLst/>
          </a:prstGeom>
          <a:noFill/>
          <a:ln w="19050">
            <a:solidFill>
              <a:srgbClr val="5A1020"/>
            </a:solidFill>
            <a:prstDash val="solid"/>
          </a:ln>
        </p:spPr>
      </p:sp>
      <p:sp>
        <p:nvSpPr>
          <p:cNvPr id="14" name="step 3"/>
          <p:cNvSpPr/>
          <p:nvPr/>
        </p:nvSpPr>
        <p:spPr>
          <a:xfrm>
            <a:off x="548640" y="3383280"/>
            <a:ext cx="384048" cy="384048"/>
          </a:xfrm>
          <a:prstGeom prst="ellipse">
            <a:avLst/>
          </a:prstGeom>
          <a:solidFill>
            <a:schemeClr val="accent1"/>
          </a:solidFill>
          <a:ln w="12700">
            <a:solidFill>
              <a:schemeClr val="accent1"/>
            </a:solidFill>
            <a:prstDash val="solid"/>
          </a:ln>
        </p:spPr>
      </p:sp>
      <p:sp>
        <p:nvSpPr>
          <p:cNvPr id="15" name="Text 13"/>
          <p:cNvSpPr txBox="1"/>
          <p:nvPr/>
        </p:nvSpPr>
        <p:spPr>
          <a:xfrm>
            <a:off x="548640" y="33832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6" name="Text 14"/>
          <p:cNvSpPr txBox="1"/>
          <p:nvPr/>
        </p:nvSpPr>
        <p:spPr>
          <a:xfrm>
            <a:off x="1097280" y="3346704"/>
            <a:ext cx="4480560" cy="320040"/>
          </a:xfrm>
          <a:prstGeom prst="rect">
            <a:avLst/>
          </a:prstGeom>
          <a:noFill/>
          <a:ln/>
        </p:spPr>
        <p:txBody>
          <a:bodyPr wrap="square" lIns="0" tIns="0" rIns="0" bIns="0" rtlCol="0" anchor="t"/>
          <a:lstStyle/>
          <a:p>
            <a:pPr marL="0" indent="0">
              <a:buNone/>
            </a:pPr>
            <a:r>
              <a:rPr lang="en-US" sz="1600" b="1" dirty="0">
                <a:solidFill>
                  <a:schemeClr val="tx1"/>
                </a:solidFill>
              </a:rPr>
              <a:t>NBO Specialist</a:t>
            </a:r>
            <a:endParaRPr lang="en-US" sz="1600" dirty="0"/>
          </a:p>
        </p:txBody>
      </p:sp>
      <p:sp>
        <p:nvSpPr>
          <p:cNvPr id="17" name="Text 15"/>
          <p:cNvSpPr txBox="1"/>
          <p:nvPr/>
        </p:nvSpPr>
        <p:spPr>
          <a:xfrm>
            <a:off x="1097280" y="3675888"/>
            <a:ext cx="4480560" cy="530352"/>
          </a:xfrm>
          <a:prstGeom prst="rect">
            <a:avLst/>
          </a:prstGeom>
          <a:noFill/>
          <a:ln/>
        </p:spPr>
        <p:txBody>
          <a:bodyPr wrap="square" lIns="0" tIns="0" rIns="0" bIns="0" rtlCol="0" anchor="t"/>
          <a:lstStyle/>
          <a:p>
            <a:pPr marL="0" indent="0">
              <a:buNone/>
            </a:pPr>
            <a:r>
              <a:rPr lang="en-US" sz="1300" dirty="0">
                <a:solidFill>
                  <a:schemeClr val="tx2"/>
                </a:solidFill>
              </a:rPr>
              <a:t>Checks eligibility, simulates expected value: the 30-day saver pack leads at 1.48 OMR/month</a:t>
            </a:r>
            <a:endParaRPr lang="en-US" sz="1300" dirty="0"/>
          </a:p>
        </p:txBody>
      </p:sp>
      <p:sp>
        <p:nvSpPr>
          <p:cNvPr id="18" name="connector 3"/>
          <p:cNvSpPr/>
          <p:nvPr/>
        </p:nvSpPr>
        <p:spPr>
          <a:xfrm>
            <a:off x="740664" y="3803904"/>
            <a:ext cx="0" cy="457200"/>
          </a:xfrm>
          <a:prstGeom prst="line">
            <a:avLst/>
          </a:prstGeom>
          <a:noFill/>
          <a:ln w="19050">
            <a:solidFill>
              <a:srgbClr val="5A1020"/>
            </a:solidFill>
            <a:prstDash val="solid"/>
          </a:ln>
        </p:spPr>
      </p:sp>
      <p:sp>
        <p:nvSpPr>
          <p:cNvPr id="19" name="step 4"/>
          <p:cNvSpPr/>
          <p:nvPr/>
        </p:nvSpPr>
        <p:spPr>
          <a:xfrm>
            <a:off x="548640" y="4279392"/>
            <a:ext cx="384048" cy="384048"/>
          </a:xfrm>
          <a:prstGeom prst="ellipse">
            <a:avLst/>
          </a:prstGeom>
          <a:solidFill>
            <a:schemeClr val="accent1"/>
          </a:solidFill>
          <a:ln w="12700">
            <a:solidFill>
              <a:schemeClr val="accent1"/>
            </a:solidFill>
            <a:prstDash val="solid"/>
          </a:ln>
        </p:spPr>
      </p:sp>
      <p:sp>
        <p:nvSpPr>
          <p:cNvPr id="20" name="Text 18"/>
          <p:cNvSpPr txBox="1"/>
          <p:nvPr/>
        </p:nvSpPr>
        <p:spPr>
          <a:xfrm>
            <a:off x="548640" y="427939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1" name="Text 19"/>
          <p:cNvSpPr txBox="1"/>
          <p:nvPr/>
        </p:nvSpPr>
        <p:spPr>
          <a:xfrm>
            <a:off x="1097280" y="4242816"/>
            <a:ext cx="4480560" cy="320040"/>
          </a:xfrm>
          <a:prstGeom prst="rect">
            <a:avLst/>
          </a:prstGeom>
          <a:noFill/>
          <a:ln/>
        </p:spPr>
        <p:txBody>
          <a:bodyPr wrap="square" lIns="0" tIns="0" rIns="0" bIns="0" rtlCol="0" anchor="t"/>
          <a:lstStyle/>
          <a:p>
            <a:pPr marL="0" indent="0">
              <a:buNone/>
            </a:pPr>
            <a:r>
              <a:rPr lang="en-US" sz="1600" b="1" dirty="0">
                <a:solidFill>
                  <a:schemeClr val="tx1"/>
                </a:solidFill>
              </a:rPr>
              <a:t>Critic</a:t>
            </a:r>
            <a:endParaRPr lang="en-US" sz="1600" dirty="0"/>
          </a:p>
        </p:txBody>
      </p:sp>
      <p:sp>
        <p:nvSpPr>
          <p:cNvPr id="22" name="Text 20"/>
          <p:cNvSpPr txBox="1"/>
          <p:nvPr/>
        </p:nvSpPr>
        <p:spPr>
          <a:xfrm>
            <a:off x="1097280" y="4572000"/>
            <a:ext cx="4480560" cy="530352"/>
          </a:xfrm>
          <a:prstGeom prst="rect">
            <a:avLst/>
          </a:prstGeom>
          <a:noFill/>
          <a:ln/>
        </p:spPr>
        <p:txBody>
          <a:bodyPr wrap="square" lIns="0" tIns="0" rIns="0" bIns="0" rtlCol="0" anchor="t"/>
          <a:lstStyle/>
          <a:p>
            <a:pPr marL="0" indent="0">
              <a:buNone/>
            </a:pPr>
            <a:r>
              <a:rPr lang="en-US" sz="1300" dirty="0">
                <a:solidFill>
                  <a:schemeClr val="tx2"/>
                </a:solidFill>
              </a:rPr>
              <a:t>Hard guardrails pass: no sales push to an at-risk customer, eligibility, contact cooldown</a:t>
            </a:r>
            <a:endParaRPr lang="en-US" sz="1300" dirty="0"/>
          </a:p>
        </p:txBody>
      </p:sp>
      <p:sp>
        <p:nvSpPr>
          <p:cNvPr id="23" name="connector 4"/>
          <p:cNvSpPr/>
          <p:nvPr/>
        </p:nvSpPr>
        <p:spPr>
          <a:xfrm>
            <a:off x="740664" y="4700016"/>
            <a:ext cx="0" cy="457200"/>
          </a:xfrm>
          <a:prstGeom prst="line">
            <a:avLst/>
          </a:prstGeom>
          <a:noFill/>
          <a:ln w="19050">
            <a:solidFill>
              <a:srgbClr val="5A1020"/>
            </a:solidFill>
            <a:prstDash val="solid"/>
          </a:ln>
        </p:spPr>
      </p:sp>
      <p:sp>
        <p:nvSpPr>
          <p:cNvPr id="24" name="step 5"/>
          <p:cNvSpPr/>
          <p:nvPr/>
        </p:nvSpPr>
        <p:spPr>
          <a:xfrm>
            <a:off x="548640" y="5175504"/>
            <a:ext cx="384048" cy="384048"/>
          </a:xfrm>
          <a:prstGeom prst="ellipse">
            <a:avLst/>
          </a:prstGeom>
          <a:solidFill>
            <a:schemeClr val="accent1"/>
          </a:solidFill>
          <a:ln w="12700">
            <a:solidFill>
              <a:schemeClr val="accent1"/>
            </a:solidFill>
            <a:prstDash val="solid"/>
          </a:ln>
        </p:spPr>
      </p:sp>
      <p:sp>
        <p:nvSpPr>
          <p:cNvPr id="25" name="Text 23"/>
          <p:cNvSpPr txBox="1"/>
          <p:nvPr/>
        </p:nvSpPr>
        <p:spPr>
          <a:xfrm>
            <a:off x="548640" y="517550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26" name="Text 24"/>
          <p:cNvSpPr txBox="1"/>
          <p:nvPr/>
        </p:nvSpPr>
        <p:spPr>
          <a:xfrm>
            <a:off x="1097280" y="5138928"/>
            <a:ext cx="4480560" cy="320040"/>
          </a:xfrm>
          <a:prstGeom prst="rect">
            <a:avLst/>
          </a:prstGeom>
          <a:noFill/>
          <a:ln/>
        </p:spPr>
        <p:txBody>
          <a:bodyPr wrap="square" lIns="0" tIns="0" rIns="0" bIns="0" rtlCol="0" anchor="t"/>
          <a:lstStyle/>
          <a:p>
            <a:pPr marL="0" indent="0">
              <a:buNone/>
            </a:pPr>
            <a:r>
              <a:rPr lang="en-US" sz="1600" b="1" dirty="0">
                <a:solidFill>
                  <a:schemeClr val="tx1"/>
                </a:solidFill>
              </a:rPr>
              <a:t>Messenger</a:t>
            </a:r>
            <a:endParaRPr lang="en-US" sz="1600" dirty="0"/>
          </a:p>
        </p:txBody>
      </p:sp>
      <p:sp>
        <p:nvSpPr>
          <p:cNvPr id="27" name="Text 25"/>
          <p:cNvSpPr txBox="1"/>
          <p:nvPr/>
        </p:nvSpPr>
        <p:spPr>
          <a:xfrm>
            <a:off x="1097280" y="5468112"/>
            <a:ext cx="4480560" cy="530352"/>
          </a:xfrm>
          <a:prstGeom prst="rect">
            <a:avLst/>
          </a:prstGeom>
          <a:noFill/>
          <a:ln/>
        </p:spPr>
        <p:txBody>
          <a:bodyPr wrap="square" lIns="0" tIns="0" rIns="0" bIns="0" rtlCol="0" anchor="t"/>
          <a:lstStyle/>
          <a:p>
            <a:pPr marL="0" indent="0">
              <a:buNone/>
            </a:pPr>
            <a:r>
              <a:rPr lang="en-US" sz="1300" dirty="0">
                <a:solidFill>
                  <a:schemeClr val="tx2"/>
                </a:solidFill>
              </a:rPr>
              <a:t>English + Arabic SMS and a call script; currency verified as OMR in code</a:t>
            </a:r>
            <a:endParaRPr lang="en-US" sz="1300" dirty="0"/>
          </a:p>
        </p:txBody>
      </p:sp>
      <p:sp>
        <p:nvSpPr>
          <p:cNvPr id="28" name="Council run for customer 15 frame"/>
          <p:cNvSpPr/>
          <p:nvPr/>
        </p:nvSpPr>
        <p:spPr>
          <a:xfrm>
            <a:off x="5925312" y="1536192"/>
            <a:ext cx="5797296" cy="3671316"/>
          </a:xfrm>
          <a:prstGeom prst="roundRect">
            <a:avLst>
              <a:gd name="adj" fmla="val 2989"/>
            </a:avLst>
          </a:prstGeom>
          <a:solidFill>
            <a:schemeClr val="bg2"/>
          </a:solidFill>
          <a:ln w="15875">
            <a:solidFill>
              <a:srgbClr val="5A1020"/>
            </a:solidFill>
            <a:prstDash val="solid"/>
          </a:ln>
          <a:effectLst>
            <a:outerShdw blurRad="152400" dist="38100" dir="5400000" algn="bl" rotWithShape="0">
              <a:srgbClr val="000000">
                <a:alpha val="45000"/>
              </a:srgbClr>
            </a:outerShdw>
          </a:effectLst>
        </p:spPr>
      </p:sp>
      <p:pic>
        <p:nvPicPr>
          <p:cNvPr id="29" name="Council run for customer 15" descr="Council run for customer 15"/>
          <p:cNvPicPr>
            <a:picLocks noChangeAspect="1"/>
          </p:cNvPicPr>
          <p:nvPr/>
        </p:nvPicPr>
        <p:blipFill>
          <a:blip r:embed="rId3"/>
          <a:stretch>
            <a:fillRect/>
          </a:stretch>
        </p:blipFill>
        <p:spPr>
          <a:xfrm>
            <a:off x="5989320" y="1600200"/>
            <a:ext cx="5669280" cy="3543300"/>
          </a:xfrm>
          <a:prstGeom prst="rect">
            <a:avLst/>
          </a:prstGeom>
        </p:spPr>
      </p:pic>
      <p:sp>
        <p:nvSpPr>
          <p:cNvPr id="30" name="callout"/>
          <p:cNvSpPr/>
          <p:nvPr/>
        </p:nvSpPr>
        <p:spPr>
          <a:xfrm>
            <a:off x="5925312" y="5349240"/>
            <a:ext cx="5797296" cy="822960"/>
          </a:xfrm>
          <a:prstGeom prst="roundRect">
            <a:avLst>
              <a:gd name="adj" fmla="val 13333"/>
            </a:avLst>
          </a:prstGeom>
          <a:solidFill>
            <a:schemeClr val="accent2">
              <a:alpha val="40000"/>
            </a:schemeClr>
          </a:solidFill>
          <a:ln w="12700">
            <a:solidFill>
              <a:srgbClr val="D3163B"/>
            </a:solidFill>
            <a:prstDash val="solid"/>
          </a:ln>
        </p:spPr>
      </p:sp>
      <p:sp>
        <p:nvSpPr>
          <p:cNvPr id="31" name="Text 28"/>
          <p:cNvSpPr txBox="1"/>
          <p:nvPr/>
        </p:nvSpPr>
        <p:spPr>
          <a:xfrm>
            <a:off x="6126480" y="5394960"/>
            <a:ext cx="5440680" cy="731520"/>
          </a:xfrm>
          <a:prstGeom prst="rect">
            <a:avLst/>
          </a:prstGeom>
          <a:noFill/>
          <a:ln/>
        </p:spPr>
        <p:txBody>
          <a:bodyPr wrap="square" lIns="0" tIns="0" rIns="0" bIns="0" rtlCol="0" anchor="ctr"/>
          <a:lstStyle/>
          <a:p>
            <a:pPr marL="0" indent="0">
              <a:buNone/>
            </a:pPr>
            <a:r>
              <a:rPr lang="en-US" sz="1300" b="1" dirty="0">
                <a:solidFill>
                  <a:schemeClr val="tx1"/>
                </a:solidFill>
              </a:rPr>
              <a:t>Bandit said sell. The evidence said keep. The council kept the customer, then still found the offer with the best expected value.</a:t>
            </a:r>
            <a:endParaRPr lang="en-US" sz="1300" dirty="0"/>
          </a:p>
        </p:txBody>
      </p:sp>
      <p:sp>
        <p:nvSpPr>
          <p:cNvPr id="32"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64240" cy="274320"/>
          </a:xfrm>
          <a:prstGeom prst="rect">
            <a:avLst/>
          </a:prstGeom>
          <a:noFill/>
          <a:ln/>
        </p:spPr>
        <p:txBody>
          <a:bodyPr wrap="square" lIns="0" tIns="0" rIns="0" bIns="0" rtlCol="0"/>
          <a:lstStyle/>
          <a:p>
            <a:pPr marL="0" indent="0">
              <a:buNone/>
            </a:pPr>
            <a:r>
              <a:rPr lang="en-US" sz="1100" b="1" kern="0" spc="300" dirty="0">
                <a:solidFill>
                  <a:schemeClr val="accent1"/>
                </a:solidFill>
              </a:rPr>
              <a:t>THE OOREDOO EXPERIENCE</a:t>
            </a:r>
            <a:endParaRPr lang="en-US" sz="1100" dirty="0"/>
          </a:p>
        </p:txBody>
      </p:sp>
      <p:sp>
        <p:nvSpPr>
          <p:cNvPr id="3" name="Text 0"/>
          <p:cNvSpPr>
            <a:spLocks noGrp="1"/>
          </p:cNvSpPr>
          <p:nvPr>
            <p:ph type="title" idx="101" hasCustomPrompt="1"/>
          </p:nvPr>
        </p:nvSpPr>
        <p:spPr>
          <a:xfrm>
            <a:off x="548640" y="594360"/>
            <a:ext cx="11064240" cy="685800"/>
          </a:xfrm>
          <a:prstGeom prst="rect">
            <a:avLst/>
          </a:prstGeom>
          <a:noFill/>
          <a:ln/>
        </p:spPr>
        <p:txBody>
          <a:bodyPr wrap="square" lIns="0" tIns="0" rIns="0" bIns="0" rtlCol="0" anchor="t"/>
          <a:lstStyle/>
          <a:p>
            <a:pPr marL="0" indent="0" algn="l">
              <a:buNone/>
            </a:pPr>
            <a:r>
              <a:rPr lang="en-US" sz="3200" b="1" dirty="0">
                <a:solidFill>
                  <a:schemeClr val="tx1"/>
                </a:solidFill>
              </a:rPr>
              <a:t>Live on real data, not mock-ups</a:t>
            </a:r>
            <a:endParaRPr lang="en-US" sz="3200" dirty="0"/>
          </a:p>
        </p:txBody>
      </p:sp>
      <p:sp>
        <p:nvSpPr>
          <p:cNvPr id="4" name="Executive dashboard frame"/>
          <p:cNvSpPr/>
          <p:nvPr/>
        </p:nvSpPr>
        <p:spPr>
          <a:xfrm>
            <a:off x="548640" y="1627632"/>
            <a:ext cx="3520440" cy="2248281"/>
          </a:xfrm>
          <a:prstGeom prst="roundRect">
            <a:avLst>
              <a:gd name="adj" fmla="val 4881"/>
            </a:avLst>
          </a:prstGeom>
          <a:solidFill>
            <a:schemeClr val="bg2"/>
          </a:solidFill>
          <a:ln w="15875">
            <a:solidFill>
              <a:srgbClr val="5A1020"/>
            </a:solidFill>
            <a:prstDash val="solid"/>
          </a:ln>
          <a:effectLst>
            <a:outerShdw blurRad="152400" dist="38100" dir="5400000" algn="bl" rotWithShape="0">
              <a:srgbClr val="000000">
                <a:alpha val="45000"/>
              </a:srgbClr>
            </a:outerShdw>
          </a:effectLst>
        </p:spPr>
      </p:sp>
      <p:pic>
        <p:nvPicPr>
          <p:cNvPr id="5" name="Executive dashboard" descr="Executive dashboard"/>
          <p:cNvPicPr>
            <a:picLocks noChangeAspect="1"/>
          </p:cNvPicPr>
          <p:nvPr/>
        </p:nvPicPr>
        <p:blipFill>
          <a:blip r:embed="rId3"/>
          <a:stretch>
            <a:fillRect/>
          </a:stretch>
        </p:blipFill>
        <p:spPr>
          <a:xfrm>
            <a:off x="612648" y="1691640"/>
            <a:ext cx="3392424" cy="2120265"/>
          </a:xfrm>
          <a:prstGeom prst="rect">
            <a:avLst/>
          </a:prstGeom>
        </p:spPr>
      </p:pic>
      <p:sp>
        <p:nvSpPr>
          <p:cNvPr id="6" name="Text 3"/>
          <p:cNvSpPr txBox="1"/>
          <p:nvPr/>
        </p:nvSpPr>
        <p:spPr>
          <a:xfrm>
            <a:off x="548640" y="4166235"/>
            <a:ext cx="3520440" cy="365760"/>
          </a:xfrm>
          <a:prstGeom prst="rect">
            <a:avLst/>
          </a:prstGeom>
          <a:noFill/>
          <a:ln/>
        </p:spPr>
        <p:txBody>
          <a:bodyPr wrap="square" lIns="0" tIns="0" rIns="0" bIns="0" rtlCol="0" anchor="t"/>
          <a:lstStyle/>
          <a:p>
            <a:pPr marL="0" indent="0">
              <a:buNone/>
            </a:pPr>
            <a:r>
              <a:rPr lang="en-US" sz="1800" b="1" dirty="0">
                <a:solidFill>
                  <a:schemeClr val="tx1"/>
                </a:solidFill>
              </a:rPr>
              <a:t>Executive dashboard</a:t>
            </a:r>
            <a:endParaRPr lang="en-US" sz="1800" dirty="0"/>
          </a:p>
        </p:txBody>
      </p:sp>
      <p:sp>
        <p:nvSpPr>
          <p:cNvPr id="7" name="Text 4"/>
          <p:cNvSpPr txBox="1"/>
          <p:nvPr/>
        </p:nvSpPr>
        <p:spPr>
          <a:xfrm>
            <a:off x="548640" y="4577715"/>
            <a:ext cx="3520440" cy="685800"/>
          </a:xfrm>
          <a:prstGeom prst="rect">
            <a:avLst/>
          </a:prstGeom>
          <a:noFill/>
          <a:ln/>
        </p:spPr>
        <p:txBody>
          <a:bodyPr wrap="square" lIns="0" tIns="0" rIns="0" bIns="0" rtlCol="0" anchor="t"/>
          <a:lstStyle/>
          <a:p>
            <a:pPr marL="0" indent="0">
              <a:buNone/>
            </a:pPr>
            <a:r>
              <a:rPr lang="en-US" sz="1300" dirty="0">
                <a:solidFill>
                  <a:schemeClr val="tx2"/>
                </a:solidFill>
              </a:rPr>
              <a:t>Revenue, revenue at risk, segment and action mix, computed live.</a:t>
            </a:r>
            <a:endParaRPr lang="en-US" sz="1300" dirty="0"/>
          </a:p>
        </p:txBody>
      </p:sp>
      <p:sp>
        <p:nvSpPr>
          <p:cNvPr id="8" name="Customer 360 frame"/>
          <p:cNvSpPr/>
          <p:nvPr/>
        </p:nvSpPr>
        <p:spPr>
          <a:xfrm>
            <a:off x="4343400" y="1627632"/>
            <a:ext cx="3520440" cy="2248281"/>
          </a:xfrm>
          <a:prstGeom prst="roundRect">
            <a:avLst>
              <a:gd name="adj" fmla="val 4881"/>
            </a:avLst>
          </a:prstGeom>
          <a:solidFill>
            <a:schemeClr val="bg2"/>
          </a:solidFill>
          <a:ln w="15875">
            <a:solidFill>
              <a:srgbClr val="5A1020"/>
            </a:solidFill>
            <a:prstDash val="solid"/>
          </a:ln>
          <a:effectLst>
            <a:outerShdw blurRad="152400" dist="38100" dir="5400000" algn="bl" rotWithShape="0">
              <a:srgbClr val="000000">
                <a:alpha val="45000"/>
              </a:srgbClr>
            </a:outerShdw>
          </a:effectLst>
        </p:spPr>
      </p:sp>
      <p:pic>
        <p:nvPicPr>
          <p:cNvPr id="9" name="Customer 360" descr="Customer 360"/>
          <p:cNvPicPr>
            <a:picLocks noChangeAspect="1"/>
          </p:cNvPicPr>
          <p:nvPr/>
        </p:nvPicPr>
        <p:blipFill>
          <a:blip r:embed="rId4"/>
          <a:stretch>
            <a:fillRect/>
          </a:stretch>
        </p:blipFill>
        <p:spPr>
          <a:xfrm>
            <a:off x="4407408" y="1691640"/>
            <a:ext cx="3392424" cy="2120265"/>
          </a:xfrm>
          <a:prstGeom prst="rect">
            <a:avLst/>
          </a:prstGeom>
        </p:spPr>
      </p:pic>
      <p:sp>
        <p:nvSpPr>
          <p:cNvPr id="10" name="Text 6"/>
          <p:cNvSpPr txBox="1"/>
          <p:nvPr/>
        </p:nvSpPr>
        <p:spPr>
          <a:xfrm>
            <a:off x="4343400" y="4166235"/>
            <a:ext cx="3520440" cy="365760"/>
          </a:xfrm>
          <a:prstGeom prst="rect">
            <a:avLst/>
          </a:prstGeom>
          <a:noFill/>
          <a:ln/>
        </p:spPr>
        <p:txBody>
          <a:bodyPr wrap="square" lIns="0" tIns="0" rIns="0" bIns="0" rtlCol="0" anchor="t"/>
          <a:lstStyle/>
          <a:p>
            <a:pPr marL="0" indent="0">
              <a:buNone/>
            </a:pPr>
            <a:r>
              <a:rPr lang="en-US" sz="1800" b="1" dirty="0">
                <a:solidFill>
                  <a:schemeClr val="tx1"/>
                </a:solidFill>
              </a:rPr>
              <a:t>Customer 360</a:t>
            </a:r>
            <a:endParaRPr lang="en-US" sz="1800" dirty="0"/>
          </a:p>
        </p:txBody>
      </p:sp>
      <p:sp>
        <p:nvSpPr>
          <p:cNvPr id="11" name="Text 7"/>
          <p:cNvSpPr txBox="1"/>
          <p:nvPr/>
        </p:nvSpPr>
        <p:spPr>
          <a:xfrm>
            <a:off x="4343400" y="4577715"/>
            <a:ext cx="3520440" cy="685800"/>
          </a:xfrm>
          <a:prstGeom prst="rect">
            <a:avLst/>
          </a:prstGeom>
          <a:noFill/>
          <a:ln/>
        </p:spPr>
        <p:txBody>
          <a:bodyPr wrap="square" lIns="0" tIns="0" rIns="0" bIns="0" rtlCol="0" anchor="t"/>
          <a:lstStyle/>
          <a:p>
            <a:pPr marL="0" indent="0">
              <a:buNone/>
            </a:pPr>
            <a:r>
              <a:rPr lang="en-US" sz="1300" dirty="0">
                <a:solidFill>
                  <a:schemeClr val="tx2"/>
                </a:solidFill>
              </a:rPr>
              <a:t>Propensity scores and revenue trend; run the council for this customer.</a:t>
            </a:r>
            <a:endParaRPr lang="en-US" sz="1300" dirty="0"/>
          </a:p>
        </p:txBody>
      </p:sp>
      <p:sp>
        <p:nvSpPr>
          <p:cNvPr id="12" name="AI Copilot frame"/>
          <p:cNvSpPr/>
          <p:nvPr/>
        </p:nvSpPr>
        <p:spPr>
          <a:xfrm>
            <a:off x="8138160" y="1627632"/>
            <a:ext cx="3520440" cy="2248281"/>
          </a:xfrm>
          <a:prstGeom prst="roundRect">
            <a:avLst>
              <a:gd name="adj" fmla="val 4881"/>
            </a:avLst>
          </a:prstGeom>
          <a:solidFill>
            <a:schemeClr val="bg2"/>
          </a:solidFill>
          <a:ln w="15875">
            <a:solidFill>
              <a:srgbClr val="5A1020"/>
            </a:solidFill>
            <a:prstDash val="solid"/>
          </a:ln>
          <a:effectLst>
            <a:outerShdw blurRad="152400" dist="38100" dir="5400000" algn="bl" rotWithShape="0">
              <a:srgbClr val="000000">
                <a:alpha val="45000"/>
              </a:srgbClr>
            </a:outerShdw>
          </a:effectLst>
        </p:spPr>
      </p:sp>
      <p:pic>
        <p:nvPicPr>
          <p:cNvPr id="13" name="AI Copilot" descr="AI Copilot"/>
          <p:cNvPicPr>
            <a:picLocks noChangeAspect="1"/>
          </p:cNvPicPr>
          <p:nvPr/>
        </p:nvPicPr>
        <p:blipFill>
          <a:blip r:embed="rId5"/>
          <a:stretch>
            <a:fillRect/>
          </a:stretch>
        </p:blipFill>
        <p:spPr>
          <a:xfrm>
            <a:off x="8202168" y="1691640"/>
            <a:ext cx="3392424" cy="2120265"/>
          </a:xfrm>
          <a:prstGeom prst="rect">
            <a:avLst/>
          </a:prstGeom>
        </p:spPr>
      </p:pic>
      <p:sp>
        <p:nvSpPr>
          <p:cNvPr id="14" name="Text 9"/>
          <p:cNvSpPr txBox="1"/>
          <p:nvPr/>
        </p:nvSpPr>
        <p:spPr>
          <a:xfrm>
            <a:off x="8138160" y="4166235"/>
            <a:ext cx="3520440" cy="365760"/>
          </a:xfrm>
          <a:prstGeom prst="rect">
            <a:avLst/>
          </a:prstGeom>
          <a:noFill/>
          <a:ln/>
        </p:spPr>
        <p:txBody>
          <a:bodyPr wrap="square" lIns="0" tIns="0" rIns="0" bIns="0" rtlCol="0" anchor="t"/>
          <a:lstStyle/>
          <a:p>
            <a:pPr marL="0" indent="0">
              <a:buNone/>
            </a:pPr>
            <a:r>
              <a:rPr lang="en-US" sz="1800" b="1" dirty="0">
                <a:solidFill>
                  <a:schemeClr val="tx1"/>
                </a:solidFill>
              </a:rPr>
              <a:t>AI Copilot</a:t>
            </a:r>
            <a:endParaRPr lang="en-US" sz="1800" dirty="0"/>
          </a:p>
        </p:txBody>
      </p:sp>
      <p:sp>
        <p:nvSpPr>
          <p:cNvPr id="15" name="Text 10"/>
          <p:cNvSpPr txBox="1"/>
          <p:nvPr/>
        </p:nvSpPr>
        <p:spPr>
          <a:xfrm>
            <a:off x="8138160" y="4577715"/>
            <a:ext cx="3520440" cy="685800"/>
          </a:xfrm>
          <a:prstGeom prst="rect">
            <a:avLst/>
          </a:prstGeom>
          <a:noFill/>
          <a:ln/>
        </p:spPr>
        <p:txBody>
          <a:bodyPr wrap="square" lIns="0" tIns="0" rIns="0" bIns="0" rtlCol="0" anchor="t"/>
          <a:lstStyle/>
          <a:p>
            <a:pPr marL="0" indent="0">
              <a:buNone/>
            </a:pPr>
            <a:r>
              <a:rPr lang="en-US" sz="1300" dirty="0">
                <a:solidFill>
                  <a:schemeClr val="tx2"/>
                </a:solidFill>
              </a:rPr>
              <a:t>A tool-using agent; answers quote tool evidence, units preformatted.</a:t>
            </a:r>
            <a:endParaRPr lang="en-US" sz="1300" dirty="0"/>
          </a:p>
        </p:txBody>
      </p:sp>
      <p:sp>
        <p:nvSpPr>
          <p:cNvPr id="16" name="agentic pages strip"/>
          <p:cNvSpPr/>
          <p:nvPr/>
        </p:nvSpPr>
        <p:spPr>
          <a:xfrm>
            <a:off x="548640" y="5257800"/>
            <a:ext cx="11109960" cy="868680"/>
          </a:xfrm>
          <a:prstGeom prst="roundRect">
            <a:avLst>
              <a:gd name="adj" fmla="val 12632"/>
            </a:avLst>
          </a:prstGeom>
          <a:solidFill>
            <a:schemeClr val="accent2">
              <a:alpha val="40000"/>
            </a:schemeClr>
          </a:solidFill>
          <a:ln w="12700">
            <a:solidFill>
              <a:srgbClr val="D3163B"/>
            </a:solidFill>
            <a:prstDash val="solid"/>
          </a:ln>
        </p:spPr>
      </p:sp>
      <p:sp>
        <p:nvSpPr>
          <p:cNvPr id="17" name="Text 12"/>
          <p:cNvSpPr txBox="1"/>
          <p:nvPr/>
        </p:nvSpPr>
        <p:spPr>
          <a:xfrm>
            <a:off x="777240" y="5257800"/>
            <a:ext cx="10698480" cy="868680"/>
          </a:xfrm>
          <a:prstGeom prst="rect">
            <a:avLst/>
          </a:prstGeom>
          <a:noFill/>
          <a:ln/>
        </p:spPr>
        <p:txBody>
          <a:bodyPr wrap="square" lIns="0" tIns="0" rIns="0" bIns="0" rtlCol="0" anchor="ctr"/>
          <a:lstStyle/>
          <a:p>
            <a:pPr marL="0" indent="0">
              <a:buNone/>
            </a:pPr>
            <a:r>
              <a:rPr lang="en-US" sz="1400" b="1" dirty="0">
                <a:solidFill>
                  <a:schemeClr val="accent1"/>
                </a:solidFill>
              </a:rPr>
              <a:t>Also live:  </a:t>
            </a:r>
            <a:r>
              <a:rPr lang="en-US" sz="1400" dirty="0">
                <a:solidFill>
                  <a:schemeClr val="tx1"/>
                </a:solidFill>
              </a:rPr>
              <a:t>Decision Council, NBA Agent and NBO Agent pages stream each agent's reasoning as it happens. Deep links such as </a:t>
            </a:r>
            <a:r>
              <a:rPr lang="en-US" sz="1400" b="1" dirty="0">
                <a:solidFill>
                  <a:schemeClr val="tx1"/>
                </a:solidFill>
              </a:rPr>
              <a:t>/ooredoo/council?msisdn=15&amp;run=1</a:t>
            </a:r>
            <a:r>
              <a:rPr lang="en-US" sz="1400" dirty="0">
                <a:solidFill>
                  <a:schemeClr val="tx1"/>
                </a:solidFill>
              </a:rPr>
              <a:t> start a run for a customer.</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11064240" cy="274320"/>
          </a:xfrm>
          <a:prstGeom prst="rect">
            <a:avLst/>
          </a:prstGeom>
          <a:noFill/>
          <a:ln/>
        </p:spPr>
        <p:txBody>
          <a:bodyPr wrap="square" lIns="0" tIns="0" rIns="0" bIns="0" rtlCol="0"/>
          <a:lstStyle/>
          <a:p>
            <a:pPr marL="0" indent="0">
              <a:buNone/>
            </a:pPr>
            <a:r>
              <a:rPr lang="en-US" sz="1100" b="1" kern="0" spc="300" dirty="0">
                <a:solidFill>
                  <a:schemeClr val="accent1"/>
                </a:solidFill>
              </a:rPr>
              <a:t>RESULTS  ·  NEXT STEPS</a:t>
            </a:r>
            <a:endParaRPr lang="en-US" sz="1100" dirty="0"/>
          </a:p>
        </p:txBody>
      </p:sp>
      <p:sp>
        <p:nvSpPr>
          <p:cNvPr id="3" name="Text 0"/>
          <p:cNvSpPr>
            <a:spLocks noGrp="1"/>
          </p:cNvSpPr>
          <p:nvPr>
            <p:ph type="title" idx="101" hasCustomPrompt="1"/>
          </p:nvPr>
        </p:nvSpPr>
        <p:spPr>
          <a:xfrm>
            <a:off x="548640" y="594360"/>
            <a:ext cx="11064240" cy="685800"/>
          </a:xfrm>
          <a:prstGeom prst="rect">
            <a:avLst/>
          </a:prstGeom>
          <a:noFill/>
          <a:ln/>
        </p:spPr>
        <p:txBody>
          <a:bodyPr wrap="square" lIns="0" tIns="0" rIns="0" bIns="0" rtlCol="0" anchor="t"/>
          <a:lstStyle/>
          <a:p>
            <a:pPr marL="0" indent="0" algn="l">
              <a:buNone/>
            </a:pPr>
            <a:r>
              <a:rPr lang="en-US" sz="3200" b="1" dirty="0">
                <a:solidFill>
                  <a:schemeClr val="tx1"/>
                </a:solidFill>
              </a:rPr>
              <a:t>Working today; one switch to production</a:t>
            </a:r>
            <a:endParaRPr lang="en-US" sz="3200" dirty="0"/>
          </a:p>
        </p:txBody>
      </p:sp>
      <p:sp>
        <p:nvSpPr>
          <p:cNvPr id="4" name="result ~30 s"/>
          <p:cNvSpPr/>
          <p:nvPr/>
        </p:nvSpPr>
        <p:spPr>
          <a:xfrm>
            <a:off x="548640" y="1554480"/>
            <a:ext cx="2606040" cy="1965960"/>
          </a:xfrm>
          <a:prstGeom prst="roundRect">
            <a:avLst>
              <a:gd name="adj" fmla="val 5581"/>
            </a:avLst>
          </a:prstGeom>
          <a:solidFill>
            <a:schemeClr val="bg2"/>
          </a:solidFill>
          <a:ln w="12700">
            <a:solidFill>
              <a:srgbClr val="2A2A2E"/>
            </a:solidFill>
            <a:prstDash val="solid"/>
          </a:ln>
        </p:spPr>
      </p:sp>
      <p:sp>
        <p:nvSpPr>
          <p:cNvPr id="5" name="Text 3"/>
          <p:cNvSpPr txBox="1"/>
          <p:nvPr/>
        </p:nvSpPr>
        <p:spPr>
          <a:xfrm>
            <a:off x="777240" y="1783080"/>
            <a:ext cx="2194560" cy="777240"/>
          </a:xfrm>
          <a:prstGeom prst="rect">
            <a:avLst/>
          </a:prstGeom>
          <a:noFill/>
          <a:ln/>
        </p:spPr>
        <p:txBody>
          <a:bodyPr wrap="square" lIns="0" tIns="0" rIns="0" bIns="0" rtlCol="0" anchor="t"/>
          <a:lstStyle/>
          <a:p>
            <a:pPr marL="0" indent="0">
              <a:buNone/>
            </a:pPr>
            <a:r>
              <a:rPr lang="en-US" sz="4000" b="1" dirty="0">
                <a:solidFill>
                  <a:schemeClr val="accent1"/>
                </a:solidFill>
              </a:rPr>
              <a:t>~30 s</a:t>
            </a:r>
            <a:endParaRPr lang="en-US" sz="4000" dirty="0"/>
          </a:p>
        </p:txBody>
      </p:sp>
      <p:sp>
        <p:nvSpPr>
          <p:cNvPr id="6" name="Text 4"/>
          <p:cNvSpPr txBox="1"/>
          <p:nvPr/>
        </p:nvSpPr>
        <p:spPr>
          <a:xfrm>
            <a:off x="777240" y="2578608"/>
            <a:ext cx="2194560" cy="822960"/>
          </a:xfrm>
          <a:prstGeom prst="rect">
            <a:avLst/>
          </a:prstGeom>
          <a:noFill/>
          <a:ln/>
        </p:spPr>
        <p:txBody>
          <a:bodyPr wrap="square" lIns="0" tIns="0" rIns="0" bIns="0" rtlCol="0" anchor="t"/>
          <a:lstStyle/>
          <a:p>
            <a:pPr marL="0" indent="0">
              <a:buNone/>
            </a:pPr>
            <a:r>
              <a:rPr lang="en-US" sz="1200" dirty="0">
                <a:solidFill>
                  <a:schemeClr val="tx2"/>
                </a:solidFill>
              </a:rPr>
              <a:t>full council per customer: Qwen2.5-3B on a 4 GB laptop GPU</a:t>
            </a:r>
            <a:endParaRPr lang="en-US" sz="1200" dirty="0"/>
          </a:p>
        </p:txBody>
      </p:sp>
      <p:sp>
        <p:nvSpPr>
          <p:cNvPr id="7" name="result 0"/>
          <p:cNvSpPr/>
          <p:nvPr/>
        </p:nvSpPr>
        <p:spPr>
          <a:xfrm>
            <a:off x="3337560" y="1554480"/>
            <a:ext cx="2606040" cy="1965960"/>
          </a:xfrm>
          <a:prstGeom prst="roundRect">
            <a:avLst>
              <a:gd name="adj" fmla="val 5581"/>
            </a:avLst>
          </a:prstGeom>
          <a:solidFill>
            <a:schemeClr val="bg2"/>
          </a:solidFill>
          <a:ln w="12700">
            <a:solidFill>
              <a:srgbClr val="2A2A2E"/>
            </a:solidFill>
            <a:prstDash val="solid"/>
          </a:ln>
        </p:spPr>
      </p:sp>
      <p:sp>
        <p:nvSpPr>
          <p:cNvPr id="8" name="Text 6"/>
          <p:cNvSpPr txBox="1"/>
          <p:nvPr/>
        </p:nvSpPr>
        <p:spPr>
          <a:xfrm>
            <a:off x="3566160" y="1783080"/>
            <a:ext cx="2194560" cy="777240"/>
          </a:xfrm>
          <a:prstGeom prst="rect">
            <a:avLst/>
          </a:prstGeom>
          <a:noFill/>
          <a:ln/>
        </p:spPr>
        <p:txBody>
          <a:bodyPr wrap="square" lIns="0" tIns="0" rIns="0" bIns="0" rtlCol="0" anchor="t"/>
          <a:lstStyle/>
          <a:p>
            <a:pPr marL="0" indent="0">
              <a:buNone/>
            </a:pPr>
            <a:r>
              <a:rPr lang="en-US" sz="4000" b="1" dirty="0">
                <a:solidFill>
                  <a:schemeClr val="accent1"/>
                </a:solidFill>
              </a:rPr>
              <a:t>0</a:t>
            </a:r>
            <a:endParaRPr lang="en-US" sz="4000" dirty="0"/>
          </a:p>
        </p:txBody>
      </p:sp>
      <p:sp>
        <p:nvSpPr>
          <p:cNvPr id="9" name="Text 7"/>
          <p:cNvSpPr txBox="1"/>
          <p:nvPr/>
        </p:nvSpPr>
        <p:spPr>
          <a:xfrm>
            <a:off x="3566160" y="2578608"/>
            <a:ext cx="2194560" cy="822960"/>
          </a:xfrm>
          <a:prstGeom prst="rect">
            <a:avLst/>
          </a:prstGeom>
          <a:noFill/>
          <a:ln/>
        </p:spPr>
        <p:txBody>
          <a:bodyPr wrap="square" lIns="0" tIns="0" rIns="0" bIns="0" rtlCol="0" anchor="t"/>
          <a:lstStyle/>
          <a:p>
            <a:pPr marL="0" indent="0">
              <a:buNone/>
            </a:pPr>
            <a:r>
              <a:rPr lang="en-US" sz="1200" dirty="0">
                <a:solidFill>
                  <a:schemeClr val="tx2"/>
                </a:solidFill>
              </a:rPr>
              <a:t>hard-guardrail violations shipped: enforced in code, tested on 20 customers</a:t>
            </a:r>
            <a:endParaRPr lang="en-US" sz="1200" dirty="0"/>
          </a:p>
        </p:txBody>
      </p:sp>
      <p:sp>
        <p:nvSpPr>
          <p:cNvPr id="10" name="result 35"/>
          <p:cNvSpPr/>
          <p:nvPr/>
        </p:nvSpPr>
        <p:spPr>
          <a:xfrm>
            <a:off x="548640" y="3703320"/>
            <a:ext cx="2606040" cy="1965960"/>
          </a:xfrm>
          <a:prstGeom prst="roundRect">
            <a:avLst>
              <a:gd name="adj" fmla="val 5581"/>
            </a:avLst>
          </a:prstGeom>
          <a:solidFill>
            <a:schemeClr val="bg2"/>
          </a:solidFill>
          <a:ln w="12700">
            <a:solidFill>
              <a:srgbClr val="2A2A2E"/>
            </a:solidFill>
            <a:prstDash val="solid"/>
          </a:ln>
        </p:spPr>
      </p:sp>
      <p:sp>
        <p:nvSpPr>
          <p:cNvPr id="11" name="Text 9"/>
          <p:cNvSpPr txBox="1"/>
          <p:nvPr/>
        </p:nvSpPr>
        <p:spPr>
          <a:xfrm>
            <a:off x="777240" y="3931920"/>
            <a:ext cx="2194560" cy="777240"/>
          </a:xfrm>
          <a:prstGeom prst="rect">
            <a:avLst/>
          </a:prstGeom>
          <a:noFill/>
          <a:ln/>
        </p:spPr>
        <p:txBody>
          <a:bodyPr wrap="square" lIns="0" tIns="0" rIns="0" bIns="0" rtlCol="0" anchor="t"/>
          <a:lstStyle/>
          <a:p>
            <a:pPr marL="0" indent="0">
              <a:buNone/>
            </a:pPr>
            <a:r>
              <a:rPr lang="en-US" sz="4000" b="1" dirty="0">
                <a:solidFill>
                  <a:schemeClr val="accent1"/>
                </a:solidFill>
              </a:rPr>
              <a:t>35</a:t>
            </a:r>
            <a:endParaRPr lang="en-US" sz="4000" dirty="0"/>
          </a:p>
        </p:txBody>
      </p:sp>
      <p:sp>
        <p:nvSpPr>
          <p:cNvPr id="12" name="Text 10"/>
          <p:cNvSpPr txBox="1"/>
          <p:nvPr/>
        </p:nvSpPr>
        <p:spPr>
          <a:xfrm>
            <a:off x="777240" y="4727448"/>
            <a:ext cx="2194560" cy="822960"/>
          </a:xfrm>
          <a:prstGeom prst="rect">
            <a:avLst/>
          </a:prstGeom>
          <a:noFill/>
          <a:ln/>
        </p:spPr>
        <p:txBody>
          <a:bodyPr wrap="square" lIns="0" tIns="0" rIns="0" bIns="0" rtlCol="0" anchor="t"/>
          <a:lstStyle/>
          <a:p>
            <a:pPr marL="0" indent="0">
              <a:buNone/>
            </a:pPr>
            <a:r>
              <a:rPr lang="en-US" sz="1200" dirty="0">
                <a:solidFill>
                  <a:schemeClr val="tx2"/>
                </a:solidFill>
              </a:rPr>
              <a:t>automated tests, including policy, loop guard and fallback</a:t>
            </a:r>
            <a:endParaRPr lang="en-US" sz="1200" dirty="0"/>
          </a:p>
        </p:txBody>
      </p:sp>
      <p:sp>
        <p:nvSpPr>
          <p:cNvPr id="13" name="result 1"/>
          <p:cNvSpPr/>
          <p:nvPr/>
        </p:nvSpPr>
        <p:spPr>
          <a:xfrm>
            <a:off x="3337560" y="3703320"/>
            <a:ext cx="2606040" cy="1965960"/>
          </a:xfrm>
          <a:prstGeom prst="roundRect">
            <a:avLst>
              <a:gd name="adj" fmla="val 5581"/>
            </a:avLst>
          </a:prstGeom>
          <a:solidFill>
            <a:schemeClr val="bg2"/>
          </a:solidFill>
          <a:ln w="12700">
            <a:solidFill>
              <a:srgbClr val="2A2A2E"/>
            </a:solidFill>
            <a:prstDash val="solid"/>
          </a:ln>
        </p:spPr>
      </p:sp>
      <p:sp>
        <p:nvSpPr>
          <p:cNvPr id="14" name="Text 12"/>
          <p:cNvSpPr txBox="1"/>
          <p:nvPr/>
        </p:nvSpPr>
        <p:spPr>
          <a:xfrm>
            <a:off x="3566160" y="3931920"/>
            <a:ext cx="2194560" cy="777240"/>
          </a:xfrm>
          <a:prstGeom prst="rect">
            <a:avLst/>
          </a:prstGeom>
          <a:noFill/>
          <a:ln/>
        </p:spPr>
        <p:txBody>
          <a:bodyPr wrap="square" lIns="0" tIns="0" rIns="0" bIns="0" rtlCol="0" anchor="t"/>
          <a:lstStyle/>
          <a:p>
            <a:pPr marL="0" indent="0">
              <a:buNone/>
            </a:pPr>
            <a:r>
              <a:rPr lang="en-US" sz="4000" b="1" dirty="0">
                <a:solidFill>
                  <a:schemeClr val="accent1"/>
                </a:solidFill>
              </a:rPr>
              <a:t>1</a:t>
            </a:r>
            <a:endParaRPr lang="en-US" sz="4000" dirty="0"/>
          </a:p>
        </p:txBody>
      </p:sp>
      <p:sp>
        <p:nvSpPr>
          <p:cNvPr id="15" name="Text 13"/>
          <p:cNvSpPr txBox="1"/>
          <p:nvPr/>
        </p:nvSpPr>
        <p:spPr>
          <a:xfrm>
            <a:off x="3566160" y="4727448"/>
            <a:ext cx="2194560" cy="822960"/>
          </a:xfrm>
          <a:prstGeom prst="rect">
            <a:avLst/>
          </a:prstGeom>
          <a:noFill/>
          <a:ln/>
        </p:spPr>
        <p:txBody>
          <a:bodyPr wrap="square" lIns="0" tIns="0" rIns="0" bIns="0" rtlCol="0" anchor="t"/>
          <a:lstStyle/>
          <a:p>
            <a:pPr marL="0" indent="0">
              <a:buNone/>
            </a:pPr>
            <a:r>
              <a:rPr lang="en-US" sz="1200" dirty="0">
                <a:solidFill>
                  <a:schemeClr val="tx2"/>
                </a:solidFill>
              </a:rPr>
              <a:t>setting, LLM_BACKEND=vllm, moves the LLM to the GPU server</a:t>
            </a:r>
            <a:endParaRPr lang="en-US" sz="1200" dirty="0"/>
          </a:p>
        </p:txBody>
      </p:sp>
      <p:sp>
        <p:nvSpPr>
          <p:cNvPr id="16" name="next steps"/>
          <p:cNvSpPr/>
          <p:nvPr/>
        </p:nvSpPr>
        <p:spPr>
          <a:xfrm>
            <a:off x="6355080" y="1554480"/>
            <a:ext cx="5303520" cy="4114800"/>
          </a:xfrm>
          <a:prstGeom prst="roundRect">
            <a:avLst>
              <a:gd name="adj" fmla="val 2667"/>
            </a:avLst>
          </a:prstGeom>
          <a:solidFill>
            <a:schemeClr val="accent2">
              <a:alpha val="40000"/>
            </a:schemeClr>
          </a:solidFill>
          <a:ln w="12700">
            <a:solidFill>
              <a:srgbClr val="D3163B"/>
            </a:solidFill>
            <a:prstDash val="solid"/>
          </a:ln>
          <a:effectLst>
            <a:outerShdw blurRad="152400" dist="38100" dir="5400000" algn="bl" rotWithShape="0">
              <a:srgbClr val="000000">
                <a:alpha val="45000"/>
              </a:srgbClr>
            </a:outerShdw>
          </a:effectLst>
        </p:spPr>
      </p:sp>
      <p:sp>
        <p:nvSpPr>
          <p:cNvPr id="17" name="Text 15"/>
          <p:cNvSpPr txBox="1"/>
          <p:nvPr/>
        </p:nvSpPr>
        <p:spPr>
          <a:xfrm>
            <a:off x="6629400" y="1783080"/>
            <a:ext cx="4754880" cy="411480"/>
          </a:xfrm>
          <a:prstGeom prst="rect">
            <a:avLst/>
          </a:prstGeom>
          <a:noFill/>
          <a:ln/>
        </p:spPr>
        <p:txBody>
          <a:bodyPr wrap="square" lIns="0" tIns="0" rIns="0" bIns="0" rtlCol="0" anchor="t"/>
          <a:lstStyle/>
          <a:p>
            <a:pPr marL="0" indent="0">
              <a:buNone/>
            </a:pPr>
            <a:r>
              <a:rPr lang="en-US" sz="2000" b="1" dirty="0">
                <a:solidFill>
                  <a:schemeClr val="tx1"/>
                </a:solidFill>
              </a:rPr>
              <a:t>Next steps</a:t>
            </a:r>
            <a:endParaRPr lang="en-US" sz="2000" dirty="0"/>
          </a:p>
        </p:txBody>
      </p:sp>
      <p:sp>
        <p:nvSpPr>
          <p:cNvPr id="18" name="step 1"/>
          <p:cNvSpPr/>
          <p:nvPr/>
        </p:nvSpPr>
        <p:spPr>
          <a:xfrm>
            <a:off x="6629400" y="2377440"/>
            <a:ext cx="347472" cy="347472"/>
          </a:xfrm>
          <a:prstGeom prst="ellipse">
            <a:avLst/>
          </a:prstGeom>
          <a:solidFill>
            <a:schemeClr val="accent1"/>
          </a:solidFill>
          <a:ln w="12700">
            <a:solidFill>
              <a:schemeClr val="accent1"/>
            </a:solidFill>
            <a:prstDash val="solid"/>
          </a:ln>
        </p:spPr>
      </p:sp>
      <p:sp>
        <p:nvSpPr>
          <p:cNvPr id="19" name="Text 17"/>
          <p:cNvSpPr txBox="1"/>
          <p:nvPr/>
        </p:nvSpPr>
        <p:spPr>
          <a:xfrm>
            <a:off x="6629400" y="237744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20" name="Text 18"/>
          <p:cNvSpPr txBox="1"/>
          <p:nvPr/>
        </p:nvSpPr>
        <p:spPr>
          <a:xfrm>
            <a:off x="7132320" y="2359152"/>
            <a:ext cx="4297680" cy="685800"/>
          </a:xfrm>
          <a:prstGeom prst="rect">
            <a:avLst/>
          </a:prstGeom>
          <a:noFill/>
          <a:ln/>
        </p:spPr>
        <p:txBody>
          <a:bodyPr wrap="square" lIns="0" tIns="0" rIns="0" bIns="0" rtlCol="0" anchor="t"/>
          <a:lstStyle/>
          <a:p>
            <a:pPr marL="0" indent="0">
              <a:buNone/>
            </a:pPr>
            <a:r>
              <a:rPr lang="en-US" sz="1400" dirty="0">
                <a:solidFill>
                  <a:schemeClr val="tx1"/>
                </a:solidFill>
              </a:rPr>
              <a:t>Deploy on the company GPU with vLLM and a 7B model (GPU_SETUP.md)</a:t>
            </a:r>
            <a:endParaRPr lang="en-US" sz="1400" dirty="0"/>
          </a:p>
        </p:txBody>
      </p:sp>
      <p:sp>
        <p:nvSpPr>
          <p:cNvPr id="21" name="step 2"/>
          <p:cNvSpPr/>
          <p:nvPr/>
        </p:nvSpPr>
        <p:spPr>
          <a:xfrm>
            <a:off x="6629400" y="3154680"/>
            <a:ext cx="347472" cy="347472"/>
          </a:xfrm>
          <a:prstGeom prst="ellipse">
            <a:avLst/>
          </a:prstGeom>
          <a:solidFill>
            <a:schemeClr val="accent1"/>
          </a:solidFill>
          <a:ln w="12700">
            <a:solidFill>
              <a:schemeClr val="accent1"/>
            </a:solidFill>
            <a:prstDash val="solid"/>
          </a:ln>
        </p:spPr>
      </p:sp>
      <p:sp>
        <p:nvSpPr>
          <p:cNvPr id="22" name="Text 20"/>
          <p:cNvSpPr txBox="1"/>
          <p:nvPr/>
        </p:nvSpPr>
        <p:spPr>
          <a:xfrm>
            <a:off x="6629400" y="315468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23" name="Text 21"/>
          <p:cNvSpPr txBox="1"/>
          <p:nvPr/>
        </p:nvSpPr>
        <p:spPr>
          <a:xfrm>
            <a:off x="7132320" y="3136392"/>
            <a:ext cx="4297680" cy="685800"/>
          </a:xfrm>
          <a:prstGeom prst="rect">
            <a:avLst/>
          </a:prstGeom>
          <a:noFill/>
          <a:ln/>
        </p:spPr>
        <p:txBody>
          <a:bodyPr wrap="square" lIns="0" tIns="0" rIns="0" bIns="0" rtlCol="0" anchor="t"/>
          <a:lstStyle/>
          <a:p>
            <a:pPr marL="0" indent="0">
              <a:buNone/>
            </a:pPr>
            <a:r>
              <a:rPr lang="en-US" sz="1400" dirty="0">
                <a:solidFill>
                  <a:schemeClr val="tx1"/>
                </a:solidFill>
              </a:rPr>
              <a:t>Train an uptake model on campaign history to replace the heuristic EV simulator</a:t>
            </a:r>
            <a:endParaRPr lang="en-US" sz="1400" dirty="0"/>
          </a:p>
        </p:txBody>
      </p:sp>
      <p:sp>
        <p:nvSpPr>
          <p:cNvPr id="24" name="step 3"/>
          <p:cNvSpPr/>
          <p:nvPr/>
        </p:nvSpPr>
        <p:spPr>
          <a:xfrm>
            <a:off x="6629400" y="3931920"/>
            <a:ext cx="347472" cy="347472"/>
          </a:xfrm>
          <a:prstGeom prst="ellipse">
            <a:avLst/>
          </a:prstGeom>
          <a:solidFill>
            <a:schemeClr val="accent1"/>
          </a:solidFill>
          <a:ln w="12700">
            <a:solidFill>
              <a:schemeClr val="accent1"/>
            </a:solidFill>
            <a:prstDash val="solid"/>
          </a:ln>
        </p:spPr>
      </p:sp>
      <p:sp>
        <p:nvSpPr>
          <p:cNvPr id="25" name="Text 23"/>
          <p:cNvSpPr txBox="1"/>
          <p:nvPr/>
        </p:nvSpPr>
        <p:spPr>
          <a:xfrm>
            <a:off x="6629400" y="393192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26" name="Text 24"/>
          <p:cNvSpPr txBox="1"/>
          <p:nvPr/>
        </p:nvSpPr>
        <p:spPr>
          <a:xfrm>
            <a:off x="7132320" y="3913632"/>
            <a:ext cx="4297680" cy="685800"/>
          </a:xfrm>
          <a:prstGeom prst="rect">
            <a:avLst/>
          </a:prstGeom>
          <a:noFill/>
          <a:ln/>
        </p:spPr>
        <p:txBody>
          <a:bodyPr wrap="square" lIns="0" tIns="0" rIns="0" bIns="0" rtlCol="0" anchor="t"/>
          <a:lstStyle/>
          <a:p>
            <a:pPr marL="0" indent="0">
              <a:buNone/>
            </a:pPr>
            <a:r>
              <a:rPr lang="en-US" sz="1400" dirty="0">
                <a:solidFill>
                  <a:schemeClr val="tx1"/>
                </a:solidFill>
              </a:rPr>
              <a:t>Feed real contact-history and consent data into the contact policy</a:t>
            </a:r>
            <a:endParaRPr lang="en-US" sz="1400" dirty="0"/>
          </a:p>
        </p:txBody>
      </p:sp>
      <p:sp>
        <p:nvSpPr>
          <p:cNvPr id="27" name="step 4"/>
          <p:cNvSpPr/>
          <p:nvPr/>
        </p:nvSpPr>
        <p:spPr>
          <a:xfrm>
            <a:off x="6629400" y="4709160"/>
            <a:ext cx="347472" cy="347472"/>
          </a:xfrm>
          <a:prstGeom prst="ellipse">
            <a:avLst/>
          </a:prstGeom>
          <a:solidFill>
            <a:schemeClr val="accent1"/>
          </a:solidFill>
          <a:ln w="12700">
            <a:solidFill>
              <a:schemeClr val="accent1"/>
            </a:solidFill>
            <a:prstDash val="solid"/>
          </a:ln>
        </p:spPr>
      </p:sp>
      <p:sp>
        <p:nvSpPr>
          <p:cNvPr id="28" name="Text 26"/>
          <p:cNvSpPr txBox="1"/>
          <p:nvPr/>
        </p:nvSpPr>
        <p:spPr>
          <a:xfrm>
            <a:off x="6629400" y="470916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9" name="Text 27"/>
          <p:cNvSpPr txBox="1"/>
          <p:nvPr/>
        </p:nvSpPr>
        <p:spPr>
          <a:xfrm>
            <a:off x="7132320" y="4690872"/>
            <a:ext cx="4297680" cy="685800"/>
          </a:xfrm>
          <a:prstGeom prst="rect">
            <a:avLst/>
          </a:prstGeom>
          <a:noFill/>
          <a:ln/>
        </p:spPr>
        <p:txBody>
          <a:bodyPr wrap="square" lIns="0" tIns="0" rIns="0" bIns="0" rtlCol="0" anchor="t"/>
          <a:lstStyle/>
          <a:p>
            <a:pPr marL="0" indent="0">
              <a:buNone/>
            </a:pPr>
            <a:r>
              <a:rPr lang="en-US" sz="1400" dirty="0">
                <a:solidFill>
                  <a:schemeClr val="tx1"/>
                </a:solidFill>
              </a:rPr>
              <a:t>Pilot: A/B test the council against current NBA on one segment; measure take-rate and churn</a:t>
            </a:r>
            <a:endParaRPr lang="en-US" sz="1400" dirty="0"/>
          </a:p>
        </p:txBody>
      </p:sp>
      <p:sp>
        <p:nvSpPr>
          <p:cNvPr id="30" name="Text 28"/>
          <p:cNvSpPr txBox="1"/>
          <p:nvPr/>
        </p:nvSpPr>
        <p:spPr>
          <a:xfrm>
            <a:off x="548640" y="5852160"/>
            <a:ext cx="11109960" cy="411480"/>
          </a:xfrm>
          <a:prstGeom prst="rect">
            <a:avLst/>
          </a:prstGeom>
          <a:noFill/>
          <a:ln/>
        </p:spPr>
        <p:txBody>
          <a:bodyPr wrap="square" lIns="0" tIns="0" rIns="0" bIns="0" rtlCol="0" anchor="t"/>
          <a:lstStyle/>
          <a:p>
            <a:pPr marL="0" indent="0">
              <a:buNone/>
            </a:pPr>
            <a:r>
              <a:rPr lang="en-US" sz="1200" i="1" dirty="0">
                <a:solidFill>
                  <a:schemeClr val="tx2"/>
                </a:solidFill>
              </a:rPr>
              <a:t>Caveat: the 3B laptop model often needs the controller's loop guard to finish; a 7B model on the GPU server should finish on its own more often.</a:t>
            </a:r>
            <a:endParaRPr lang="en-US" sz="1200" dirty="0"/>
          </a:p>
        </p:txBody>
      </p:sp>
      <p:sp>
        <p:nvSpPr>
          <p:cNvPr id="31"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EFAB_CUSTOMSORTGLOBALLY" val="True"/>
</p:tagLst>
</file>

<file path=ppt/theme/theme1.xml><?xml version="1.0" encoding="utf-8"?>
<a:theme xmlns:a="http://schemas.openxmlformats.org/drawingml/2006/main" name="NBX Ooredoo Dark">
  <a:themeElements>
    <a:clrScheme name="NBX Ooredoo Dark">
      <a:dk1>
        <a:srgbClr val="F5F5F7"/>
      </a:dk1>
      <a:lt1>
        <a:srgbClr val="0A0A0C"/>
      </a:lt1>
      <a:dk2>
        <a:srgbClr val="A3A3AB"/>
      </a:dk2>
      <a:lt2>
        <a:srgbClr val="17171A"/>
      </a:lt2>
      <a:accent1>
        <a:srgbClr val="D3163B"/>
      </a:accent1>
      <a:accent2>
        <a:srgbClr val="8A0F28"/>
      </a:accent2>
      <a:accent3>
        <a:srgbClr val="B9BBC1"/>
      </a:accent3>
      <a:accent4>
        <a:srgbClr val="E0A530"/>
      </a:accent4>
      <a:accent5>
        <a:srgbClr val="2FBF71"/>
      </a:accent5>
      <a:accent6>
        <a:srgbClr val="38BDF8"/>
      </a:accent6>
      <a:hlink>
        <a:srgbClr val="FF5470"/>
      </a:hlink>
      <a:folHlink>
        <a:srgbClr val="B9BBC1"/>
      </a:folHlink>
    </a:clrScheme>
    <a:fontScheme name="NBX Ooredoo Dar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1250</Words>
  <Application>Microsoft Office PowerPoint</Application>
  <PresentationFormat>Widescreen</PresentationFormat>
  <Paragraphs>136</Paragraphs>
  <Slides>6</Slides>
  <Notes>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6</vt:i4>
      </vt:variant>
    </vt:vector>
  </HeadingPairs>
  <TitlesOfParts>
    <vt:vector size="8" baseType="lpstr">
      <vt:lpstr>Arial</vt:lpstr>
      <vt:lpstr>NBX Ooredoo Dark</vt:lpstr>
      <vt:lpstr>Agentic Next Best Action &amp; Next Best Offer</vt:lpstr>
      <vt:lpstr>From a fixed pipeline to a decision council</vt:lpstr>
      <vt:lpstr>How the platform fits together</vt:lpstr>
      <vt:lpstr>The strategist overruled the bandit, with evidence</vt:lpstr>
      <vt:lpstr>Live on real data, not mock-ups</vt:lpstr>
      <vt:lpstr>Working today; one switch to production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NBX Agentic NBA and NBO</dc:title>
  <dc:subject>PptxGenJS Presentation</dc:subject>
  <dc:creator>NBX team</dc:creator>
  <cp:lastModifiedBy>Abdelouaheb  Hocine</cp:lastModifiedBy>
  <cp:revision>2</cp:revision>
  <dcterms:created xsi:type="dcterms:W3CDTF">2026-10-12T18:32:20Z</dcterms:created>
  <dcterms:modified xsi:type="dcterms:W3CDTF">2026-10-12T19:06:07Z</dcterms:modified>
</cp:coreProperties>
</file>