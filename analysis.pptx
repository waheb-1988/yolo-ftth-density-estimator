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15"/>
  </p:notesMasterIdLst>
  <p:handoutMasterIdLst>
    <p:handoutMasterId r:id="rId16"/>
  </p:handoutMasterIdLst>
  <p:sldIdLst>
    <p:sldId id="687" r:id="rId5"/>
    <p:sldId id="6277" r:id="rId6"/>
    <p:sldId id="6101" r:id="rId7"/>
    <p:sldId id="6194" r:id="rId8"/>
    <p:sldId id="6227" r:id="rId9"/>
    <p:sldId id="6195" r:id="rId10"/>
    <p:sldId id="6283" r:id="rId11"/>
    <p:sldId id="6157" r:id="rId12"/>
    <p:sldId id="6154" r:id="rId13"/>
    <p:sldId id="748" r:id="rId14"/>
  </p:sldIdLst>
  <p:sldSz cx="9906000" cy="6858000" type="A4"/>
  <p:notesSz cx="6797675" cy="9874250"/>
  <p:defaultTextStyle>
    <a:defPPr>
      <a:defRPr lang="en-GB"/>
    </a:defPPr>
    <a:lvl1pPr algn="ctr" rtl="0" eaLnBrk="0" fontAlgn="base" hangingPunct="0">
      <a:spcBef>
        <a:spcPct val="30000"/>
      </a:spcBef>
      <a:spcAft>
        <a:spcPct val="0"/>
      </a:spcAft>
      <a:buSzPct val="110000"/>
      <a:defRPr sz="1200" kern="1200">
        <a:solidFill>
          <a:srgbClr val="000000"/>
        </a:solidFill>
        <a:latin typeface="Trebuchet MS" pitchFamily="34" charset="0"/>
        <a:ea typeface="+mn-ea"/>
        <a:cs typeface="+mn-cs"/>
      </a:defRPr>
    </a:lvl1pPr>
    <a:lvl2pPr marL="457200" algn="ctr" rtl="0" eaLnBrk="0" fontAlgn="base" hangingPunct="0">
      <a:spcBef>
        <a:spcPct val="30000"/>
      </a:spcBef>
      <a:spcAft>
        <a:spcPct val="0"/>
      </a:spcAft>
      <a:buSzPct val="110000"/>
      <a:defRPr sz="1200" kern="1200">
        <a:solidFill>
          <a:srgbClr val="000000"/>
        </a:solidFill>
        <a:latin typeface="Trebuchet MS" pitchFamily="34" charset="0"/>
        <a:ea typeface="+mn-ea"/>
        <a:cs typeface="+mn-cs"/>
      </a:defRPr>
    </a:lvl2pPr>
    <a:lvl3pPr marL="914400" algn="ctr" rtl="0" eaLnBrk="0" fontAlgn="base" hangingPunct="0">
      <a:spcBef>
        <a:spcPct val="30000"/>
      </a:spcBef>
      <a:spcAft>
        <a:spcPct val="0"/>
      </a:spcAft>
      <a:buSzPct val="110000"/>
      <a:defRPr sz="1200" kern="1200">
        <a:solidFill>
          <a:srgbClr val="000000"/>
        </a:solidFill>
        <a:latin typeface="Trebuchet MS" pitchFamily="34" charset="0"/>
        <a:ea typeface="+mn-ea"/>
        <a:cs typeface="+mn-cs"/>
      </a:defRPr>
    </a:lvl3pPr>
    <a:lvl4pPr marL="1371600" algn="ctr" rtl="0" eaLnBrk="0" fontAlgn="base" hangingPunct="0">
      <a:spcBef>
        <a:spcPct val="30000"/>
      </a:spcBef>
      <a:spcAft>
        <a:spcPct val="0"/>
      </a:spcAft>
      <a:buSzPct val="110000"/>
      <a:defRPr sz="1200" kern="1200">
        <a:solidFill>
          <a:srgbClr val="000000"/>
        </a:solidFill>
        <a:latin typeface="Trebuchet MS" pitchFamily="34" charset="0"/>
        <a:ea typeface="+mn-ea"/>
        <a:cs typeface="+mn-cs"/>
      </a:defRPr>
    </a:lvl4pPr>
    <a:lvl5pPr marL="1828800" algn="ctr" rtl="0" eaLnBrk="0" fontAlgn="base" hangingPunct="0">
      <a:spcBef>
        <a:spcPct val="30000"/>
      </a:spcBef>
      <a:spcAft>
        <a:spcPct val="0"/>
      </a:spcAft>
      <a:buSzPct val="110000"/>
      <a:defRPr sz="1200" kern="1200">
        <a:solidFill>
          <a:srgbClr val="000000"/>
        </a:solidFill>
        <a:latin typeface="Trebuchet MS" pitchFamily="34" charset="0"/>
        <a:ea typeface="+mn-ea"/>
        <a:cs typeface="+mn-cs"/>
      </a:defRPr>
    </a:lvl5pPr>
    <a:lvl6pPr marL="2286000" algn="l" defTabSz="914400" rtl="0" eaLnBrk="1" latinLnBrk="0" hangingPunct="1">
      <a:defRPr sz="1200" kern="1200">
        <a:solidFill>
          <a:srgbClr val="000000"/>
        </a:solidFill>
        <a:latin typeface="Trebuchet MS" pitchFamily="34" charset="0"/>
        <a:ea typeface="+mn-ea"/>
        <a:cs typeface="+mn-cs"/>
      </a:defRPr>
    </a:lvl6pPr>
    <a:lvl7pPr marL="2743200" algn="l" defTabSz="914400" rtl="0" eaLnBrk="1" latinLnBrk="0" hangingPunct="1">
      <a:defRPr sz="1200" kern="1200">
        <a:solidFill>
          <a:srgbClr val="000000"/>
        </a:solidFill>
        <a:latin typeface="Trebuchet MS" pitchFamily="34" charset="0"/>
        <a:ea typeface="+mn-ea"/>
        <a:cs typeface="+mn-cs"/>
      </a:defRPr>
    </a:lvl7pPr>
    <a:lvl8pPr marL="3200400" algn="l" defTabSz="914400" rtl="0" eaLnBrk="1" latinLnBrk="0" hangingPunct="1">
      <a:defRPr sz="1200" kern="1200">
        <a:solidFill>
          <a:srgbClr val="000000"/>
        </a:solidFill>
        <a:latin typeface="Trebuchet MS" pitchFamily="34" charset="0"/>
        <a:ea typeface="+mn-ea"/>
        <a:cs typeface="+mn-cs"/>
      </a:defRPr>
    </a:lvl8pPr>
    <a:lvl9pPr marL="3657600" algn="l" defTabSz="914400" rtl="0" eaLnBrk="1" latinLnBrk="0" hangingPunct="1">
      <a:defRPr sz="1200" kern="1200">
        <a:solidFill>
          <a:srgbClr val="000000"/>
        </a:solidFill>
        <a:latin typeface="Trebuchet MS" pitchFamily="34" charset="0"/>
        <a:ea typeface="+mn-ea"/>
        <a:cs typeface="+mn-cs"/>
      </a:defRPr>
    </a:lvl9pPr>
  </p:defaultTextStyle>
  <p:extLst>
    <p:ext uri="{EFAFB233-063F-42B5-8137-9DF3F51BA10A}">
      <p15:sldGuideLst xmlns:p15="http://schemas.microsoft.com/office/powerpoint/2012/main">
        <p15:guide id="2" pos="6054">
          <p15:clr>
            <a:srgbClr val="A4A3A4"/>
          </p15:clr>
        </p15:guide>
        <p15:guide id="3" orient="horz" pos="227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etro Cantarelli" initials="PC" lastIdx="4" clrIdx="0">
    <p:extLst>
      <p:ext uri="{19B8F6BF-5375-455C-9EA6-DF929625EA0E}">
        <p15:presenceInfo xmlns:p15="http://schemas.microsoft.com/office/powerpoint/2012/main" userId="S-1-5-21-1891580960-3955521019-4252150842-153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AAC4"/>
    <a:srgbClr val="FFDF7F"/>
    <a:srgbClr val="EFBFBF"/>
    <a:srgbClr val="B797CF"/>
    <a:srgbClr val="00568A"/>
    <a:srgbClr val="FFFFFF"/>
    <a:srgbClr val="FFC000"/>
    <a:srgbClr val="A5D5DE"/>
    <a:srgbClr val="FFFF9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51" autoAdjust="0"/>
    <p:restoredTop sz="95204" autoAdjust="0"/>
  </p:normalViewPr>
  <p:slideViewPr>
    <p:cSldViewPr snapToGrid="0" snapToObjects="1" showGuides="1">
      <p:cViewPr varScale="1">
        <p:scale>
          <a:sx n="72" d="100"/>
          <a:sy n="72" d="100"/>
        </p:scale>
        <p:origin x="1056" y="78"/>
      </p:cViewPr>
      <p:guideLst>
        <p:guide pos="6054"/>
        <p:guide orient="horz" pos="2273"/>
      </p:guideLst>
    </p:cSldViewPr>
  </p:slideViewPr>
  <p:notesTextViewPr>
    <p:cViewPr>
      <p:scale>
        <a:sx n="100" d="100"/>
        <a:sy n="100" d="100"/>
      </p:scale>
      <p:origin x="0" y="0"/>
    </p:cViewPr>
  </p:notesTextViewPr>
  <p:sorterViewPr>
    <p:cViewPr varScale="1">
      <p:scale>
        <a:sx n="1" d="1"/>
        <a:sy n="1" d="1"/>
      </p:scale>
      <p:origin x="0" y="-1948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993911741993099E-2"/>
          <c:y val="3.4278546760602303E-2"/>
          <c:w val="0.97001217651601401"/>
          <c:h val="0.88994753750673417"/>
        </c:manualLayout>
      </c:layout>
      <c:barChart>
        <c:barDir val="col"/>
        <c:grouping val="clustered"/>
        <c:varyColors val="0"/>
        <c:ser>
          <c:idx val="0"/>
          <c:order val="0"/>
          <c:tx>
            <c:strRef>
              <c:f>Sheet1!$B$1</c:f>
              <c:strCache>
                <c:ptCount val="1"/>
                <c:pt idx="0">
                  <c:v>Series 1</c:v>
                </c:pt>
              </c:strCache>
            </c:strRef>
          </c:tx>
          <c:spPr>
            <a:solidFill>
              <a:srgbClr val="00568A"/>
            </a:solidFill>
            <a:ln w="3175">
              <a:noFill/>
            </a:ln>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Sheet1!$B$2:$B$14</c:f>
              <c:numCache>
                <c:formatCode>_-* #,##0.00_-;\-* #,##0.00_-;_-* "-"??_-;_-@_-</c:formatCode>
                <c:ptCount val="13"/>
                <c:pt idx="0">
                  <c:v>7.2168143110793022</c:v>
                </c:pt>
                <c:pt idx="1">
                  <c:v>7.1726256770349464</c:v>
                </c:pt>
                <c:pt idx="2">
                  <c:v>6.9956881418735124</c:v>
                </c:pt>
                <c:pt idx="3">
                  <c:v>7.0123681132647846</c:v>
                </c:pt>
                <c:pt idx="4">
                  <c:v>6.4489484738152782</c:v>
                </c:pt>
                <c:pt idx="5">
                  <c:v>6.2353916636760758</c:v>
                </c:pt>
                <c:pt idx="6">
                  <c:v>6.2680458892180546</c:v>
                </c:pt>
                <c:pt idx="7">
                  <c:v>6.6940799463897847</c:v>
                </c:pt>
                <c:pt idx="8">
                  <c:v>6.722426177048388</c:v>
                </c:pt>
                <c:pt idx="9">
                  <c:v>6.5400958740388901</c:v>
                </c:pt>
                <c:pt idx="10">
                  <c:v>6.3155223476330642</c:v>
                </c:pt>
                <c:pt idx="11">
                  <c:v>6.120247500354167</c:v>
                </c:pt>
                <c:pt idx="12">
                  <c:v>6.0647489941182808</c:v>
                </c:pt>
              </c:numCache>
            </c:numRef>
          </c:val>
          <c:extLst>
            <c:ext xmlns:c16="http://schemas.microsoft.com/office/drawing/2014/chart" uri="{C3380CC4-5D6E-409C-BE32-E72D297353CC}">
              <c16:uniqueId val="{00000000-50DE-4AAB-BF83-1A9F7E2F74F8}"/>
            </c:ext>
          </c:extLst>
        </c:ser>
        <c:dLbls>
          <c:showLegendKey val="0"/>
          <c:showVal val="0"/>
          <c:showCatName val="0"/>
          <c:showSerName val="0"/>
          <c:showPercent val="0"/>
          <c:showBubbleSize val="0"/>
        </c:dLbls>
        <c:gapWidth val="60"/>
        <c:axId val="492253144"/>
        <c:axId val="492242952"/>
      </c:barChart>
      <c:dateAx>
        <c:axId val="492253144"/>
        <c:scaling>
          <c:orientation val="minMax"/>
        </c:scaling>
        <c:delete val="0"/>
        <c:axPos val="b"/>
        <c:numFmt formatCode="mmm\-yy" sourceLinked="1"/>
        <c:majorTickMark val="none"/>
        <c:minorTickMark val="none"/>
        <c:tickLblPos val="nextTo"/>
        <c:spPr>
          <a:ln w="6350">
            <a:solidFill>
              <a:srgbClr val="00568A"/>
            </a:solidFill>
          </a:ln>
        </c:spPr>
        <c:crossAx val="492242952"/>
        <c:crosses val="autoZero"/>
        <c:auto val="1"/>
        <c:lblOffset val="100"/>
        <c:baseTimeUnit val="months"/>
      </c:dateAx>
      <c:valAx>
        <c:axId val="492242952"/>
        <c:scaling>
          <c:orientation val="minMax"/>
          <c:min val="0"/>
        </c:scaling>
        <c:delete val="0"/>
        <c:axPos val="l"/>
        <c:numFmt formatCode="_-* #,##0.00_-;\-* #,##0.00_-;_-* &quot;-&quot;??_-;_-@_-" sourceLinked="1"/>
        <c:majorTickMark val="none"/>
        <c:minorTickMark val="none"/>
        <c:tickLblPos val="none"/>
        <c:spPr>
          <a:ln>
            <a:noFill/>
          </a:ln>
        </c:spPr>
        <c:crossAx val="492253144"/>
        <c:crosses val="autoZero"/>
        <c:crossBetween val="between"/>
      </c:valAx>
    </c:plotArea>
    <c:plotVisOnly val="1"/>
    <c:dispBlanksAs val="gap"/>
    <c:showDLblsOverMax val="0"/>
  </c:chart>
  <c:txPr>
    <a:bodyPr/>
    <a:lstStyle/>
    <a:p>
      <a:pPr>
        <a:defRPr lang="en-GB" sz="1200" b="1" noProof="0">
          <a:latin typeface="+mj-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993911741993099E-2"/>
          <c:y val="3.4278546760602303E-2"/>
          <c:w val="0.97001217651601401"/>
          <c:h val="0.73599100358331848"/>
        </c:manualLayout>
      </c:layout>
      <c:barChart>
        <c:barDir val="col"/>
        <c:grouping val="stacked"/>
        <c:varyColors val="0"/>
        <c:ser>
          <c:idx val="0"/>
          <c:order val="0"/>
          <c:tx>
            <c:strRef>
              <c:f>Sheet1!$B$1</c:f>
              <c:strCache>
                <c:ptCount val="1"/>
                <c:pt idx="0">
                  <c:v>Series 1</c:v>
                </c:pt>
              </c:strCache>
            </c:strRef>
          </c:tx>
          <c:spPr>
            <a:noFill/>
            <a:ln w="3175">
              <a:noFill/>
            </a:ln>
          </c:spPr>
          <c:invertIfNegative val="0"/>
          <c:cat>
            <c:strRef>
              <c:f>Sheet1!$A$2:$A$8</c:f>
              <c:strCache>
                <c:ptCount val="7"/>
                <c:pt idx="0">
                  <c:v>Base in Dec 2017</c:v>
                </c:pt>
                <c:pt idx="1">
                  <c:v>High Value</c:v>
                </c:pt>
                <c:pt idx="2">
                  <c:v>Mid Value</c:v>
                </c:pt>
                <c:pt idx="3">
                  <c:v>Low Value</c:v>
                </c:pt>
                <c:pt idx="4">
                  <c:v>Very Low Value</c:v>
                </c:pt>
                <c:pt idx="5">
                  <c:v>GA</c:v>
                </c:pt>
                <c:pt idx="6">
                  <c:v>Base in Dec 2018</c:v>
                </c:pt>
              </c:strCache>
            </c:strRef>
          </c:cat>
          <c:val>
            <c:numRef>
              <c:f>Sheet1!$B$2:$B$8</c:f>
              <c:numCache>
                <c:formatCode>_-* #,##0.00_-;\-* #,##0.00_-;_-* "-"??_-;_-@_-</c:formatCode>
                <c:ptCount val="7"/>
                <c:pt idx="1">
                  <c:v>6.3139953242235212</c:v>
                </c:pt>
                <c:pt idx="2">
                  <c:v>6.1531012483350809</c:v>
                </c:pt>
                <c:pt idx="3">
                  <c:v>6.0334779374237906</c:v>
                </c:pt>
                <c:pt idx="4">
                  <c:v>5.9782422706510756</c:v>
                </c:pt>
                <c:pt idx="5" formatCode="_-* #,##0.0_-;\-* #,##0.0_-;_-* &quot;-&quot;??_-;_-@_-">
                  <c:v>5.9782422706510756</c:v>
                </c:pt>
              </c:numCache>
            </c:numRef>
          </c:val>
          <c:extLst>
            <c:ext xmlns:c16="http://schemas.microsoft.com/office/drawing/2014/chart" uri="{C3380CC4-5D6E-409C-BE32-E72D297353CC}">
              <c16:uniqueId val="{00000000-9DAB-4200-B787-561AB27FBE8E}"/>
            </c:ext>
          </c:extLst>
        </c:ser>
        <c:ser>
          <c:idx val="1"/>
          <c:order val="1"/>
          <c:tx>
            <c:strRef>
              <c:f>Sheet1!$C$1</c:f>
              <c:strCache>
                <c:ptCount val="1"/>
                <c:pt idx="0">
                  <c:v>Series 2</c:v>
                </c:pt>
              </c:strCache>
            </c:strRef>
          </c:tx>
          <c:spPr>
            <a:solidFill>
              <a:srgbClr val="CCDAE5"/>
            </a:solidFill>
            <a:ln w="3175">
              <a:noFill/>
            </a:ln>
          </c:spPr>
          <c:invertIfNegative val="0"/>
          <c:dPt>
            <c:idx val="0"/>
            <c:invertIfNegative val="0"/>
            <c:bubble3D val="0"/>
            <c:spPr>
              <a:solidFill>
                <a:schemeClr val="accent1"/>
              </a:solidFill>
              <a:ln w="3175">
                <a:noFill/>
              </a:ln>
            </c:spPr>
            <c:extLst>
              <c:ext xmlns:c16="http://schemas.microsoft.com/office/drawing/2014/chart" uri="{C3380CC4-5D6E-409C-BE32-E72D297353CC}">
                <c16:uniqueId val="{00000002-9DAB-4200-B787-561AB27FBE8E}"/>
              </c:ext>
            </c:extLst>
          </c:dPt>
          <c:dPt>
            <c:idx val="1"/>
            <c:invertIfNegative val="0"/>
            <c:bubble3D val="0"/>
            <c:spPr>
              <a:solidFill>
                <a:srgbClr val="FF0000"/>
              </a:solidFill>
              <a:ln w="3175">
                <a:noFill/>
              </a:ln>
            </c:spPr>
            <c:extLst>
              <c:ext xmlns:c16="http://schemas.microsoft.com/office/drawing/2014/chart" uri="{C3380CC4-5D6E-409C-BE32-E72D297353CC}">
                <c16:uniqueId val="{00000004-9DAB-4200-B787-561AB27FBE8E}"/>
              </c:ext>
            </c:extLst>
          </c:dPt>
          <c:dPt>
            <c:idx val="2"/>
            <c:invertIfNegative val="0"/>
            <c:bubble3D val="0"/>
            <c:spPr>
              <a:solidFill>
                <a:srgbClr val="FF0000"/>
              </a:solidFill>
              <a:ln w="3175">
                <a:noFill/>
              </a:ln>
            </c:spPr>
            <c:extLst>
              <c:ext xmlns:c16="http://schemas.microsoft.com/office/drawing/2014/chart" uri="{C3380CC4-5D6E-409C-BE32-E72D297353CC}">
                <c16:uniqueId val="{00000006-9DAB-4200-B787-561AB27FBE8E}"/>
              </c:ext>
            </c:extLst>
          </c:dPt>
          <c:dPt>
            <c:idx val="3"/>
            <c:invertIfNegative val="0"/>
            <c:bubble3D val="0"/>
            <c:spPr>
              <a:solidFill>
                <a:srgbClr val="FF0000"/>
              </a:solidFill>
              <a:ln w="3175">
                <a:noFill/>
              </a:ln>
            </c:spPr>
            <c:extLst>
              <c:ext xmlns:c16="http://schemas.microsoft.com/office/drawing/2014/chart" uri="{C3380CC4-5D6E-409C-BE32-E72D297353CC}">
                <c16:uniqueId val="{00000008-9DAB-4200-B787-561AB27FBE8E}"/>
              </c:ext>
            </c:extLst>
          </c:dPt>
          <c:dPt>
            <c:idx val="4"/>
            <c:invertIfNegative val="0"/>
            <c:bubble3D val="0"/>
            <c:spPr>
              <a:solidFill>
                <a:srgbClr val="FF0000"/>
              </a:solidFill>
              <a:ln w="3175">
                <a:noFill/>
              </a:ln>
            </c:spPr>
            <c:extLst>
              <c:ext xmlns:c16="http://schemas.microsoft.com/office/drawing/2014/chart" uri="{C3380CC4-5D6E-409C-BE32-E72D297353CC}">
                <c16:uniqueId val="{0000000A-9DAB-4200-B787-561AB27FBE8E}"/>
              </c:ext>
            </c:extLst>
          </c:dPt>
          <c:dPt>
            <c:idx val="5"/>
            <c:invertIfNegative val="0"/>
            <c:bubble3D val="0"/>
            <c:spPr>
              <a:solidFill>
                <a:srgbClr val="00B050"/>
              </a:solidFill>
              <a:ln w="3175">
                <a:noFill/>
              </a:ln>
            </c:spPr>
            <c:extLst>
              <c:ext xmlns:c16="http://schemas.microsoft.com/office/drawing/2014/chart" uri="{C3380CC4-5D6E-409C-BE32-E72D297353CC}">
                <c16:uniqueId val="{0000000C-9DAB-4200-B787-561AB27FBE8E}"/>
              </c:ext>
            </c:extLst>
          </c:dPt>
          <c:dPt>
            <c:idx val="6"/>
            <c:invertIfNegative val="0"/>
            <c:bubble3D val="0"/>
            <c:spPr>
              <a:solidFill>
                <a:schemeClr val="tx2"/>
              </a:solidFill>
              <a:ln w="3175">
                <a:noFill/>
              </a:ln>
            </c:spPr>
            <c:extLst>
              <c:ext xmlns:c16="http://schemas.microsoft.com/office/drawing/2014/chart" uri="{C3380CC4-5D6E-409C-BE32-E72D297353CC}">
                <c16:uniqueId val="{0000000E-9DAB-4200-B787-561AB27FBE8E}"/>
              </c:ext>
            </c:extLst>
          </c:dPt>
          <c:dLbls>
            <c:dLbl>
              <c:idx val="4"/>
              <c:spPr>
                <a:solidFill>
                  <a:srgbClr val="FF0000"/>
                </a:solid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A-9DAB-4200-B787-561AB27FBE8E}"/>
                </c:ext>
              </c:extLst>
            </c:dLbl>
            <c:dLbl>
              <c:idx val="5"/>
              <c:spPr>
                <a:solidFill>
                  <a:srgbClr val="00B050"/>
                </a:solid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C-9DAB-4200-B787-561AB27FBE8E}"/>
                </c:ext>
              </c:extLst>
            </c:dLbl>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Base in Dec 2017</c:v>
                </c:pt>
                <c:pt idx="1">
                  <c:v>High Value</c:v>
                </c:pt>
                <c:pt idx="2">
                  <c:v>Mid Value</c:v>
                </c:pt>
                <c:pt idx="3">
                  <c:v>Low Value</c:v>
                </c:pt>
                <c:pt idx="4">
                  <c:v>Very Low Value</c:v>
                </c:pt>
                <c:pt idx="5">
                  <c:v>GA</c:v>
                </c:pt>
                <c:pt idx="6">
                  <c:v>Base in Dec 2018</c:v>
                </c:pt>
              </c:strCache>
            </c:strRef>
          </c:cat>
          <c:val>
            <c:numRef>
              <c:f>Sheet1!$C$2:$C$8</c:f>
              <c:numCache>
                <c:formatCode>_-* #,##0.00_-;\-* #,##0.00_-;_-* "-"??_-;_-@_-</c:formatCode>
                <c:ptCount val="7"/>
                <c:pt idx="0">
                  <c:v>7.2168143109909941</c:v>
                </c:pt>
                <c:pt idx="1">
                  <c:v>0.90281898676747296</c:v>
                </c:pt>
                <c:pt idx="2">
                  <c:v>0.1608940758884406</c:v>
                </c:pt>
                <c:pt idx="3">
                  <c:v>0.1196233109112904</c:v>
                </c:pt>
                <c:pt idx="4">
                  <c:v>5.5235666772715089E-2</c:v>
                </c:pt>
                <c:pt idx="5">
                  <c:v>8.6506723339650538E-2</c:v>
                </c:pt>
                <c:pt idx="6">
                  <c:v>6.064748993990726</c:v>
                </c:pt>
              </c:numCache>
            </c:numRef>
          </c:val>
          <c:extLst>
            <c:ext xmlns:c16="http://schemas.microsoft.com/office/drawing/2014/chart" uri="{C3380CC4-5D6E-409C-BE32-E72D297353CC}">
              <c16:uniqueId val="{0000000F-9DAB-4200-B787-561AB27FBE8E}"/>
            </c:ext>
          </c:extLst>
        </c:ser>
        <c:dLbls>
          <c:showLegendKey val="0"/>
          <c:showVal val="0"/>
          <c:showCatName val="0"/>
          <c:showSerName val="0"/>
          <c:showPercent val="0"/>
          <c:showBubbleSize val="0"/>
        </c:dLbls>
        <c:gapWidth val="60"/>
        <c:overlap val="100"/>
        <c:axId val="492253144"/>
        <c:axId val="492242952"/>
      </c:barChart>
      <c:catAx>
        <c:axId val="492253144"/>
        <c:scaling>
          <c:orientation val="minMax"/>
        </c:scaling>
        <c:delete val="0"/>
        <c:axPos val="b"/>
        <c:numFmt formatCode="General" sourceLinked="1"/>
        <c:majorTickMark val="none"/>
        <c:minorTickMark val="none"/>
        <c:tickLblPos val="nextTo"/>
        <c:spPr>
          <a:ln w="6350">
            <a:solidFill>
              <a:srgbClr val="00568A"/>
            </a:solidFill>
          </a:ln>
        </c:spPr>
        <c:crossAx val="492242952"/>
        <c:crosses val="autoZero"/>
        <c:auto val="1"/>
        <c:lblAlgn val="ctr"/>
        <c:lblOffset val="100"/>
        <c:noMultiLvlLbl val="0"/>
      </c:catAx>
      <c:valAx>
        <c:axId val="492242952"/>
        <c:scaling>
          <c:orientation val="minMax"/>
          <c:min val="5"/>
        </c:scaling>
        <c:delete val="0"/>
        <c:axPos val="l"/>
        <c:numFmt formatCode="_-* #,##0.00_-;\-* #,##0.00_-;_-* &quot;-&quot;??_-;_-@_-" sourceLinked="1"/>
        <c:majorTickMark val="none"/>
        <c:minorTickMark val="none"/>
        <c:tickLblPos val="none"/>
        <c:spPr>
          <a:ln>
            <a:noFill/>
          </a:ln>
        </c:spPr>
        <c:crossAx val="492253144"/>
        <c:crosses val="autoZero"/>
        <c:crossBetween val="between"/>
      </c:valAx>
    </c:plotArea>
    <c:plotVisOnly val="1"/>
    <c:dispBlanksAs val="gap"/>
    <c:showDLblsOverMax val="0"/>
  </c:chart>
  <c:txPr>
    <a:bodyPr/>
    <a:lstStyle/>
    <a:p>
      <a:pPr>
        <a:defRPr lang="en-GB" sz="1200" b="1" noProof="0">
          <a:latin typeface="+mj-l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Zero APRU</c:v>
                </c:pt>
              </c:strCache>
            </c:strRef>
          </c:tx>
          <c:spPr>
            <a:solidFill>
              <a:srgbClr val="00568A"/>
            </a:solidFill>
            <a:ln>
              <a:noFill/>
            </a:ln>
            <a:effectLst/>
            <a:extLst>
              <a:ext uri="{91240B29-F687-4F45-9708-019B960494DF}">
                <a14:hiddenLine xmlns:a14="http://schemas.microsoft.com/office/drawing/2010/main">
                  <a:noFill/>
                </a14:hiddenLine>
              </a:ext>
            </a:extLst>
          </c:spPr>
          <c:invertIfNegative val="0"/>
          <c:dLbls>
            <c:spPr>
              <a:noFill/>
              <a:ln>
                <a:noFill/>
              </a:ln>
              <a:effectLst/>
            </c:spPr>
            <c:txPr>
              <a:bodyPr rot="0" spcFirstLastPara="1" vertOverflow="ellipsis" vert="horz" wrap="square" lIns="38100" tIns="19050" rIns="38100" bIns="19050" anchor="ctr" anchorCtr="1">
                <a:spAutoFit/>
              </a:bodyPr>
              <a:lstStyle/>
              <a:p>
                <a:pPr algn="ctr">
                  <a:defRPr sz="1200" b="1" i="0" u="none" strike="noStrike" kern="1200" baseline="0">
                    <a:solidFill>
                      <a:schemeClr val="bg1"/>
                    </a:solidFill>
                    <a:effectLst/>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Sheet1!$B$2:$B$14</c:f>
              <c:numCache>
                <c:formatCode>0%</c:formatCode>
                <c:ptCount val="13"/>
                <c:pt idx="0">
                  <c:v>0.11180557095823787</c:v>
                </c:pt>
                <c:pt idx="1">
                  <c:v>0.12170111482902632</c:v>
                </c:pt>
                <c:pt idx="2">
                  <c:v>0.12332754660073297</c:v>
                </c:pt>
                <c:pt idx="3">
                  <c:v>0.1178171587959012</c:v>
                </c:pt>
                <c:pt idx="4">
                  <c:v>0.12162337176198139</c:v>
                </c:pt>
                <c:pt idx="5">
                  <c:v>0.1269886085431475</c:v>
                </c:pt>
                <c:pt idx="6">
                  <c:v>0.13284097588264307</c:v>
                </c:pt>
                <c:pt idx="7">
                  <c:v>0.14313688198342647</c:v>
                </c:pt>
                <c:pt idx="8">
                  <c:v>0.17405618841678183</c:v>
                </c:pt>
                <c:pt idx="9">
                  <c:v>0.16459594158698446</c:v>
                </c:pt>
                <c:pt idx="10">
                  <c:v>0.1445036763698215</c:v>
                </c:pt>
                <c:pt idx="11">
                  <c:v>0.14603327124227231</c:v>
                </c:pt>
                <c:pt idx="12">
                  <c:v>0.14484537662475938</c:v>
                </c:pt>
              </c:numCache>
            </c:numRef>
          </c:val>
          <c:extLst>
            <c:ext xmlns:c16="http://schemas.microsoft.com/office/drawing/2014/chart" uri="{C3380CC4-5D6E-409C-BE32-E72D297353CC}">
              <c16:uniqueId val="{00000000-793C-4450-9282-7CF31D199EFF}"/>
            </c:ext>
          </c:extLst>
        </c:ser>
        <c:ser>
          <c:idx val="1"/>
          <c:order val="1"/>
          <c:tx>
            <c:strRef>
              <c:f>Sheet1!$C$1</c:f>
              <c:strCache>
                <c:ptCount val="1"/>
                <c:pt idx="0">
                  <c:v>VLV</c:v>
                </c:pt>
              </c:strCache>
            </c:strRef>
          </c:tx>
          <c:spPr>
            <a:solidFill>
              <a:srgbClr val="A5D5DE"/>
            </a:solidFill>
            <a:ln>
              <a:noFill/>
            </a:ln>
            <a:effectLst/>
            <a:extLst>
              <a:ext uri="{91240B29-F687-4F45-9708-019B960494DF}">
                <a14:hiddenLine xmlns:a14="http://schemas.microsoft.com/office/drawing/2010/main">
                  <a:noFill/>
                </a14:hiddenLine>
              </a:ext>
            </a:extLst>
          </c:spPr>
          <c:invertIfNegative val="0"/>
          <c:dLbls>
            <c:spPr>
              <a:noFill/>
              <a:ln>
                <a:noFill/>
              </a:ln>
              <a:effectLst/>
            </c:spPr>
            <c:txPr>
              <a:bodyPr rot="0" spcFirstLastPara="1" vertOverflow="ellipsis" vert="horz" wrap="square" lIns="38100" tIns="19050" rIns="38100" bIns="19050" anchor="ctr" anchorCtr="1">
                <a:spAutoFit/>
              </a:bodyPr>
              <a:lstStyle/>
              <a:p>
                <a:pPr algn="ctr">
                  <a:defRPr sz="1200" b="1" i="0" u="none" strike="noStrike" kern="1200" baseline="0">
                    <a:solidFill>
                      <a:srgbClr val="000000"/>
                    </a:solidFill>
                    <a:effectLst/>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Sheet1!$C$2:$C$14</c:f>
              <c:numCache>
                <c:formatCode>0%</c:formatCode>
                <c:ptCount val="13"/>
                <c:pt idx="0">
                  <c:v>0.4601277560083139</c:v>
                </c:pt>
                <c:pt idx="1">
                  <c:v>0.47034276566273037</c:v>
                </c:pt>
                <c:pt idx="2">
                  <c:v>0.46554481753191057</c:v>
                </c:pt>
                <c:pt idx="3">
                  <c:v>0.46558568338903561</c:v>
                </c:pt>
                <c:pt idx="4">
                  <c:v>0.4627776989229726</c:v>
                </c:pt>
                <c:pt idx="5">
                  <c:v>0.45329714003907151</c:v>
                </c:pt>
                <c:pt idx="6">
                  <c:v>0.43555472188781014</c:v>
                </c:pt>
                <c:pt idx="7">
                  <c:v>0.41764402894789565</c:v>
                </c:pt>
                <c:pt idx="8">
                  <c:v>0.43078627976057776</c:v>
                </c:pt>
                <c:pt idx="9">
                  <c:v>0.4450683953752313</c:v>
                </c:pt>
                <c:pt idx="10">
                  <c:v>0.45866659027640361</c:v>
                </c:pt>
                <c:pt idx="11">
                  <c:v>0.45979596229489295</c:v>
                </c:pt>
                <c:pt idx="12">
                  <c:v>0.45690019393236719</c:v>
                </c:pt>
              </c:numCache>
            </c:numRef>
          </c:val>
          <c:extLst>
            <c:ext xmlns:c16="http://schemas.microsoft.com/office/drawing/2014/chart" uri="{C3380CC4-5D6E-409C-BE32-E72D297353CC}">
              <c16:uniqueId val="{00000001-793C-4450-9282-7CF31D199EFF}"/>
            </c:ext>
          </c:extLst>
        </c:ser>
        <c:ser>
          <c:idx val="2"/>
          <c:order val="2"/>
          <c:tx>
            <c:strRef>
              <c:f>Sheet1!$D$1</c:f>
              <c:strCache>
                <c:ptCount val="1"/>
                <c:pt idx="0">
                  <c:v>LV</c:v>
                </c:pt>
              </c:strCache>
            </c:strRef>
          </c:tx>
          <c:spPr>
            <a:solidFill>
              <a:srgbClr val="5EB4C4"/>
            </a:solidFill>
            <a:ln>
              <a:noFill/>
            </a:ln>
            <a:effectLst/>
            <a:extLst>
              <a:ext uri="{91240B29-F687-4F45-9708-019B960494DF}">
                <a14:hiddenLine xmlns:a14="http://schemas.microsoft.com/office/drawing/2010/main">
                  <a:noFill/>
                </a14:hiddenLine>
              </a:ext>
            </a:extLst>
          </c:spPr>
          <c:invertIfNegative val="0"/>
          <c:dLbls>
            <c:spPr>
              <a:noFill/>
              <a:ln>
                <a:noFill/>
              </a:ln>
              <a:effectLst/>
            </c:spPr>
            <c:txPr>
              <a:bodyPr rot="0" spcFirstLastPara="1" vertOverflow="ellipsis" vert="horz" wrap="square" lIns="38100" tIns="19050" rIns="38100" bIns="19050" anchor="ctr" anchorCtr="1">
                <a:spAutoFit/>
              </a:bodyPr>
              <a:lstStyle/>
              <a:p>
                <a:pPr algn="ctr">
                  <a:defRPr sz="1200" b="1" i="0" u="none" strike="noStrike" kern="1200" baseline="0">
                    <a:solidFill>
                      <a:srgbClr val="000000"/>
                    </a:solidFill>
                    <a:effectLst/>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Sheet1!$D$2:$D$14</c:f>
              <c:numCache>
                <c:formatCode>0%</c:formatCode>
                <c:ptCount val="13"/>
                <c:pt idx="0">
                  <c:v>0.1910138011903437</c:v>
                </c:pt>
                <c:pt idx="1">
                  <c:v>0.19016758143250989</c:v>
                </c:pt>
                <c:pt idx="2">
                  <c:v>0.19465859294913807</c:v>
                </c:pt>
                <c:pt idx="3">
                  <c:v>0.19424246118648705</c:v>
                </c:pt>
                <c:pt idx="4">
                  <c:v>0.19419347628662845</c:v>
                </c:pt>
                <c:pt idx="5">
                  <c:v>0.19458767614221512</c:v>
                </c:pt>
                <c:pt idx="6">
                  <c:v>0.19009111337482351</c:v>
                </c:pt>
                <c:pt idx="7">
                  <c:v>0.1798557422371978</c:v>
                </c:pt>
                <c:pt idx="8">
                  <c:v>0.1787438103292612</c:v>
                </c:pt>
                <c:pt idx="9">
                  <c:v>0.17627219670289729</c:v>
                </c:pt>
                <c:pt idx="10">
                  <c:v>0.17955646257204244</c:v>
                </c:pt>
                <c:pt idx="11">
                  <c:v>0.17893886951885937</c:v>
                </c:pt>
                <c:pt idx="12">
                  <c:v>0.1715889171568751</c:v>
                </c:pt>
              </c:numCache>
            </c:numRef>
          </c:val>
          <c:extLst>
            <c:ext xmlns:c16="http://schemas.microsoft.com/office/drawing/2014/chart" uri="{C3380CC4-5D6E-409C-BE32-E72D297353CC}">
              <c16:uniqueId val="{00000002-793C-4450-9282-7CF31D199EFF}"/>
            </c:ext>
          </c:extLst>
        </c:ser>
        <c:ser>
          <c:idx val="3"/>
          <c:order val="3"/>
          <c:tx>
            <c:strRef>
              <c:f>Sheet1!$E$1</c:f>
              <c:strCache>
                <c:ptCount val="1"/>
                <c:pt idx="0">
                  <c:v>MV</c:v>
                </c:pt>
              </c:strCache>
            </c:strRef>
          </c:tx>
          <c:spPr>
            <a:solidFill>
              <a:srgbClr val="DBEEF2"/>
            </a:solidFill>
            <a:ln>
              <a:noFill/>
            </a:ln>
            <a:effectLst/>
            <a:extLst>
              <a:ext uri="{91240B29-F687-4F45-9708-019B960494DF}">
                <a14:hiddenLine xmlns:a14="http://schemas.microsoft.com/office/drawing/2010/main">
                  <a:noFill/>
                </a14:hiddenLine>
              </a:ext>
            </a:extLst>
          </c:spPr>
          <c:invertIfNegative val="0"/>
          <c:dLbls>
            <c:spPr>
              <a:noFill/>
              <a:ln>
                <a:noFill/>
              </a:ln>
              <a:effectLst/>
            </c:spPr>
            <c:txPr>
              <a:bodyPr rot="0" spcFirstLastPara="1" vertOverflow="ellipsis" vert="horz" wrap="square" lIns="38100" tIns="19050" rIns="38100" bIns="19050" anchor="ctr" anchorCtr="1">
                <a:spAutoFit/>
              </a:bodyPr>
              <a:lstStyle/>
              <a:p>
                <a:pPr algn="ctr">
                  <a:defRPr sz="1200" b="1" i="0" u="none" strike="noStrike" kern="1200" baseline="0">
                    <a:solidFill>
                      <a:srgbClr val="000000"/>
                    </a:solidFill>
                    <a:effectLst/>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Sheet1!$E$2:$E$14</c:f>
              <c:numCache>
                <c:formatCode>0%</c:formatCode>
                <c:ptCount val="13"/>
                <c:pt idx="0">
                  <c:v>0.12051969067707054</c:v>
                </c:pt>
                <c:pt idx="1">
                  <c:v>0.11983119482950241</c:v>
                </c:pt>
                <c:pt idx="2">
                  <c:v>0.12148582909307183</c:v>
                </c:pt>
                <c:pt idx="3">
                  <c:v>0.12161308067628979</c:v>
                </c:pt>
                <c:pt idx="4">
                  <c:v>0.12026701431607616</c:v>
                </c:pt>
                <c:pt idx="5">
                  <c:v>0.12267771679363569</c:v>
                </c:pt>
                <c:pt idx="6">
                  <c:v>0.1195177473583547</c:v>
                </c:pt>
                <c:pt idx="7">
                  <c:v>0.11581067292635264</c:v>
                </c:pt>
                <c:pt idx="8">
                  <c:v>0.11763047770185919</c:v>
                </c:pt>
                <c:pt idx="9">
                  <c:v>0.11614859405206245</c:v>
                </c:pt>
                <c:pt idx="10">
                  <c:v>0.11524249222525719</c:v>
                </c:pt>
                <c:pt idx="11">
                  <c:v>0.11455392068268078</c:v>
                </c:pt>
                <c:pt idx="12">
                  <c:v>0.11145321289773027</c:v>
                </c:pt>
              </c:numCache>
            </c:numRef>
          </c:val>
          <c:extLst>
            <c:ext xmlns:c16="http://schemas.microsoft.com/office/drawing/2014/chart" uri="{C3380CC4-5D6E-409C-BE32-E72D297353CC}">
              <c16:uniqueId val="{00000003-793C-4450-9282-7CF31D199EFF}"/>
            </c:ext>
          </c:extLst>
        </c:ser>
        <c:ser>
          <c:idx val="4"/>
          <c:order val="4"/>
          <c:tx>
            <c:strRef>
              <c:f>Sheet1!$F$1</c:f>
              <c:strCache>
                <c:ptCount val="1"/>
                <c:pt idx="0">
                  <c:v>HV</c:v>
                </c:pt>
              </c:strCache>
            </c:strRef>
          </c:tx>
          <c:spPr>
            <a:solidFill>
              <a:srgbClr val="3F89BB"/>
            </a:solidFill>
            <a:ln>
              <a:noFill/>
            </a:ln>
            <a:effectLst/>
            <a:extLst>
              <a:ext uri="{91240B29-F687-4F45-9708-019B960494DF}">
                <a14:hiddenLine xmlns:a14="http://schemas.microsoft.com/office/drawing/2010/main">
                  <a:noFill/>
                </a14:hiddenLine>
              </a:ext>
            </a:extLst>
          </c:spPr>
          <c:invertIfNegative val="0"/>
          <c:dLbls>
            <c:spPr>
              <a:noFill/>
              <a:ln>
                <a:noFill/>
              </a:ln>
              <a:effectLst/>
            </c:spPr>
            <c:txPr>
              <a:bodyPr rot="0" spcFirstLastPara="1" vertOverflow="ellipsis" vert="horz" wrap="square" lIns="38100" tIns="19050" rIns="38100" bIns="19050" anchor="ctr" anchorCtr="1">
                <a:spAutoFit/>
              </a:bodyPr>
              <a:lstStyle/>
              <a:p>
                <a:pPr algn="ctr">
                  <a:defRPr sz="1200" b="1" i="0" u="none" strike="noStrike" kern="1200" baseline="0">
                    <a:solidFill>
                      <a:srgbClr val="000000"/>
                    </a:solidFill>
                    <a:effectLst/>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Sheet1!$F$2:$F$14</c:f>
              <c:numCache>
                <c:formatCode>0%</c:formatCode>
                <c:ptCount val="13"/>
                <c:pt idx="0">
                  <c:v>7.3108951334265357E-2</c:v>
                </c:pt>
                <c:pt idx="1">
                  <c:v>7.2992995308880385E-2</c:v>
                </c:pt>
                <c:pt idx="2">
                  <c:v>7.151366799500905E-2</c:v>
                </c:pt>
                <c:pt idx="3">
                  <c:v>7.2512192033113723E-2</c:v>
                </c:pt>
                <c:pt idx="4">
                  <c:v>6.6700315036727978E-2</c:v>
                </c:pt>
                <c:pt idx="5">
                  <c:v>6.5385363786337469E-2</c:v>
                </c:pt>
                <c:pt idx="6">
                  <c:v>5.5125292702425333E-2</c:v>
                </c:pt>
                <c:pt idx="7">
                  <c:v>5.3374890521210916E-2</c:v>
                </c:pt>
                <c:pt idx="8">
                  <c:v>5.4825783583753181E-2</c:v>
                </c:pt>
                <c:pt idx="9">
                  <c:v>5.613205984728304E-2</c:v>
                </c:pt>
                <c:pt idx="10">
                  <c:v>5.6006794489503499E-2</c:v>
                </c:pt>
                <c:pt idx="11">
                  <c:v>5.4466151592404123E-2</c:v>
                </c:pt>
                <c:pt idx="12">
                  <c:v>5.2600323119036174E-2</c:v>
                </c:pt>
              </c:numCache>
            </c:numRef>
          </c:val>
          <c:extLst>
            <c:ext xmlns:c16="http://schemas.microsoft.com/office/drawing/2014/chart" uri="{C3380CC4-5D6E-409C-BE32-E72D297353CC}">
              <c16:uniqueId val="{00000004-793C-4450-9282-7CF31D199EFF}"/>
            </c:ext>
          </c:extLst>
        </c:ser>
        <c:ser>
          <c:idx val="5"/>
          <c:order val="5"/>
          <c:tx>
            <c:strRef>
              <c:f>Sheet1!$G$1</c:f>
              <c:strCache>
                <c:ptCount val="1"/>
                <c:pt idx="0">
                  <c:v>GA</c:v>
                </c:pt>
              </c:strCache>
            </c:strRef>
          </c:tx>
          <c:spPr>
            <a:solidFill>
              <a:srgbClr val="A3C7E0"/>
            </a:solidFill>
            <a:ln>
              <a:noFill/>
            </a:ln>
            <a:effectLst/>
            <a:extLst>
              <a:ext uri="{91240B29-F687-4F45-9708-019B960494DF}">
                <a14:hiddenLine xmlns:a14="http://schemas.microsoft.com/office/drawing/2010/main">
                  <a:noFill/>
                </a14:hiddenLine>
              </a:ext>
            </a:extLst>
          </c:spPr>
          <c:invertIfNegative val="0"/>
          <c:dLbls>
            <c:spPr>
              <a:noFill/>
              <a:ln>
                <a:noFill/>
              </a:ln>
              <a:effectLst/>
            </c:spPr>
            <c:txPr>
              <a:bodyPr rot="0" spcFirstLastPara="1" vertOverflow="ellipsis" vert="horz" wrap="square" lIns="38100" tIns="19050" rIns="38100" bIns="19050" anchor="ctr" anchorCtr="1">
                <a:spAutoFit/>
              </a:bodyPr>
              <a:lstStyle/>
              <a:p>
                <a:pPr algn="ctr">
                  <a:defRPr sz="1200" b="1" i="0" u="none" strike="noStrike" kern="1200" baseline="0">
                    <a:solidFill>
                      <a:srgbClr val="000000"/>
                    </a:solidFill>
                    <a:effectLst/>
                    <a:latin typeface="Calibri"/>
                    <a:ea typeface="Calibri"/>
                    <a:cs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Sheet1!$G$2:$G$14</c:f>
              <c:numCache>
                <c:formatCode>0%</c:formatCode>
                <c:ptCount val="13"/>
                <c:pt idx="0">
                  <c:v>4.3424229831768489E-2</c:v>
                </c:pt>
                <c:pt idx="1">
                  <c:v>2.4964347937350563E-2</c:v>
                </c:pt>
                <c:pt idx="2">
                  <c:v>2.3469545830137453E-2</c:v>
                </c:pt>
                <c:pt idx="3">
                  <c:v>2.8229423919172648E-2</c:v>
                </c:pt>
                <c:pt idx="4">
                  <c:v>3.4438123675613268E-2</c:v>
                </c:pt>
                <c:pt idx="5">
                  <c:v>3.7063494695592732E-2</c:v>
                </c:pt>
                <c:pt idx="6">
                  <c:v>6.6870148793943165E-2</c:v>
                </c:pt>
                <c:pt idx="7">
                  <c:v>9.0177783383916452E-2</c:v>
                </c:pt>
                <c:pt idx="8">
                  <c:v>4.3957460207766731E-2</c:v>
                </c:pt>
                <c:pt idx="9">
                  <c:v>4.1782812435541647E-2</c:v>
                </c:pt>
                <c:pt idx="10">
                  <c:v>4.6023984066971627E-2</c:v>
                </c:pt>
                <c:pt idx="11">
                  <c:v>4.621182466889056E-2</c:v>
                </c:pt>
                <c:pt idx="12">
                  <c:v>6.2611976269231678E-2</c:v>
                </c:pt>
              </c:numCache>
            </c:numRef>
          </c:val>
          <c:extLst>
            <c:ext xmlns:c16="http://schemas.microsoft.com/office/drawing/2014/chart" uri="{C3380CC4-5D6E-409C-BE32-E72D297353CC}">
              <c16:uniqueId val="{00000005-793C-4450-9282-7CF31D199EFF}"/>
            </c:ext>
          </c:extLst>
        </c:ser>
        <c:ser>
          <c:idx val="6"/>
          <c:order val="6"/>
          <c:tx>
            <c:strRef>
              <c:f>Sheet1!$H$1</c:f>
              <c:strCache>
                <c:ptCount val="1"/>
                <c:pt idx="0">
                  <c:v>Total</c:v>
                </c:pt>
              </c:strCache>
            </c:strRef>
          </c:tx>
          <c:spPr>
            <a:noFill/>
            <a:ln w="19050" cap="rnd" cmpd="sng">
              <a:noFill/>
              <a:prstDash val="solid"/>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lgn="ctr">
                  <a:defRPr sz="1200" b="1" i="0" u="none" strike="noStrike" kern="1200" baseline="0">
                    <a:solidFill>
                      <a:srgbClr val="000000"/>
                    </a:solidFill>
                    <a:effectLst/>
                    <a:latin typeface="Calibri"/>
                    <a:ea typeface="Calibri"/>
                    <a:cs typeface="Calibri"/>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Sheet1!$A$2:$A$14</c:f>
              <c:numCache>
                <c:formatCode>mmm\-yy</c:formatCode>
                <c:ptCount val="13"/>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Sheet1!$H$2:$H$14</c:f>
              <c:numCache>
                <c:formatCode>0.0</c:formatCode>
                <c:ptCount val="13"/>
                <c:pt idx="0">
                  <c:v>10.910798000000002</c:v>
                </c:pt>
                <c:pt idx="1">
                  <c:v>10.753936000000001</c:v>
                </c:pt>
                <c:pt idx="2">
                  <c:v>10.321887</c:v>
                </c:pt>
                <c:pt idx="3">
                  <c:v>10.154582</c:v>
                </c:pt>
                <c:pt idx="4">
                  <c:v>10.138183000000001</c:v>
                </c:pt>
                <c:pt idx="5">
                  <c:v>10.221783</c:v>
                </c:pt>
                <c:pt idx="6">
                  <c:v>10.582420000000001</c:v>
                </c:pt>
                <c:pt idx="7">
                  <c:v>11.209934000000001</c:v>
                </c:pt>
                <c:pt idx="8">
                  <c:v>11.483648000000001</c:v>
                </c:pt>
                <c:pt idx="9">
                  <c:v>11.562696999999998</c:v>
                </c:pt>
                <c:pt idx="10">
                  <c:v>11.310342</c:v>
                </c:pt>
                <c:pt idx="11">
                  <c:v>11.01071</c:v>
                </c:pt>
                <c:pt idx="12">
                  <c:v>11.157498000000002</c:v>
                </c:pt>
              </c:numCache>
            </c:numRef>
          </c:val>
          <c:extLst>
            <c:ext xmlns:c16="http://schemas.microsoft.com/office/drawing/2014/chart" uri="{C3380CC4-5D6E-409C-BE32-E72D297353CC}">
              <c16:uniqueId val="{00000006-793C-4450-9282-7CF31D199EFF}"/>
            </c:ext>
          </c:extLst>
        </c:ser>
        <c:dLbls>
          <c:showLegendKey val="0"/>
          <c:showVal val="0"/>
          <c:showCatName val="0"/>
          <c:showSerName val="0"/>
          <c:showPercent val="0"/>
          <c:showBubbleSize val="0"/>
        </c:dLbls>
        <c:gapWidth val="60"/>
        <c:overlap val="100"/>
        <c:axId val="939293968"/>
        <c:axId val="1141326272"/>
      </c:barChart>
      <c:dateAx>
        <c:axId val="939293968"/>
        <c:scaling>
          <c:orientation val="minMax"/>
        </c:scaling>
        <c:delete val="0"/>
        <c:axPos val="b"/>
        <c:numFmt formatCode="mmm\-yy" sourceLinked="1"/>
        <c:majorTickMark val="none"/>
        <c:minorTickMark val="none"/>
        <c:tickLblPos val="low"/>
        <c:spPr>
          <a:noFill/>
          <a:ln w="6350" cap="flat" cmpd="sng" algn="ctr">
            <a:solidFill>
              <a:srgbClr val="00568A"/>
            </a:solidFill>
            <a:round/>
          </a:ln>
          <a:effectLst/>
        </c:spPr>
        <c:txPr>
          <a:bodyPr rot="-60000000" spcFirstLastPara="1" vertOverflow="ellipsis" vert="horz" wrap="square" anchor="ctr" anchorCtr="1"/>
          <a:lstStyle/>
          <a:p>
            <a:pPr>
              <a:defRPr sz="1200" b="1" i="0" u="none" strike="noStrike" kern="1200" baseline="0">
                <a:solidFill>
                  <a:srgbClr val="000000"/>
                </a:solidFill>
                <a:latin typeface="Calibri"/>
                <a:ea typeface="Calibri"/>
                <a:cs typeface="Calibri"/>
              </a:defRPr>
            </a:pPr>
            <a:endParaRPr lang="en-US"/>
          </a:p>
        </c:txPr>
        <c:crossAx val="1141326272"/>
        <c:crosses val="autoZero"/>
        <c:auto val="1"/>
        <c:lblOffset val="100"/>
        <c:baseTimeUnit val="months"/>
      </c:dateAx>
      <c:valAx>
        <c:axId val="1141326272"/>
        <c:scaling>
          <c:orientation val="minMax"/>
          <c:max val="1.2"/>
        </c:scaling>
        <c:delete val="0"/>
        <c:axPos val="l"/>
        <c:numFmt formatCode="0%" sourceLinked="1"/>
        <c:majorTickMark val="none"/>
        <c:minorTickMark val="none"/>
        <c:tickLblPos val="none"/>
        <c:spPr>
          <a:noFill/>
          <a:ln>
            <a:noFill/>
          </a:ln>
          <a:effectLst/>
          <a:extLst>
            <a:ext uri="{91240B29-F687-4F45-9708-019B960494DF}">
              <a14:hiddenLine xmlns:a14="http://schemas.microsoft.com/office/drawing/2010/main">
                <a:noFill/>
              </a14:hiddenLine>
            </a:ext>
          </a:extLst>
        </c:spPr>
        <c:txPr>
          <a:bodyPr rot="-60000000" spcFirstLastPara="1" vertOverflow="ellipsis" vert="horz" wrap="square" anchor="ctr" anchorCtr="1"/>
          <a:lstStyle/>
          <a:p>
            <a:pPr>
              <a:defRPr sz="1200" b="1" i="0" u="none" strike="noStrike" kern="1200" baseline="0">
                <a:solidFill>
                  <a:srgbClr val="000000"/>
                </a:solidFill>
                <a:latin typeface="Calibri"/>
                <a:ea typeface="Calibri"/>
                <a:cs typeface="Calibri"/>
              </a:defRPr>
            </a:pPr>
            <a:endParaRPr lang="en-US"/>
          </a:p>
        </c:txPr>
        <c:crossAx val="939293968"/>
        <c:crosses val="autoZero"/>
        <c:crossBetween val="between"/>
      </c:valAx>
      <c:spPr>
        <a:noFill/>
        <a:ln>
          <a:noFill/>
        </a:ln>
        <a:effectLst/>
        <a:extLst>
          <a:ext uri="{909E8E84-426E-40DD-AFC4-6F175D3DCCD1}">
            <a14:hiddenFill xmlns:a14="http://schemas.microsoft.com/office/drawing/2010/main">
              <a:noFill/>
            </a14:hiddenFill>
          </a:ext>
        </a:extLst>
      </c:spPr>
    </c:plotArea>
    <c:legend>
      <c:legendPos val="t"/>
      <c:legendEntry>
        <c:idx val="6"/>
        <c:delete val="1"/>
      </c:legendEntry>
      <c:layout>
        <c:manualLayout>
          <c:xMode val="edge"/>
          <c:yMode val="edge"/>
          <c:x val="0.16064581859272847"/>
          <c:y val="5.5612537064243225E-2"/>
          <c:w val="0.61868330324589449"/>
          <c:h val="4.8776414711088484E-2"/>
        </c:manualLayout>
      </c:layout>
      <c:overlay val="0"/>
      <c:spPr>
        <a:noFill/>
        <a:ln>
          <a:noFill/>
        </a:ln>
        <a:effectLst/>
        <a:extLst>
          <a:ext uri="{91240B29-F687-4F45-9708-019B960494DF}">
            <a14:hiddenLine xmlns:a14="http://schemas.microsoft.com/office/drawing/2010/main">
              <a:noFill/>
            </a14:hiddenLine>
          </a:ext>
        </a:extLst>
      </c:spPr>
      <c:txPr>
        <a:bodyPr rot="0" spcFirstLastPara="1" vertOverflow="ellipsis" vert="horz" wrap="square" anchor="ctr" anchorCtr="1"/>
        <a:lstStyle/>
        <a:p>
          <a:pPr>
            <a:defRPr sz="1100" b="0" i="0" u="none" strike="noStrike" kern="1200" baseline="0">
              <a:solidFill>
                <a:srgbClr val="000000"/>
              </a:solidFill>
              <a:latin typeface="Calibri"/>
              <a:ea typeface="Calibri"/>
              <a:cs typeface="Calibri"/>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a:extLst>
      <a:ext uri="{909E8E84-426E-40DD-AFC4-6F175D3DCCD1}">
        <a14:hiddenFill xmlns:a14="http://schemas.microsoft.com/office/drawing/2010/main">
          <a:noFill/>
        </a14:hiddenFill>
      </a:ext>
    </a:extLst>
  </c:spPr>
  <c:txPr>
    <a:bodyPr/>
    <a:lstStyle/>
    <a:p>
      <a:pPr>
        <a:defRPr sz="1200" b="1" i="0" u="none" strike="noStrike" baseline="0">
          <a:solidFill>
            <a:srgbClr val="000000"/>
          </a:solidFill>
          <a:latin typeface="Calibri"/>
          <a:ea typeface="Calibri"/>
          <a:cs typeface="Calibri"/>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426008594928446E-2"/>
          <c:y val="1.9298432541083993E-3"/>
          <c:w val="0.97001217651601401"/>
          <c:h val="0.88994753750673417"/>
        </c:manualLayout>
      </c:layout>
      <c:barChart>
        <c:barDir val="col"/>
        <c:grouping val="clustered"/>
        <c:varyColors val="0"/>
        <c:ser>
          <c:idx val="0"/>
          <c:order val="0"/>
          <c:tx>
            <c:strRef>
              <c:f>Sheet1!$B$1</c:f>
              <c:strCache>
                <c:ptCount val="1"/>
                <c:pt idx="0">
                  <c:v>Series 1</c:v>
                </c:pt>
              </c:strCache>
            </c:strRef>
          </c:tx>
          <c:spPr>
            <a:solidFill>
              <a:srgbClr val="00568A"/>
            </a:solidFill>
            <a:ln w="3175">
              <a:noFill/>
            </a:ln>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Sheet1!$A$2:$A$15</c:f>
              <c:numCache>
                <c:formatCode>mmm\-yy</c:formatCode>
                <c:ptCount val="14"/>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Sheet1!$B$2:$B$15</c:f>
              <c:numCache>
                <c:formatCode>_-* #,##0.00_-;\-* #,##0.00_-;_-* "-"??_-;_-@_-</c:formatCode>
                <c:ptCount val="14"/>
                <c:pt idx="0">
                  <c:v>7.2168143110793022</c:v>
                </c:pt>
                <c:pt idx="1">
                  <c:v>7.1726256770349464</c:v>
                </c:pt>
                <c:pt idx="2">
                  <c:v>6.9956881418735124</c:v>
                </c:pt>
                <c:pt idx="3">
                  <c:v>7.0123681132647846</c:v>
                </c:pt>
                <c:pt idx="4">
                  <c:v>6.4489484738152782</c:v>
                </c:pt>
                <c:pt idx="5">
                  <c:v>6.2353916636760758</c:v>
                </c:pt>
                <c:pt idx="6">
                  <c:v>6.2680458892180546</c:v>
                </c:pt>
                <c:pt idx="7">
                  <c:v>6.6940799463897847</c:v>
                </c:pt>
                <c:pt idx="8">
                  <c:v>6.722426177048388</c:v>
                </c:pt>
                <c:pt idx="9">
                  <c:v>6.5400958740388901</c:v>
                </c:pt>
                <c:pt idx="10">
                  <c:v>6.3155223476330642</c:v>
                </c:pt>
                <c:pt idx="11">
                  <c:v>6.120247500354167</c:v>
                </c:pt>
                <c:pt idx="12">
                  <c:v>6.0647489941182808</c:v>
                </c:pt>
              </c:numCache>
            </c:numRef>
          </c:val>
          <c:extLst>
            <c:ext xmlns:c16="http://schemas.microsoft.com/office/drawing/2014/chart" uri="{C3380CC4-5D6E-409C-BE32-E72D297353CC}">
              <c16:uniqueId val="{00000000-1F49-42A6-BD19-98F054DDA4BB}"/>
            </c:ext>
          </c:extLst>
        </c:ser>
        <c:dLbls>
          <c:showLegendKey val="0"/>
          <c:showVal val="0"/>
          <c:showCatName val="0"/>
          <c:showSerName val="0"/>
          <c:showPercent val="0"/>
          <c:showBubbleSize val="0"/>
        </c:dLbls>
        <c:gapWidth val="60"/>
        <c:axId val="492253144"/>
        <c:axId val="492242952"/>
      </c:barChart>
      <c:lineChart>
        <c:grouping val="standard"/>
        <c:varyColors val="0"/>
        <c:ser>
          <c:idx val="1"/>
          <c:order val="1"/>
          <c:tx>
            <c:strRef>
              <c:f>Sheet1!$C$1</c:f>
              <c:strCache>
                <c:ptCount val="1"/>
                <c:pt idx="0">
                  <c:v>% High Value</c:v>
                </c:pt>
              </c:strCache>
            </c:strRef>
          </c:tx>
          <c:spPr>
            <a:ln>
              <a:solidFill>
                <a:srgbClr val="FF0000"/>
              </a:solidFill>
            </a:ln>
          </c:spPr>
          <c:marker>
            <c:symbol val="none"/>
          </c:marker>
          <c:cat>
            <c:numRef>
              <c:f>Sheet1!$A$2:$A$15</c:f>
              <c:numCache>
                <c:formatCode>mmm\-yy</c:formatCode>
                <c:ptCount val="14"/>
                <c:pt idx="0">
                  <c:v>43070</c:v>
                </c:pt>
                <c:pt idx="1">
                  <c:v>43101</c:v>
                </c:pt>
                <c:pt idx="2">
                  <c:v>43132</c:v>
                </c:pt>
                <c:pt idx="3">
                  <c:v>43160</c:v>
                </c:pt>
                <c:pt idx="4">
                  <c:v>43191</c:v>
                </c:pt>
                <c:pt idx="5">
                  <c:v>43221</c:v>
                </c:pt>
                <c:pt idx="6">
                  <c:v>43252</c:v>
                </c:pt>
                <c:pt idx="7">
                  <c:v>43282</c:v>
                </c:pt>
                <c:pt idx="8">
                  <c:v>43313</c:v>
                </c:pt>
                <c:pt idx="9">
                  <c:v>43344</c:v>
                </c:pt>
                <c:pt idx="10">
                  <c:v>43374</c:v>
                </c:pt>
                <c:pt idx="11">
                  <c:v>43405</c:v>
                </c:pt>
                <c:pt idx="12">
                  <c:v>43435</c:v>
                </c:pt>
              </c:numCache>
            </c:numRef>
          </c:cat>
          <c:val>
            <c:numRef>
              <c:f>Sheet1!$C$2:$C$15</c:f>
              <c:numCache>
                <c:formatCode>0.0%</c:formatCode>
                <c:ptCount val="14"/>
                <c:pt idx="0">
                  <c:v>7.2999999999999995E-2</c:v>
                </c:pt>
                <c:pt idx="1">
                  <c:v>7.2999999999999995E-2</c:v>
                </c:pt>
                <c:pt idx="2">
                  <c:v>7.1999999999999995E-2</c:v>
                </c:pt>
                <c:pt idx="3">
                  <c:v>7.2999999999999995E-2</c:v>
                </c:pt>
                <c:pt idx="4">
                  <c:v>6.7000000000000004E-2</c:v>
                </c:pt>
                <c:pt idx="5">
                  <c:v>6.5000000000000002E-2</c:v>
                </c:pt>
                <c:pt idx="6">
                  <c:v>5.5E-2</c:v>
                </c:pt>
                <c:pt idx="7">
                  <c:v>5.2999999999999999E-2</c:v>
                </c:pt>
                <c:pt idx="8">
                  <c:v>5.5E-2</c:v>
                </c:pt>
                <c:pt idx="9">
                  <c:v>5.6000000000000001E-2</c:v>
                </c:pt>
                <c:pt idx="10">
                  <c:v>5.6000000000000001E-2</c:v>
                </c:pt>
                <c:pt idx="11">
                  <c:v>5.3999999999999999E-2</c:v>
                </c:pt>
                <c:pt idx="12">
                  <c:v>5.2999999999999999E-2</c:v>
                </c:pt>
              </c:numCache>
            </c:numRef>
          </c:val>
          <c:smooth val="0"/>
          <c:extLst>
            <c:ext xmlns:c16="http://schemas.microsoft.com/office/drawing/2014/chart" uri="{C3380CC4-5D6E-409C-BE32-E72D297353CC}">
              <c16:uniqueId val="{00000001-1F49-42A6-BD19-98F054DDA4BB}"/>
            </c:ext>
          </c:extLst>
        </c:ser>
        <c:dLbls>
          <c:showLegendKey val="0"/>
          <c:showVal val="0"/>
          <c:showCatName val="0"/>
          <c:showSerName val="0"/>
          <c:showPercent val="0"/>
          <c:showBubbleSize val="0"/>
        </c:dLbls>
        <c:marker val="1"/>
        <c:smooth val="0"/>
        <c:axId val="2077924223"/>
        <c:axId val="1334290927"/>
      </c:lineChart>
      <c:dateAx>
        <c:axId val="492253144"/>
        <c:scaling>
          <c:orientation val="minMax"/>
        </c:scaling>
        <c:delete val="0"/>
        <c:axPos val="b"/>
        <c:numFmt formatCode="mmm\-yy" sourceLinked="1"/>
        <c:majorTickMark val="none"/>
        <c:minorTickMark val="none"/>
        <c:tickLblPos val="nextTo"/>
        <c:spPr>
          <a:ln w="6350">
            <a:solidFill>
              <a:srgbClr val="00568A"/>
            </a:solidFill>
          </a:ln>
        </c:spPr>
        <c:crossAx val="492242952"/>
        <c:crosses val="autoZero"/>
        <c:auto val="1"/>
        <c:lblOffset val="100"/>
        <c:baseTimeUnit val="months"/>
      </c:dateAx>
      <c:valAx>
        <c:axId val="492242952"/>
        <c:scaling>
          <c:orientation val="minMax"/>
          <c:min val="0"/>
        </c:scaling>
        <c:delete val="0"/>
        <c:axPos val="l"/>
        <c:numFmt formatCode="_-* #,##0.00_-;\-* #,##0.00_-;_-* &quot;-&quot;??_-;_-@_-" sourceLinked="1"/>
        <c:majorTickMark val="none"/>
        <c:minorTickMark val="none"/>
        <c:tickLblPos val="none"/>
        <c:spPr>
          <a:ln>
            <a:noFill/>
          </a:ln>
        </c:spPr>
        <c:crossAx val="492253144"/>
        <c:crosses val="autoZero"/>
        <c:crossBetween val="between"/>
      </c:valAx>
      <c:valAx>
        <c:axId val="1334290927"/>
        <c:scaling>
          <c:orientation val="minMax"/>
          <c:max val="9.0000000000000024E-2"/>
        </c:scaling>
        <c:delete val="0"/>
        <c:axPos val="r"/>
        <c:numFmt formatCode="0.0%" sourceLinked="1"/>
        <c:majorTickMark val="out"/>
        <c:minorTickMark val="none"/>
        <c:tickLblPos val="nextTo"/>
        <c:txPr>
          <a:bodyPr/>
          <a:lstStyle/>
          <a:p>
            <a:pPr>
              <a:defRPr sz="1000"/>
            </a:pPr>
            <a:endParaRPr lang="en-US"/>
          </a:p>
        </c:txPr>
        <c:crossAx val="2077924223"/>
        <c:crosses val="max"/>
        <c:crossBetween val="between"/>
      </c:valAx>
      <c:dateAx>
        <c:axId val="2077924223"/>
        <c:scaling>
          <c:orientation val="minMax"/>
        </c:scaling>
        <c:delete val="1"/>
        <c:axPos val="b"/>
        <c:numFmt formatCode="mmm\-yy" sourceLinked="1"/>
        <c:majorTickMark val="out"/>
        <c:minorTickMark val="none"/>
        <c:tickLblPos val="nextTo"/>
        <c:crossAx val="1334290927"/>
        <c:crosses val="autoZero"/>
        <c:auto val="1"/>
        <c:lblOffset val="100"/>
        <c:baseTimeUnit val="months"/>
      </c:dateAx>
    </c:plotArea>
    <c:plotVisOnly val="1"/>
    <c:dispBlanksAs val="gap"/>
    <c:showDLblsOverMax val="0"/>
  </c:chart>
  <c:txPr>
    <a:bodyPr/>
    <a:lstStyle/>
    <a:p>
      <a:pPr>
        <a:defRPr lang="en-GB" sz="1200" b="1" noProof="0">
          <a:latin typeface="+mj-lt"/>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ser>
          <c:idx val="0"/>
          <c:order val="0"/>
          <c:tx>
            <c:strRef>
              <c:f>Sheet1!$B$1</c:f>
              <c:strCache>
                <c:ptCount val="1"/>
                <c:pt idx="0">
                  <c:v>Series 1</c:v>
                </c:pt>
              </c:strCache>
            </c:strRef>
          </c:tx>
          <c:spPr>
            <a:noFill/>
            <a:ln w="3175">
              <a:noFill/>
            </a:ln>
          </c:spPr>
          <c:invertIfNegative val="0"/>
          <c:dPt>
            <c:idx val="0"/>
            <c:invertIfNegative val="0"/>
            <c:bubble3D val="0"/>
            <c:spPr>
              <a:solidFill>
                <a:schemeClr val="accent1"/>
              </a:solidFill>
              <a:ln w="3175">
                <a:solidFill>
                  <a:schemeClr val="bg2"/>
                </a:solidFill>
              </a:ln>
            </c:spPr>
            <c:extLst>
              <c:ext xmlns:c16="http://schemas.microsoft.com/office/drawing/2014/chart" uri="{C3380CC4-5D6E-409C-BE32-E72D297353CC}">
                <c16:uniqueId val="{00000001-B3BB-48AD-AEFC-2474686E2E9A}"/>
              </c:ext>
            </c:extLst>
          </c:dPt>
          <c:cat>
            <c:strRef>
              <c:f>Sheet1!$A$2:$A$9</c:f>
              <c:strCache>
                <c:ptCount val="8"/>
                <c:pt idx="0">
                  <c:v>HV base Dec'17</c:v>
                </c:pt>
                <c:pt idx="1">
                  <c:v>HV churners</c:v>
                </c:pt>
                <c:pt idx="2">
                  <c:v>HV gross adds</c:v>
                </c:pt>
                <c:pt idx="3">
                  <c:v>HV base after rotation</c:v>
                </c:pt>
                <c:pt idx="4">
                  <c:v>HV migrating down</c:v>
                </c:pt>
                <c:pt idx="5">
                  <c:v>Migrations up to HV</c:v>
                </c:pt>
                <c:pt idx="6">
                  <c:v>Constant base variation</c:v>
                </c:pt>
                <c:pt idx="7">
                  <c:v>HV base dec'18</c:v>
                </c:pt>
              </c:strCache>
            </c:strRef>
          </c:cat>
          <c:val>
            <c:numRef>
              <c:f>Sheet1!$B$2:$B$9</c:f>
              <c:numCache>
                <c:formatCode>_-* #,##0_-;\-* #,##0_-;_-* "-"??_-;_-@_-</c:formatCode>
                <c:ptCount val="8"/>
                <c:pt idx="1">
                  <c:v>2562856024.0000005</c:v>
                </c:pt>
                <c:pt idx="2">
                  <c:v>2562856024.0000005</c:v>
                </c:pt>
                <c:pt idx="4">
                  <c:v>1693154014.4800003</c:v>
                </c:pt>
                <c:pt idx="5">
                  <c:v>1693154014.4800003</c:v>
                </c:pt>
                <c:pt idx="6">
                  <c:v>2087626555.1700003</c:v>
                </c:pt>
              </c:numCache>
            </c:numRef>
          </c:val>
          <c:extLst>
            <c:ext xmlns:c16="http://schemas.microsoft.com/office/drawing/2014/chart" uri="{C3380CC4-5D6E-409C-BE32-E72D297353CC}">
              <c16:uniqueId val="{00000002-B3BB-48AD-AEFC-2474686E2E9A}"/>
            </c:ext>
          </c:extLst>
        </c:ser>
        <c:ser>
          <c:idx val="1"/>
          <c:order val="1"/>
          <c:tx>
            <c:strRef>
              <c:f>Sheet1!$C$1</c:f>
              <c:strCache>
                <c:ptCount val="1"/>
                <c:pt idx="0">
                  <c:v>Series 2</c:v>
                </c:pt>
              </c:strCache>
            </c:strRef>
          </c:tx>
          <c:spPr>
            <a:solidFill>
              <a:schemeClr val="accent1"/>
            </a:solidFill>
            <a:ln w="3175">
              <a:noFill/>
            </a:ln>
          </c:spPr>
          <c:invertIfNegative val="0"/>
          <c:dPt>
            <c:idx val="1"/>
            <c:invertIfNegative val="0"/>
            <c:bubble3D val="0"/>
            <c:spPr>
              <a:solidFill>
                <a:srgbClr val="FF0000"/>
              </a:solidFill>
              <a:ln w="3175">
                <a:noFill/>
              </a:ln>
            </c:spPr>
            <c:extLst>
              <c:ext xmlns:c16="http://schemas.microsoft.com/office/drawing/2014/chart" uri="{C3380CC4-5D6E-409C-BE32-E72D297353CC}">
                <c16:uniqueId val="{00000004-B3BB-48AD-AEFC-2474686E2E9A}"/>
              </c:ext>
            </c:extLst>
          </c:dPt>
          <c:dPt>
            <c:idx val="2"/>
            <c:invertIfNegative val="0"/>
            <c:bubble3D val="0"/>
            <c:spPr>
              <a:solidFill>
                <a:srgbClr val="00B050"/>
              </a:solidFill>
              <a:ln w="3175">
                <a:noFill/>
              </a:ln>
            </c:spPr>
            <c:extLst>
              <c:ext xmlns:c16="http://schemas.microsoft.com/office/drawing/2014/chart" uri="{C3380CC4-5D6E-409C-BE32-E72D297353CC}">
                <c16:uniqueId val="{00000006-B3BB-48AD-AEFC-2474686E2E9A}"/>
              </c:ext>
            </c:extLst>
          </c:dPt>
          <c:dPt>
            <c:idx val="4"/>
            <c:invertIfNegative val="0"/>
            <c:bubble3D val="0"/>
            <c:spPr>
              <a:solidFill>
                <a:srgbClr val="FF0000"/>
              </a:solidFill>
              <a:ln w="3175">
                <a:noFill/>
              </a:ln>
            </c:spPr>
            <c:extLst>
              <c:ext xmlns:c16="http://schemas.microsoft.com/office/drawing/2014/chart" uri="{C3380CC4-5D6E-409C-BE32-E72D297353CC}">
                <c16:uniqueId val="{00000008-B3BB-48AD-AEFC-2474686E2E9A}"/>
              </c:ext>
            </c:extLst>
          </c:dPt>
          <c:dPt>
            <c:idx val="5"/>
            <c:invertIfNegative val="0"/>
            <c:bubble3D val="0"/>
            <c:spPr>
              <a:solidFill>
                <a:srgbClr val="00B050"/>
              </a:solidFill>
              <a:ln w="3175">
                <a:noFill/>
              </a:ln>
            </c:spPr>
            <c:extLst>
              <c:ext xmlns:c16="http://schemas.microsoft.com/office/drawing/2014/chart" uri="{C3380CC4-5D6E-409C-BE32-E72D297353CC}">
                <c16:uniqueId val="{0000000A-B3BB-48AD-AEFC-2474686E2E9A}"/>
              </c:ext>
            </c:extLst>
          </c:dPt>
          <c:dPt>
            <c:idx val="6"/>
            <c:invertIfNegative val="0"/>
            <c:bubble3D val="0"/>
            <c:spPr>
              <a:solidFill>
                <a:srgbClr val="FF0000"/>
              </a:solidFill>
              <a:ln w="3175">
                <a:noFill/>
              </a:ln>
            </c:spPr>
            <c:extLst>
              <c:ext xmlns:c16="http://schemas.microsoft.com/office/drawing/2014/chart" uri="{C3380CC4-5D6E-409C-BE32-E72D297353CC}">
                <c16:uniqueId val="{0000000C-B3BB-48AD-AEFC-2474686E2E9A}"/>
              </c:ext>
            </c:extLst>
          </c:dPt>
          <c:dPt>
            <c:idx val="7"/>
            <c:invertIfNegative val="0"/>
            <c:bubble3D val="0"/>
            <c:spPr>
              <a:solidFill>
                <a:srgbClr val="FF0000"/>
              </a:solidFill>
              <a:ln w="3175">
                <a:noFill/>
              </a:ln>
            </c:spPr>
            <c:extLst>
              <c:ext xmlns:c16="http://schemas.microsoft.com/office/drawing/2014/chart" uri="{C3380CC4-5D6E-409C-BE32-E72D297353CC}">
                <c16:uniqueId val="{0000000E-B3BB-48AD-AEFC-2474686E2E9A}"/>
              </c:ext>
            </c:extLst>
          </c:dPt>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HV base Dec'17</c:v>
                </c:pt>
                <c:pt idx="1">
                  <c:v>HV churners</c:v>
                </c:pt>
                <c:pt idx="2">
                  <c:v>HV gross adds</c:v>
                </c:pt>
                <c:pt idx="3">
                  <c:v>HV base after rotation</c:v>
                </c:pt>
                <c:pt idx="4">
                  <c:v>HV migrating down</c:v>
                </c:pt>
                <c:pt idx="5">
                  <c:v>Migrations up to HV</c:v>
                </c:pt>
                <c:pt idx="6">
                  <c:v>Constant base variation</c:v>
                </c:pt>
                <c:pt idx="7">
                  <c:v>HV base dec'18</c:v>
                </c:pt>
              </c:strCache>
            </c:strRef>
          </c:cat>
          <c:val>
            <c:numRef>
              <c:f>Sheet1!$C$2:$C$9</c:f>
              <c:numCache>
                <c:formatCode>_-* #,##0_-;\-* #,##0_-;_-* "-"??_-;_-@_-</c:formatCode>
                <c:ptCount val="8"/>
                <c:pt idx="1">
                  <c:v>444903854.60000002</c:v>
                </c:pt>
                <c:pt idx="2">
                  <c:v>419594716.18000001</c:v>
                </c:pt>
                <c:pt idx="4">
                  <c:v>1289296725.7</c:v>
                </c:pt>
                <c:pt idx="5">
                  <c:v>550517113.88999999</c:v>
                </c:pt>
                <c:pt idx="6">
                  <c:v>156044573.20000005</c:v>
                </c:pt>
              </c:numCache>
            </c:numRef>
          </c:val>
          <c:extLst>
            <c:ext xmlns:c16="http://schemas.microsoft.com/office/drawing/2014/chart" uri="{C3380CC4-5D6E-409C-BE32-E72D297353CC}">
              <c16:uniqueId val="{0000000F-B3BB-48AD-AEFC-2474686E2E9A}"/>
            </c:ext>
          </c:extLst>
        </c:ser>
        <c:ser>
          <c:idx val="2"/>
          <c:order val="2"/>
          <c:tx>
            <c:strRef>
              <c:f>Sheet1!$D$1</c:f>
              <c:strCache>
                <c:ptCount val="1"/>
                <c:pt idx="0">
                  <c:v>Series 3</c:v>
                </c:pt>
              </c:strCache>
            </c:strRef>
          </c:tx>
          <c:spPr>
            <a:solidFill>
              <a:schemeClr val="tx2"/>
            </a:solidFill>
            <a:ln w="3175">
              <a:noFill/>
            </a:ln>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HV base Dec'17</c:v>
                </c:pt>
                <c:pt idx="1">
                  <c:v>HV churners</c:v>
                </c:pt>
                <c:pt idx="2">
                  <c:v>HV gross adds</c:v>
                </c:pt>
                <c:pt idx="3">
                  <c:v>HV base after rotation</c:v>
                </c:pt>
                <c:pt idx="4">
                  <c:v>HV migrating down</c:v>
                </c:pt>
                <c:pt idx="5">
                  <c:v>Migrations up to HV</c:v>
                </c:pt>
                <c:pt idx="6">
                  <c:v>Constant base variation</c:v>
                </c:pt>
                <c:pt idx="7">
                  <c:v>HV base dec'18</c:v>
                </c:pt>
              </c:strCache>
            </c:strRef>
          </c:cat>
          <c:val>
            <c:numRef>
              <c:f>Sheet1!$D$2:$D$9</c:f>
              <c:numCache>
                <c:formatCode>General</c:formatCode>
                <c:ptCount val="8"/>
                <c:pt idx="0" formatCode="_-* #,##0_-;\-* #,##0_-;_-* &quot;-&quot;??_-;_-@_-">
                  <c:v>3007759878.6000004</c:v>
                </c:pt>
                <c:pt idx="3" formatCode="_-* #,##0_-;\-* #,##0_-;_-* &quot;-&quot;??_-;_-@_-">
                  <c:v>2982450740.1800003</c:v>
                </c:pt>
                <c:pt idx="7" formatCode="_-* #,##0_-;\-* #,##0_-;_-* &quot;-&quot;??_-;_-@_-">
                  <c:v>1931581981.9700003</c:v>
                </c:pt>
              </c:numCache>
            </c:numRef>
          </c:val>
          <c:extLst>
            <c:ext xmlns:c16="http://schemas.microsoft.com/office/drawing/2014/chart" uri="{C3380CC4-5D6E-409C-BE32-E72D297353CC}">
              <c16:uniqueId val="{00000010-B3BB-48AD-AEFC-2474686E2E9A}"/>
            </c:ext>
          </c:extLst>
        </c:ser>
        <c:dLbls>
          <c:showLegendKey val="0"/>
          <c:showVal val="0"/>
          <c:showCatName val="0"/>
          <c:showSerName val="0"/>
          <c:showPercent val="0"/>
          <c:showBubbleSize val="0"/>
        </c:dLbls>
        <c:gapWidth val="60"/>
        <c:overlap val="100"/>
        <c:axId val="494720232"/>
        <c:axId val="494722976"/>
      </c:barChart>
      <c:catAx>
        <c:axId val="494720232"/>
        <c:scaling>
          <c:orientation val="minMax"/>
        </c:scaling>
        <c:delete val="0"/>
        <c:axPos val="b"/>
        <c:numFmt formatCode="General" sourceLinked="1"/>
        <c:majorTickMark val="none"/>
        <c:minorTickMark val="none"/>
        <c:tickLblPos val="nextTo"/>
        <c:spPr>
          <a:ln>
            <a:solidFill>
              <a:schemeClr val="tx1"/>
            </a:solidFill>
          </a:ln>
        </c:spPr>
        <c:txPr>
          <a:bodyPr/>
          <a:lstStyle/>
          <a:p>
            <a:pPr>
              <a:defRPr lang="en-ZA"/>
            </a:pPr>
            <a:endParaRPr lang="en-US"/>
          </a:p>
        </c:txPr>
        <c:crossAx val="494722976"/>
        <c:crosses val="autoZero"/>
        <c:auto val="1"/>
        <c:lblAlgn val="ctr"/>
        <c:lblOffset val="100"/>
        <c:noMultiLvlLbl val="0"/>
      </c:catAx>
      <c:valAx>
        <c:axId val="494722976"/>
        <c:scaling>
          <c:orientation val="minMax"/>
        </c:scaling>
        <c:delete val="0"/>
        <c:axPos val="l"/>
        <c:numFmt formatCode="_-* #,##0_-;\-* #,##0_-;_-* &quot;-&quot;??_-;_-@_-" sourceLinked="1"/>
        <c:majorTickMark val="none"/>
        <c:minorTickMark val="none"/>
        <c:tickLblPos val="none"/>
        <c:spPr>
          <a:ln>
            <a:noFill/>
          </a:ln>
        </c:spPr>
        <c:txPr>
          <a:bodyPr/>
          <a:lstStyle/>
          <a:p>
            <a:pPr>
              <a:defRPr lang="en-ZA"/>
            </a:pPr>
            <a:endParaRPr lang="en-US"/>
          </a:p>
        </c:txPr>
        <c:crossAx val="494720232"/>
        <c:crosses val="autoZero"/>
        <c:crossBetween val="between"/>
        <c:dispUnits>
          <c:builtInUnit val="millions"/>
        </c:dispUnits>
      </c:valAx>
    </c:plotArea>
    <c:plotVisOnly val="1"/>
    <c:dispBlanksAs val="gap"/>
    <c:showDLblsOverMax val="0"/>
  </c:chart>
  <c:txPr>
    <a:bodyPr/>
    <a:lstStyle/>
    <a:p>
      <a:pPr>
        <a:defRPr sz="1200" b="1"/>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573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9862" y="0"/>
            <a:ext cx="2946275" cy="495736"/>
          </a:xfrm>
          <a:prstGeom prst="rect">
            <a:avLst/>
          </a:prstGeom>
        </p:spPr>
        <p:txBody>
          <a:bodyPr vert="horz" lIns="91440" tIns="45720" rIns="91440" bIns="45720" rtlCol="0"/>
          <a:lstStyle>
            <a:lvl1pPr algn="r">
              <a:defRPr sz="1200"/>
            </a:lvl1pPr>
          </a:lstStyle>
          <a:p>
            <a:fld id="{A91865B1-1211-478A-9740-952682131B5D}" type="datetimeFigureOut">
              <a:rPr lang="en-GB" smtClean="0"/>
              <a:t>15/03/2019</a:t>
            </a:fld>
            <a:endParaRPr lang="en-GB"/>
          </a:p>
        </p:txBody>
      </p:sp>
      <p:sp>
        <p:nvSpPr>
          <p:cNvPr id="4" name="Footer Placeholder 3"/>
          <p:cNvSpPr>
            <a:spLocks noGrp="1"/>
          </p:cNvSpPr>
          <p:nvPr>
            <p:ph type="ftr" sz="quarter" idx="2"/>
          </p:nvPr>
        </p:nvSpPr>
        <p:spPr>
          <a:xfrm>
            <a:off x="0" y="9378515"/>
            <a:ext cx="2946275" cy="4957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9862" y="9378515"/>
            <a:ext cx="2946275" cy="495736"/>
          </a:xfrm>
          <a:prstGeom prst="rect">
            <a:avLst/>
          </a:prstGeom>
        </p:spPr>
        <p:txBody>
          <a:bodyPr vert="horz" lIns="91440" tIns="45720" rIns="91440" bIns="45720" rtlCol="0" anchor="b"/>
          <a:lstStyle>
            <a:lvl1pPr algn="r">
              <a:defRPr sz="1200"/>
            </a:lvl1pPr>
          </a:lstStyle>
          <a:p>
            <a:fld id="{E5735435-BB52-4F9D-A643-34442C5E8ABA}" type="slidenum">
              <a:rPr lang="en-GB" smtClean="0"/>
              <a:t>‹#›</a:t>
            </a:fld>
            <a:endParaRPr lang="en-GB"/>
          </a:p>
        </p:txBody>
      </p:sp>
    </p:spTree>
    <p:extLst>
      <p:ext uri="{BB962C8B-B14F-4D97-AF65-F5344CB8AC3E}">
        <p14:creationId xmlns:p14="http://schemas.microsoft.com/office/powerpoint/2010/main" val="7697738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46400" cy="4941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buSzTx/>
              <a:defRPr smtClean="0">
                <a:solidFill>
                  <a:schemeClr val="tx1"/>
                </a:solidFill>
                <a:latin typeface="Calibri" panose="020F0502020204030204" pitchFamily="34" charset="0"/>
              </a:defRPr>
            </a:lvl1pPr>
          </a:lstStyle>
          <a:p>
            <a:pPr>
              <a:defRPr/>
            </a:pPr>
            <a:endParaRPr lang="en-GB" dirty="0"/>
          </a:p>
        </p:txBody>
      </p:sp>
      <p:sp>
        <p:nvSpPr>
          <p:cNvPr id="14339" name="Rectangle 3"/>
          <p:cNvSpPr>
            <a:spLocks noGrp="1" noChangeArrowheads="1"/>
          </p:cNvSpPr>
          <p:nvPr>
            <p:ph type="dt" idx="1"/>
          </p:nvPr>
        </p:nvSpPr>
        <p:spPr bwMode="auto">
          <a:xfrm>
            <a:off x="3849688" y="0"/>
            <a:ext cx="2946400" cy="49418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SzTx/>
              <a:defRPr smtClean="0">
                <a:solidFill>
                  <a:schemeClr val="tx1"/>
                </a:solidFill>
                <a:latin typeface="Calibri" panose="020F0502020204030204" pitchFamily="34" charset="0"/>
              </a:defRPr>
            </a:lvl1pPr>
          </a:lstStyle>
          <a:p>
            <a:pPr>
              <a:defRPr/>
            </a:pPr>
            <a:endParaRPr lang="en-GB" dirty="0"/>
          </a:p>
        </p:txBody>
      </p:sp>
      <p:sp>
        <p:nvSpPr>
          <p:cNvPr id="47108" name="Rectangle 4"/>
          <p:cNvSpPr>
            <a:spLocks noGrp="1" noRot="1" noChangeAspect="1" noChangeArrowheads="1" noTextEdit="1"/>
          </p:cNvSpPr>
          <p:nvPr>
            <p:ph type="sldImg" idx="2"/>
          </p:nvPr>
        </p:nvSpPr>
        <p:spPr bwMode="auto">
          <a:xfrm>
            <a:off x="723900" y="739775"/>
            <a:ext cx="5348288" cy="3703638"/>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679451" y="4690822"/>
            <a:ext cx="5438775" cy="444293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4342" name="Rectangle 6"/>
          <p:cNvSpPr>
            <a:spLocks noGrp="1" noChangeArrowheads="1"/>
          </p:cNvSpPr>
          <p:nvPr>
            <p:ph type="ftr" sz="quarter" idx="4"/>
          </p:nvPr>
        </p:nvSpPr>
        <p:spPr bwMode="auto">
          <a:xfrm>
            <a:off x="0" y="9378486"/>
            <a:ext cx="2946400" cy="49418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buSzTx/>
              <a:defRPr smtClean="0">
                <a:solidFill>
                  <a:schemeClr val="tx1"/>
                </a:solidFill>
                <a:latin typeface="Calibri" panose="020F0502020204030204" pitchFamily="34" charset="0"/>
              </a:defRPr>
            </a:lvl1pPr>
          </a:lstStyle>
          <a:p>
            <a:pPr>
              <a:defRPr/>
            </a:pPr>
            <a:endParaRPr lang="en-GB" dirty="0"/>
          </a:p>
        </p:txBody>
      </p:sp>
      <p:sp>
        <p:nvSpPr>
          <p:cNvPr id="14343" name="Rectangle 7"/>
          <p:cNvSpPr>
            <a:spLocks noGrp="1" noChangeArrowheads="1"/>
          </p:cNvSpPr>
          <p:nvPr>
            <p:ph type="sldNum" sz="quarter" idx="5"/>
          </p:nvPr>
        </p:nvSpPr>
        <p:spPr bwMode="auto">
          <a:xfrm>
            <a:off x="3849688" y="9378486"/>
            <a:ext cx="2946400" cy="49418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buSzTx/>
              <a:defRPr smtClean="0">
                <a:solidFill>
                  <a:schemeClr val="tx1"/>
                </a:solidFill>
                <a:latin typeface="Calibri" panose="020F0502020204030204" pitchFamily="34" charset="0"/>
              </a:defRPr>
            </a:lvl1pPr>
          </a:lstStyle>
          <a:p>
            <a:pPr>
              <a:defRPr/>
            </a:pPr>
            <a:fld id="{C3AE8FBF-DDC0-47A6-AC52-C56EC4E8A45A}" type="slidenum">
              <a:rPr lang="en-GB" smtClean="0"/>
              <a:pPr>
                <a:defRPr/>
              </a:pPr>
              <a:t>‹#›</a:t>
            </a:fld>
            <a:endParaRPr lang="en-GB" dirty="0"/>
          </a:p>
        </p:txBody>
      </p:sp>
    </p:spTree>
    <p:extLst>
      <p:ext uri="{BB962C8B-B14F-4D97-AF65-F5344CB8AC3E}">
        <p14:creationId xmlns:p14="http://schemas.microsoft.com/office/powerpoint/2010/main" val="12743548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3" name="Rectangle 2"/>
          <p:cNvSpPr/>
          <p:nvPr userDrawn="1"/>
        </p:nvSpPr>
        <p:spPr bwMode="auto">
          <a:xfrm>
            <a:off x="0" y="3807382"/>
            <a:ext cx="9906000" cy="1731138"/>
          </a:xfrm>
          <a:prstGeom prst="rect">
            <a:avLst/>
          </a:prstGeom>
          <a:solidFill>
            <a:schemeClr val="tx2"/>
          </a:solidFill>
          <a:ln w="12700"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endParaRPr lang="en-GB" noProof="0" dirty="0">
              <a:latin typeface="+mj-lt"/>
            </a:endParaRPr>
          </a:p>
        </p:txBody>
      </p:sp>
      <p:grpSp>
        <p:nvGrpSpPr>
          <p:cNvPr id="21" name="Group 20">
            <a:extLst>
              <a:ext uri="{FF2B5EF4-FFF2-40B4-BE49-F238E27FC236}">
                <a16:creationId xmlns:a16="http://schemas.microsoft.com/office/drawing/2014/main" id="{A466965C-D4F6-4122-BD6B-810C84635EA8}"/>
              </a:ext>
            </a:extLst>
          </p:cNvPr>
          <p:cNvGrpSpPr/>
          <p:nvPr userDrawn="1"/>
        </p:nvGrpSpPr>
        <p:grpSpPr>
          <a:xfrm>
            <a:off x="708025" y="6070432"/>
            <a:ext cx="3035302" cy="206952"/>
            <a:chOff x="1743075" y="3209925"/>
            <a:chExt cx="6426201" cy="438150"/>
          </a:xfrm>
          <a:solidFill>
            <a:schemeClr val="accent1"/>
          </a:solidFill>
        </p:grpSpPr>
        <p:sp>
          <p:nvSpPr>
            <p:cNvPr id="8" name="Freeform 5">
              <a:extLst>
                <a:ext uri="{FF2B5EF4-FFF2-40B4-BE49-F238E27FC236}">
                  <a16:creationId xmlns:a16="http://schemas.microsoft.com/office/drawing/2014/main" id="{9ED891A5-4EC0-49BF-8CE8-716DA228F895}"/>
                </a:ext>
              </a:extLst>
            </p:cNvPr>
            <p:cNvSpPr>
              <a:spLocks/>
            </p:cNvSpPr>
            <p:nvPr userDrawn="1"/>
          </p:nvSpPr>
          <p:spPr bwMode="auto">
            <a:xfrm>
              <a:off x="2268538" y="3216275"/>
              <a:ext cx="242888" cy="431800"/>
            </a:xfrm>
            <a:custGeom>
              <a:avLst/>
              <a:gdLst>
                <a:gd name="T0" fmla="*/ 0 w 81"/>
                <a:gd name="T1" fmla="*/ 0 h 141"/>
                <a:gd name="T2" fmla="*/ 0 w 81"/>
                <a:gd name="T3" fmla="*/ 141 h 141"/>
                <a:gd name="T4" fmla="*/ 81 w 81"/>
                <a:gd name="T5" fmla="*/ 141 h 141"/>
                <a:gd name="T6" fmla="*/ 81 w 81"/>
                <a:gd name="T7" fmla="*/ 125 h 141"/>
                <a:gd name="T8" fmla="*/ 18 w 81"/>
                <a:gd name="T9" fmla="*/ 125 h 141"/>
                <a:gd name="T10" fmla="*/ 18 w 81"/>
                <a:gd name="T11" fmla="*/ 78 h 141"/>
                <a:gd name="T12" fmla="*/ 76 w 81"/>
                <a:gd name="T13" fmla="*/ 78 h 141"/>
                <a:gd name="T14" fmla="*/ 76 w 81"/>
                <a:gd name="T15" fmla="*/ 62 h 141"/>
                <a:gd name="T16" fmla="*/ 18 w 81"/>
                <a:gd name="T17" fmla="*/ 62 h 141"/>
                <a:gd name="T18" fmla="*/ 18 w 81"/>
                <a:gd name="T19" fmla="*/ 16 h 141"/>
                <a:gd name="T20" fmla="*/ 79 w 81"/>
                <a:gd name="T21" fmla="*/ 16 h 141"/>
                <a:gd name="T22" fmla="*/ 79 w 81"/>
                <a:gd name="T23" fmla="*/ 0 h 141"/>
                <a:gd name="T24" fmla="*/ 0 w 81"/>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141">
                  <a:moveTo>
                    <a:pt x="0" y="0"/>
                  </a:moveTo>
                  <a:cubicBezTo>
                    <a:pt x="0" y="141"/>
                    <a:pt x="0" y="141"/>
                    <a:pt x="0" y="141"/>
                  </a:cubicBezTo>
                  <a:cubicBezTo>
                    <a:pt x="81" y="141"/>
                    <a:pt x="81" y="141"/>
                    <a:pt x="81" y="141"/>
                  </a:cubicBezTo>
                  <a:cubicBezTo>
                    <a:pt x="81" y="125"/>
                    <a:pt x="81" y="125"/>
                    <a:pt x="81" y="125"/>
                  </a:cubicBezTo>
                  <a:cubicBezTo>
                    <a:pt x="81" y="125"/>
                    <a:pt x="19" y="125"/>
                    <a:pt x="18" y="125"/>
                  </a:cubicBezTo>
                  <a:cubicBezTo>
                    <a:pt x="18" y="123"/>
                    <a:pt x="18" y="80"/>
                    <a:pt x="18" y="78"/>
                  </a:cubicBezTo>
                  <a:cubicBezTo>
                    <a:pt x="19" y="78"/>
                    <a:pt x="76" y="78"/>
                    <a:pt x="76" y="78"/>
                  </a:cubicBezTo>
                  <a:cubicBezTo>
                    <a:pt x="76" y="62"/>
                    <a:pt x="76" y="62"/>
                    <a:pt x="76" y="62"/>
                  </a:cubicBezTo>
                  <a:cubicBezTo>
                    <a:pt x="76" y="62"/>
                    <a:pt x="19" y="62"/>
                    <a:pt x="18" y="62"/>
                  </a:cubicBezTo>
                  <a:cubicBezTo>
                    <a:pt x="18" y="60"/>
                    <a:pt x="18" y="18"/>
                    <a:pt x="18" y="16"/>
                  </a:cubicBezTo>
                  <a:cubicBezTo>
                    <a:pt x="19"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 name="Freeform 6">
              <a:extLst>
                <a:ext uri="{FF2B5EF4-FFF2-40B4-BE49-F238E27FC236}">
                  <a16:creationId xmlns:a16="http://schemas.microsoft.com/office/drawing/2014/main" id="{2393DE74-325F-4443-ACCC-B4ACD8608BBB}"/>
                </a:ext>
              </a:extLst>
            </p:cNvPr>
            <p:cNvSpPr>
              <a:spLocks/>
            </p:cNvSpPr>
            <p:nvPr userDrawn="1"/>
          </p:nvSpPr>
          <p:spPr bwMode="auto">
            <a:xfrm>
              <a:off x="6931025" y="3213100"/>
              <a:ext cx="246063" cy="431800"/>
            </a:xfrm>
            <a:custGeom>
              <a:avLst/>
              <a:gdLst>
                <a:gd name="T0" fmla="*/ 0 w 82"/>
                <a:gd name="T1" fmla="*/ 0 h 141"/>
                <a:gd name="T2" fmla="*/ 0 w 82"/>
                <a:gd name="T3" fmla="*/ 141 h 141"/>
                <a:gd name="T4" fmla="*/ 82 w 82"/>
                <a:gd name="T5" fmla="*/ 141 h 141"/>
                <a:gd name="T6" fmla="*/ 82 w 82"/>
                <a:gd name="T7" fmla="*/ 125 h 141"/>
                <a:gd name="T8" fmla="*/ 18 w 82"/>
                <a:gd name="T9" fmla="*/ 125 h 141"/>
                <a:gd name="T10" fmla="*/ 18 w 82"/>
                <a:gd name="T11" fmla="*/ 78 h 141"/>
                <a:gd name="T12" fmla="*/ 77 w 82"/>
                <a:gd name="T13" fmla="*/ 78 h 141"/>
                <a:gd name="T14" fmla="*/ 77 w 82"/>
                <a:gd name="T15" fmla="*/ 62 h 141"/>
                <a:gd name="T16" fmla="*/ 18 w 82"/>
                <a:gd name="T17" fmla="*/ 62 h 141"/>
                <a:gd name="T18" fmla="*/ 18 w 82"/>
                <a:gd name="T19" fmla="*/ 16 h 141"/>
                <a:gd name="T20" fmla="*/ 79 w 82"/>
                <a:gd name="T21" fmla="*/ 16 h 141"/>
                <a:gd name="T22" fmla="*/ 79 w 82"/>
                <a:gd name="T23" fmla="*/ 0 h 141"/>
                <a:gd name="T24" fmla="*/ 0 w 82"/>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 h="141">
                  <a:moveTo>
                    <a:pt x="0" y="0"/>
                  </a:moveTo>
                  <a:cubicBezTo>
                    <a:pt x="0" y="141"/>
                    <a:pt x="0" y="141"/>
                    <a:pt x="0" y="141"/>
                  </a:cubicBezTo>
                  <a:cubicBezTo>
                    <a:pt x="82" y="141"/>
                    <a:pt x="82" y="141"/>
                    <a:pt x="82" y="141"/>
                  </a:cubicBezTo>
                  <a:cubicBezTo>
                    <a:pt x="82" y="125"/>
                    <a:pt x="82" y="125"/>
                    <a:pt x="82" y="125"/>
                  </a:cubicBezTo>
                  <a:cubicBezTo>
                    <a:pt x="82" y="125"/>
                    <a:pt x="20" y="125"/>
                    <a:pt x="18" y="125"/>
                  </a:cubicBezTo>
                  <a:cubicBezTo>
                    <a:pt x="18" y="123"/>
                    <a:pt x="18" y="80"/>
                    <a:pt x="18" y="78"/>
                  </a:cubicBezTo>
                  <a:cubicBezTo>
                    <a:pt x="20" y="78"/>
                    <a:pt x="77" y="78"/>
                    <a:pt x="77" y="78"/>
                  </a:cubicBezTo>
                  <a:cubicBezTo>
                    <a:pt x="77" y="62"/>
                    <a:pt x="77" y="62"/>
                    <a:pt x="77" y="62"/>
                  </a:cubicBezTo>
                  <a:cubicBezTo>
                    <a:pt x="77" y="62"/>
                    <a:pt x="20" y="62"/>
                    <a:pt x="18" y="62"/>
                  </a:cubicBezTo>
                  <a:cubicBezTo>
                    <a:pt x="18" y="61"/>
                    <a:pt x="18" y="18"/>
                    <a:pt x="18" y="16"/>
                  </a:cubicBezTo>
                  <a:cubicBezTo>
                    <a:pt x="20"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7">
              <a:extLst>
                <a:ext uri="{FF2B5EF4-FFF2-40B4-BE49-F238E27FC236}">
                  <a16:creationId xmlns:a16="http://schemas.microsoft.com/office/drawing/2014/main" id="{D3CBCF1B-761C-4981-8E1F-08044A215890}"/>
                </a:ext>
              </a:extLst>
            </p:cNvPr>
            <p:cNvSpPr>
              <a:spLocks/>
            </p:cNvSpPr>
            <p:nvPr userDrawn="1"/>
          </p:nvSpPr>
          <p:spPr bwMode="auto">
            <a:xfrm>
              <a:off x="2746375" y="3216275"/>
              <a:ext cx="239713" cy="431800"/>
            </a:xfrm>
            <a:custGeom>
              <a:avLst/>
              <a:gdLst>
                <a:gd name="T0" fmla="*/ 0 w 80"/>
                <a:gd name="T1" fmla="*/ 0 h 141"/>
                <a:gd name="T2" fmla="*/ 0 w 80"/>
                <a:gd name="T3" fmla="*/ 141 h 141"/>
                <a:gd name="T4" fmla="*/ 80 w 80"/>
                <a:gd name="T5" fmla="*/ 141 h 141"/>
                <a:gd name="T6" fmla="*/ 80 w 80"/>
                <a:gd name="T7" fmla="*/ 125 h 141"/>
                <a:gd name="T8" fmla="*/ 18 w 80"/>
                <a:gd name="T9" fmla="*/ 125 h 141"/>
                <a:gd name="T10" fmla="*/ 18 w 80"/>
                <a:gd name="T11" fmla="*/ 0 h 141"/>
                <a:gd name="T12" fmla="*/ 0 w 80"/>
                <a:gd name="T13" fmla="*/ 0 h 141"/>
              </a:gdLst>
              <a:ahLst/>
              <a:cxnLst>
                <a:cxn ang="0">
                  <a:pos x="T0" y="T1"/>
                </a:cxn>
                <a:cxn ang="0">
                  <a:pos x="T2" y="T3"/>
                </a:cxn>
                <a:cxn ang="0">
                  <a:pos x="T4" y="T5"/>
                </a:cxn>
                <a:cxn ang="0">
                  <a:pos x="T6" y="T7"/>
                </a:cxn>
                <a:cxn ang="0">
                  <a:pos x="T8" y="T9"/>
                </a:cxn>
                <a:cxn ang="0">
                  <a:pos x="T10" y="T11"/>
                </a:cxn>
                <a:cxn ang="0">
                  <a:pos x="T12" y="T13"/>
                </a:cxn>
              </a:cxnLst>
              <a:rect l="0" t="0" r="r" b="b"/>
              <a:pathLst>
                <a:path w="80" h="141">
                  <a:moveTo>
                    <a:pt x="0" y="0"/>
                  </a:moveTo>
                  <a:cubicBezTo>
                    <a:pt x="0" y="141"/>
                    <a:pt x="0" y="141"/>
                    <a:pt x="0" y="141"/>
                  </a:cubicBezTo>
                  <a:cubicBezTo>
                    <a:pt x="80" y="141"/>
                    <a:pt x="80" y="141"/>
                    <a:pt x="80" y="141"/>
                  </a:cubicBezTo>
                  <a:cubicBezTo>
                    <a:pt x="80" y="125"/>
                    <a:pt x="80" y="125"/>
                    <a:pt x="80" y="125"/>
                  </a:cubicBezTo>
                  <a:cubicBezTo>
                    <a:pt x="80" y="125"/>
                    <a:pt x="19" y="125"/>
                    <a:pt x="18" y="125"/>
                  </a:cubicBezTo>
                  <a:cubicBezTo>
                    <a:pt x="18" y="123"/>
                    <a:pt x="18" y="0"/>
                    <a:pt x="18"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8">
              <a:extLst>
                <a:ext uri="{FF2B5EF4-FFF2-40B4-BE49-F238E27FC236}">
                  <a16:creationId xmlns:a16="http://schemas.microsoft.com/office/drawing/2014/main" id="{958D056A-3B54-446F-A2AB-D3C8676A0E00}"/>
                </a:ext>
              </a:extLst>
            </p:cNvPr>
            <p:cNvSpPr>
              <a:spLocks/>
            </p:cNvSpPr>
            <p:nvPr userDrawn="1"/>
          </p:nvSpPr>
          <p:spPr bwMode="auto">
            <a:xfrm>
              <a:off x="3100388" y="3216275"/>
              <a:ext cx="333375" cy="431800"/>
            </a:xfrm>
            <a:custGeom>
              <a:avLst/>
              <a:gdLst>
                <a:gd name="T0" fmla="*/ 0 w 111"/>
                <a:gd name="T1" fmla="*/ 0 h 141"/>
                <a:gd name="T2" fmla="*/ 0 w 111"/>
                <a:gd name="T3" fmla="*/ 16 h 141"/>
                <a:gd name="T4" fmla="*/ 47 w 111"/>
                <a:gd name="T5" fmla="*/ 16 h 141"/>
                <a:gd name="T6" fmla="*/ 47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7" y="16"/>
                  </a:cubicBezTo>
                  <a:cubicBezTo>
                    <a:pt x="47" y="18"/>
                    <a:pt x="47" y="141"/>
                    <a:pt x="47"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9">
              <a:extLst>
                <a:ext uri="{FF2B5EF4-FFF2-40B4-BE49-F238E27FC236}">
                  <a16:creationId xmlns:a16="http://schemas.microsoft.com/office/drawing/2014/main" id="{D2D1E2A4-5D1E-4CBE-BB25-113641C04785}"/>
                </a:ext>
              </a:extLst>
            </p:cNvPr>
            <p:cNvSpPr>
              <a:spLocks/>
            </p:cNvSpPr>
            <p:nvPr userDrawn="1"/>
          </p:nvSpPr>
          <p:spPr bwMode="auto">
            <a:xfrm>
              <a:off x="5840413" y="3213100"/>
              <a:ext cx="333375" cy="431800"/>
            </a:xfrm>
            <a:custGeom>
              <a:avLst/>
              <a:gdLst>
                <a:gd name="T0" fmla="*/ 0 w 111"/>
                <a:gd name="T1" fmla="*/ 0 h 141"/>
                <a:gd name="T2" fmla="*/ 0 w 111"/>
                <a:gd name="T3" fmla="*/ 16 h 141"/>
                <a:gd name="T4" fmla="*/ 46 w 111"/>
                <a:gd name="T5" fmla="*/ 16 h 141"/>
                <a:gd name="T6" fmla="*/ 46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6" y="16"/>
                  </a:cubicBezTo>
                  <a:cubicBezTo>
                    <a:pt x="46" y="18"/>
                    <a:pt x="46" y="141"/>
                    <a:pt x="46"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0">
              <a:extLst>
                <a:ext uri="{FF2B5EF4-FFF2-40B4-BE49-F238E27FC236}">
                  <a16:creationId xmlns:a16="http://schemas.microsoft.com/office/drawing/2014/main" id="{44E687F7-73D8-46BB-9C36-1DE8EF223D56}"/>
                </a:ext>
              </a:extLst>
            </p:cNvPr>
            <p:cNvSpPr>
              <a:spLocks/>
            </p:cNvSpPr>
            <p:nvPr userDrawn="1"/>
          </p:nvSpPr>
          <p:spPr bwMode="auto">
            <a:xfrm>
              <a:off x="6365875" y="3213100"/>
              <a:ext cx="322263" cy="434975"/>
            </a:xfrm>
            <a:custGeom>
              <a:avLst/>
              <a:gdLst>
                <a:gd name="T0" fmla="*/ 0 w 107"/>
                <a:gd name="T1" fmla="*/ 0 h 142"/>
                <a:gd name="T2" fmla="*/ 0 w 107"/>
                <a:gd name="T3" fmla="*/ 142 h 142"/>
                <a:gd name="T4" fmla="*/ 17 w 107"/>
                <a:gd name="T5" fmla="*/ 142 h 142"/>
                <a:gd name="T6" fmla="*/ 17 w 107"/>
                <a:gd name="T7" fmla="*/ 59 h 142"/>
                <a:gd name="T8" fmla="*/ 17 w 107"/>
                <a:gd name="T9" fmla="*/ 28 h 142"/>
                <a:gd name="T10" fmla="*/ 31 w 107"/>
                <a:gd name="T11" fmla="*/ 53 h 142"/>
                <a:gd name="T12" fmla="*/ 87 w 107"/>
                <a:gd name="T13" fmla="*/ 142 h 142"/>
                <a:gd name="T14" fmla="*/ 106 w 107"/>
                <a:gd name="T15" fmla="*/ 142 h 142"/>
                <a:gd name="T16" fmla="*/ 107 w 107"/>
                <a:gd name="T17" fmla="*/ 0 h 142"/>
                <a:gd name="T18" fmla="*/ 89 w 107"/>
                <a:gd name="T19" fmla="*/ 0 h 142"/>
                <a:gd name="T20" fmla="*/ 89 w 107"/>
                <a:gd name="T21" fmla="*/ 113 h 142"/>
                <a:gd name="T22" fmla="*/ 20 w 107"/>
                <a:gd name="T23" fmla="*/ 0 h 142"/>
                <a:gd name="T24" fmla="*/ 0 w 107"/>
                <a:gd name="T25"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7" h="142">
                  <a:moveTo>
                    <a:pt x="0" y="0"/>
                  </a:moveTo>
                  <a:cubicBezTo>
                    <a:pt x="0" y="142"/>
                    <a:pt x="0" y="142"/>
                    <a:pt x="0" y="142"/>
                  </a:cubicBezTo>
                  <a:cubicBezTo>
                    <a:pt x="17" y="142"/>
                    <a:pt x="17" y="142"/>
                    <a:pt x="17" y="142"/>
                  </a:cubicBezTo>
                  <a:cubicBezTo>
                    <a:pt x="17" y="59"/>
                    <a:pt x="17" y="59"/>
                    <a:pt x="17" y="59"/>
                  </a:cubicBezTo>
                  <a:cubicBezTo>
                    <a:pt x="17" y="59"/>
                    <a:pt x="17" y="33"/>
                    <a:pt x="17" y="28"/>
                  </a:cubicBezTo>
                  <a:cubicBezTo>
                    <a:pt x="20" y="32"/>
                    <a:pt x="31" y="53"/>
                    <a:pt x="31" y="53"/>
                  </a:cubicBezTo>
                  <a:cubicBezTo>
                    <a:pt x="31" y="53"/>
                    <a:pt x="87" y="142"/>
                    <a:pt x="87" y="142"/>
                  </a:cubicBezTo>
                  <a:cubicBezTo>
                    <a:pt x="106" y="142"/>
                    <a:pt x="106" y="142"/>
                    <a:pt x="106" y="142"/>
                  </a:cubicBezTo>
                  <a:cubicBezTo>
                    <a:pt x="107" y="0"/>
                    <a:pt x="107" y="0"/>
                    <a:pt x="107" y="0"/>
                  </a:cubicBezTo>
                  <a:cubicBezTo>
                    <a:pt x="89" y="0"/>
                    <a:pt x="89" y="0"/>
                    <a:pt x="89" y="0"/>
                  </a:cubicBezTo>
                  <a:cubicBezTo>
                    <a:pt x="89" y="0"/>
                    <a:pt x="89" y="108"/>
                    <a:pt x="89" y="113"/>
                  </a:cubicBezTo>
                  <a:cubicBezTo>
                    <a:pt x="86" y="108"/>
                    <a:pt x="20" y="0"/>
                    <a:pt x="20"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1">
              <a:extLst>
                <a:ext uri="{FF2B5EF4-FFF2-40B4-BE49-F238E27FC236}">
                  <a16:creationId xmlns:a16="http://schemas.microsoft.com/office/drawing/2014/main" id="{3D38F4AF-344F-49C1-8FC5-CB90D9AD7D49}"/>
                </a:ext>
              </a:extLst>
            </p:cNvPr>
            <p:cNvSpPr>
              <a:spLocks/>
            </p:cNvSpPr>
            <p:nvPr userDrawn="1"/>
          </p:nvSpPr>
          <p:spPr bwMode="auto">
            <a:xfrm>
              <a:off x="7929563" y="3209925"/>
              <a:ext cx="239713" cy="438150"/>
            </a:xfrm>
            <a:custGeom>
              <a:avLst/>
              <a:gdLst>
                <a:gd name="T0" fmla="*/ 0 w 80"/>
                <a:gd name="T1" fmla="*/ 37 h 143"/>
                <a:gd name="T2" fmla="*/ 34 w 80"/>
                <a:gd name="T3" fmla="*/ 77 h 143"/>
                <a:gd name="T4" fmla="*/ 61 w 80"/>
                <a:gd name="T5" fmla="*/ 104 h 143"/>
                <a:gd name="T6" fmla="*/ 34 w 80"/>
                <a:gd name="T7" fmla="*/ 127 h 143"/>
                <a:gd name="T8" fmla="*/ 5 w 80"/>
                <a:gd name="T9" fmla="*/ 119 h 143"/>
                <a:gd name="T10" fmla="*/ 2 w 80"/>
                <a:gd name="T11" fmla="*/ 118 h 143"/>
                <a:gd name="T12" fmla="*/ 0 w 80"/>
                <a:gd name="T13" fmla="*/ 137 h 143"/>
                <a:gd name="T14" fmla="*/ 2 w 80"/>
                <a:gd name="T15" fmla="*/ 138 h 143"/>
                <a:gd name="T16" fmla="*/ 34 w 80"/>
                <a:gd name="T17" fmla="*/ 143 h 143"/>
                <a:gd name="T18" fmla="*/ 80 w 80"/>
                <a:gd name="T19" fmla="*/ 103 h 143"/>
                <a:gd name="T20" fmla="*/ 44 w 80"/>
                <a:gd name="T21" fmla="*/ 62 h 143"/>
                <a:gd name="T22" fmla="*/ 18 w 80"/>
                <a:gd name="T23" fmla="*/ 36 h 143"/>
                <a:gd name="T24" fmla="*/ 44 w 80"/>
                <a:gd name="T25" fmla="*/ 17 h 143"/>
                <a:gd name="T26" fmla="*/ 68 w 80"/>
                <a:gd name="T27" fmla="*/ 22 h 143"/>
                <a:gd name="T28" fmla="*/ 71 w 80"/>
                <a:gd name="T29" fmla="*/ 24 h 143"/>
                <a:gd name="T30" fmla="*/ 74 w 80"/>
                <a:gd name="T31" fmla="*/ 6 h 143"/>
                <a:gd name="T32" fmla="*/ 72 w 80"/>
                <a:gd name="T33" fmla="*/ 5 h 143"/>
                <a:gd name="T34" fmla="*/ 44 w 80"/>
                <a:gd name="T35" fmla="*/ 0 h 143"/>
                <a:gd name="T36" fmla="*/ 0 w 80"/>
                <a:gd name="T37" fmla="*/ 3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143">
                  <a:moveTo>
                    <a:pt x="0" y="37"/>
                  </a:moveTo>
                  <a:cubicBezTo>
                    <a:pt x="0" y="59"/>
                    <a:pt x="17" y="68"/>
                    <a:pt x="34" y="77"/>
                  </a:cubicBezTo>
                  <a:cubicBezTo>
                    <a:pt x="48" y="84"/>
                    <a:pt x="61" y="90"/>
                    <a:pt x="61" y="104"/>
                  </a:cubicBezTo>
                  <a:cubicBezTo>
                    <a:pt x="61" y="118"/>
                    <a:pt x="50" y="127"/>
                    <a:pt x="34" y="127"/>
                  </a:cubicBezTo>
                  <a:cubicBezTo>
                    <a:pt x="24" y="127"/>
                    <a:pt x="16" y="125"/>
                    <a:pt x="5" y="119"/>
                  </a:cubicBezTo>
                  <a:cubicBezTo>
                    <a:pt x="2" y="118"/>
                    <a:pt x="2" y="118"/>
                    <a:pt x="2" y="118"/>
                  </a:cubicBezTo>
                  <a:cubicBezTo>
                    <a:pt x="0" y="137"/>
                    <a:pt x="0" y="137"/>
                    <a:pt x="0" y="137"/>
                  </a:cubicBezTo>
                  <a:cubicBezTo>
                    <a:pt x="2" y="138"/>
                    <a:pt x="2" y="138"/>
                    <a:pt x="2" y="138"/>
                  </a:cubicBezTo>
                  <a:cubicBezTo>
                    <a:pt x="13" y="142"/>
                    <a:pt x="23" y="143"/>
                    <a:pt x="34" y="143"/>
                  </a:cubicBezTo>
                  <a:cubicBezTo>
                    <a:pt x="61" y="143"/>
                    <a:pt x="80" y="127"/>
                    <a:pt x="80" y="103"/>
                  </a:cubicBezTo>
                  <a:cubicBezTo>
                    <a:pt x="80" y="80"/>
                    <a:pt x="61" y="70"/>
                    <a:pt x="44" y="62"/>
                  </a:cubicBezTo>
                  <a:cubicBezTo>
                    <a:pt x="31" y="55"/>
                    <a:pt x="18" y="48"/>
                    <a:pt x="18" y="36"/>
                  </a:cubicBezTo>
                  <a:cubicBezTo>
                    <a:pt x="18" y="25"/>
                    <a:pt x="29" y="17"/>
                    <a:pt x="44" y="17"/>
                  </a:cubicBezTo>
                  <a:cubicBezTo>
                    <a:pt x="52" y="17"/>
                    <a:pt x="60" y="19"/>
                    <a:pt x="68" y="22"/>
                  </a:cubicBezTo>
                  <a:cubicBezTo>
                    <a:pt x="71" y="24"/>
                    <a:pt x="71" y="24"/>
                    <a:pt x="71" y="24"/>
                  </a:cubicBezTo>
                  <a:cubicBezTo>
                    <a:pt x="74" y="6"/>
                    <a:pt x="74" y="6"/>
                    <a:pt x="74" y="6"/>
                  </a:cubicBezTo>
                  <a:cubicBezTo>
                    <a:pt x="72" y="5"/>
                    <a:pt x="72" y="5"/>
                    <a:pt x="72" y="5"/>
                  </a:cubicBezTo>
                  <a:cubicBezTo>
                    <a:pt x="62" y="2"/>
                    <a:pt x="53" y="0"/>
                    <a:pt x="44" y="0"/>
                  </a:cubicBezTo>
                  <a:cubicBezTo>
                    <a:pt x="16" y="0"/>
                    <a:pt x="0" y="14"/>
                    <a:pt x="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2">
              <a:extLst>
                <a:ext uri="{FF2B5EF4-FFF2-40B4-BE49-F238E27FC236}">
                  <a16:creationId xmlns:a16="http://schemas.microsoft.com/office/drawing/2014/main" id="{0A8EBF0F-E69A-45D0-9511-7F8869FD352F}"/>
                </a:ext>
              </a:extLst>
            </p:cNvPr>
            <p:cNvSpPr>
              <a:spLocks/>
            </p:cNvSpPr>
            <p:nvPr userDrawn="1"/>
          </p:nvSpPr>
          <p:spPr bwMode="auto">
            <a:xfrm>
              <a:off x="1743075" y="3216275"/>
              <a:ext cx="330200" cy="431800"/>
            </a:xfrm>
            <a:custGeom>
              <a:avLst/>
              <a:gdLst>
                <a:gd name="T0" fmla="*/ 0 w 110"/>
                <a:gd name="T1" fmla="*/ 0 h 141"/>
                <a:gd name="T2" fmla="*/ 0 w 110"/>
                <a:gd name="T3" fmla="*/ 141 h 141"/>
                <a:gd name="T4" fmla="*/ 18 w 110"/>
                <a:gd name="T5" fmla="*/ 141 h 141"/>
                <a:gd name="T6" fmla="*/ 18 w 110"/>
                <a:gd name="T7" fmla="*/ 16 h 141"/>
                <a:gd name="T8" fmla="*/ 30 w 110"/>
                <a:gd name="T9" fmla="*/ 16 h 141"/>
                <a:gd name="T10" fmla="*/ 68 w 110"/>
                <a:gd name="T11" fmla="*/ 24 h 141"/>
                <a:gd name="T12" fmla="*/ 91 w 110"/>
                <a:gd name="T13" fmla="*/ 71 h 141"/>
                <a:gd name="T14" fmla="*/ 36 w 110"/>
                <a:gd name="T15" fmla="*/ 125 h 141"/>
                <a:gd name="T16" fmla="*/ 24 w 110"/>
                <a:gd name="T17" fmla="*/ 126 h 141"/>
                <a:gd name="T18" fmla="*/ 38 w 110"/>
                <a:gd name="T19" fmla="*/ 141 h 141"/>
                <a:gd name="T20" fmla="*/ 41 w 110"/>
                <a:gd name="T21" fmla="*/ 141 h 141"/>
                <a:gd name="T22" fmla="*/ 78 w 110"/>
                <a:gd name="T23" fmla="*/ 131 h 141"/>
                <a:gd name="T24" fmla="*/ 110 w 110"/>
                <a:gd name="T25" fmla="*/ 71 h 141"/>
                <a:gd name="T26" fmla="*/ 77 w 110"/>
                <a:gd name="T27" fmla="*/ 9 h 141"/>
                <a:gd name="T28" fmla="*/ 23 w 110"/>
                <a:gd name="T29" fmla="*/ 0 h 141"/>
                <a:gd name="T30" fmla="*/ 0 w 110"/>
                <a:gd name="T3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41">
                  <a:moveTo>
                    <a:pt x="0" y="0"/>
                  </a:moveTo>
                  <a:cubicBezTo>
                    <a:pt x="0" y="141"/>
                    <a:pt x="0" y="141"/>
                    <a:pt x="0" y="141"/>
                  </a:cubicBezTo>
                  <a:cubicBezTo>
                    <a:pt x="18" y="141"/>
                    <a:pt x="18" y="141"/>
                    <a:pt x="18" y="141"/>
                  </a:cubicBezTo>
                  <a:cubicBezTo>
                    <a:pt x="18" y="141"/>
                    <a:pt x="18" y="18"/>
                    <a:pt x="18" y="16"/>
                  </a:cubicBezTo>
                  <a:cubicBezTo>
                    <a:pt x="20" y="16"/>
                    <a:pt x="30" y="16"/>
                    <a:pt x="30" y="16"/>
                  </a:cubicBezTo>
                  <a:cubicBezTo>
                    <a:pt x="48" y="16"/>
                    <a:pt x="58" y="19"/>
                    <a:pt x="68" y="24"/>
                  </a:cubicBezTo>
                  <a:cubicBezTo>
                    <a:pt x="82" y="33"/>
                    <a:pt x="91" y="50"/>
                    <a:pt x="91" y="71"/>
                  </a:cubicBezTo>
                  <a:cubicBezTo>
                    <a:pt x="91" y="104"/>
                    <a:pt x="71" y="123"/>
                    <a:pt x="36" y="125"/>
                  </a:cubicBezTo>
                  <a:cubicBezTo>
                    <a:pt x="34" y="125"/>
                    <a:pt x="24" y="126"/>
                    <a:pt x="24" y="126"/>
                  </a:cubicBezTo>
                  <a:cubicBezTo>
                    <a:pt x="38" y="141"/>
                    <a:pt x="38" y="141"/>
                    <a:pt x="38" y="141"/>
                  </a:cubicBezTo>
                  <a:cubicBezTo>
                    <a:pt x="41" y="141"/>
                    <a:pt x="41" y="141"/>
                    <a:pt x="41" y="141"/>
                  </a:cubicBezTo>
                  <a:cubicBezTo>
                    <a:pt x="58" y="139"/>
                    <a:pt x="68" y="137"/>
                    <a:pt x="78" y="131"/>
                  </a:cubicBezTo>
                  <a:cubicBezTo>
                    <a:pt x="98" y="119"/>
                    <a:pt x="110" y="98"/>
                    <a:pt x="110" y="71"/>
                  </a:cubicBezTo>
                  <a:cubicBezTo>
                    <a:pt x="110" y="44"/>
                    <a:pt x="97" y="20"/>
                    <a:pt x="77" y="9"/>
                  </a:cubicBezTo>
                  <a:cubicBezTo>
                    <a:pt x="65" y="2"/>
                    <a:pt x="51" y="0"/>
                    <a:pt x="23"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3">
              <a:extLst>
                <a:ext uri="{FF2B5EF4-FFF2-40B4-BE49-F238E27FC236}">
                  <a16:creationId xmlns:a16="http://schemas.microsoft.com/office/drawing/2014/main" id="{019131A0-F04C-41DA-B782-72B20E5E708B}"/>
                </a:ext>
              </a:extLst>
            </p:cNvPr>
            <p:cNvSpPr>
              <a:spLocks/>
            </p:cNvSpPr>
            <p:nvPr userDrawn="1"/>
          </p:nvSpPr>
          <p:spPr bwMode="auto">
            <a:xfrm>
              <a:off x="3536950" y="3216275"/>
              <a:ext cx="384175" cy="431800"/>
            </a:xfrm>
            <a:custGeom>
              <a:avLst/>
              <a:gdLst>
                <a:gd name="T0" fmla="*/ 57 w 128"/>
                <a:gd name="T1" fmla="*/ 0 h 141"/>
                <a:gd name="T2" fmla="*/ 0 w 128"/>
                <a:gd name="T3" fmla="*/ 141 h 141"/>
                <a:gd name="T4" fmla="*/ 19 w 128"/>
                <a:gd name="T5" fmla="*/ 141 h 141"/>
                <a:gd name="T6" fmla="*/ 63 w 128"/>
                <a:gd name="T7" fmla="*/ 30 h 141"/>
                <a:gd name="T8" fmla="*/ 63 w 128"/>
                <a:gd name="T9" fmla="*/ 31 h 141"/>
                <a:gd name="T10" fmla="*/ 90 w 128"/>
                <a:gd name="T11" fmla="*/ 97 h 141"/>
                <a:gd name="T12" fmla="*/ 42 w 128"/>
                <a:gd name="T13" fmla="*/ 97 h 141"/>
                <a:gd name="T14" fmla="*/ 56 w 128"/>
                <a:gd name="T15" fmla="*/ 113 h 141"/>
                <a:gd name="T16" fmla="*/ 97 w 128"/>
                <a:gd name="T17" fmla="*/ 113 h 141"/>
                <a:gd name="T18" fmla="*/ 108 w 128"/>
                <a:gd name="T19" fmla="*/ 141 h 141"/>
                <a:gd name="T20" fmla="*/ 128 w 128"/>
                <a:gd name="T21" fmla="*/ 141 h 141"/>
                <a:gd name="T22" fmla="*/ 70 w 128"/>
                <a:gd name="T23" fmla="*/ 0 h 141"/>
                <a:gd name="T24" fmla="*/ 57 w 128"/>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141">
                  <a:moveTo>
                    <a:pt x="57" y="0"/>
                  </a:moveTo>
                  <a:cubicBezTo>
                    <a:pt x="0" y="141"/>
                    <a:pt x="0" y="141"/>
                    <a:pt x="0" y="141"/>
                  </a:cubicBezTo>
                  <a:cubicBezTo>
                    <a:pt x="19" y="141"/>
                    <a:pt x="19" y="141"/>
                    <a:pt x="19" y="141"/>
                  </a:cubicBezTo>
                  <a:cubicBezTo>
                    <a:pt x="19" y="141"/>
                    <a:pt x="61" y="34"/>
                    <a:pt x="63" y="30"/>
                  </a:cubicBezTo>
                  <a:cubicBezTo>
                    <a:pt x="63" y="30"/>
                    <a:pt x="63" y="31"/>
                    <a:pt x="63" y="31"/>
                  </a:cubicBezTo>
                  <a:cubicBezTo>
                    <a:pt x="63" y="31"/>
                    <a:pt x="63" y="31"/>
                    <a:pt x="90" y="97"/>
                  </a:cubicBezTo>
                  <a:cubicBezTo>
                    <a:pt x="87" y="97"/>
                    <a:pt x="42" y="97"/>
                    <a:pt x="42" y="97"/>
                  </a:cubicBezTo>
                  <a:cubicBezTo>
                    <a:pt x="56" y="113"/>
                    <a:pt x="56" y="113"/>
                    <a:pt x="56" y="113"/>
                  </a:cubicBezTo>
                  <a:cubicBezTo>
                    <a:pt x="56" y="113"/>
                    <a:pt x="95" y="113"/>
                    <a:pt x="97" y="113"/>
                  </a:cubicBezTo>
                  <a:cubicBezTo>
                    <a:pt x="97" y="114"/>
                    <a:pt x="108" y="141"/>
                    <a:pt x="108" y="141"/>
                  </a:cubicBezTo>
                  <a:cubicBezTo>
                    <a:pt x="128" y="141"/>
                    <a:pt x="128" y="141"/>
                    <a:pt x="128" y="141"/>
                  </a:cubicBezTo>
                  <a:cubicBezTo>
                    <a:pt x="70" y="0"/>
                    <a:pt x="70" y="0"/>
                    <a:pt x="70" y="0"/>
                  </a:cubicBezTo>
                  <a:lnTo>
                    <a:pt x="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7B524964-A115-435B-A457-A79BD25F4B8B}"/>
                </a:ext>
              </a:extLst>
            </p:cNvPr>
            <p:cNvSpPr>
              <a:spLocks/>
            </p:cNvSpPr>
            <p:nvPr userDrawn="1"/>
          </p:nvSpPr>
          <p:spPr bwMode="auto">
            <a:xfrm>
              <a:off x="4810125" y="3213100"/>
              <a:ext cx="381000" cy="434975"/>
            </a:xfrm>
            <a:custGeom>
              <a:avLst/>
              <a:gdLst>
                <a:gd name="T0" fmla="*/ 56 w 127"/>
                <a:gd name="T1" fmla="*/ 0 h 142"/>
                <a:gd name="T2" fmla="*/ 0 w 127"/>
                <a:gd name="T3" fmla="*/ 142 h 142"/>
                <a:gd name="T4" fmla="*/ 18 w 127"/>
                <a:gd name="T5" fmla="*/ 142 h 142"/>
                <a:gd name="T6" fmla="*/ 62 w 127"/>
                <a:gd name="T7" fmla="*/ 30 h 142"/>
                <a:gd name="T8" fmla="*/ 89 w 127"/>
                <a:gd name="T9" fmla="*/ 97 h 142"/>
                <a:gd name="T10" fmla="*/ 41 w 127"/>
                <a:gd name="T11" fmla="*/ 97 h 142"/>
                <a:gd name="T12" fmla="*/ 56 w 127"/>
                <a:gd name="T13" fmla="*/ 114 h 142"/>
                <a:gd name="T14" fmla="*/ 96 w 127"/>
                <a:gd name="T15" fmla="*/ 114 h 142"/>
                <a:gd name="T16" fmla="*/ 108 w 127"/>
                <a:gd name="T17" fmla="*/ 142 h 142"/>
                <a:gd name="T18" fmla="*/ 127 w 127"/>
                <a:gd name="T19" fmla="*/ 142 h 142"/>
                <a:gd name="T20" fmla="*/ 69 w 127"/>
                <a:gd name="T21" fmla="*/ 0 h 142"/>
                <a:gd name="T22" fmla="*/ 56 w 127"/>
                <a:gd name="T2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42">
                  <a:moveTo>
                    <a:pt x="56" y="0"/>
                  </a:moveTo>
                  <a:cubicBezTo>
                    <a:pt x="0" y="142"/>
                    <a:pt x="0" y="142"/>
                    <a:pt x="0" y="142"/>
                  </a:cubicBezTo>
                  <a:cubicBezTo>
                    <a:pt x="18" y="142"/>
                    <a:pt x="18" y="142"/>
                    <a:pt x="18" y="142"/>
                  </a:cubicBezTo>
                  <a:cubicBezTo>
                    <a:pt x="18" y="142"/>
                    <a:pt x="60" y="34"/>
                    <a:pt x="62" y="30"/>
                  </a:cubicBezTo>
                  <a:cubicBezTo>
                    <a:pt x="63" y="34"/>
                    <a:pt x="88" y="95"/>
                    <a:pt x="89" y="97"/>
                  </a:cubicBezTo>
                  <a:cubicBezTo>
                    <a:pt x="87" y="97"/>
                    <a:pt x="41" y="97"/>
                    <a:pt x="41" y="97"/>
                  </a:cubicBezTo>
                  <a:cubicBezTo>
                    <a:pt x="56" y="114"/>
                    <a:pt x="56" y="114"/>
                    <a:pt x="56" y="114"/>
                  </a:cubicBezTo>
                  <a:cubicBezTo>
                    <a:pt x="56" y="114"/>
                    <a:pt x="95" y="114"/>
                    <a:pt x="96" y="114"/>
                  </a:cubicBezTo>
                  <a:cubicBezTo>
                    <a:pt x="96" y="115"/>
                    <a:pt x="108" y="142"/>
                    <a:pt x="108" y="142"/>
                  </a:cubicBezTo>
                  <a:cubicBezTo>
                    <a:pt x="127" y="142"/>
                    <a:pt x="127" y="142"/>
                    <a:pt x="127" y="142"/>
                  </a:cubicBezTo>
                  <a:cubicBezTo>
                    <a:pt x="69" y="0"/>
                    <a:pt x="69" y="0"/>
                    <a:pt x="69" y="0"/>
                  </a:cubicBezTo>
                  <a:lnTo>
                    <a:pt x="5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5">
              <a:extLst>
                <a:ext uri="{FF2B5EF4-FFF2-40B4-BE49-F238E27FC236}">
                  <a16:creationId xmlns:a16="http://schemas.microsoft.com/office/drawing/2014/main" id="{3AA4C673-A6D1-4E09-B5DF-84C491BEAD50}"/>
                </a:ext>
              </a:extLst>
            </p:cNvPr>
            <p:cNvSpPr>
              <a:spLocks/>
            </p:cNvSpPr>
            <p:nvPr userDrawn="1"/>
          </p:nvSpPr>
          <p:spPr bwMode="auto">
            <a:xfrm>
              <a:off x="4392613" y="3213100"/>
              <a:ext cx="295275" cy="431800"/>
            </a:xfrm>
            <a:custGeom>
              <a:avLst/>
              <a:gdLst>
                <a:gd name="T0" fmla="*/ 0 w 98"/>
                <a:gd name="T1" fmla="*/ 0 h 141"/>
                <a:gd name="T2" fmla="*/ 0 w 98"/>
                <a:gd name="T3" fmla="*/ 141 h 141"/>
                <a:gd name="T4" fmla="*/ 18 w 98"/>
                <a:gd name="T5" fmla="*/ 141 h 141"/>
                <a:gd name="T6" fmla="*/ 18 w 98"/>
                <a:gd name="T7" fmla="*/ 16 h 141"/>
                <a:gd name="T8" fmla="*/ 41 w 98"/>
                <a:gd name="T9" fmla="*/ 16 h 141"/>
                <a:gd name="T10" fmla="*/ 80 w 98"/>
                <a:gd name="T11" fmla="*/ 45 h 141"/>
                <a:gd name="T12" fmla="*/ 41 w 98"/>
                <a:gd name="T13" fmla="*/ 73 h 141"/>
                <a:gd name="T14" fmla="*/ 24 w 98"/>
                <a:gd name="T15" fmla="*/ 73 h 141"/>
                <a:gd name="T16" fmla="*/ 39 w 98"/>
                <a:gd name="T17" fmla="*/ 89 h 141"/>
                <a:gd name="T18" fmla="*/ 43 w 98"/>
                <a:gd name="T19" fmla="*/ 89 h 141"/>
                <a:gd name="T20" fmla="*/ 80 w 98"/>
                <a:gd name="T21" fmla="*/ 80 h 141"/>
                <a:gd name="T22" fmla="*/ 98 w 98"/>
                <a:gd name="T23" fmla="*/ 45 h 141"/>
                <a:gd name="T24" fmla="*/ 78 w 98"/>
                <a:gd name="T25" fmla="*/ 7 h 141"/>
                <a:gd name="T26" fmla="*/ 41 w 98"/>
                <a:gd name="T27" fmla="*/ 0 h 141"/>
                <a:gd name="T28" fmla="*/ 0 w 98"/>
                <a:gd name="T29"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 h="141">
                  <a:moveTo>
                    <a:pt x="0" y="0"/>
                  </a:moveTo>
                  <a:cubicBezTo>
                    <a:pt x="0" y="141"/>
                    <a:pt x="0" y="141"/>
                    <a:pt x="0" y="141"/>
                  </a:cubicBezTo>
                  <a:cubicBezTo>
                    <a:pt x="18" y="141"/>
                    <a:pt x="18" y="141"/>
                    <a:pt x="18" y="141"/>
                  </a:cubicBezTo>
                  <a:cubicBezTo>
                    <a:pt x="18" y="141"/>
                    <a:pt x="18" y="18"/>
                    <a:pt x="18" y="16"/>
                  </a:cubicBezTo>
                  <a:cubicBezTo>
                    <a:pt x="20" y="16"/>
                    <a:pt x="41" y="16"/>
                    <a:pt x="41" y="16"/>
                  </a:cubicBezTo>
                  <a:cubicBezTo>
                    <a:pt x="67" y="16"/>
                    <a:pt x="80" y="26"/>
                    <a:pt x="80" y="45"/>
                  </a:cubicBezTo>
                  <a:cubicBezTo>
                    <a:pt x="80" y="63"/>
                    <a:pt x="67" y="73"/>
                    <a:pt x="41" y="73"/>
                  </a:cubicBezTo>
                  <a:cubicBezTo>
                    <a:pt x="24" y="73"/>
                    <a:pt x="24" y="73"/>
                    <a:pt x="24" y="73"/>
                  </a:cubicBezTo>
                  <a:cubicBezTo>
                    <a:pt x="39" y="89"/>
                    <a:pt x="39" y="89"/>
                    <a:pt x="39" y="89"/>
                  </a:cubicBezTo>
                  <a:cubicBezTo>
                    <a:pt x="43" y="89"/>
                    <a:pt x="43" y="89"/>
                    <a:pt x="43" y="89"/>
                  </a:cubicBezTo>
                  <a:cubicBezTo>
                    <a:pt x="61" y="89"/>
                    <a:pt x="70" y="87"/>
                    <a:pt x="80" y="80"/>
                  </a:cubicBezTo>
                  <a:cubicBezTo>
                    <a:pt x="92" y="72"/>
                    <a:pt x="98" y="59"/>
                    <a:pt x="98" y="45"/>
                  </a:cubicBezTo>
                  <a:cubicBezTo>
                    <a:pt x="98" y="29"/>
                    <a:pt x="91" y="15"/>
                    <a:pt x="78" y="7"/>
                  </a:cubicBezTo>
                  <a:cubicBezTo>
                    <a:pt x="69" y="2"/>
                    <a:pt x="59" y="0"/>
                    <a:pt x="4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6">
              <a:extLst>
                <a:ext uri="{FF2B5EF4-FFF2-40B4-BE49-F238E27FC236}">
                  <a16:creationId xmlns:a16="http://schemas.microsoft.com/office/drawing/2014/main" id="{367BCF8C-FC94-42C8-89FC-62CEBF1ACB54}"/>
                </a:ext>
              </a:extLst>
            </p:cNvPr>
            <p:cNvSpPr>
              <a:spLocks/>
            </p:cNvSpPr>
            <p:nvPr userDrawn="1"/>
          </p:nvSpPr>
          <p:spPr bwMode="auto">
            <a:xfrm>
              <a:off x="5372100" y="3213100"/>
              <a:ext cx="292100" cy="434975"/>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4 w 97"/>
                <a:gd name="T19" fmla="*/ 142 h 142"/>
                <a:gd name="T20" fmla="*/ 97 w 97"/>
                <a:gd name="T21" fmla="*/ 142 h 142"/>
                <a:gd name="T22" fmla="*/ 53 w 97"/>
                <a:gd name="T23" fmla="*/ 88 h 142"/>
                <a:gd name="T24" fmla="*/ 76 w 97"/>
                <a:gd name="T25" fmla="*/ 80 h 142"/>
                <a:gd name="T26" fmla="*/ 94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40" y="73"/>
                    <a:pt x="23" y="73"/>
                    <a:pt x="23" y="73"/>
                  </a:cubicBezTo>
                  <a:cubicBezTo>
                    <a:pt x="25" y="76"/>
                    <a:pt x="25" y="76"/>
                    <a:pt x="25" y="76"/>
                  </a:cubicBezTo>
                  <a:cubicBezTo>
                    <a:pt x="25" y="76"/>
                    <a:pt x="74" y="142"/>
                    <a:pt x="74" y="142"/>
                  </a:cubicBezTo>
                  <a:cubicBezTo>
                    <a:pt x="97" y="142"/>
                    <a:pt x="97" y="142"/>
                    <a:pt x="97" y="142"/>
                  </a:cubicBezTo>
                  <a:cubicBezTo>
                    <a:pt x="97" y="142"/>
                    <a:pt x="55" y="90"/>
                    <a:pt x="53" y="88"/>
                  </a:cubicBezTo>
                  <a:cubicBezTo>
                    <a:pt x="63" y="86"/>
                    <a:pt x="70" y="84"/>
                    <a:pt x="76" y="80"/>
                  </a:cubicBezTo>
                  <a:cubicBezTo>
                    <a:pt x="88" y="72"/>
                    <a:pt x="94" y="59"/>
                    <a:pt x="94" y="45"/>
                  </a:cubicBezTo>
                  <a:cubicBezTo>
                    <a:pt x="94"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7">
              <a:extLst>
                <a:ext uri="{FF2B5EF4-FFF2-40B4-BE49-F238E27FC236}">
                  <a16:creationId xmlns:a16="http://schemas.microsoft.com/office/drawing/2014/main" id="{B47710E1-2CC5-41CD-9149-A1B4333C9406}"/>
                </a:ext>
              </a:extLst>
            </p:cNvPr>
            <p:cNvSpPr>
              <a:spLocks/>
            </p:cNvSpPr>
            <p:nvPr userDrawn="1"/>
          </p:nvSpPr>
          <p:spPr bwMode="auto">
            <a:xfrm>
              <a:off x="7415213" y="3213100"/>
              <a:ext cx="290513" cy="434975"/>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5 w 97"/>
                <a:gd name="T19" fmla="*/ 142 h 142"/>
                <a:gd name="T20" fmla="*/ 97 w 97"/>
                <a:gd name="T21" fmla="*/ 142 h 142"/>
                <a:gd name="T22" fmla="*/ 54 w 97"/>
                <a:gd name="T23" fmla="*/ 88 h 142"/>
                <a:gd name="T24" fmla="*/ 76 w 97"/>
                <a:gd name="T25" fmla="*/ 80 h 142"/>
                <a:gd name="T26" fmla="*/ 95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23" y="73"/>
                    <a:pt x="23" y="73"/>
                    <a:pt x="23" y="73"/>
                  </a:cubicBezTo>
                  <a:cubicBezTo>
                    <a:pt x="25" y="76"/>
                    <a:pt x="25" y="76"/>
                    <a:pt x="25" y="76"/>
                  </a:cubicBezTo>
                  <a:cubicBezTo>
                    <a:pt x="75" y="142"/>
                    <a:pt x="75" y="142"/>
                    <a:pt x="75" y="142"/>
                  </a:cubicBezTo>
                  <a:cubicBezTo>
                    <a:pt x="97" y="142"/>
                    <a:pt x="97" y="142"/>
                    <a:pt x="97" y="142"/>
                  </a:cubicBezTo>
                  <a:cubicBezTo>
                    <a:pt x="97" y="142"/>
                    <a:pt x="55" y="90"/>
                    <a:pt x="54" y="88"/>
                  </a:cubicBezTo>
                  <a:cubicBezTo>
                    <a:pt x="63" y="86"/>
                    <a:pt x="70" y="84"/>
                    <a:pt x="76" y="80"/>
                  </a:cubicBezTo>
                  <a:cubicBezTo>
                    <a:pt x="88" y="72"/>
                    <a:pt x="95" y="59"/>
                    <a:pt x="95" y="45"/>
                  </a:cubicBezTo>
                  <a:cubicBezTo>
                    <a:pt x="95"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190600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Rectangle 3"/>
          <p:cNvSpPr/>
          <p:nvPr userDrawn="1"/>
        </p:nvSpPr>
        <p:spPr bwMode="auto">
          <a:xfrm>
            <a:off x="1" y="4"/>
            <a:ext cx="9906000" cy="6857996"/>
          </a:xfrm>
          <a:prstGeom prst="rect">
            <a:avLst/>
          </a:prstGeom>
          <a:solidFill>
            <a:srgbClr val="00568A"/>
          </a:solidFill>
          <a:ln w="12700" cap="flat" cmpd="sng" algn="ctr">
            <a:noFill/>
            <a:prstDash val="solid"/>
            <a:round/>
            <a:headEnd type="none" w="med" len="med"/>
            <a:tailEnd type="none" w="med" len="med"/>
          </a:ln>
          <a:effectLst/>
        </p:spPr>
        <p:txBody>
          <a:bodyPr vert="horz" wrap="square" lIns="180000" tIns="46800" rIns="90000" bIns="46800" numCol="1" rtlCol="0" anchor="ctr" anchorCtr="0" compatLnSpc="1">
            <a:prstTxWarp prst="textNoShape">
              <a:avLst/>
            </a:prstTxWarp>
          </a:bodyPr>
          <a:lstStyle/>
          <a:p>
            <a:pPr algn="l"/>
            <a:endParaRPr lang="en-GB" sz="1600" noProof="0" dirty="0">
              <a:solidFill>
                <a:schemeClr val="bg2"/>
              </a:solidFill>
              <a:latin typeface="+mj-lt"/>
            </a:endParaRPr>
          </a:p>
        </p:txBody>
      </p:sp>
      <p:sp>
        <p:nvSpPr>
          <p:cNvPr id="5" name="Right Triangle 4"/>
          <p:cNvSpPr/>
          <p:nvPr userDrawn="1"/>
        </p:nvSpPr>
        <p:spPr bwMode="auto">
          <a:xfrm flipH="1">
            <a:off x="7505699" y="0"/>
            <a:ext cx="2400295" cy="6858000"/>
          </a:xfrm>
          <a:prstGeom prst="rtTriangle">
            <a:avLst/>
          </a:prstGeom>
          <a:solidFill>
            <a:srgbClr val="004B7D"/>
          </a:solidFill>
          <a:ln w="12700"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30000"/>
              </a:spcBef>
              <a:spcAft>
                <a:spcPct val="0"/>
              </a:spcAft>
              <a:buClrTx/>
              <a:buSzPct val="110000"/>
              <a:buFontTx/>
              <a:buNone/>
              <a:tabLst/>
            </a:pPr>
            <a:endParaRPr kumimoji="0" lang="en-GB" sz="1200" b="0" i="0" u="none" strike="noStrike" cap="none" normalizeH="0" baseline="0" noProof="0" dirty="0">
              <a:ln>
                <a:noFill/>
              </a:ln>
              <a:solidFill>
                <a:srgbClr val="000000"/>
              </a:solidFill>
              <a:effectLst/>
              <a:latin typeface="+mj-lt"/>
            </a:endParaRPr>
          </a:p>
        </p:txBody>
      </p:sp>
      <p:sp>
        <p:nvSpPr>
          <p:cNvPr id="2" name="Title 1"/>
          <p:cNvSpPr>
            <a:spLocks noGrp="1"/>
          </p:cNvSpPr>
          <p:nvPr>
            <p:ph type="title"/>
          </p:nvPr>
        </p:nvSpPr>
        <p:spPr>
          <a:xfrm>
            <a:off x="304800" y="264544"/>
            <a:ext cx="9296400" cy="296863"/>
          </a:xfrm>
        </p:spPr>
        <p:txBody>
          <a:bodyPr lIns="0" rIns="0"/>
          <a:lstStyle>
            <a:lvl1pPr>
              <a:defRPr>
                <a:latin typeface="+mj-lt"/>
              </a:defRPr>
            </a:lvl1pPr>
          </a:lstStyle>
          <a:p>
            <a:r>
              <a:rPr lang="en-US" noProof="0"/>
              <a:t>Click to edit Master title style</a:t>
            </a:r>
            <a:endParaRPr lang="en-GB" noProof="0" dirty="0"/>
          </a:p>
        </p:txBody>
      </p:sp>
      <p:grpSp>
        <p:nvGrpSpPr>
          <p:cNvPr id="3" name="Group 2">
            <a:extLst>
              <a:ext uri="{FF2B5EF4-FFF2-40B4-BE49-F238E27FC236}">
                <a16:creationId xmlns:a16="http://schemas.microsoft.com/office/drawing/2014/main" id="{D88332D3-6A07-49E4-A327-9022BD243956}"/>
              </a:ext>
            </a:extLst>
          </p:cNvPr>
          <p:cNvGrpSpPr/>
          <p:nvPr userDrawn="1"/>
        </p:nvGrpSpPr>
        <p:grpSpPr>
          <a:xfrm>
            <a:off x="8016140" y="6607456"/>
            <a:ext cx="1585060" cy="108072"/>
            <a:chOff x="1743075" y="3209925"/>
            <a:chExt cx="6426201" cy="438150"/>
          </a:xfrm>
          <a:solidFill>
            <a:schemeClr val="bg1"/>
          </a:solidFill>
        </p:grpSpPr>
        <p:sp>
          <p:nvSpPr>
            <p:cNvPr id="6" name="Freeform 5">
              <a:extLst>
                <a:ext uri="{FF2B5EF4-FFF2-40B4-BE49-F238E27FC236}">
                  <a16:creationId xmlns:a16="http://schemas.microsoft.com/office/drawing/2014/main" id="{2768B464-EBCB-4E93-80A1-BACADB08A306}"/>
                </a:ext>
              </a:extLst>
            </p:cNvPr>
            <p:cNvSpPr>
              <a:spLocks/>
            </p:cNvSpPr>
            <p:nvPr userDrawn="1"/>
          </p:nvSpPr>
          <p:spPr bwMode="auto">
            <a:xfrm>
              <a:off x="2268538" y="3216275"/>
              <a:ext cx="242888" cy="431800"/>
            </a:xfrm>
            <a:custGeom>
              <a:avLst/>
              <a:gdLst>
                <a:gd name="T0" fmla="*/ 0 w 81"/>
                <a:gd name="T1" fmla="*/ 0 h 141"/>
                <a:gd name="T2" fmla="*/ 0 w 81"/>
                <a:gd name="T3" fmla="*/ 141 h 141"/>
                <a:gd name="T4" fmla="*/ 81 w 81"/>
                <a:gd name="T5" fmla="*/ 141 h 141"/>
                <a:gd name="T6" fmla="*/ 81 w 81"/>
                <a:gd name="T7" fmla="*/ 125 h 141"/>
                <a:gd name="T8" fmla="*/ 18 w 81"/>
                <a:gd name="T9" fmla="*/ 125 h 141"/>
                <a:gd name="T10" fmla="*/ 18 w 81"/>
                <a:gd name="T11" fmla="*/ 78 h 141"/>
                <a:gd name="T12" fmla="*/ 76 w 81"/>
                <a:gd name="T13" fmla="*/ 78 h 141"/>
                <a:gd name="T14" fmla="*/ 76 w 81"/>
                <a:gd name="T15" fmla="*/ 62 h 141"/>
                <a:gd name="T16" fmla="*/ 18 w 81"/>
                <a:gd name="T17" fmla="*/ 62 h 141"/>
                <a:gd name="T18" fmla="*/ 18 w 81"/>
                <a:gd name="T19" fmla="*/ 16 h 141"/>
                <a:gd name="T20" fmla="*/ 79 w 81"/>
                <a:gd name="T21" fmla="*/ 16 h 141"/>
                <a:gd name="T22" fmla="*/ 79 w 81"/>
                <a:gd name="T23" fmla="*/ 0 h 141"/>
                <a:gd name="T24" fmla="*/ 0 w 81"/>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141">
                  <a:moveTo>
                    <a:pt x="0" y="0"/>
                  </a:moveTo>
                  <a:cubicBezTo>
                    <a:pt x="0" y="141"/>
                    <a:pt x="0" y="141"/>
                    <a:pt x="0" y="141"/>
                  </a:cubicBezTo>
                  <a:cubicBezTo>
                    <a:pt x="81" y="141"/>
                    <a:pt x="81" y="141"/>
                    <a:pt x="81" y="141"/>
                  </a:cubicBezTo>
                  <a:cubicBezTo>
                    <a:pt x="81" y="125"/>
                    <a:pt x="81" y="125"/>
                    <a:pt x="81" y="125"/>
                  </a:cubicBezTo>
                  <a:cubicBezTo>
                    <a:pt x="81" y="125"/>
                    <a:pt x="19" y="125"/>
                    <a:pt x="18" y="125"/>
                  </a:cubicBezTo>
                  <a:cubicBezTo>
                    <a:pt x="18" y="123"/>
                    <a:pt x="18" y="80"/>
                    <a:pt x="18" y="78"/>
                  </a:cubicBezTo>
                  <a:cubicBezTo>
                    <a:pt x="19" y="78"/>
                    <a:pt x="76" y="78"/>
                    <a:pt x="76" y="78"/>
                  </a:cubicBezTo>
                  <a:cubicBezTo>
                    <a:pt x="76" y="62"/>
                    <a:pt x="76" y="62"/>
                    <a:pt x="76" y="62"/>
                  </a:cubicBezTo>
                  <a:cubicBezTo>
                    <a:pt x="76" y="62"/>
                    <a:pt x="19" y="62"/>
                    <a:pt x="18" y="62"/>
                  </a:cubicBezTo>
                  <a:cubicBezTo>
                    <a:pt x="18" y="60"/>
                    <a:pt x="18" y="18"/>
                    <a:pt x="18" y="16"/>
                  </a:cubicBezTo>
                  <a:cubicBezTo>
                    <a:pt x="19"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 name="Freeform 6">
              <a:extLst>
                <a:ext uri="{FF2B5EF4-FFF2-40B4-BE49-F238E27FC236}">
                  <a16:creationId xmlns:a16="http://schemas.microsoft.com/office/drawing/2014/main" id="{192C9241-2206-4A9F-8447-1B512CFC0FD2}"/>
                </a:ext>
              </a:extLst>
            </p:cNvPr>
            <p:cNvSpPr>
              <a:spLocks/>
            </p:cNvSpPr>
            <p:nvPr userDrawn="1"/>
          </p:nvSpPr>
          <p:spPr bwMode="auto">
            <a:xfrm>
              <a:off x="6931025" y="3213100"/>
              <a:ext cx="246063" cy="431800"/>
            </a:xfrm>
            <a:custGeom>
              <a:avLst/>
              <a:gdLst>
                <a:gd name="T0" fmla="*/ 0 w 82"/>
                <a:gd name="T1" fmla="*/ 0 h 141"/>
                <a:gd name="T2" fmla="*/ 0 w 82"/>
                <a:gd name="T3" fmla="*/ 141 h 141"/>
                <a:gd name="T4" fmla="*/ 82 w 82"/>
                <a:gd name="T5" fmla="*/ 141 h 141"/>
                <a:gd name="T6" fmla="*/ 82 w 82"/>
                <a:gd name="T7" fmla="*/ 125 h 141"/>
                <a:gd name="T8" fmla="*/ 18 w 82"/>
                <a:gd name="T9" fmla="*/ 125 h 141"/>
                <a:gd name="T10" fmla="*/ 18 w 82"/>
                <a:gd name="T11" fmla="*/ 78 h 141"/>
                <a:gd name="T12" fmla="*/ 77 w 82"/>
                <a:gd name="T13" fmla="*/ 78 h 141"/>
                <a:gd name="T14" fmla="*/ 77 w 82"/>
                <a:gd name="T15" fmla="*/ 62 h 141"/>
                <a:gd name="T16" fmla="*/ 18 w 82"/>
                <a:gd name="T17" fmla="*/ 62 h 141"/>
                <a:gd name="T18" fmla="*/ 18 w 82"/>
                <a:gd name="T19" fmla="*/ 16 h 141"/>
                <a:gd name="T20" fmla="*/ 79 w 82"/>
                <a:gd name="T21" fmla="*/ 16 h 141"/>
                <a:gd name="T22" fmla="*/ 79 w 82"/>
                <a:gd name="T23" fmla="*/ 0 h 141"/>
                <a:gd name="T24" fmla="*/ 0 w 82"/>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 h="141">
                  <a:moveTo>
                    <a:pt x="0" y="0"/>
                  </a:moveTo>
                  <a:cubicBezTo>
                    <a:pt x="0" y="141"/>
                    <a:pt x="0" y="141"/>
                    <a:pt x="0" y="141"/>
                  </a:cubicBezTo>
                  <a:cubicBezTo>
                    <a:pt x="82" y="141"/>
                    <a:pt x="82" y="141"/>
                    <a:pt x="82" y="141"/>
                  </a:cubicBezTo>
                  <a:cubicBezTo>
                    <a:pt x="82" y="125"/>
                    <a:pt x="82" y="125"/>
                    <a:pt x="82" y="125"/>
                  </a:cubicBezTo>
                  <a:cubicBezTo>
                    <a:pt x="82" y="125"/>
                    <a:pt x="20" y="125"/>
                    <a:pt x="18" y="125"/>
                  </a:cubicBezTo>
                  <a:cubicBezTo>
                    <a:pt x="18" y="123"/>
                    <a:pt x="18" y="80"/>
                    <a:pt x="18" y="78"/>
                  </a:cubicBezTo>
                  <a:cubicBezTo>
                    <a:pt x="20" y="78"/>
                    <a:pt x="77" y="78"/>
                    <a:pt x="77" y="78"/>
                  </a:cubicBezTo>
                  <a:cubicBezTo>
                    <a:pt x="77" y="62"/>
                    <a:pt x="77" y="62"/>
                    <a:pt x="77" y="62"/>
                  </a:cubicBezTo>
                  <a:cubicBezTo>
                    <a:pt x="77" y="62"/>
                    <a:pt x="20" y="62"/>
                    <a:pt x="18" y="62"/>
                  </a:cubicBezTo>
                  <a:cubicBezTo>
                    <a:pt x="18" y="61"/>
                    <a:pt x="18" y="18"/>
                    <a:pt x="18" y="16"/>
                  </a:cubicBezTo>
                  <a:cubicBezTo>
                    <a:pt x="20"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8" name="Freeform 7">
              <a:extLst>
                <a:ext uri="{FF2B5EF4-FFF2-40B4-BE49-F238E27FC236}">
                  <a16:creationId xmlns:a16="http://schemas.microsoft.com/office/drawing/2014/main" id="{BC0027EE-6564-4649-8810-D12E76AC9D9C}"/>
                </a:ext>
              </a:extLst>
            </p:cNvPr>
            <p:cNvSpPr>
              <a:spLocks/>
            </p:cNvSpPr>
            <p:nvPr userDrawn="1"/>
          </p:nvSpPr>
          <p:spPr bwMode="auto">
            <a:xfrm>
              <a:off x="2746375" y="3216275"/>
              <a:ext cx="239713" cy="431800"/>
            </a:xfrm>
            <a:custGeom>
              <a:avLst/>
              <a:gdLst>
                <a:gd name="T0" fmla="*/ 0 w 80"/>
                <a:gd name="T1" fmla="*/ 0 h 141"/>
                <a:gd name="T2" fmla="*/ 0 w 80"/>
                <a:gd name="T3" fmla="*/ 141 h 141"/>
                <a:gd name="T4" fmla="*/ 80 w 80"/>
                <a:gd name="T5" fmla="*/ 141 h 141"/>
                <a:gd name="T6" fmla="*/ 80 w 80"/>
                <a:gd name="T7" fmla="*/ 125 h 141"/>
                <a:gd name="T8" fmla="*/ 18 w 80"/>
                <a:gd name="T9" fmla="*/ 125 h 141"/>
                <a:gd name="T10" fmla="*/ 18 w 80"/>
                <a:gd name="T11" fmla="*/ 0 h 141"/>
                <a:gd name="T12" fmla="*/ 0 w 80"/>
                <a:gd name="T13" fmla="*/ 0 h 141"/>
              </a:gdLst>
              <a:ahLst/>
              <a:cxnLst>
                <a:cxn ang="0">
                  <a:pos x="T0" y="T1"/>
                </a:cxn>
                <a:cxn ang="0">
                  <a:pos x="T2" y="T3"/>
                </a:cxn>
                <a:cxn ang="0">
                  <a:pos x="T4" y="T5"/>
                </a:cxn>
                <a:cxn ang="0">
                  <a:pos x="T6" y="T7"/>
                </a:cxn>
                <a:cxn ang="0">
                  <a:pos x="T8" y="T9"/>
                </a:cxn>
                <a:cxn ang="0">
                  <a:pos x="T10" y="T11"/>
                </a:cxn>
                <a:cxn ang="0">
                  <a:pos x="T12" y="T13"/>
                </a:cxn>
              </a:cxnLst>
              <a:rect l="0" t="0" r="r" b="b"/>
              <a:pathLst>
                <a:path w="80" h="141">
                  <a:moveTo>
                    <a:pt x="0" y="0"/>
                  </a:moveTo>
                  <a:cubicBezTo>
                    <a:pt x="0" y="141"/>
                    <a:pt x="0" y="141"/>
                    <a:pt x="0" y="141"/>
                  </a:cubicBezTo>
                  <a:cubicBezTo>
                    <a:pt x="80" y="141"/>
                    <a:pt x="80" y="141"/>
                    <a:pt x="80" y="141"/>
                  </a:cubicBezTo>
                  <a:cubicBezTo>
                    <a:pt x="80" y="125"/>
                    <a:pt x="80" y="125"/>
                    <a:pt x="80" y="125"/>
                  </a:cubicBezTo>
                  <a:cubicBezTo>
                    <a:pt x="80" y="125"/>
                    <a:pt x="19" y="125"/>
                    <a:pt x="18" y="125"/>
                  </a:cubicBezTo>
                  <a:cubicBezTo>
                    <a:pt x="18" y="123"/>
                    <a:pt x="18" y="0"/>
                    <a:pt x="18"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Freeform 8">
              <a:extLst>
                <a:ext uri="{FF2B5EF4-FFF2-40B4-BE49-F238E27FC236}">
                  <a16:creationId xmlns:a16="http://schemas.microsoft.com/office/drawing/2014/main" id="{614FBDDF-2C15-4F35-8EF4-13FCD441565E}"/>
                </a:ext>
              </a:extLst>
            </p:cNvPr>
            <p:cNvSpPr>
              <a:spLocks/>
            </p:cNvSpPr>
            <p:nvPr userDrawn="1"/>
          </p:nvSpPr>
          <p:spPr bwMode="auto">
            <a:xfrm>
              <a:off x="3100388" y="3216275"/>
              <a:ext cx="333375" cy="431800"/>
            </a:xfrm>
            <a:custGeom>
              <a:avLst/>
              <a:gdLst>
                <a:gd name="T0" fmla="*/ 0 w 111"/>
                <a:gd name="T1" fmla="*/ 0 h 141"/>
                <a:gd name="T2" fmla="*/ 0 w 111"/>
                <a:gd name="T3" fmla="*/ 16 h 141"/>
                <a:gd name="T4" fmla="*/ 47 w 111"/>
                <a:gd name="T5" fmla="*/ 16 h 141"/>
                <a:gd name="T6" fmla="*/ 47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7" y="16"/>
                  </a:cubicBezTo>
                  <a:cubicBezTo>
                    <a:pt x="47" y="18"/>
                    <a:pt x="47" y="141"/>
                    <a:pt x="47"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9">
              <a:extLst>
                <a:ext uri="{FF2B5EF4-FFF2-40B4-BE49-F238E27FC236}">
                  <a16:creationId xmlns:a16="http://schemas.microsoft.com/office/drawing/2014/main" id="{41757C14-DA45-462D-B6C7-273208069D6D}"/>
                </a:ext>
              </a:extLst>
            </p:cNvPr>
            <p:cNvSpPr>
              <a:spLocks/>
            </p:cNvSpPr>
            <p:nvPr userDrawn="1"/>
          </p:nvSpPr>
          <p:spPr bwMode="auto">
            <a:xfrm>
              <a:off x="5840413" y="3213100"/>
              <a:ext cx="333375" cy="431800"/>
            </a:xfrm>
            <a:custGeom>
              <a:avLst/>
              <a:gdLst>
                <a:gd name="T0" fmla="*/ 0 w 111"/>
                <a:gd name="T1" fmla="*/ 0 h 141"/>
                <a:gd name="T2" fmla="*/ 0 w 111"/>
                <a:gd name="T3" fmla="*/ 16 h 141"/>
                <a:gd name="T4" fmla="*/ 46 w 111"/>
                <a:gd name="T5" fmla="*/ 16 h 141"/>
                <a:gd name="T6" fmla="*/ 46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6" y="16"/>
                  </a:cubicBezTo>
                  <a:cubicBezTo>
                    <a:pt x="46" y="18"/>
                    <a:pt x="46" y="141"/>
                    <a:pt x="46"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10">
              <a:extLst>
                <a:ext uri="{FF2B5EF4-FFF2-40B4-BE49-F238E27FC236}">
                  <a16:creationId xmlns:a16="http://schemas.microsoft.com/office/drawing/2014/main" id="{AFCC9205-A3D6-405D-BB32-EF8F01BAA216}"/>
                </a:ext>
              </a:extLst>
            </p:cNvPr>
            <p:cNvSpPr>
              <a:spLocks/>
            </p:cNvSpPr>
            <p:nvPr userDrawn="1"/>
          </p:nvSpPr>
          <p:spPr bwMode="auto">
            <a:xfrm>
              <a:off x="6365875" y="3213100"/>
              <a:ext cx="322263" cy="434975"/>
            </a:xfrm>
            <a:custGeom>
              <a:avLst/>
              <a:gdLst>
                <a:gd name="T0" fmla="*/ 0 w 107"/>
                <a:gd name="T1" fmla="*/ 0 h 142"/>
                <a:gd name="T2" fmla="*/ 0 w 107"/>
                <a:gd name="T3" fmla="*/ 142 h 142"/>
                <a:gd name="T4" fmla="*/ 17 w 107"/>
                <a:gd name="T5" fmla="*/ 142 h 142"/>
                <a:gd name="T6" fmla="*/ 17 w 107"/>
                <a:gd name="T7" fmla="*/ 59 h 142"/>
                <a:gd name="T8" fmla="*/ 17 w 107"/>
                <a:gd name="T9" fmla="*/ 28 h 142"/>
                <a:gd name="T10" fmla="*/ 31 w 107"/>
                <a:gd name="T11" fmla="*/ 53 h 142"/>
                <a:gd name="T12" fmla="*/ 87 w 107"/>
                <a:gd name="T13" fmla="*/ 142 h 142"/>
                <a:gd name="T14" fmla="*/ 106 w 107"/>
                <a:gd name="T15" fmla="*/ 142 h 142"/>
                <a:gd name="T16" fmla="*/ 107 w 107"/>
                <a:gd name="T17" fmla="*/ 0 h 142"/>
                <a:gd name="T18" fmla="*/ 89 w 107"/>
                <a:gd name="T19" fmla="*/ 0 h 142"/>
                <a:gd name="T20" fmla="*/ 89 w 107"/>
                <a:gd name="T21" fmla="*/ 113 h 142"/>
                <a:gd name="T22" fmla="*/ 20 w 107"/>
                <a:gd name="T23" fmla="*/ 0 h 142"/>
                <a:gd name="T24" fmla="*/ 0 w 107"/>
                <a:gd name="T25"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7" h="142">
                  <a:moveTo>
                    <a:pt x="0" y="0"/>
                  </a:moveTo>
                  <a:cubicBezTo>
                    <a:pt x="0" y="142"/>
                    <a:pt x="0" y="142"/>
                    <a:pt x="0" y="142"/>
                  </a:cubicBezTo>
                  <a:cubicBezTo>
                    <a:pt x="17" y="142"/>
                    <a:pt x="17" y="142"/>
                    <a:pt x="17" y="142"/>
                  </a:cubicBezTo>
                  <a:cubicBezTo>
                    <a:pt x="17" y="59"/>
                    <a:pt x="17" y="59"/>
                    <a:pt x="17" y="59"/>
                  </a:cubicBezTo>
                  <a:cubicBezTo>
                    <a:pt x="17" y="59"/>
                    <a:pt x="17" y="33"/>
                    <a:pt x="17" y="28"/>
                  </a:cubicBezTo>
                  <a:cubicBezTo>
                    <a:pt x="20" y="32"/>
                    <a:pt x="31" y="53"/>
                    <a:pt x="31" y="53"/>
                  </a:cubicBezTo>
                  <a:cubicBezTo>
                    <a:pt x="31" y="53"/>
                    <a:pt x="87" y="142"/>
                    <a:pt x="87" y="142"/>
                  </a:cubicBezTo>
                  <a:cubicBezTo>
                    <a:pt x="106" y="142"/>
                    <a:pt x="106" y="142"/>
                    <a:pt x="106" y="142"/>
                  </a:cubicBezTo>
                  <a:cubicBezTo>
                    <a:pt x="107" y="0"/>
                    <a:pt x="107" y="0"/>
                    <a:pt x="107" y="0"/>
                  </a:cubicBezTo>
                  <a:cubicBezTo>
                    <a:pt x="89" y="0"/>
                    <a:pt x="89" y="0"/>
                    <a:pt x="89" y="0"/>
                  </a:cubicBezTo>
                  <a:cubicBezTo>
                    <a:pt x="89" y="0"/>
                    <a:pt x="89" y="108"/>
                    <a:pt x="89" y="113"/>
                  </a:cubicBezTo>
                  <a:cubicBezTo>
                    <a:pt x="86" y="108"/>
                    <a:pt x="20" y="0"/>
                    <a:pt x="20"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11">
              <a:extLst>
                <a:ext uri="{FF2B5EF4-FFF2-40B4-BE49-F238E27FC236}">
                  <a16:creationId xmlns:a16="http://schemas.microsoft.com/office/drawing/2014/main" id="{B270B15D-8E21-4D15-8CFB-284F0ECCD3CB}"/>
                </a:ext>
              </a:extLst>
            </p:cNvPr>
            <p:cNvSpPr>
              <a:spLocks/>
            </p:cNvSpPr>
            <p:nvPr userDrawn="1"/>
          </p:nvSpPr>
          <p:spPr bwMode="auto">
            <a:xfrm>
              <a:off x="7929563" y="3209925"/>
              <a:ext cx="239713" cy="438150"/>
            </a:xfrm>
            <a:custGeom>
              <a:avLst/>
              <a:gdLst>
                <a:gd name="T0" fmla="*/ 0 w 80"/>
                <a:gd name="T1" fmla="*/ 37 h 143"/>
                <a:gd name="T2" fmla="*/ 34 w 80"/>
                <a:gd name="T3" fmla="*/ 77 h 143"/>
                <a:gd name="T4" fmla="*/ 61 w 80"/>
                <a:gd name="T5" fmla="*/ 104 h 143"/>
                <a:gd name="T6" fmla="*/ 34 w 80"/>
                <a:gd name="T7" fmla="*/ 127 h 143"/>
                <a:gd name="T8" fmla="*/ 5 w 80"/>
                <a:gd name="T9" fmla="*/ 119 h 143"/>
                <a:gd name="T10" fmla="*/ 2 w 80"/>
                <a:gd name="T11" fmla="*/ 118 h 143"/>
                <a:gd name="T12" fmla="*/ 0 w 80"/>
                <a:gd name="T13" fmla="*/ 137 h 143"/>
                <a:gd name="T14" fmla="*/ 2 w 80"/>
                <a:gd name="T15" fmla="*/ 138 h 143"/>
                <a:gd name="T16" fmla="*/ 34 w 80"/>
                <a:gd name="T17" fmla="*/ 143 h 143"/>
                <a:gd name="T18" fmla="*/ 80 w 80"/>
                <a:gd name="T19" fmla="*/ 103 h 143"/>
                <a:gd name="T20" fmla="*/ 44 w 80"/>
                <a:gd name="T21" fmla="*/ 62 h 143"/>
                <a:gd name="T22" fmla="*/ 18 w 80"/>
                <a:gd name="T23" fmla="*/ 36 h 143"/>
                <a:gd name="T24" fmla="*/ 44 w 80"/>
                <a:gd name="T25" fmla="*/ 17 h 143"/>
                <a:gd name="T26" fmla="*/ 68 w 80"/>
                <a:gd name="T27" fmla="*/ 22 h 143"/>
                <a:gd name="T28" fmla="*/ 71 w 80"/>
                <a:gd name="T29" fmla="*/ 24 h 143"/>
                <a:gd name="T30" fmla="*/ 74 w 80"/>
                <a:gd name="T31" fmla="*/ 6 h 143"/>
                <a:gd name="T32" fmla="*/ 72 w 80"/>
                <a:gd name="T33" fmla="*/ 5 h 143"/>
                <a:gd name="T34" fmla="*/ 44 w 80"/>
                <a:gd name="T35" fmla="*/ 0 h 143"/>
                <a:gd name="T36" fmla="*/ 0 w 80"/>
                <a:gd name="T37" fmla="*/ 3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143">
                  <a:moveTo>
                    <a:pt x="0" y="37"/>
                  </a:moveTo>
                  <a:cubicBezTo>
                    <a:pt x="0" y="59"/>
                    <a:pt x="17" y="68"/>
                    <a:pt x="34" y="77"/>
                  </a:cubicBezTo>
                  <a:cubicBezTo>
                    <a:pt x="48" y="84"/>
                    <a:pt x="61" y="90"/>
                    <a:pt x="61" y="104"/>
                  </a:cubicBezTo>
                  <a:cubicBezTo>
                    <a:pt x="61" y="118"/>
                    <a:pt x="50" y="127"/>
                    <a:pt x="34" y="127"/>
                  </a:cubicBezTo>
                  <a:cubicBezTo>
                    <a:pt x="24" y="127"/>
                    <a:pt x="16" y="125"/>
                    <a:pt x="5" y="119"/>
                  </a:cubicBezTo>
                  <a:cubicBezTo>
                    <a:pt x="2" y="118"/>
                    <a:pt x="2" y="118"/>
                    <a:pt x="2" y="118"/>
                  </a:cubicBezTo>
                  <a:cubicBezTo>
                    <a:pt x="0" y="137"/>
                    <a:pt x="0" y="137"/>
                    <a:pt x="0" y="137"/>
                  </a:cubicBezTo>
                  <a:cubicBezTo>
                    <a:pt x="2" y="138"/>
                    <a:pt x="2" y="138"/>
                    <a:pt x="2" y="138"/>
                  </a:cubicBezTo>
                  <a:cubicBezTo>
                    <a:pt x="13" y="142"/>
                    <a:pt x="23" y="143"/>
                    <a:pt x="34" y="143"/>
                  </a:cubicBezTo>
                  <a:cubicBezTo>
                    <a:pt x="61" y="143"/>
                    <a:pt x="80" y="127"/>
                    <a:pt x="80" y="103"/>
                  </a:cubicBezTo>
                  <a:cubicBezTo>
                    <a:pt x="80" y="80"/>
                    <a:pt x="61" y="70"/>
                    <a:pt x="44" y="62"/>
                  </a:cubicBezTo>
                  <a:cubicBezTo>
                    <a:pt x="31" y="55"/>
                    <a:pt x="18" y="48"/>
                    <a:pt x="18" y="36"/>
                  </a:cubicBezTo>
                  <a:cubicBezTo>
                    <a:pt x="18" y="25"/>
                    <a:pt x="29" y="17"/>
                    <a:pt x="44" y="17"/>
                  </a:cubicBezTo>
                  <a:cubicBezTo>
                    <a:pt x="52" y="17"/>
                    <a:pt x="60" y="19"/>
                    <a:pt x="68" y="22"/>
                  </a:cubicBezTo>
                  <a:cubicBezTo>
                    <a:pt x="71" y="24"/>
                    <a:pt x="71" y="24"/>
                    <a:pt x="71" y="24"/>
                  </a:cubicBezTo>
                  <a:cubicBezTo>
                    <a:pt x="74" y="6"/>
                    <a:pt x="74" y="6"/>
                    <a:pt x="74" y="6"/>
                  </a:cubicBezTo>
                  <a:cubicBezTo>
                    <a:pt x="72" y="5"/>
                    <a:pt x="72" y="5"/>
                    <a:pt x="72" y="5"/>
                  </a:cubicBezTo>
                  <a:cubicBezTo>
                    <a:pt x="62" y="2"/>
                    <a:pt x="53" y="0"/>
                    <a:pt x="44" y="0"/>
                  </a:cubicBezTo>
                  <a:cubicBezTo>
                    <a:pt x="16" y="0"/>
                    <a:pt x="0" y="14"/>
                    <a:pt x="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12">
              <a:extLst>
                <a:ext uri="{FF2B5EF4-FFF2-40B4-BE49-F238E27FC236}">
                  <a16:creationId xmlns:a16="http://schemas.microsoft.com/office/drawing/2014/main" id="{D35C75DF-AB7E-410C-90D0-321E7615B547}"/>
                </a:ext>
              </a:extLst>
            </p:cNvPr>
            <p:cNvSpPr>
              <a:spLocks/>
            </p:cNvSpPr>
            <p:nvPr userDrawn="1"/>
          </p:nvSpPr>
          <p:spPr bwMode="auto">
            <a:xfrm>
              <a:off x="1743075" y="3216275"/>
              <a:ext cx="330200" cy="431800"/>
            </a:xfrm>
            <a:custGeom>
              <a:avLst/>
              <a:gdLst>
                <a:gd name="T0" fmla="*/ 0 w 110"/>
                <a:gd name="T1" fmla="*/ 0 h 141"/>
                <a:gd name="T2" fmla="*/ 0 w 110"/>
                <a:gd name="T3" fmla="*/ 141 h 141"/>
                <a:gd name="T4" fmla="*/ 18 w 110"/>
                <a:gd name="T5" fmla="*/ 141 h 141"/>
                <a:gd name="T6" fmla="*/ 18 w 110"/>
                <a:gd name="T7" fmla="*/ 16 h 141"/>
                <a:gd name="T8" fmla="*/ 30 w 110"/>
                <a:gd name="T9" fmla="*/ 16 h 141"/>
                <a:gd name="T10" fmla="*/ 68 w 110"/>
                <a:gd name="T11" fmla="*/ 24 h 141"/>
                <a:gd name="T12" fmla="*/ 91 w 110"/>
                <a:gd name="T13" fmla="*/ 71 h 141"/>
                <a:gd name="T14" fmla="*/ 36 w 110"/>
                <a:gd name="T15" fmla="*/ 125 h 141"/>
                <a:gd name="T16" fmla="*/ 24 w 110"/>
                <a:gd name="T17" fmla="*/ 126 h 141"/>
                <a:gd name="T18" fmla="*/ 38 w 110"/>
                <a:gd name="T19" fmla="*/ 141 h 141"/>
                <a:gd name="T20" fmla="*/ 41 w 110"/>
                <a:gd name="T21" fmla="*/ 141 h 141"/>
                <a:gd name="T22" fmla="*/ 78 w 110"/>
                <a:gd name="T23" fmla="*/ 131 h 141"/>
                <a:gd name="T24" fmla="*/ 110 w 110"/>
                <a:gd name="T25" fmla="*/ 71 h 141"/>
                <a:gd name="T26" fmla="*/ 77 w 110"/>
                <a:gd name="T27" fmla="*/ 9 h 141"/>
                <a:gd name="T28" fmla="*/ 23 w 110"/>
                <a:gd name="T29" fmla="*/ 0 h 141"/>
                <a:gd name="T30" fmla="*/ 0 w 110"/>
                <a:gd name="T3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41">
                  <a:moveTo>
                    <a:pt x="0" y="0"/>
                  </a:moveTo>
                  <a:cubicBezTo>
                    <a:pt x="0" y="141"/>
                    <a:pt x="0" y="141"/>
                    <a:pt x="0" y="141"/>
                  </a:cubicBezTo>
                  <a:cubicBezTo>
                    <a:pt x="18" y="141"/>
                    <a:pt x="18" y="141"/>
                    <a:pt x="18" y="141"/>
                  </a:cubicBezTo>
                  <a:cubicBezTo>
                    <a:pt x="18" y="141"/>
                    <a:pt x="18" y="18"/>
                    <a:pt x="18" y="16"/>
                  </a:cubicBezTo>
                  <a:cubicBezTo>
                    <a:pt x="20" y="16"/>
                    <a:pt x="30" y="16"/>
                    <a:pt x="30" y="16"/>
                  </a:cubicBezTo>
                  <a:cubicBezTo>
                    <a:pt x="48" y="16"/>
                    <a:pt x="58" y="19"/>
                    <a:pt x="68" y="24"/>
                  </a:cubicBezTo>
                  <a:cubicBezTo>
                    <a:pt x="82" y="33"/>
                    <a:pt x="91" y="50"/>
                    <a:pt x="91" y="71"/>
                  </a:cubicBezTo>
                  <a:cubicBezTo>
                    <a:pt x="91" y="104"/>
                    <a:pt x="71" y="123"/>
                    <a:pt x="36" y="125"/>
                  </a:cubicBezTo>
                  <a:cubicBezTo>
                    <a:pt x="34" y="125"/>
                    <a:pt x="24" y="126"/>
                    <a:pt x="24" y="126"/>
                  </a:cubicBezTo>
                  <a:cubicBezTo>
                    <a:pt x="38" y="141"/>
                    <a:pt x="38" y="141"/>
                    <a:pt x="38" y="141"/>
                  </a:cubicBezTo>
                  <a:cubicBezTo>
                    <a:pt x="41" y="141"/>
                    <a:pt x="41" y="141"/>
                    <a:pt x="41" y="141"/>
                  </a:cubicBezTo>
                  <a:cubicBezTo>
                    <a:pt x="58" y="139"/>
                    <a:pt x="68" y="137"/>
                    <a:pt x="78" y="131"/>
                  </a:cubicBezTo>
                  <a:cubicBezTo>
                    <a:pt x="98" y="119"/>
                    <a:pt x="110" y="98"/>
                    <a:pt x="110" y="71"/>
                  </a:cubicBezTo>
                  <a:cubicBezTo>
                    <a:pt x="110" y="44"/>
                    <a:pt x="97" y="20"/>
                    <a:pt x="77" y="9"/>
                  </a:cubicBezTo>
                  <a:cubicBezTo>
                    <a:pt x="65" y="2"/>
                    <a:pt x="51" y="0"/>
                    <a:pt x="23"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3">
              <a:extLst>
                <a:ext uri="{FF2B5EF4-FFF2-40B4-BE49-F238E27FC236}">
                  <a16:creationId xmlns:a16="http://schemas.microsoft.com/office/drawing/2014/main" id="{CAF313F5-8696-49A1-9CC4-B12DA603891D}"/>
                </a:ext>
              </a:extLst>
            </p:cNvPr>
            <p:cNvSpPr>
              <a:spLocks/>
            </p:cNvSpPr>
            <p:nvPr userDrawn="1"/>
          </p:nvSpPr>
          <p:spPr bwMode="auto">
            <a:xfrm>
              <a:off x="3536950" y="3216275"/>
              <a:ext cx="384175" cy="431800"/>
            </a:xfrm>
            <a:custGeom>
              <a:avLst/>
              <a:gdLst>
                <a:gd name="T0" fmla="*/ 57 w 128"/>
                <a:gd name="T1" fmla="*/ 0 h 141"/>
                <a:gd name="T2" fmla="*/ 0 w 128"/>
                <a:gd name="T3" fmla="*/ 141 h 141"/>
                <a:gd name="T4" fmla="*/ 19 w 128"/>
                <a:gd name="T5" fmla="*/ 141 h 141"/>
                <a:gd name="T6" fmla="*/ 63 w 128"/>
                <a:gd name="T7" fmla="*/ 30 h 141"/>
                <a:gd name="T8" fmla="*/ 63 w 128"/>
                <a:gd name="T9" fmla="*/ 31 h 141"/>
                <a:gd name="T10" fmla="*/ 90 w 128"/>
                <a:gd name="T11" fmla="*/ 97 h 141"/>
                <a:gd name="T12" fmla="*/ 42 w 128"/>
                <a:gd name="T13" fmla="*/ 97 h 141"/>
                <a:gd name="T14" fmla="*/ 56 w 128"/>
                <a:gd name="T15" fmla="*/ 113 h 141"/>
                <a:gd name="T16" fmla="*/ 97 w 128"/>
                <a:gd name="T17" fmla="*/ 113 h 141"/>
                <a:gd name="T18" fmla="*/ 108 w 128"/>
                <a:gd name="T19" fmla="*/ 141 h 141"/>
                <a:gd name="T20" fmla="*/ 128 w 128"/>
                <a:gd name="T21" fmla="*/ 141 h 141"/>
                <a:gd name="T22" fmla="*/ 70 w 128"/>
                <a:gd name="T23" fmla="*/ 0 h 141"/>
                <a:gd name="T24" fmla="*/ 57 w 128"/>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141">
                  <a:moveTo>
                    <a:pt x="57" y="0"/>
                  </a:moveTo>
                  <a:cubicBezTo>
                    <a:pt x="0" y="141"/>
                    <a:pt x="0" y="141"/>
                    <a:pt x="0" y="141"/>
                  </a:cubicBezTo>
                  <a:cubicBezTo>
                    <a:pt x="19" y="141"/>
                    <a:pt x="19" y="141"/>
                    <a:pt x="19" y="141"/>
                  </a:cubicBezTo>
                  <a:cubicBezTo>
                    <a:pt x="19" y="141"/>
                    <a:pt x="61" y="34"/>
                    <a:pt x="63" y="30"/>
                  </a:cubicBezTo>
                  <a:cubicBezTo>
                    <a:pt x="63" y="30"/>
                    <a:pt x="63" y="31"/>
                    <a:pt x="63" y="31"/>
                  </a:cubicBezTo>
                  <a:cubicBezTo>
                    <a:pt x="63" y="31"/>
                    <a:pt x="63" y="31"/>
                    <a:pt x="90" y="97"/>
                  </a:cubicBezTo>
                  <a:cubicBezTo>
                    <a:pt x="87" y="97"/>
                    <a:pt x="42" y="97"/>
                    <a:pt x="42" y="97"/>
                  </a:cubicBezTo>
                  <a:cubicBezTo>
                    <a:pt x="56" y="113"/>
                    <a:pt x="56" y="113"/>
                    <a:pt x="56" y="113"/>
                  </a:cubicBezTo>
                  <a:cubicBezTo>
                    <a:pt x="56" y="113"/>
                    <a:pt x="95" y="113"/>
                    <a:pt x="97" y="113"/>
                  </a:cubicBezTo>
                  <a:cubicBezTo>
                    <a:pt x="97" y="114"/>
                    <a:pt x="108" y="141"/>
                    <a:pt x="108" y="141"/>
                  </a:cubicBezTo>
                  <a:cubicBezTo>
                    <a:pt x="128" y="141"/>
                    <a:pt x="128" y="141"/>
                    <a:pt x="128" y="141"/>
                  </a:cubicBezTo>
                  <a:cubicBezTo>
                    <a:pt x="70" y="0"/>
                    <a:pt x="70" y="0"/>
                    <a:pt x="70" y="0"/>
                  </a:cubicBezTo>
                  <a:lnTo>
                    <a:pt x="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4">
              <a:extLst>
                <a:ext uri="{FF2B5EF4-FFF2-40B4-BE49-F238E27FC236}">
                  <a16:creationId xmlns:a16="http://schemas.microsoft.com/office/drawing/2014/main" id="{172425AE-2552-4AAB-86A0-56BA8F5646CC}"/>
                </a:ext>
              </a:extLst>
            </p:cNvPr>
            <p:cNvSpPr>
              <a:spLocks/>
            </p:cNvSpPr>
            <p:nvPr userDrawn="1"/>
          </p:nvSpPr>
          <p:spPr bwMode="auto">
            <a:xfrm>
              <a:off x="4810125" y="3213100"/>
              <a:ext cx="381000" cy="434975"/>
            </a:xfrm>
            <a:custGeom>
              <a:avLst/>
              <a:gdLst>
                <a:gd name="T0" fmla="*/ 56 w 127"/>
                <a:gd name="T1" fmla="*/ 0 h 142"/>
                <a:gd name="T2" fmla="*/ 0 w 127"/>
                <a:gd name="T3" fmla="*/ 142 h 142"/>
                <a:gd name="T4" fmla="*/ 18 w 127"/>
                <a:gd name="T5" fmla="*/ 142 h 142"/>
                <a:gd name="T6" fmla="*/ 62 w 127"/>
                <a:gd name="T7" fmla="*/ 30 h 142"/>
                <a:gd name="T8" fmla="*/ 89 w 127"/>
                <a:gd name="T9" fmla="*/ 97 h 142"/>
                <a:gd name="T10" fmla="*/ 41 w 127"/>
                <a:gd name="T11" fmla="*/ 97 h 142"/>
                <a:gd name="T12" fmla="*/ 56 w 127"/>
                <a:gd name="T13" fmla="*/ 114 h 142"/>
                <a:gd name="T14" fmla="*/ 96 w 127"/>
                <a:gd name="T15" fmla="*/ 114 h 142"/>
                <a:gd name="T16" fmla="*/ 108 w 127"/>
                <a:gd name="T17" fmla="*/ 142 h 142"/>
                <a:gd name="T18" fmla="*/ 127 w 127"/>
                <a:gd name="T19" fmla="*/ 142 h 142"/>
                <a:gd name="T20" fmla="*/ 69 w 127"/>
                <a:gd name="T21" fmla="*/ 0 h 142"/>
                <a:gd name="T22" fmla="*/ 56 w 127"/>
                <a:gd name="T2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42">
                  <a:moveTo>
                    <a:pt x="56" y="0"/>
                  </a:moveTo>
                  <a:cubicBezTo>
                    <a:pt x="0" y="142"/>
                    <a:pt x="0" y="142"/>
                    <a:pt x="0" y="142"/>
                  </a:cubicBezTo>
                  <a:cubicBezTo>
                    <a:pt x="18" y="142"/>
                    <a:pt x="18" y="142"/>
                    <a:pt x="18" y="142"/>
                  </a:cubicBezTo>
                  <a:cubicBezTo>
                    <a:pt x="18" y="142"/>
                    <a:pt x="60" y="34"/>
                    <a:pt x="62" y="30"/>
                  </a:cubicBezTo>
                  <a:cubicBezTo>
                    <a:pt x="63" y="34"/>
                    <a:pt x="88" y="95"/>
                    <a:pt x="89" y="97"/>
                  </a:cubicBezTo>
                  <a:cubicBezTo>
                    <a:pt x="87" y="97"/>
                    <a:pt x="41" y="97"/>
                    <a:pt x="41" y="97"/>
                  </a:cubicBezTo>
                  <a:cubicBezTo>
                    <a:pt x="56" y="114"/>
                    <a:pt x="56" y="114"/>
                    <a:pt x="56" y="114"/>
                  </a:cubicBezTo>
                  <a:cubicBezTo>
                    <a:pt x="56" y="114"/>
                    <a:pt x="95" y="114"/>
                    <a:pt x="96" y="114"/>
                  </a:cubicBezTo>
                  <a:cubicBezTo>
                    <a:pt x="96" y="115"/>
                    <a:pt x="108" y="142"/>
                    <a:pt x="108" y="142"/>
                  </a:cubicBezTo>
                  <a:cubicBezTo>
                    <a:pt x="127" y="142"/>
                    <a:pt x="127" y="142"/>
                    <a:pt x="127" y="142"/>
                  </a:cubicBezTo>
                  <a:cubicBezTo>
                    <a:pt x="69" y="0"/>
                    <a:pt x="69" y="0"/>
                    <a:pt x="69" y="0"/>
                  </a:cubicBezTo>
                  <a:lnTo>
                    <a:pt x="5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5">
              <a:extLst>
                <a:ext uri="{FF2B5EF4-FFF2-40B4-BE49-F238E27FC236}">
                  <a16:creationId xmlns:a16="http://schemas.microsoft.com/office/drawing/2014/main" id="{5B31AC2E-D4C0-4089-91B5-20EEF315A7C0}"/>
                </a:ext>
              </a:extLst>
            </p:cNvPr>
            <p:cNvSpPr>
              <a:spLocks/>
            </p:cNvSpPr>
            <p:nvPr userDrawn="1"/>
          </p:nvSpPr>
          <p:spPr bwMode="auto">
            <a:xfrm>
              <a:off x="4392613" y="3213100"/>
              <a:ext cx="295275" cy="431800"/>
            </a:xfrm>
            <a:custGeom>
              <a:avLst/>
              <a:gdLst>
                <a:gd name="T0" fmla="*/ 0 w 98"/>
                <a:gd name="T1" fmla="*/ 0 h 141"/>
                <a:gd name="T2" fmla="*/ 0 w 98"/>
                <a:gd name="T3" fmla="*/ 141 h 141"/>
                <a:gd name="T4" fmla="*/ 18 w 98"/>
                <a:gd name="T5" fmla="*/ 141 h 141"/>
                <a:gd name="T6" fmla="*/ 18 w 98"/>
                <a:gd name="T7" fmla="*/ 16 h 141"/>
                <a:gd name="T8" fmla="*/ 41 w 98"/>
                <a:gd name="T9" fmla="*/ 16 h 141"/>
                <a:gd name="T10" fmla="*/ 80 w 98"/>
                <a:gd name="T11" fmla="*/ 45 h 141"/>
                <a:gd name="T12" fmla="*/ 41 w 98"/>
                <a:gd name="T13" fmla="*/ 73 h 141"/>
                <a:gd name="T14" fmla="*/ 24 w 98"/>
                <a:gd name="T15" fmla="*/ 73 h 141"/>
                <a:gd name="T16" fmla="*/ 39 w 98"/>
                <a:gd name="T17" fmla="*/ 89 h 141"/>
                <a:gd name="T18" fmla="*/ 43 w 98"/>
                <a:gd name="T19" fmla="*/ 89 h 141"/>
                <a:gd name="T20" fmla="*/ 80 w 98"/>
                <a:gd name="T21" fmla="*/ 80 h 141"/>
                <a:gd name="T22" fmla="*/ 98 w 98"/>
                <a:gd name="T23" fmla="*/ 45 h 141"/>
                <a:gd name="T24" fmla="*/ 78 w 98"/>
                <a:gd name="T25" fmla="*/ 7 h 141"/>
                <a:gd name="T26" fmla="*/ 41 w 98"/>
                <a:gd name="T27" fmla="*/ 0 h 141"/>
                <a:gd name="T28" fmla="*/ 0 w 98"/>
                <a:gd name="T29"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 h="141">
                  <a:moveTo>
                    <a:pt x="0" y="0"/>
                  </a:moveTo>
                  <a:cubicBezTo>
                    <a:pt x="0" y="141"/>
                    <a:pt x="0" y="141"/>
                    <a:pt x="0" y="141"/>
                  </a:cubicBezTo>
                  <a:cubicBezTo>
                    <a:pt x="18" y="141"/>
                    <a:pt x="18" y="141"/>
                    <a:pt x="18" y="141"/>
                  </a:cubicBezTo>
                  <a:cubicBezTo>
                    <a:pt x="18" y="141"/>
                    <a:pt x="18" y="18"/>
                    <a:pt x="18" y="16"/>
                  </a:cubicBezTo>
                  <a:cubicBezTo>
                    <a:pt x="20" y="16"/>
                    <a:pt x="41" y="16"/>
                    <a:pt x="41" y="16"/>
                  </a:cubicBezTo>
                  <a:cubicBezTo>
                    <a:pt x="67" y="16"/>
                    <a:pt x="80" y="26"/>
                    <a:pt x="80" y="45"/>
                  </a:cubicBezTo>
                  <a:cubicBezTo>
                    <a:pt x="80" y="63"/>
                    <a:pt x="67" y="73"/>
                    <a:pt x="41" y="73"/>
                  </a:cubicBezTo>
                  <a:cubicBezTo>
                    <a:pt x="24" y="73"/>
                    <a:pt x="24" y="73"/>
                    <a:pt x="24" y="73"/>
                  </a:cubicBezTo>
                  <a:cubicBezTo>
                    <a:pt x="39" y="89"/>
                    <a:pt x="39" y="89"/>
                    <a:pt x="39" y="89"/>
                  </a:cubicBezTo>
                  <a:cubicBezTo>
                    <a:pt x="43" y="89"/>
                    <a:pt x="43" y="89"/>
                    <a:pt x="43" y="89"/>
                  </a:cubicBezTo>
                  <a:cubicBezTo>
                    <a:pt x="61" y="89"/>
                    <a:pt x="70" y="87"/>
                    <a:pt x="80" y="80"/>
                  </a:cubicBezTo>
                  <a:cubicBezTo>
                    <a:pt x="92" y="72"/>
                    <a:pt x="98" y="59"/>
                    <a:pt x="98" y="45"/>
                  </a:cubicBezTo>
                  <a:cubicBezTo>
                    <a:pt x="98" y="29"/>
                    <a:pt x="91" y="15"/>
                    <a:pt x="78" y="7"/>
                  </a:cubicBezTo>
                  <a:cubicBezTo>
                    <a:pt x="69" y="2"/>
                    <a:pt x="59" y="0"/>
                    <a:pt x="4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6">
              <a:extLst>
                <a:ext uri="{FF2B5EF4-FFF2-40B4-BE49-F238E27FC236}">
                  <a16:creationId xmlns:a16="http://schemas.microsoft.com/office/drawing/2014/main" id="{9AC98FA5-E653-4EDA-92B7-24E6254FB1EC}"/>
                </a:ext>
              </a:extLst>
            </p:cNvPr>
            <p:cNvSpPr>
              <a:spLocks/>
            </p:cNvSpPr>
            <p:nvPr userDrawn="1"/>
          </p:nvSpPr>
          <p:spPr bwMode="auto">
            <a:xfrm>
              <a:off x="5372100" y="3213100"/>
              <a:ext cx="292100" cy="434975"/>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4 w 97"/>
                <a:gd name="T19" fmla="*/ 142 h 142"/>
                <a:gd name="T20" fmla="*/ 97 w 97"/>
                <a:gd name="T21" fmla="*/ 142 h 142"/>
                <a:gd name="T22" fmla="*/ 53 w 97"/>
                <a:gd name="T23" fmla="*/ 88 h 142"/>
                <a:gd name="T24" fmla="*/ 76 w 97"/>
                <a:gd name="T25" fmla="*/ 80 h 142"/>
                <a:gd name="T26" fmla="*/ 94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40" y="73"/>
                    <a:pt x="23" y="73"/>
                    <a:pt x="23" y="73"/>
                  </a:cubicBezTo>
                  <a:cubicBezTo>
                    <a:pt x="25" y="76"/>
                    <a:pt x="25" y="76"/>
                    <a:pt x="25" y="76"/>
                  </a:cubicBezTo>
                  <a:cubicBezTo>
                    <a:pt x="25" y="76"/>
                    <a:pt x="74" y="142"/>
                    <a:pt x="74" y="142"/>
                  </a:cubicBezTo>
                  <a:cubicBezTo>
                    <a:pt x="97" y="142"/>
                    <a:pt x="97" y="142"/>
                    <a:pt x="97" y="142"/>
                  </a:cubicBezTo>
                  <a:cubicBezTo>
                    <a:pt x="97" y="142"/>
                    <a:pt x="55" y="90"/>
                    <a:pt x="53" y="88"/>
                  </a:cubicBezTo>
                  <a:cubicBezTo>
                    <a:pt x="63" y="86"/>
                    <a:pt x="70" y="84"/>
                    <a:pt x="76" y="80"/>
                  </a:cubicBezTo>
                  <a:cubicBezTo>
                    <a:pt x="88" y="72"/>
                    <a:pt x="94" y="59"/>
                    <a:pt x="94" y="45"/>
                  </a:cubicBezTo>
                  <a:cubicBezTo>
                    <a:pt x="94"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7">
              <a:extLst>
                <a:ext uri="{FF2B5EF4-FFF2-40B4-BE49-F238E27FC236}">
                  <a16:creationId xmlns:a16="http://schemas.microsoft.com/office/drawing/2014/main" id="{7AB31A0A-0613-411D-AB25-25BF10BAE8D9}"/>
                </a:ext>
              </a:extLst>
            </p:cNvPr>
            <p:cNvSpPr>
              <a:spLocks/>
            </p:cNvSpPr>
            <p:nvPr userDrawn="1"/>
          </p:nvSpPr>
          <p:spPr bwMode="auto">
            <a:xfrm>
              <a:off x="7415213" y="3213100"/>
              <a:ext cx="290513" cy="434975"/>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5 w 97"/>
                <a:gd name="T19" fmla="*/ 142 h 142"/>
                <a:gd name="T20" fmla="*/ 97 w 97"/>
                <a:gd name="T21" fmla="*/ 142 h 142"/>
                <a:gd name="T22" fmla="*/ 54 w 97"/>
                <a:gd name="T23" fmla="*/ 88 h 142"/>
                <a:gd name="T24" fmla="*/ 76 w 97"/>
                <a:gd name="T25" fmla="*/ 80 h 142"/>
                <a:gd name="T26" fmla="*/ 95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23" y="73"/>
                    <a:pt x="23" y="73"/>
                    <a:pt x="23" y="73"/>
                  </a:cubicBezTo>
                  <a:cubicBezTo>
                    <a:pt x="25" y="76"/>
                    <a:pt x="25" y="76"/>
                    <a:pt x="25" y="76"/>
                  </a:cubicBezTo>
                  <a:cubicBezTo>
                    <a:pt x="75" y="142"/>
                    <a:pt x="75" y="142"/>
                    <a:pt x="75" y="142"/>
                  </a:cubicBezTo>
                  <a:cubicBezTo>
                    <a:pt x="97" y="142"/>
                    <a:pt x="97" y="142"/>
                    <a:pt x="97" y="142"/>
                  </a:cubicBezTo>
                  <a:cubicBezTo>
                    <a:pt x="97" y="142"/>
                    <a:pt x="55" y="90"/>
                    <a:pt x="54" y="88"/>
                  </a:cubicBezTo>
                  <a:cubicBezTo>
                    <a:pt x="63" y="86"/>
                    <a:pt x="70" y="84"/>
                    <a:pt x="76" y="80"/>
                  </a:cubicBezTo>
                  <a:cubicBezTo>
                    <a:pt x="88" y="72"/>
                    <a:pt x="95" y="59"/>
                    <a:pt x="95" y="45"/>
                  </a:cubicBezTo>
                  <a:cubicBezTo>
                    <a:pt x="95"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076555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1 +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64544"/>
            <a:ext cx="9296400" cy="296863"/>
          </a:xfrm>
        </p:spPr>
        <p:txBody>
          <a:bodyPr lIns="0" rIns="0"/>
          <a:lstStyle>
            <a:lvl1pPr>
              <a:defRPr>
                <a:latin typeface="+mj-lt"/>
              </a:defRPr>
            </a:lvl1pPr>
          </a:lstStyle>
          <a:p>
            <a:r>
              <a:rPr lang="en-US" noProof="0"/>
              <a:t>Click to edit Master title style</a:t>
            </a:r>
            <a:endParaRPr lang="en-GB" noProof="0" dirty="0"/>
          </a:p>
        </p:txBody>
      </p:sp>
      <p:sp>
        <p:nvSpPr>
          <p:cNvPr id="3" name="Content Placeholder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1">
    <p:spTree>
      <p:nvGrpSpPr>
        <p:cNvPr id="1" name=""/>
        <p:cNvGrpSpPr/>
        <p:nvPr/>
      </p:nvGrpSpPr>
      <p:grpSpPr>
        <a:xfrm>
          <a:off x="0" y="0"/>
          <a:ext cx="0" cy="0"/>
          <a:chOff x="0" y="0"/>
          <a:chExt cx="0" cy="0"/>
        </a:xfrm>
      </p:grpSpPr>
      <p:sp>
        <p:nvSpPr>
          <p:cNvPr id="3" name="Title 1"/>
          <p:cNvSpPr>
            <a:spLocks noGrp="1"/>
          </p:cNvSpPr>
          <p:nvPr>
            <p:ph type="title"/>
          </p:nvPr>
        </p:nvSpPr>
        <p:spPr>
          <a:xfrm>
            <a:off x="304800" y="264544"/>
            <a:ext cx="9296400" cy="296863"/>
          </a:xfrm>
        </p:spPr>
        <p:txBody>
          <a:bodyPr lIns="0" rIns="0"/>
          <a:lstStyle>
            <a:lvl1pPr>
              <a:defRPr>
                <a:latin typeface="+mj-lt"/>
              </a:defRPr>
            </a:lvl1pPr>
          </a:lstStyle>
          <a:p>
            <a:r>
              <a:rPr lang="en-US" noProof="0"/>
              <a:t>Click to edit Master title style</a:t>
            </a:r>
            <a:endParaRPr lang="en-GB"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ack">
    <p:bg>
      <p:bgPr>
        <a:solidFill>
          <a:schemeClr val="accent1"/>
        </a:solidFill>
        <a:effectLst/>
      </p:bgPr>
    </p:bg>
    <p:spTree>
      <p:nvGrpSpPr>
        <p:cNvPr id="1" name=""/>
        <p:cNvGrpSpPr/>
        <p:nvPr/>
      </p:nvGrpSpPr>
      <p:grpSpPr>
        <a:xfrm>
          <a:off x="0" y="0"/>
          <a:ext cx="0" cy="0"/>
          <a:chOff x="0" y="0"/>
          <a:chExt cx="0" cy="0"/>
        </a:xfrm>
      </p:grpSpPr>
      <p:sp>
        <p:nvSpPr>
          <p:cNvPr id="2" name="TextBox 1"/>
          <p:cNvSpPr txBox="1"/>
          <p:nvPr userDrawn="1"/>
        </p:nvSpPr>
        <p:spPr>
          <a:xfrm>
            <a:off x="469900" y="6432098"/>
            <a:ext cx="8966200" cy="349702"/>
          </a:xfrm>
          <a:prstGeom prst="rect">
            <a:avLst/>
          </a:prstGeom>
          <a:noFill/>
          <a:ln>
            <a:noFill/>
          </a:ln>
        </p:spPr>
        <p:txBody>
          <a:bodyPr wrap="square" lIns="36000" tIns="36000" rIns="36000" bIns="36000" rtlCol="0" anchor="ctr" anchorCtr="0">
            <a:spAutoFit/>
          </a:bodyPr>
          <a:lstStyle/>
          <a:p>
            <a:r>
              <a:rPr lang="en-GB" sz="900" noProof="0" dirty="0">
                <a:solidFill>
                  <a:srgbClr val="FFFFFF"/>
                </a:solidFill>
                <a:latin typeface="+mj-lt"/>
              </a:rPr>
              <a:t>DISCLAIMER: This document has been prepared by Delta Partners ("DP") for the exclusive use of the client. This material must not be copied, reproduced, published, distributed, passed on or disclosed (in whole or in part) to any other person or used for any other purpose at any time without the prior written consent of DP</a:t>
            </a:r>
          </a:p>
        </p:txBody>
      </p:sp>
      <p:sp>
        <p:nvSpPr>
          <p:cNvPr id="4" name="TextBox 3"/>
          <p:cNvSpPr txBox="1"/>
          <p:nvPr userDrawn="1"/>
        </p:nvSpPr>
        <p:spPr bwMode="gray">
          <a:xfrm>
            <a:off x="4087377" y="6001060"/>
            <a:ext cx="1731243" cy="169277"/>
          </a:xfrm>
          <a:prstGeom prst="rect">
            <a:avLst/>
          </a:prstGeom>
          <a:noFill/>
          <a:ln w="25400" algn="ctr">
            <a:noFill/>
            <a:miter lim="800000"/>
            <a:headEnd/>
            <a:tailEnd/>
          </a:ln>
        </p:spPr>
        <p:txBody>
          <a:bodyPr wrap="none" lIns="0" tIns="0" rIns="0" bIns="0" rtlCol="0" anchor="ctr">
            <a:spAutoFit/>
          </a:bodyPr>
          <a:lstStyle/>
          <a:p>
            <a:pPr>
              <a:spcBef>
                <a:spcPct val="0"/>
              </a:spcBef>
              <a:buSzPct val="100000"/>
            </a:pPr>
            <a:r>
              <a:rPr lang="en-GB" sz="1100" b="0" noProof="0" dirty="0">
                <a:solidFill>
                  <a:schemeClr val="bg1"/>
                </a:solidFill>
                <a:latin typeface="+mj-lt"/>
              </a:rPr>
              <a:t>www.deltapartnersgroup.com</a:t>
            </a:r>
          </a:p>
        </p:txBody>
      </p:sp>
      <p:grpSp>
        <p:nvGrpSpPr>
          <p:cNvPr id="51" name="Group 50">
            <a:extLst>
              <a:ext uri="{FF2B5EF4-FFF2-40B4-BE49-F238E27FC236}">
                <a16:creationId xmlns:a16="http://schemas.microsoft.com/office/drawing/2014/main" id="{4587CA22-F2FF-4DB8-B468-7834CAA5CF9A}"/>
              </a:ext>
            </a:extLst>
          </p:cNvPr>
          <p:cNvGrpSpPr/>
          <p:nvPr userDrawn="1"/>
        </p:nvGrpSpPr>
        <p:grpSpPr>
          <a:xfrm>
            <a:off x="3016116" y="3158623"/>
            <a:ext cx="3873768" cy="543553"/>
            <a:chOff x="292100" y="1103094"/>
            <a:chExt cx="6426201" cy="901701"/>
          </a:xfrm>
          <a:solidFill>
            <a:schemeClr val="bg1"/>
          </a:solidFill>
        </p:grpSpPr>
        <p:sp>
          <p:nvSpPr>
            <p:cNvPr id="14" name="Freeform 5">
              <a:extLst>
                <a:ext uri="{FF2B5EF4-FFF2-40B4-BE49-F238E27FC236}">
                  <a16:creationId xmlns:a16="http://schemas.microsoft.com/office/drawing/2014/main" id="{4D57CBBE-D2DF-4A94-90A9-E091D32B36E6}"/>
                </a:ext>
              </a:extLst>
            </p:cNvPr>
            <p:cNvSpPr>
              <a:spLocks/>
            </p:cNvSpPr>
            <p:nvPr userDrawn="1"/>
          </p:nvSpPr>
          <p:spPr bwMode="auto">
            <a:xfrm>
              <a:off x="817563" y="1109444"/>
              <a:ext cx="242888" cy="427038"/>
            </a:xfrm>
            <a:custGeom>
              <a:avLst/>
              <a:gdLst>
                <a:gd name="T0" fmla="*/ 0 w 81"/>
                <a:gd name="T1" fmla="*/ 0 h 141"/>
                <a:gd name="T2" fmla="*/ 0 w 81"/>
                <a:gd name="T3" fmla="*/ 141 h 141"/>
                <a:gd name="T4" fmla="*/ 81 w 81"/>
                <a:gd name="T5" fmla="*/ 141 h 141"/>
                <a:gd name="T6" fmla="*/ 81 w 81"/>
                <a:gd name="T7" fmla="*/ 125 h 141"/>
                <a:gd name="T8" fmla="*/ 18 w 81"/>
                <a:gd name="T9" fmla="*/ 125 h 141"/>
                <a:gd name="T10" fmla="*/ 18 w 81"/>
                <a:gd name="T11" fmla="*/ 78 h 141"/>
                <a:gd name="T12" fmla="*/ 76 w 81"/>
                <a:gd name="T13" fmla="*/ 78 h 141"/>
                <a:gd name="T14" fmla="*/ 76 w 81"/>
                <a:gd name="T15" fmla="*/ 62 h 141"/>
                <a:gd name="T16" fmla="*/ 18 w 81"/>
                <a:gd name="T17" fmla="*/ 62 h 141"/>
                <a:gd name="T18" fmla="*/ 18 w 81"/>
                <a:gd name="T19" fmla="*/ 16 h 141"/>
                <a:gd name="T20" fmla="*/ 79 w 81"/>
                <a:gd name="T21" fmla="*/ 16 h 141"/>
                <a:gd name="T22" fmla="*/ 79 w 81"/>
                <a:gd name="T23" fmla="*/ 0 h 141"/>
                <a:gd name="T24" fmla="*/ 0 w 81"/>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141">
                  <a:moveTo>
                    <a:pt x="0" y="0"/>
                  </a:moveTo>
                  <a:cubicBezTo>
                    <a:pt x="0" y="141"/>
                    <a:pt x="0" y="141"/>
                    <a:pt x="0" y="141"/>
                  </a:cubicBezTo>
                  <a:cubicBezTo>
                    <a:pt x="81" y="141"/>
                    <a:pt x="81" y="141"/>
                    <a:pt x="81" y="141"/>
                  </a:cubicBezTo>
                  <a:cubicBezTo>
                    <a:pt x="81" y="125"/>
                    <a:pt x="81" y="125"/>
                    <a:pt x="81" y="125"/>
                  </a:cubicBezTo>
                  <a:cubicBezTo>
                    <a:pt x="81" y="125"/>
                    <a:pt x="19" y="125"/>
                    <a:pt x="18" y="125"/>
                  </a:cubicBezTo>
                  <a:cubicBezTo>
                    <a:pt x="18" y="123"/>
                    <a:pt x="18" y="80"/>
                    <a:pt x="18" y="78"/>
                  </a:cubicBezTo>
                  <a:cubicBezTo>
                    <a:pt x="19" y="78"/>
                    <a:pt x="76" y="78"/>
                    <a:pt x="76" y="78"/>
                  </a:cubicBezTo>
                  <a:cubicBezTo>
                    <a:pt x="76" y="62"/>
                    <a:pt x="76" y="62"/>
                    <a:pt x="76" y="62"/>
                  </a:cubicBezTo>
                  <a:cubicBezTo>
                    <a:pt x="76" y="62"/>
                    <a:pt x="19" y="62"/>
                    <a:pt x="18" y="62"/>
                  </a:cubicBezTo>
                  <a:cubicBezTo>
                    <a:pt x="18" y="60"/>
                    <a:pt x="18" y="18"/>
                    <a:pt x="18" y="16"/>
                  </a:cubicBezTo>
                  <a:cubicBezTo>
                    <a:pt x="19"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6">
              <a:extLst>
                <a:ext uri="{FF2B5EF4-FFF2-40B4-BE49-F238E27FC236}">
                  <a16:creationId xmlns:a16="http://schemas.microsoft.com/office/drawing/2014/main" id="{BD099A70-8B1E-4AE0-B8F9-A2AAE15E23E2}"/>
                </a:ext>
              </a:extLst>
            </p:cNvPr>
            <p:cNvSpPr>
              <a:spLocks/>
            </p:cNvSpPr>
            <p:nvPr userDrawn="1"/>
          </p:nvSpPr>
          <p:spPr bwMode="auto">
            <a:xfrm>
              <a:off x="5480050" y="1106269"/>
              <a:ext cx="246063" cy="427038"/>
            </a:xfrm>
            <a:custGeom>
              <a:avLst/>
              <a:gdLst>
                <a:gd name="T0" fmla="*/ 0 w 82"/>
                <a:gd name="T1" fmla="*/ 0 h 141"/>
                <a:gd name="T2" fmla="*/ 0 w 82"/>
                <a:gd name="T3" fmla="*/ 141 h 141"/>
                <a:gd name="T4" fmla="*/ 82 w 82"/>
                <a:gd name="T5" fmla="*/ 141 h 141"/>
                <a:gd name="T6" fmla="*/ 82 w 82"/>
                <a:gd name="T7" fmla="*/ 125 h 141"/>
                <a:gd name="T8" fmla="*/ 18 w 82"/>
                <a:gd name="T9" fmla="*/ 125 h 141"/>
                <a:gd name="T10" fmla="*/ 18 w 82"/>
                <a:gd name="T11" fmla="*/ 78 h 141"/>
                <a:gd name="T12" fmla="*/ 77 w 82"/>
                <a:gd name="T13" fmla="*/ 78 h 141"/>
                <a:gd name="T14" fmla="*/ 77 w 82"/>
                <a:gd name="T15" fmla="*/ 62 h 141"/>
                <a:gd name="T16" fmla="*/ 18 w 82"/>
                <a:gd name="T17" fmla="*/ 62 h 141"/>
                <a:gd name="T18" fmla="*/ 18 w 82"/>
                <a:gd name="T19" fmla="*/ 16 h 141"/>
                <a:gd name="T20" fmla="*/ 79 w 82"/>
                <a:gd name="T21" fmla="*/ 16 h 141"/>
                <a:gd name="T22" fmla="*/ 79 w 82"/>
                <a:gd name="T23" fmla="*/ 0 h 141"/>
                <a:gd name="T24" fmla="*/ 0 w 82"/>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 h="141">
                  <a:moveTo>
                    <a:pt x="0" y="0"/>
                  </a:moveTo>
                  <a:cubicBezTo>
                    <a:pt x="0" y="141"/>
                    <a:pt x="0" y="141"/>
                    <a:pt x="0" y="141"/>
                  </a:cubicBezTo>
                  <a:cubicBezTo>
                    <a:pt x="82" y="141"/>
                    <a:pt x="82" y="141"/>
                    <a:pt x="82" y="141"/>
                  </a:cubicBezTo>
                  <a:cubicBezTo>
                    <a:pt x="82" y="125"/>
                    <a:pt x="82" y="125"/>
                    <a:pt x="82" y="125"/>
                  </a:cubicBezTo>
                  <a:cubicBezTo>
                    <a:pt x="82" y="125"/>
                    <a:pt x="20" y="125"/>
                    <a:pt x="18" y="125"/>
                  </a:cubicBezTo>
                  <a:cubicBezTo>
                    <a:pt x="18" y="123"/>
                    <a:pt x="18" y="80"/>
                    <a:pt x="18" y="78"/>
                  </a:cubicBezTo>
                  <a:cubicBezTo>
                    <a:pt x="20" y="78"/>
                    <a:pt x="77" y="78"/>
                    <a:pt x="77" y="78"/>
                  </a:cubicBezTo>
                  <a:cubicBezTo>
                    <a:pt x="77" y="62"/>
                    <a:pt x="77" y="62"/>
                    <a:pt x="77" y="62"/>
                  </a:cubicBezTo>
                  <a:cubicBezTo>
                    <a:pt x="77" y="62"/>
                    <a:pt x="20" y="62"/>
                    <a:pt x="18" y="62"/>
                  </a:cubicBezTo>
                  <a:cubicBezTo>
                    <a:pt x="18" y="61"/>
                    <a:pt x="18" y="18"/>
                    <a:pt x="18" y="16"/>
                  </a:cubicBezTo>
                  <a:cubicBezTo>
                    <a:pt x="20"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7">
              <a:extLst>
                <a:ext uri="{FF2B5EF4-FFF2-40B4-BE49-F238E27FC236}">
                  <a16:creationId xmlns:a16="http://schemas.microsoft.com/office/drawing/2014/main" id="{4E1C7314-70FA-4B11-9876-042D649A0CB2}"/>
                </a:ext>
              </a:extLst>
            </p:cNvPr>
            <p:cNvSpPr>
              <a:spLocks/>
            </p:cNvSpPr>
            <p:nvPr userDrawn="1"/>
          </p:nvSpPr>
          <p:spPr bwMode="auto">
            <a:xfrm>
              <a:off x="1295400" y="1109444"/>
              <a:ext cx="239713" cy="427038"/>
            </a:xfrm>
            <a:custGeom>
              <a:avLst/>
              <a:gdLst>
                <a:gd name="T0" fmla="*/ 0 w 80"/>
                <a:gd name="T1" fmla="*/ 0 h 141"/>
                <a:gd name="T2" fmla="*/ 0 w 80"/>
                <a:gd name="T3" fmla="*/ 141 h 141"/>
                <a:gd name="T4" fmla="*/ 80 w 80"/>
                <a:gd name="T5" fmla="*/ 141 h 141"/>
                <a:gd name="T6" fmla="*/ 80 w 80"/>
                <a:gd name="T7" fmla="*/ 125 h 141"/>
                <a:gd name="T8" fmla="*/ 18 w 80"/>
                <a:gd name="T9" fmla="*/ 125 h 141"/>
                <a:gd name="T10" fmla="*/ 18 w 80"/>
                <a:gd name="T11" fmla="*/ 0 h 141"/>
                <a:gd name="T12" fmla="*/ 0 w 80"/>
                <a:gd name="T13" fmla="*/ 0 h 141"/>
              </a:gdLst>
              <a:ahLst/>
              <a:cxnLst>
                <a:cxn ang="0">
                  <a:pos x="T0" y="T1"/>
                </a:cxn>
                <a:cxn ang="0">
                  <a:pos x="T2" y="T3"/>
                </a:cxn>
                <a:cxn ang="0">
                  <a:pos x="T4" y="T5"/>
                </a:cxn>
                <a:cxn ang="0">
                  <a:pos x="T6" y="T7"/>
                </a:cxn>
                <a:cxn ang="0">
                  <a:pos x="T8" y="T9"/>
                </a:cxn>
                <a:cxn ang="0">
                  <a:pos x="T10" y="T11"/>
                </a:cxn>
                <a:cxn ang="0">
                  <a:pos x="T12" y="T13"/>
                </a:cxn>
              </a:cxnLst>
              <a:rect l="0" t="0" r="r" b="b"/>
              <a:pathLst>
                <a:path w="80" h="141">
                  <a:moveTo>
                    <a:pt x="0" y="0"/>
                  </a:moveTo>
                  <a:cubicBezTo>
                    <a:pt x="0" y="141"/>
                    <a:pt x="0" y="141"/>
                    <a:pt x="0" y="141"/>
                  </a:cubicBezTo>
                  <a:cubicBezTo>
                    <a:pt x="80" y="141"/>
                    <a:pt x="80" y="141"/>
                    <a:pt x="80" y="141"/>
                  </a:cubicBezTo>
                  <a:cubicBezTo>
                    <a:pt x="80" y="125"/>
                    <a:pt x="80" y="125"/>
                    <a:pt x="80" y="125"/>
                  </a:cubicBezTo>
                  <a:cubicBezTo>
                    <a:pt x="80" y="125"/>
                    <a:pt x="19" y="125"/>
                    <a:pt x="18" y="125"/>
                  </a:cubicBezTo>
                  <a:cubicBezTo>
                    <a:pt x="18" y="123"/>
                    <a:pt x="18" y="0"/>
                    <a:pt x="18"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8">
              <a:extLst>
                <a:ext uri="{FF2B5EF4-FFF2-40B4-BE49-F238E27FC236}">
                  <a16:creationId xmlns:a16="http://schemas.microsoft.com/office/drawing/2014/main" id="{B1CDB25E-E4D8-4D9E-AF0E-FB4B1098CE97}"/>
                </a:ext>
              </a:extLst>
            </p:cNvPr>
            <p:cNvSpPr>
              <a:spLocks/>
            </p:cNvSpPr>
            <p:nvPr userDrawn="1"/>
          </p:nvSpPr>
          <p:spPr bwMode="auto">
            <a:xfrm>
              <a:off x="1649413" y="1109444"/>
              <a:ext cx="333375" cy="427038"/>
            </a:xfrm>
            <a:custGeom>
              <a:avLst/>
              <a:gdLst>
                <a:gd name="T0" fmla="*/ 0 w 111"/>
                <a:gd name="T1" fmla="*/ 0 h 141"/>
                <a:gd name="T2" fmla="*/ 0 w 111"/>
                <a:gd name="T3" fmla="*/ 16 h 141"/>
                <a:gd name="T4" fmla="*/ 47 w 111"/>
                <a:gd name="T5" fmla="*/ 16 h 141"/>
                <a:gd name="T6" fmla="*/ 47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7" y="16"/>
                  </a:cubicBezTo>
                  <a:cubicBezTo>
                    <a:pt x="47" y="18"/>
                    <a:pt x="47" y="141"/>
                    <a:pt x="47"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9">
              <a:extLst>
                <a:ext uri="{FF2B5EF4-FFF2-40B4-BE49-F238E27FC236}">
                  <a16:creationId xmlns:a16="http://schemas.microsoft.com/office/drawing/2014/main" id="{E3809010-CD85-4609-9A26-55BD50AF4702}"/>
                </a:ext>
              </a:extLst>
            </p:cNvPr>
            <p:cNvSpPr>
              <a:spLocks/>
            </p:cNvSpPr>
            <p:nvPr userDrawn="1"/>
          </p:nvSpPr>
          <p:spPr bwMode="auto">
            <a:xfrm>
              <a:off x="4389438" y="1106269"/>
              <a:ext cx="333375" cy="427038"/>
            </a:xfrm>
            <a:custGeom>
              <a:avLst/>
              <a:gdLst>
                <a:gd name="T0" fmla="*/ 0 w 111"/>
                <a:gd name="T1" fmla="*/ 0 h 141"/>
                <a:gd name="T2" fmla="*/ 0 w 111"/>
                <a:gd name="T3" fmla="*/ 16 h 141"/>
                <a:gd name="T4" fmla="*/ 46 w 111"/>
                <a:gd name="T5" fmla="*/ 16 h 141"/>
                <a:gd name="T6" fmla="*/ 46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6" y="16"/>
                  </a:cubicBezTo>
                  <a:cubicBezTo>
                    <a:pt x="46" y="18"/>
                    <a:pt x="46" y="141"/>
                    <a:pt x="46"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0">
              <a:extLst>
                <a:ext uri="{FF2B5EF4-FFF2-40B4-BE49-F238E27FC236}">
                  <a16:creationId xmlns:a16="http://schemas.microsoft.com/office/drawing/2014/main" id="{CD1409B7-482C-4986-9335-0B5CADBDD2DF}"/>
                </a:ext>
              </a:extLst>
            </p:cNvPr>
            <p:cNvSpPr>
              <a:spLocks/>
            </p:cNvSpPr>
            <p:nvPr userDrawn="1"/>
          </p:nvSpPr>
          <p:spPr bwMode="auto">
            <a:xfrm>
              <a:off x="4914900" y="1106269"/>
              <a:ext cx="322263" cy="430213"/>
            </a:xfrm>
            <a:custGeom>
              <a:avLst/>
              <a:gdLst>
                <a:gd name="T0" fmla="*/ 0 w 107"/>
                <a:gd name="T1" fmla="*/ 0 h 142"/>
                <a:gd name="T2" fmla="*/ 0 w 107"/>
                <a:gd name="T3" fmla="*/ 142 h 142"/>
                <a:gd name="T4" fmla="*/ 17 w 107"/>
                <a:gd name="T5" fmla="*/ 142 h 142"/>
                <a:gd name="T6" fmla="*/ 17 w 107"/>
                <a:gd name="T7" fmla="*/ 59 h 142"/>
                <a:gd name="T8" fmla="*/ 17 w 107"/>
                <a:gd name="T9" fmla="*/ 28 h 142"/>
                <a:gd name="T10" fmla="*/ 31 w 107"/>
                <a:gd name="T11" fmla="*/ 53 h 142"/>
                <a:gd name="T12" fmla="*/ 87 w 107"/>
                <a:gd name="T13" fmla="*/ 142 h 142"/>
                <a:gd name="T14" fmla="*/ 106 w 107"/>
                <a:gd name="T15" fmla="*/ 142 h 142"/>
                <a:gd name="T16" fmla="*/ 107 w 107"/>
                <a:gd name="T17" fmla="*/ 0 h 142"/>
                <a:gd name="T18" fmla="*/ 89 w 107"/>
                <a:gd name="T19" fmla="*/ 0 h 142"/>
                <a:gd name="T20" fmla="*/ 89 w 107"/>
                <a:gd name="T21" fmla="*/ 113 h 142"/>
                <a:gd name="T22" fmla="*/ 20 w 107"/>
                <a:gd name="T23" fmla="*/ 0 h 142"/>
                <a:gd name="T24" fmla="*/ 0 w 107"/>
                <a:gd name="T25"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7" h="142">
                  <a:moveTo>
                    <a:pt x="0" y="0"/>
                  </a:moveTo>
                  <a:cubicBezTo>
                    <a:pt x="0" y="142"/>
                    <a:pt x="0" y="142"/>
                    <a:pt x="0" y="142"/>
                  </a:cubicBezTo>
                  <a:cubicBezTo>
                    <a:pt x="17" y="142"/>
                    <a:pt x="17" y="142"/>
                    <a:pt x="17" y="142"/>
                  </a:cubicBezTo>
                  <a:cubicBezTo>
                    <a:pt x="17" y="59"/>
                    <a:pt x="17" y="59"/>
                    <a:pt x="17" y="59"/>
                  </a:cubicBezTo>
                  <a:cubicBezTo>
                    <a:pt x="17" y="59"/>
                    <a:pt x="17" y="33"/>
                    <a:pt x="17" y="28"/>
                  </a:cubicBezTo>
                  <a:cubicBezTo>
                    <a:pt x="20" y="32"/>
                    <a:pt x="31" y="53"/>
                    <a:pt x="31" y="53"/>
                  </a:cubicBezTo>
                  <a:cubicBezTo>
                    <a:pt x="31" y="53"/>
                    <a:pt x="87" y="142"/>
                    <a:pt x="87" y="142"/>
                  </a:cubicBezTo>
                  <a:cubicBezTo>
                    <a:pt x="106" y="142"/>
                    <a:pt x="106" y="142"/>
                    <a:pt x="106" y="142"/>
                  </a:cubicBezTo>
                  <a:cubicBezTo>
                    <a:pt x="107" y="0"/>
                    <a:pt x="107" y="0"/>
                    <a:pt x="107" y="0"/>
                  </a:cubicBezTo>
                  <a:cubicBezTo>
                    <a:pt x="89" y="0"/>
                    <a:pt x="89" y="0"/>
                    <a:pt x="89" y="0"/>
                  </a:cubicBezTo>
                  <a:cubicBezTo>
                    <a:pt x="89" y="0"/>
                    <a:pt x="89" y="108"/>
                    <a:pt x="89" y="113"/>
                  </a:cubicBezTo>
                  <a:cubicBezTo>
                    <a:pt x="86" y="108"/>
                    <a:pt x="20" y="0"/>
                    <a:pt x="20"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1">
              <a:extLst>
                <a:ext uri="{FF2B5EF4-FFF2-40B4-BE49-F238E27FC236}">
                  <a16:creationId xmlns:a16="http://schemas.microsoft.com/office/drawing/2014/main" id="{09F00C11-FF2E-4528-9034-E320B13997F2}"/>
                </a:ext>
              </a:extLst>
            </p:cNvPr>
            <p:cNvSpPr>
              <a:spLocks/>
            </p:cNvSpPr>
            <p:nvPr userDrawn="1"/>
          </p:nvSpPr>
          <p:spPr bwMode="auto">
            <a:xfrm>
              <a:off x="6478588" y="1103094"/>
              <a:ext cx="239713" cy="433388"/>
            </a:xfrm>
            <a:custGeom>
              <a:avLst/>
              <a:gdLst>
                <a:gd name="T0" fmla="*/ 0 w 80"/>
                <a:gd name="T1" fmla="*/ 37 h 143"/>
                <a:gd name="T2" fmla="*/ 34 w 80"/>
                <a:gd name="T3" fmla="*/ 77 h 143"/>
                <a:gd name="T4" fmla="*/ 61 w 80"/>
                <a:gd name="T5" fmla="*/ 104 h 143"/>
                <a:gd name="T6" fmla="*/ 34 w 80"/>
                <a:gd name="T7" fmla="*/ 127 h 143"/>
                <a:gd name="T8" fmla="*/ 5 w 80"/>
                <a:gd name="T9" fmla="*/ 119 h 143"/>
                <a:gd name="T10" fmla="*/ 2 w 80"/>
                <a:gd name="T11" fmla="*/ 118 h 143"/>
                <a:gd name="T12" fmla="*/ 0 w 80"/>
                <a:gd name="T13" fmla="*/ 137 h 143"/>
                <a:gd name="T14" fmla="*/ 2 w 80"/>
                <a:gd name="T15" fmla="*/ 138 h 143"/>
                <a:gd name="T16" fmla="*/ 34 w 80"/>
                <a:gd name="T17" fmla="*/ 143 h 143"/>
                <a:gd name="T18" fmla="*/ 80 w 80"/>
                <a:gd name="T19" fmla="*/ 103 h 143"/>
                <a:gd name="T20" fmla="*/ 44 w 80"/>
                <a:gd name="T21" fmla="*/ 62 h 143"/>
                <a:gd name="T22" fmla="*/ 18 w 80"/>
                <a:gd name="T23" fmla="*/ 36 h 143"/>
                <a:gd name="T24" fmla="*/ 44 w 80"/>
                <a:gd name="T25" fmla="*/ 17 h 143"/>
                <a:gd name="T26" fmla="*/ 68 w 80"/>
                <a:gd name="T27" fmla="*/ 22 h 143"/>
                <a:gd name="T28" fmla="*/ 71 w 80"/>
                <a:gd name="T29" fmla="*/ 24 h 143"/>
                <a:gd name="T30" fmla="*/ 74 w 80"/>
                <a:gd name="T31" fmla="*/ 6 h 143"/>
                <a:gd name="T32" fmla="*/ 72 w 80"/>
                <a:gd name="T33" fmla="*/ 5 h 143"/>
                <a:gd name="T34" fmla="*/ 44 w 80"/>
                <a:gd name="T35" fmla="*/ 0 h 143"/>
                <a:gd name="T36" fmla="*/ 0 w 80"/>
                <a:gd name="T37" fmla="*/ 3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143">
                  <a:moveTo>
                    <a:pt x="0" y="37"/>
                  </a:moveTo>
                  <a:cubicBezTo>
                    <a:pt x="0" y="59"/>
                    <a:pt x="17" y="68"/>
                    <a:pt x="34" y="77"/>
                  </a:cubicBezTo>
                  <a:cubicBezTo>
                    <a:pt x="48" y="84"/>
                    <a:pt x="61" y="90"/>
                    <a:pt x="61" y="104"/>
                  </a:cubicBezTo>
                  <a:cubicBezTo>
                    <a:pt x="61" y="118"/>
                    <a:pt x="50" y="127"/>
                    <a:pt x="34" y="127"/>
                  </a:cubicBezTo>
                  <a:cubicBezTo>
                    <a:pt x="24" y="127"/>
                    <a:pt x="16" y="125"/>
                    <a:pt x="5" y="119"/>
                  </a:cubicBezTo>
                  <a:cubicBezTo>
                    <a:pt x="2" y="118"/>
                    <a:pt x="2" y="118"/>
                    <a:pt x="2" y="118"/>
                  </a:cubicBezTo>
                  <a:cubicBezTo>
                    <a:pt x="0" y="137"/>
                    <a:pt x="0" y="137"/>
                    <a:pt x="0" y="137"/>
                  </a:cubicBezTo>
                  <a:cubicBezTo>
                    <a:pt x="2" y="138"/>
                    <a:pt x="2" y="138"/>
                    <a:pt x="2" y="138"/>
                  </a:cubicBezTo>
                  <a:cubicBezTo>
                    <a:pt x="13" y="142"/>
                    <a:pt x="23" y="143"/>
                    <a:pt x="34" y="143"/>
                  </a:cubicBezTo>
                  <a:cubicBezTo>
                    <a:pt x="61" y="143"/>
                    <a:pt x="80" y="127"/>
                    <a:pt x="80" y="103"/>
                  </a:cubicBezTo>
                  <a:cubicBezTo>
                    <a:pt x="80" y="80"/>
                    <a:pt x="61" y="70"/>
                    <a:pt x="44" y="62"/>
                  </a:cubicBezTo>
                  <a:cubicBezTo>
                    <a:pt x="31" y="55"/>
                    <a:pt x="18" y="48"/>
                    <a:pt x="18" y="36"/>
                  </a:cubicBezTo>
                  <a:cubicBezTo>
                    <a:pt x="18" y="25"/>
                    <a:pt x="29" y="17"/>
                    <a:pt x="44" y="17"/>
                  </a:cubicBezTo>
                  <a:cubicBezTo>
                    <a:pt x="52" y="17"/>
                    <a:pt x="60" y="19"/>
                    <a:pt x="68" y="22"/>
                  </a:cubicBezTo>
                  <a:cubicBezTo>
                    <a:pt x="71" y="24"/>
                    <a:pt x="71" y="24"/>
                    <a:pt x="71" y="24"/>
                  </a:cubicBezTo>
                  <a:cubicBezTo>
                    <a:pt x="74" y="6"/>
                    <a:pt x="74" y="6"/>
                    <a:pt x="74" y="6"/>
                  </a:cubicBezTo>
                  <a:cubicBezTo>
                    <a:pt x="72" y="5"/>
                    <a:pt x="72" y="5"/>
                    <a:pt x="72" y="5"/>
                  </a:cubicBezTo>
                  <a:cubicBezTo>
                    <a:pt x="62" y="2"/>
                    <a:pt x="53" y="0"/>
                    <a:pt x="44" y="0"/>
                  </a:cubicBezTo>
                  <a:cubicBezTo>
                    <a:pt x="16" y="0"/>
                    <a:pt x="0" y="14"/>
                    <a:pt x="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2">
              <a:extLst>
                <a:ext uri="{FF2B5EF4-FFF2-40B4-BE49-F238E27FC236}">
                  <a16:creationId xmlns:a16="http://schemas.microsoft.com/office/drawing/2014/main" id="{AAF815FD-C992-4016-97DA-2A5FEE2B2E8C}"/>
                </a:ext>
              </a:extLst>
            </p:cNvPr>
            <p:cNvSpPr>
              <a:spLocks/>
            </p:cNvSpPr>
            <p:nvPr userDrawn="1"/>
          </p:nvSpPr>
          <p:spPr bwMode="auto">
            <a:xfrm>
              <a:off x="292100" y="1109444"/>
              <a:ext cx="330200" cy="427038"/>
            </a:xfrm>
            <a:custGeom>
              <a:avLst/>
              <a:gdLst>
                <a:gd name="T0" fmla="*/ 0 w 110"/>
                <a:gd name="T1" fmla="*/ 0 h 141"/>
                <a:gd name="T2" fmla="*/ 0 w 110"/>
                <a:gd name="T3" fmla="*/ 141 h 141"/>
                <a:gd name="T4" fmla="*/ 18 w 110"/>
                <a:gd name="T5" fmla="*/ 141 h 141"/>
                <a:gd name="T6" fmla="*/ 18 w 110"/>
                <a:gd name="T7" fmla="*/ 16 h 141"/>
                <a:gd name="T8" fmla="*/ 30 w 110"/>
                <a:gd name="T9" fmla="*/ 16 h 141"/>
                <a:gd name="T10" fmla="*/ 68 w 110"/>
                <a:gd name="T11" fmla="*/ 24 h 141"/>
                <a:gd name="T12" fmla="*/ 91 w 110"/>
                <a:gd name="T13" fmla="*/ 71 h 141"/>
                <a:gd name="T14" fmla="*/ 36 w 110"/>
                <a:gd name="T15" fmla="*/ 125 h 141"/>
                <a:gd name="T16" fmla="*/ 24 w 110"/>
                <a:gd name="T17" fmla="*/ 126 h 141"/>
                <a:gd name="T18" fmla="*/ 38 w 110"/>
                <a:gd name="T19" fmla="*/ 141 h 141"/>
                <a:gd name="T20" fmla="*/ 41 w 110"/>
                <a:gd name="T21" fmla="*/ 141 h 141"/>
                <a:gd name="T22" fmla="*/ 78 w 110"/>
                <a:gd name="T23" fmla="*/ 131 h 141"/>
                <a:gd name="T24" fmla="*/ 110 w 110"/>
                <a:gd name="T25" fmla="*/ 71 h 141"/>
                <a:gd name="T26" fmla="*/ 77 w 110"/>
                <a:gd name="T27" fmla="*/ 9 h 141"/>
                <a:gd name="T28" fmla="*/ 23 w 110"/>
                <a:gd name="T29" fmla="*/ 0 h 141"/>
                <a:gd name="T30" fmla="*/ 0 w 110"/>
                <a:gd name="T3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41">
                  <a:moveTo>
                    <a:pt x="0" y="0"/>
                  </a:moveTo>
                  <a:cubicBezTo>
                    <a:pt x="0" y="141"/>
                    <a:pt x="0" y="141"/>
                    <a:pt x="0" y="141"/>
                  </a:cubicBezTo>
                  <a:cubicBezTo>
                    <a:pt x="18" y="141"/>
                    <a:pt x="18" y="141"/>
                    <a:pt x="18" y="141"/>
                  </a:cubicBezTo>
                  <a:cubicBezTo>
                    <a:pt x="18" y="141"/>
                    <a:pt x="18" y="18"/>
                    <a:pt x="18" y="16"/>
                  </a:cubicBezTo>
                  <a:cubicBezTo>
                    <a:pt x="20" y="16"/>
                    <a:pt x="30" y="16"/>
                    <a:pt x="30" y="16"/>
                  </a:cubicBezTo>
                  <a:cubicBezTo>
                    <a:pt x="48" y="16"/>
                    <a:pt x="58" y="19"/>
                    <a:pt x="68" y="24"/>
                  </a:cubicBezTo>
                  <a:cubicBezTo>
                    <a:pt x="82" y="33"/>
                    <a:pt x="91" y="50"/>
                    <a:pt x="91" y="71"/>
                  </a:cubicBezTo>
                  <a:cubicBezTo>
                    <a:pt x="91" y="104"/>
                    <a:pt x="71" y="123"/>
                    <a:pt x="36" y="125"/>
                  </a:cubicBezTo>
                  <a:cubicBezTo>
                    <a:pt x="34" y="125"/>
                    <a:pt x="24" y="126"/>
                    <a:pt x="24" y="126"/>
                  </a:cubicBezTo>
                  <a:cubicBezTo>
                    <a:pt x="38" y="141"/>
                    <a:pt x="38" y="141"/>
                    <a:pt x="38" y="141"/>
                  </a:cubicBezTo>
                  <a:cubicBezTo>
                    <a:pt x="41" y="141"/>
                    <a:pt x="41" y="141"/>
                    <a:pt x="41" y="141"/>
                  </a:cubicBezTo>
                  <a:cubicBezTo>
                    <a:pt x="58" y="139"/>
                    <a:pt x="68" y="137"/>
                    <a:pt x="78" y="131"/>
                  </a:cubicBezTo>
                  <a:cubicBezTo>
                    <a:pt x="98" y="119"/>
                    <a:pt x="110" y="98"/>
                    <a:pt x="110" y="71"/>
                  </a:cubicBezTo>
                  <a:cubicBezTo>
                    <a:pt x="110" y="44"/>
                    <a:pt x="97" y="20"/>
                    <a:pt x="77" y="9"/>
                  </a:cubicBezTo>
                  <a:cubicBezTo>
                    <a:pt x="65" y="2"/>
                    <a:pt x="51" y="0"/>
                    <a:pt x="23"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3">
              <a:extLst>
                <a:ext uri="{FF2B5EF4-FFF2-40B4-BE49-F238E27FC236}">
                  <a16:creationId xmlns:a16="http://schemas.microsoft.com/office/drawing/2014/main" id="{2D471C7E-7317-48D2-A283-0FF09BB4FF74}"/>
                </a:ext>
              </a:extLst>
            </p:cNvPr>
            <p:cNvSpPr>
              <a:spLocks/>
            </p:cNvSpPr>
            <p:nvPr userDrawn="1"/>
          </p:nvSpPr>
          <p:spPr bwMode="auto">
            <a:xfrm>
              <a:off x="2085975" y="1109444"/>
              <a:ext cx="384175" cy="427038"/>
            </a:xfrm>
            <a:custGeom>
              <a:avLst/>
              <a:gdLst>
                <a:gd name="T0" fmla="*/ 57 w 128"/>
                <a:gd name="T1" fmla="*/ 0 h 141"/>
                <a:gd name="T2" fmla="*/ 0 w 128"/>
                <a:gd name="T3" fmla="*/ 141 h 141"/>
                <a:gd name="T4" fmla="*/ 19 w 128"/>
                <a:gd name="T5" fmla="*/ 141 h 141"/>
                <a:gd name="T6" fmla="*/ 63 w 128"/>
                <a:gd name="T7" fmla="*/ 30 h 141"/>
                <a:gd name="T8" fmla="*/ 63 w 128"/>
                <a:gd name="T9" fmla="*/ 31 h 141"/>
                <a:gd name="T10" fmla="*/ 90 w 128"/>
                <a:gd name="T11" fmla="*/ 97 h 141"/>
                <a:gd name="T12" fmla="*/ 42 w 128"/>
                <a:gd name="T13" fmla="*/ 97 h 141"/>
                <a:gd name="T14" fmla="*/ 56 w 128"/>
                <a:gd name="T15" fmla="*/ 113 h 141"/>
                <a:gd name="T16" fmla="*/ 97 w 128"/>
                <a:gd name="T17" fmla="*/ 113 h 141"/>
                <a:gd name="T18" fmla="*/ 108 w 128"/>
                <a:gd name="T19" fmla="*/ 141 h 141"/>
                <a:gd name="T20" fmla="*/ 128 w 128"/>
                <a:gd name="T21" fmla="*/ 141 h 141"/>
                <a:gd name="T22" fmla="*/ 70 w 128"/>
                <a:gd name="T23" fmla="*/ 0 h 141"/>
                <a:gd name="T24" fmla="*/ 57 w 128"/>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141">
                  <a:moveTo>
                    <a:pt x="57" y="0"/>
                  </a:moveTo>
                  <a:cubicBezTo>
                    <a:pt x="0" y="141"/>
                    <a:pt x="0" y="141"/>
                    <a:pt x="0" y="141"/>
                  </a:cubicBezTo>
                  <a:cubicBezTo>
                    <a:pt x="19" y="141"/>
                    <a:pt x="19" y="141"/>
                    <a:pt x="19" y="141"/>
                  </a:cubicBezTo>
                  <a:cubicBezTo>
                    <a:pt x="19" y="141"/>
                    <a:pt x="61" y="34"/>
                    <a:pt x="63" y="30"/>
                  </a:cubicBezTo>
                  <a:cubicBezTo>
                    <a:pt x="63" y="30"/>
                    <a:pt x="63" y="31"/>
                    <a:pt x="63" y="31"/>
                  </a:cubicBezTo>
                  <a:cubicBezTo>
                    <a:pt x="63" y="31"/>
                    <a:pt x="63" y="31"/>
                    <a:pt x="90" y="97"/>
                  </a:cubicBezTo>
                  <a:cubicBezTo>
                    <a:pt x="87" y="97"/>
                    <a:pt x="42" y="97"/>
                    <a:pt x="42" y="97"/>
                  </a:cubicBezTo>
                  <a:cubicBezTo>
                    <a:pt x="56" y="113"/>
                    <a:pt x="56" y="113"/>
                    <a:pt x="56" y="113"/>
                  </a:cubicBezTo>
                  <a:cubicBezTo>
                    <a:pt x="56" y="113"/>
                    <a:pt x="95" y="113"/>
                    <a:pt x="97" y="113"/>
                  </a:cubicBezTo>
                  <a:cubicBezTo>
                    <a:pt x="97" y="114"/>
                    <a:pt x="108" y="141"/>
                    <a:pt x="108" y="141"/>
                  </a:cubicBezTo>
                  <a:cubicBezTo>
                    <a:pt x="128" y="141"/>
                    <a:pt x="128" y="141"/>
                    <a:pt x="128" y="141"/>
                  </a:cubicBezTo>
                  <a:cubicBezTo>
                    <a:pt x="70" y="0"/>
                    <a:pt x="70" y="0"/>
                    <a:pt x="70" y="0"/>
                  </a:cubicBezTo>
                  <a:lnTo>
                    <a:pt x="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4">
              <a:extLst>
                <a:ext uri="{FF2B5EF4-FFF2-40B4-BE49-F238E27FC236}">
                  <a16:creationId xmlns:a16="http://schemas.microsoft.com/office/drawing/2014/main" id="{ADF0AFD2-36F1-4AE4-B31C-07761FB18C41}"/>
                </a:ext>
              </a:extLst>
            </p:cNvPr>
            <p:cNvSpPr>
              <a:spLocks/>
            </p:cNvSpPr>
            <p:nvPr userDrawn="1"/>
          </p:nvSpPr>
          <p:spPr bwMode="auto">
            <a:xfrm>
              <a:off x="3359150" y="1106269"/>
              <a:ext cx="381000" cy="430213"/>
            </a:xfrm>
            <a:custGeom>
              <a:avLst/>
              <a:gdLst>
                <a:gd name="T0" fmla="*/ 56 w 127"/>
                <a:gd name="T1" fmla="*/ 0 h 142"/>
                <a:gd name="T2" fmla="*/ 0 w 127"/>
                <a:gd name="T3" fmla="*/ 142 h 142"/>
                <a:gd name="T4" fmla="*/ 18 w 127"/>
                <a:gd name="T5" fmla="*/ 142 h 142"/>
                <a:gd name="T6" fmla="*/ 62 w 127"/>
                <a:gd name="T7" fmla="*/ 30 h 142"/>
                <a:gd name="T8" fmla="*/ 89 w 127"/>
                <a:gd name="T9" fmla="*/ 97 h 142"/>
                <a:gd name="T10" fmla="*/ 41 w 127"/>
                <a:gd name="T11" fmla="*/ 97 h 142"/>
                <a:gd name="T12" fmla="*/ 56 w 127"/>
                <a:gd name="T13" fmla="*/ 114 h 142"/>
                <a:gd name="T14" fmla="*/ 96 w 127"/>
                <a:gd name="T15" fmla="*/ 114 h 142"/>
                <a:gd name="T16" fmla="*/ 108 w 127"/>
                <a:gd name="T17" fmla="*/ 142 h 142"/>
                <a:gd name="T18" fmla="*/ 127 w 127"/>
                <a:gd name="T19" fmla="*/ 142 h 142"/>
                <a:gd name="T20" fmla="*/ 69 w 127"/>
                <a:gd name="T21" fmla="*/ 0 h 142"/>
                <a:gd name="T22" fmla="*/ 56 w 127"/>
                <a:gd name="T2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42">
                  <a:moveTo>
                    <a:pt x="56" y="0"/>
                  </a:moveTo>
                  <a:cubicBezTo>
                    <a:pt x="0" y="142"/>
                    <a:pt x="0" y="142"/>
                    <a:pt x="0" y="142"/>
                  </a:cubicBezTo>
                  <a:cubicBezTo>
                    <a:pt x="18" y="142"/>
                    <a:pt x="18" y="142"/>
                    <a:pt x="18" y="142"/>
                  </a:cubicBezTo>
                  <a:cubicBezTo>
                    <a:pt x="18" y="142"/>
                    <a:pt x="60" y="34"/>
                    <a:pt x="62" y="30"/>
                  </a:cubicBezTo>
                  <a:cubicBezTo>
                    <a:pt x="63" y="34"/>
                    <a:pt x="88" y="95"/>
                    <a:pt x="89" y="97"/>
                  </a:cubicBezTo>
                  <a:cubicBezTo>
                    <a:pt x="87" y="97"/>
                    <a:pt x="41" y="97"/>
                    <a:pt x="41" y="97"/>
                  </a:cubicBezTo>
                  <a:cubicBezTo>
                    <a:pt x="56" y="114"/>
                    <a:pt x="56" y="114"/>
                    <a:pt x="56" y="114"/>
                  </a:cubicBezTo>
                  <a:cubicBezTo>
                    <a:pt x="56" y="114"/>
                    <a:pt x="95" y="114"/>
                    <a:pt x="96" y="114"/>
                  </a:cubicBezTo>
                  <a:cubicBezTo>
                    <a:pt x="96" y="115"/>
                    <a:pt x="108" y="142"/>
                    <a:pt x="108" y="142"/>
                  </a:cubicBezTo>
                  <a:cubicBezTo>
                    <a:pt x="127" y="142"/>
                    <a:pt x="127" y="142"/>
                    <a:pt x="127" y="142"/>
                  </a:cubicBezTo>
                  <a:cubicBezTo>
                    <a:pt x="69" y="0"/>
                    <a:pt x="69" y="0"/>
                    <a:pt x="69" y="0"/>
                  </a:cubicBezTo>
                  <a:lnTo>
                    <a:pt x="5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Freeform 15">
              <a:extLst>
                <a:ext uri="{FF2B5EF4-FFF2-40B4-BE49-F238E27FC236}">
                  <a16:creationId xmlns:a16="http://schemas.microsoft.com/office/drawing/2014/main" id="{6A52C888-59FD-4CF4-B2A0-80EDEDE1E20C}"/>
                </a:ext>
              </a:extLst>
            </p:cNvPr>
            <p:cNvSpPr>
              <a:spLocks/>
            </p:cNvSpPr>
            <p:nvPr userDrawn="1"/>
          </p:nvSpPr>
          <p:spPr bwMode="auto">
            <a:xfrm>
              <a:off x="2941638" y="1106269"/>
              <a:ext cx="295275" cy="427038"/>
            </a:xfrm>
            <a:custGeom>
              <a:avLst/>
              <a:gdLst>
                <a:gd name="T0" fmla="*/ 0 w 98"/>
                <a:gd name="T1" fmla="*/ 0 h 141"/>
                <a:gd name="T2" fmla="*/ 0 w 98"/>
                <a:gd name="T3" fmla="*/ 141 h 141"/>
                <a:gd name="T4" fmla="*/ 18 w 98"/>
                <a:gd name="T5" fmla="*/ 141 h 141"/>
                <a:gd name="T6" fmla="*/ 18 w 98"/>
                <a:gd name="T7" fmla="*/ 16 h 141"/>
                <a:gd name="T8" fmla="*/ 41 w 98"/>
                <a:gd name="T9" fmla="*/ 16 h 141"/>
                <a:gd name="T10" fmla="*/ 80 w 98"/>
                <a:gd name="T11" fmla="*/ 45 h 141"/>
                <a:gd name="T12" fmla="*/ 41 w 98"/>
                <a:gd name="T13" fmla="*/ 73 h 141"/>
                <a:gd name="T14" fmla="*/ 24 w 98"/>
                <a:gd name="T15" fmla="*/ 73 h 141"/>
                <a:gd name="T16" fmla="*/ 39 w 98"/>
                <a:gd name="T17" fmla="*/ 89 h 141"/>
                <a:gd name="T18" fmla="*/ 43 w 98"/>
                <a:gd name="T19" fmla="*/ 89 h 141"/>
                <a:gd name="T20" fmla="*/ 80 w 98"/>
                <a:gd name="T21" fmla="*/ 80 h 141"/>
                <a:gd name="T22" fmla="*/ 98 w 98"/>
                <a:gd name="T23" fmla="*/ 45 h 141"/>
                <a:gd name="T24" fmla="*/ 78 w 98"/>
                <a:gd name="T25" fmla="*/ 7 h 141"/>
                <a:gd name="T26" fmla="*/ 41 w 98"/>
                <a:gd name="T27" fmla="*/ 0 h 141"/>
                <a:gd name="T28" fmla="*/ 0 w 98"/>
                <a:gd name="T29"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 h="141">
                  <a:moveTo>
                    <a:pt x="0" y="0"/>
                  </a:moveTo>
                  <a:cubicBezTo>
                    <a:pt x="0" y="141"/>
                    <a:pt x="0" y="141"/>
                    <a:pt x="0" y="141"/>
                  </a:cubicBezTo>
                  <a:cubicBezTo>
                    <a:pt x="18" y="141"/>
                    <a:pt x="18" y="141"/>
                    <a:pt x="18" y="141"/>
                  </a:cubicBezTo>
                  <a:cubicBezTo>
                    <a:pt x="18" y="141"/>
                    <a:pt x="18" y="18"/>
                    <a:pt x="18" y="16"/>
                  </a:cubicBezTo>
                  <a:cubicBezTo>
                    <a:pt x="20" y="16"/>
                    <a:pt x="41" y="16"/>
                    <a:pt x="41" y="16"/>
                  </a:cubicBezTo>
                  <a:cubicBezTo>
                    <a:pt x="67" y="16"/>
                    <a:pt x="80" y="26"/>
                    <a:pt x="80" y="45"/>
                  </a:cubicBezTo>
                  <a:cubicBezTo>
                    <a:pt x="80" y="63"/>
                    <a:pt x="67" y="73"/>
                    <a:pt x="41" y="73"/>
                  </a:cubicBezTo>
                  <a:cubicBezTo>
                    <a:pt x="24" y="73"/>
                    <a:pt x="24" y="73"/>
                    <a:pt x="24" y="73"/>
                  </a:cubicBezTo>
                  <a:cubicBezTo>
                    <a:pt x="39" y="89"/>
                    <a:pt x="39" y="89"/>
                    <a:pt x="39" y="89"/>
                  </a:cubicBezTo>
                  <a:cubicBezTo>
                    <a:pt x="43" y="89"/>
                    <a:pt x="43" y="89"/>
                    <a:pt x="43" y="89"/>
                  </a:cubicBezTo>
                  <a:cubicBezTo>
                    <a:pt x="61" y="89"/>
                    <a:pt x="70" y="87"/>
                    <a:pt x="80" y="80"/>
                  </a:cubicBezTo>
                  <a:cubicBezTo>
                    <a:pt x="92" y="72"/>
                    <a:pt x="98" y="59"/>
                    <a:pt x="98" y="45"/>
                  </a:cubicBezTo>
                  <a:cubicBezTo>
                    <a:pt x="98" y="29"/>
                    <a:pt x="91" y="15"/>
                    <a:pt x="78" y="7"/>
                  </a:cubicBezTo>
                  <a:cubicBezTo>
                    <a:pt x="69" y="2"/>
                    <a:pt x="59" y="0"/>
                    <a:pt x="4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Freeform 16">
              <a:extLst>
                <a:ext uri="{FF2B5EF4-FFF2-40B4-BE49-F238E27FC236}">
                  <a16:creationId xmlns:a16="http://schemas.microsoft.com/office/drawing/2014/main" id="{F228B2BE-D78A-4ED7-A1BA-5C0462E11E9D}"/>
                </a:ext>
              </a:extLst>
            </p:cNvPr>
            <p:cNvSpPr>
              <a:spLocks/>
            </p:cNvSpPr>
            <p:nvPr userDrawn="1"/>
          </p:nvSpPr>
          <p:spPr bwMode="auto">
            <a:xfrm>
              <a:off x="3921125" y="1106269"/>
              <a:ext cx="292100" cy="430213"/>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4 w 97"/>
                <a:gd name="T19" fmla="*/ 142 h 142"/>
                <a:gd name="T20" fmla="*/ 97 w 97"/>
                <a:gd name="T21" fmla="*/ 142 h 142"/>
                <a:gd name="T22" fmla="*/ 53 w 97"/>
                <a:gd name="T23" fmla="*/ 88 h 142"/>
                <a:gd name="T24" fmla="*/ 76 w 97"/>
                <a:gd name="T25" fmla="*/ 80 h 142"/>
                <a:gd name="T26" fmla="*/ 94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40" y="73"/>
                    <a:pt x="23" y="73"/>
                    <a:pt x="23" y="73"/>
                  </a:cubicBezTo>
                  <a:cubicBezTo>
                    <a:pt x="25" y="76"/>
                    <a:pt x="25" y="76"/>
                    <a:pt x="25" y="76"/>
                  </a:cubicBezTo>
                  <a:cubicBezTo>
                    <a:pt x="25" y="76"/>
                    <a:pt x="74" y="142"/>
                    <a:pt x="74" y="142"/>
                  </a:cubicBezTo>
                  <a:cubicBezTo>
                    <a:pt x="97" y="142"/>
                    <a:pt x="97" y="142"/>
                    <a:pt x="97" y="142"/>
                  </a:cubicBezTo>
                  <a:cubicBezTo>
                    <a:pt x="97" y="142"/>
                    <a:pt x="55" y="90"/>
                    <a:pt x="53" y="88"/>
                  </a:cubicBezTo>
                  <a:cubicBezTo>
                    <a:pt x="63" y="86"/>
                    <a:pt x="70" y="84"/>
                    <a:pt x="76" y="80"/>
                  </a:cubicBezTo>
                  <a:cubicBezTo>
                    <a:pt x="88" y="72"/>
                    <a:pt x="94" y="59"/>
                    <a:pt x="94" y="45"/>
                  </a:cubicBezTo>
                  <a:cubicBezTo>
                    <a:pt x="94"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Freeform 17">
              <a:extLst>
                <a:ext uri="{FF2B5EF4-FFF2-40B4-BE49-F238E27FC236}">
                  <a16:creationId xmlns:a16="http://schemas.microsoft.com/office/drawing/2014/main" id="{2FFB3D4B-DE59-419F-9662-405BF7EF5135}"/>
                </a:ext>
              </a:extLst>
            </p:cNvPr>
            <p:cNvSpPr>
              <a:spLocks/>
            </p:cNvSpPr>
            <p:nvPr userDrawn="1"/>
          </p:nvSpPr>
          <p:spPr bwMode="auto">
            <a:xfrm>
              <a:off x="5964238" y="1106269"/>
              <a:ext cx="290513" cy="430213"/>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5 w 97"/>
                <a:gd name="T19" fmla="*/ 142 h 142"/>
                <a:gd name="T20" fmla="*/ 97 w 97"/>
                <a:gd name="T21" fmla="*/ 142 h 142"/>
                <a:gd name="T22" fmla="*/ 54 w 97"/>
                <a:gd name="T23" fmla="*/ 88 h 142"/>
                <a:gd name="T24" fmla="*/ 76 w 97"/>
                <a:gd name="T25" fmla="*/ 80 h 142"/>
                <a:gd name="T26" fmla="*/ 95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23" y="73"/>
                    <a:pt x="23" y="73"/>
                    <a:pt x="23" y="73"/>
                  </a:cubicBezTo>
                  <a:cubicBezTo>
                    <a:pt x="25" y="76"/>
                    <a:pt x="25" y="76"/>
                    <a:pt x="25" y="76"/>
                  </a:cubicBezTo>
                  <a:cubicBezTo>
                    <a:pt x="75" y="142"/>
                    <a:pt x="75" y="142"/>
                    <a:pt x="75" y="142"/>
                  </a:cubicBezTo>
                  <a:cubicBezTo>
                    <a:pt x="97" y="142"/>
                    <a:pt x="97" y="142"/>
                    <a:pt x="97" y="142"/>
                  </a:cubicBezTo>
                  <a:cubicBezTo>
                    <a:pt x="97" y="142"/>
                    <a:pt x="55" y="90"/>
                    <a:pt x="54" y="88"/>
                  </a:cubicBezTo>
                  <a:cubicBezTo>
                    <a:pt x="63" y="86"/>
                    <a:pt x="70" y="84"/>
                    <a:pt x="76" y="80"/>
                  </a:cubicBezTo>
                  <a:cubicBezTo>
                    <a:pt x="88" y="72"/>
                    <a:pt x="95" y="59"/>
                    <a:pt x="95" y="45"/>
                  </a:cubicBezTo>
                  <a:cubicBezTo>
                    <a:pt x="95"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18">
              <a:extLst>
                <a:ext uri="{FF2B5EF4-FFF2-40B4-BE49-F238E27FC236}">
                  <a16:creationId xmlns:a16="http://schemas.microsoft.com/office/drawing/2014/main" id="{BA68D099-B194-4349-B52B-3688E94B0277}"/>
                </a:ext>
              </a:extLst>
            </p:cNvPr>
            <p:cNvSpPr>
              <a:spLocks/>
            </p:cNvSpPr>
            <p:nvPr userDrawn="1"/>
          </p:nvSpPr>
          <p:spPr bwMode="auto">
            <a:xfrm>
              <a:off x="1470025" y="1714282"/>
              <a:ext cx="171450" cy="220663"/>
            </a:xfrm>
            <a:custGeom>
              <a:avLst/>
              <a:gdLst>
                <a:gd name="T0" fmla="*/ 108 w 108"/>
                <a:gd name="T1" fmla="*/ 10 h 139"/>
                <a:gd name="T2" fmla="*/ 60 w 108"/>
                <a:gd name="T3" fmla="*/ 10 h 139"/>
                <a:gd name="T4" fmla="*/ 60 w 108"/>
                <a:gd name="T5" fmla="*/ 139 h 139"/>
                <a:gd name="T6" fmla="*/ 49 w 108"/>
                <a:gd name="T7" fmla="*/ 139 h 139"/>
                <a:gd name="T8" fmla="*/ 49 w 108"/>
                <a:gd name="T9" fmla="*/ 10 h 139"/>
                <a:gd name="T10" fmla="*/ 0 w 108"/>
                <a:gd name="T11" fmla="*/ 10 h 139"/>
                <a:gd name="T12" fmla="*/ 0 w 108"/>
                <a:gd name="T13" fmla="*/ 0 h 139"/>
                <a:gd name="T14" fmla="*/ 108 w 108"/>
                <a:gd name="T15" fmla="*/ 0 h 139"/>
                <a:gd name="T16" fmla="*/ 108 w 108"/>
                <a:gd name="T17" fmla="*/ 1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9">
                  <a:moveTo>
                    <a:pt x="108" y="10"/>
                  </a:moveTo>
                  <a:lnTo>
                    <a:pt x="60" y="10"/>
                  </a:lnTo>
                  <a:lnTo>
                    <a:pt x="60" y="139"/>
                  </a:lnTo>
                  <a:lnTo>
                    <a:pt x="49" y="139"/>
                  </a:lnTo>
                  <a:lnTo>
                    <a:pt x="49" y="10"/>
                  </a:lnTo>
                  <a:lnTo>
                    <a:pt x="0" y="10"/>
                  </a:lnTo>
                  <a:lnTo>
                    <a:pt x="0" y="0"/>
                  </a:lnTo>
                  <a:lnTo>
                    <a:pt x="108" y="0"/>
                  </a:lnTo>
                  <a:lnTo>
                    <a:pt x="108"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19">
              <a:extLst>
                <a:ext uri="{FF2B5EF4-FFF2-40B4-BE49-F238E27FC236}">
                  <a16:creationId xmlns:a16="http://schemas.microsoft.com/office/drawing/2014/main" id="{524049B7-5350-47C6-9565-423A75880543}"/>
                </a:ext>
              </a:extLst>
            </p:cNvPr>
            <p:cNvSpPr>
              <a:spLocks/>
            </p:cNvSpPr>
            <p:nvPr userDrawn="1"/>
          </p:nvSpPr>
          <p:spPr bwMode="auto">
            <a:xfrm>
              <a:off x="1676400" y="1714282"/>
              <a:ext cx="214313" cy="220663"/>
            </a:xfrm>
            <a:custGeom>
              <a:avLst/>
              <a:gdLst>
                <a:gd name="T0" fmla="*/ 15 w 135"/>
                <a:gd name="T1" fmla="*/ 0 h 139"/>
                <a:gd name="T2" fmla="*/ 68 w 135"/>
                <a:gd name="T3" fmla="*/ 124 h 139"/>
                <a:gd name="T4" fmla="*/ 120 w 135"/>
                <a:gd name="T5" fmla="*/ 0 h 139"/>
                <a:gd name="T6" fmla="*/ 135 w 135"/>
                <a:gd name="T7" fmla="*/ 0 h 139"/>
                <a:gd name="T8" fmla="*/ 135 w 135"/>
                <a:gd name="T9" fmla="*/ 139 h 139"/>
                <a:gd name="T10" fmla="*/ 123 w 135"/>
                <a:gd name="T11" fmla="*/ 139 h 139"/>
                <a:gd name="T12" fmla="*/ 123 w 135"/>
                <a:gd name="T13" fmla="*/ 78 h 139"/>
                <a:gd name="T14" fmla="*/ 125 w 135"/>
                <a:gd name="T15" fmla="*/ 15 h 139"/>
                <a:gd name="T16" fmla="*/ 72 w 135"/>
                <a:gd name="T17" fmla="*/ 139 h 139"/>
                <a:gd name="T18" fmla="*/ 63 w 135"/>
                <a:gd name="T19" fmla="*/ 139 h 139"/>
                <a:gd name="T20" fmla="*/ 12 w 135"/>
                <a:gd name="T21" fmla="*/ 15 h 139"/>
                <a:gd name="T22" fmla="*/ 12 w 135"/>
                <a:gd name="T23" fmla="*/ 78 h 139"/>
                <a:gd name="T24" fmla="*/ 12 w 135"/>
                <a:gd name="T25" fmla="*/ 139 h 139"/>
                <a:gd name="T26" fmla="*/ 0 w 135"/>
                <a:gd name="T27" fmla="*/ 139 h 139"/>
                <a:gd name="T28" fmla="*/ 0 w 135"/>
                <a:gd name="T29" fmla="*/ 0 h 139"/>
                <a:gd name="T30" fmla="*/ 15 w 135"/>
                <a:gd name="T31" fmla="*/ 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5" h="139">
                  <a:moveTo>
                    <a:pt x="15" y="0"/>
                  </a:moveTo>
                  <a:lnTo>
                    <a:pt x="68" y="124"/>
                  </a:lnTo>
                  <a:lnTo>
                    <a:pt x="120" y="0"/>
                  </a:lnTo>
                  <a:lnTo>
                    <a:pt x="135" y="0"/>
                  </a:lnTo>
                  <a:lnTo>
                    <a:pt x="135" y="139"/>
                  </a:lnTo>
                  <a:lnTo>
                    <a:pt x="123" y="139"/>
                  </a:lnTo>
                  <a:lnTo>
                    <a:pt x="123" y="78"/>
                  </a:lnTo>
                  <a:lnTo>
                    <a:pt x="125" y="15"/>
                  </a:lnTo>
                  <a:lnTo>
                    <a:pt x="72" y="139"/>
                  </a:lnTo>
                  <a:lnTo>
                    <a:pt x="63" y="139"/>
                  </a:lnTo>
                  <a:lnTo>
                    <a:pt x="12" y="15"/>
                  </a:lnTo>
                  <a:lnTo>
                    <a:pt x="12" y="78"/>
                  </a:lnTo>
                  <a:lnTo>
                    <a:pt x="12" y="139"/>
                  </a:lnTo>
                  <a:lnTo>
                    <a:pt x="0" y="139"/>
                  </a:lnTo>
                  <a:lnTo>
                    <a:pt x="0" y="0"/>
                  </a:lnTo>
                  <a:lnTo>
                    <a:pt x="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20">
              <a:extLst>
                <a:ext uri="{FF2B5EF4-FFF2-40B4-BE49-F238E27FC236}">
                  <a16:creationId xmlns:a16="http://schemas.microsoft.com/office/drawing/2014/main" id="{F73F0877-0456-4B7D-8924-539560E8308B}"/>
                </a:ext>
              </a:extLst>
            </p:cNvPr>
            <p:cNvSpPr>
              <a:spLocks/>
            </p:cNvSpPr>
            <p:nvPr userDrawn="1"/>
          </p:nvSpPr>
          <p:spPr bwMode="auto">
            <a:xfrm>
              <a:off x="1924050" y="1714282"/>
              <a:ext cx="169863" cy="220663"/>
            </a:xfrm>
            <a:custGeom>
              <a:avLst/>
              <a:gdLst>
                <a:gd name="T0" fmla="*/ 107 w 107"/>
                <a:gd name="T1" fmla="*/ 10 h 139"/>
                <a:gd name="T2" fmla="*/ 58 w 107"/>
                <a:gd name="T3" fmla="*/ 10 h 139"/>
                <a:gd name="T4" fmla="*/ 58 w 107"/>
                <a:gd name="T5" fmla="*/ 139 h 139"/>
                <a:gd name="T6" fmla="*/ 47 w 107"/>
                <a:gd name="T7" fmla="*/ 139 h 139"/>
                <a:gd name="T8" fmla="*/ 47 w 107"/>
                <a:gd name="T9" fmla="*/ 10 h 139"/>
                <a:gd name="T10" fmla="*/ 0 w 107"/>
                <a:gd name="T11" fmla="*/ 10 h 139"/>
                <a:gd name="T12" fmla="*/ 0 w 107"/>
                <a:gd name="T13" fmla="*/ 0 h 139"/>
                <a:gd name="T14" fmla="*/ 107 w 107"/>
                <a:gd name="T15" fmla="*/ 0 h 139"/>
                <a:gd name="T16" fmla="*/ 107 w 107"/>
                <a:gd name="T17" fmla="*/ 1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 h="139">
                  <a:moveTo>
                    <a:pt x="107" y="10"/>
                  </a:moveTo>
                  <a:lnTo>
                    <a:pt x="58" y="10"/>
                  </a:lnTo>
                  <a:lnTo>
                    <a:pt x="58" y="139"/>
                  </a:lnTo>
                  <a:lnTo>
                    <a:pt x="47" y="139"/>
                  </a:lnTo>
                  <a:lnTo>
                    <a:pt x="47" y="10"/>
                  </a:lnTo>
                  <a:lnTo>
                    <a:pt x="0" y="10"/>
                  </a:lnTo>
                  <a:lnTo>
                    <a:pt x="0" y="0"/>
                  </a:lnTo>
                  <a:lnTo>
                    <a:pt x="107" y="0"/>
                  </a:lnTo>
                  <a:lnTo>
                    <a:pt x="107"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21">
              <a:extLst>
                <a:ext uri="{FF2B5EF4-FFF2-40B4-BE49-F238E27FC236}">
                  <a16:creationId xmlns:a16="http://schemas.microsoft.com/office/drawing/2014/main" id="{46F327A5-F9B1-4F8C-A599-D00D9B04C0DD}"/>
                </a:ext>
              </a:extLst>
            </p:cNvPr>
            <p:cNvSpPr>
              <a:spLocks noEditPoints="1"/>
            </p:cNvSpPr>
            <p:nvPr userDrawn="1"/>
          </p:nvSpPr>
          <p:spPr bwMode="auto">
            <a:xfrm>
              <a:off x="2174875" y="1714282"/>
              <a:ext cx="187325" cy="220663"/>
            </a:xfrm>
            <a:custGeom>
              <a:avLst/>
              <a:gdLst>
                <a:gd name="T0" fmla="*/ 91 w 118"/>
                <a:gd name="T1" fmla="*/ 101 h 139"/>
                <a:gd name="T2" fmla="*/ 27 w 118"/>
                <a:gd name="T3" fmla="*/ 101 h 139"/>
                <a:gd name="T4" fmla="*/ 14 w 118"/>
                <a:gd name="T5" fmla="*/ 139 h 139"/>
                <a:gd name="T6" fmla="*/ 0 w 118"/>
                <a:gd name="T7" fmla="*/ 139 h 139"/>
                <a:gd name="T8" fmla="*/ 53 w 118"/>
                <a:gd name="T9" fmla="*/ 0 h 139"/>
                <a:gd name="T10" fmla="*/ 65 w 118"/>
                <a:gd name="T11" fmla="*/ 0 h 139"/>
                <a:gd name="T12" fmla="*/ 118 w 118"/>
                <a:gd name="T13" fmla="*/ 139 h 139"/>
                <a:gd name="T14" fmla="*/ 106 w 118"/>
                <a:gd name="T15" fmla="*/ 139 h 139"/>
                <a:gd name="T16" fmla="*/ 91 w 118"/>
                <a:gd name="T17" fmla="*/ 101 h 139"/>
                <a:gd name="T18" fmla="*/ 31 w 118"/>
                <a:gd name="T19" fmla="*/ 90 h 139"/>
                <a:gd name="T20" fmla="*/ 88 w 118"/>
                <a:gd name="T21" fmla="*/ 90 h 139"/>
                <a:gd name="T22" fmla="*/ 59 w 118"/>
                <a:gd name="T23" fmla="*/ 13 h 139"/>
                <a:gd name="T24" fmla="*/ 31 w 118"/>
                <a:gd name="T25" fmla="*/ 9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9">
                  <a:moveTo>
                    <a:pt x="91" y="101"/>
                  </a:moveTo>
                  <a:lnTo>
                    <a:pt x="27" y="101"/>
                  </a:lnTo>
                  <a:lnTo>
                    <a:pt x="14" y="139"/>
                  </a:lnTo>
                  <a:lnTo>
                    <a:pt x="0" y="139"/>
                  </a:lnTo>
                  <a:lnTo>
                    <a:pt x="53" y="0"/>
                  </a:lnTo>
                  <a:lnTo>
                    <a:pt x="65" y="0"/>
                  </a:lnTo>
                  <a:lnTo>
                    <a:pt x="118" y="139"/>
                  </a:lnTo>
                  <a:lnTo>
                    <a:pt x="106" y="139"/>
                  </a:lnTo>
                  <a:lnTo>
                    <a:pt x="91" y="101"/>
                  </a:lnTo>
                  <a:close/>
                  <a:moveTo>
                    <a:pt x="31" y="90"/>
                  </a:moveTo>
                  <a:lnTo>
                    <a:pt x="88" y="90"/>
                  </a:lnTo>
                  <a:lnTo>
                    <a:pt x="59" y="13"/>
                  </a:lnTo>
                  <a:lnTo>
                    <a:pt x="31"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22">
              <a:extLst>
                <a:ext uri="{FF2B5EF4-FFF2-40B4-BE49-F238E27FC236}">
                  <a16:creationId xmlns:a16="http://schemas.microsoft.com/office/drawing/2014/main" id="{A9AE151F-F898-472B-B262-23431B6B60DF}"/>
                </a:ext>
              </a:extLst>
            </p:cNvPr>
            <p:cNvSpPr>
              <a:spLocks noEditPoints="1"/>
            </p:cNvSpPr>
            <p:nvPr userDrawn="1"/>
          </p:nvSpPr>
          <p:spPr bwMode="auto">
            <a:xfrm>
              <a:off x="2382838" y="1699994"/>
              <a:ext cx="131763" cy="238125"/>
            </a:xfrm>
            <a:custGeom>
              <a:avLst/>
              <a:gdLst>
                <a:gd name="T0" fmla="*/ 0 w 44"/>
                <a:gd name="T1" fmla="*/ 50 h 79"/>
                <a:gd name="T2" fmla="*/ 2 w 44"/>
                <a:gd name="T3" fmla="*/ 39 h 79"/>
                <a:gd name="T4" fmla="*/ 6 w 44"/>
                <a:gd name="T5" fmla="*/ 30 h 79"/>
                <a:gd name="T6" fmla="*/ 12 w 44"/>
                <a:gd name="T7" fmla="*/ 24 h 79"/>
                <a:gd name="T8" fmla="*/ 21 w 44"/>
                <a:gd name="T9" fmla="*/ 22 h 79"/>
                <a:gd name="T10" fmla="*/ 31 w 44"/>
                <a:gd name="T11" fmla="*/ 25 h 79"/>
                <a:gd name="T12" fmla="*/ 38 w 44"/>
                <a:gd name="T13" fmla="*/ 31 h 79"/>
                <a:gd name="T14" fmla="*/ 38 w 44"/>
                <a:gd name="T15" fmla="*/ 0 h 79"/>
                <a:gd name="T16" fmla="*/ 44 w 44"/>
                <a:gd name="T17" fmla="*/ 0 h 79"/>
                <a:gd name="T18" fmla="*/ 44 w 44"/>
                <a:gd name="T19" fmla="*/ 78 h 79"/>
                <a:gd name="T20" fmla="*/ 39 w 44"/>
                <a:gd name="T21" fmla="*/ 78 h 79"/>
                <a:gd name="T22" fmla="*/ 38 w 44"/>
                <a:gd name="T23" fmla="*/ 71 h 79"/>
                <a:gd name="T24" fmla="*/ 31 w 44"/>
                <a:gd name="T25" fmla="*/ 77 h 79"/>
                <a:gd name="T26" fmla="*/ 21 w 44"/>
                <a:gd name="T27" fmla="*/ 79 h 79"/>
                <a:gd name="T28" fmla="*/ 12 w 44"/>
                <a:gd name="T29" fmla="*/ 77 h 79"/>
                <a:gd name="T30" fmla="*/ 6 w 44"/>
                <a:gd name="T31" fmla="*/ 72 h 79"/>
                <a:gd name="T32" fmla="*/ 2 w 44"/>
                <a:gd name="T33" fmla="*/ 63 h 79"/>
                <a:gd name="T34" fmla="*/ 0 w 44"/>
                <a:gd name="T35" fmla="*/ 52 h 79"/>
                <a:gd name="T36" fmla="*/ 0 w 44"/>
                <a:gd name="T37" fmla="*/ 50 h 79"/>
                <a:gd name="T38" fmla="*/ 6 w 44"/>
                <a:gd name="T39" fmla="*/ 52 h 79"/>
                <a:gd name="T40" fmla="*/ 7 w 44"/>
                <a:gd name="T41" fmla="*/ 60 h 79"/>
                <a:gd name="T42" fmla="*/ 10 w 44"/>
                <a:gd name="T43" fmla="*/ 68 h 79"/>
                <a:gd name="T44" fmla="*/ 15 w 44"/>
                <a:gd name="T45" fmla="*/ 72 h 79"/>
                <a:gd name="T46" fmla="*/ 22 w 44"/>
                <a:gd name="T47" fmla="*/ 74 h 79"/>
                <a:gd name="T48" fmla="*/ 28 w 44"/>
                <a:gd name="T49" fmla="*/ 73 h 79"/>
                <a:gd name="T50" fmla="*/ 32 w 44"/>
                <a:gd name="T51" fmla="*/ 71 h 79"/>
                <a:gd name="T52" fmla="*/ 36 w 44"/>
                <a:gd name="T53" fmla="*/ 68 h 79"/>
                <a:gd name="T54" fmla="*/ 38 w 44"/>
                <a:gd name="T55" fmla="*/ 64 h 79"/>
                <a:gd name="T56" fmla="*/ 38 w 44"/>
                <a:gd name="T57" fmla="*/ 38 h 79"/>
                <a:gd name="T58" fmla="*/ 36 w 44"/>
                <a:gd name="T59" fmla="*/ 34 h 79"/>
                <a:gd name="T60" fmla="*/ 33 w 44"/>
                <a:gd name="T61" fmla="*/ 31 h 79"/>
                <a:gd name="T62" fmla="*/ 28 w 44"/>
                <a:gd name="T63" fmla="*/ 29 h 79"/>
                <a:gd name="T64" fmla="*/ 22 w 44"/>
                <a:gd name="T65" fmla="*/ 28 h 79"/>
                <a:gd name="T66" fmla="*/ 15 w 44"/>
                <a:gd name="T67" fmla="*/ 30 h 79"/>
                <a:gd name="T68" fmla="*/ 10 w 44"/>
                <a:gd name="T69" fmla="*/ 34 h 79"/>
                <a:gd name="T70" fmla="*/ 7 w 44"/>
                <a:gd name="T71" fmla="*/ 42 h 79"/>
                <a:gd name="T72" fmla="*/ 6 w 44"/>
                <a:gd name="T73" fmla="*/ 50 h 79"/>
                <a:gd name="T74" fmla="*/ 6 w 44"/>
                <a:gd name="T75" fmla="*/ 5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4" h="79">
                  <a:moveTo>
                    <a:pt x="0" y="50"/>
                  </a:moveTo>
                  <a:cubicBezTo>
                    <a:pt x="0" y="46"/>
                    <a:pt x="1" y="42"/>
                    <a:pt x="2" y="39"/>
                  </a:cubicBezTo>
                  <a:cubicBezTo>
                    <a:pt x="2" y="35"/>
                    <a:pt x="4" y="33"/>
                    <a:pt x="6" y="30"/>
                  </a:cubicBezTo>
                  <a:cubicBezTo>
                    <a:pt x="8" y="28"/>
                    <a:pt x="10" y="26"/>
                    <a:pt x="12" y="24"/>
                  </a:cubicBezTo>
                  <a:cubicBezTo>
                    <a:pt x="15" y="23"/>
                    <a:pt x="18" y="22"/>
                    <a:pt x="21" y="22"/>
                  </a:cubicBezTo>
                  <a:cubicBezTo>
                    <a:pt x="25" y="22"/>
                    <a:pt x="28" y="23"/>
                    <a:pt x="31" y="25"/>
                  </a:cubicBezTo>
                  <a:cubicBezTo>
                    <a:pt x="34" y="26"/>
                    <a:pt x="36" y="29"/>
                    <a:pt x="38" y="31"/>
                  </a:cubicBezTo>
                  <a:cubicBezTo>
                    <a:pt x="38" y="0"/>
                    <a:pt x="38" y="0"/>
                    <a:pt x="38" y="0"/>
                  </a:cubicBezTo>
                  <a:cubicBezTo>
                    <a:pt x="44" y="0"/>
                    <a:pt x="44" y="0"/>
                    <a:pt x="44" y="0"/>
                  </a:cubicBezTo>
                  <a:cubicBezTo>
                    <a:pt x="44" y="78"/>
                    <a:pt x="44" y="78"/>
                    <a:pt x="44" y="78"/>
                  </a:cubicBezTo>
                  <a:cubicBezTo>
                    <a:pt x="39" y="78"/>
                    <a:pt x="39" y="78"/>
                    <a:pt x="39" y="78"/>
                  </a:cubicBezTo>
                  <a:cubicBezTo>
                    <a:pt x="38" y="71"/>
                    <a:pt x="38" y="71"/>
                    <a:pt x="38" y="71"/>
                  </a:cubicBezTo>
                  <a:cubicBezTo>
                    <a:pt x="36" y="74"/>
                    <a:pt x="34" y="76"/>
                    <a:pt x="31" y="77"/>
                  </a:cubicBezTo>
                  <a:cubicBezTo>
                    <a:pt x="29" y="79"/>
                    <a:pt x="25" y="79"/>
                    <a:pt x="21" y="79"/>
                  </a:cubicBezTo>
                  <a:cubicBezTo>
                    <a:pt x="18" y="79"/>
                    <a:pt x="15" y="79"/>
                    <a:pt x="12" y="77"/>
                  </a:cubicBezTo>
                  <a:cubicBezTo>
                    <a:pt x="10" y="76"/>
                    <a:pt x="8" y="74"/>
                    <a:pt x="6" y="72"/>
                  </a:cubicBezTo>
                  <a:cubicBezTo>
                    <a:pt x="4" y="69"/>
                    <a:pt x="2" y="66"/>
                    <a:pt x="2" y="63"/>
                  </a:cubicBezTo>
                  <a:cubicBezTo>
                    <a:pt x="1" y="59"/>
                    <a:pt x="0" y="56"/>
                    <a:pt x="0" y="52"/>
                  </a:cubicBezTo>
                  <a:lnTo>
                    <a:pt x="0" y="50"/>
                  </a:lnTo>
                  <a:close/>
                  <a:moveTo>
                    <a:pt x="6" y="52"/>
                  </a:moveTo>
                  <a:cubicBezTo>
                    <a:pt x="6" y="55"/>
                    <a:pt x="6" y="58"/>
                    <a:pt x="7" y="60"/>
                  </a:cubicBezTo>
                  <a:cubicBezTo>
                    <a:pt x="8" y="63"/>
                    <a:pt x="9" y="66"/>
                    <a:pt x="10" y="68"/>
                  </a:cubicBezTo>
                  <a:cubicBezTo>
                    <a:pt x="11" y="70"/>
                    <a:pt x="13" y="71"/>
                    <a:pt x="15" y="72"/>
                  </a:cubicBezTo>
                  <a:cubicBezTo>
                    <a:pt x="17" y="74"/>
                    <a:pt x="19" y="74"/>
                    <a:pt x="22" y="74"/>
                  </a:cubicBezTo>
                  <a:cubicBezTo>
                    <a:pt x="24" y="74"/>
                    <a:pt x="26" y="74"/>
                    <a:pt x="28" y="73"/>
                  </a:cubicBezTo>
                  <a:cubicBezTo>
                    <a:pt x="30" y="73"/>
                    <a:pt x="31" y="72"/>
                    <a:pt x="32" y="71"/>
                  </a:cubicBezTo>
                  <a:cubicBezTo>
                    <a:pt x="34" y="71"/>
                    <a:pt x="35" y="69"/>
                    <a:pt x="36" y="68"/>
                  </a:cubicBezTo>
                  <a:cubicBezTo>
                    <a:pt x="37" y="67"/>
                    <a:pt x="38" y="66"/>
                    <a:pt x="38" y="64"/>
                  </a:cubicBezTo>
                  <a:cubicBezTo>
                    <a:pt x="38" y="38"/>
                    <a:pt x="38" y="38"/>
                    <a:pt x="38" y="38"/>
                  </a:cubicBezTo>
                  <a:cubicBezTo>
                    <a:pt x="38" y="37"/>
                    <a:pt x="37" y="36"/>
                    <a:pt x="36" y="34"/>
                  </a:cubicBezTo>
                  <a:cubicBezTo>
                    <a:pt x="35" y="33"/>
                    <a:pt x="34" y="32"/>
                    <a:pt x="33" y="31"/>
                  </a:cubicBezTo>
                  <a:cubicBezTo>
                    <a:pt x="31" y="30"/>
                    <a:pt x="30" y="29"/>
                    <a:pt x="28" y="29"/>
                  </a:cubicBezTo>
                  <a:cubicBezTo>
                    <a:pt x="27" y="28"/>
                    <a:pt x="25" y="28"/>
                    <a:pt x="22" y="28"/>
                  </a:cubicBezTo>
                  <a:cubicBezTo>
                    <a:pt x="20" y="28"/>
                    <a:pt x="17" y="28"/>
                    <a:pt x="15" y="30"/>
                  </a:cubicBezTo>
                  <a:cubicBezTo>
                    <a:pt x="13" y="31"/>
                    <a:pt x="11" y="32"/>
                    <a:pt x="10" y="34"/>
                  </a:cubicBezTo>
                  <a:cubicBezTo>
                    <a:pt x="9" y="36"/>
                    <a:pt x="8" y="39"/>
                    <a:pt x="7" y="42"/>
                  </a:cubicBezTo>
                  <a:cubicBezTo>
                    <a:pt x="6" y="44"/>
                    <a:pt x="6" y="47"/>
                    <a:pt x="6" y="50"/>
                  </a:cubicBezTo>
                  <a:lnTo>
                    <a:pt x="6"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23">
              <a:extLst>
                <a:ext uri="{FF2B5EF4-FFF2-40B4-BE49-F238E27FC236}">
                  <a16:creationId xmlns:a16="http://schemas.microsoft.com/office/drawing/2014/main" id="{A5F11C6F-53D9-40DA-8DD7-4F4AED072235}"/>
                </a:ext>
              </a:extLst>
            </p:cNvPr>
            <p:cNvSpPr>
              <a:spLocks/>
            </p:cNvSpPr>
            <p:nvPr userDrawn="1"/>
          </p:nvSpPr>
          <p:spPr bwMode="auto">
            <a:xfrm>
              <a:off x="2544763" y="1768257"/>
              <a:ext cx="138113" cy="166688"/>
            </a:xfrm>
            <a:custGeom>
              <a:avLst/>
              <a:gdLst>
                <a:gd name="T0" fmla="*/ 44 w 87"/>
                <a:gd name="T1" fmla="*/ 90 h 105"/>
                <a:gd name="T2" fmla="*/ 76 w 87"/>
                <a:gd name="T3" fmla="*/ 0 h 105"/>
                <a:gd name="T4" fmla="*/ 87 w 87"/>
                <a:gd name="T5" fmla="*/ 0 h 105"/>
                <a:gd name="T6" fmla="*/ 49 w 87"/>
                <a:gd name="T7" fmla="*/ 105 h 105"/>
                <a:gd name="T8" fmla="*/ 40 w 87"/>
                <a:gd name="T9" fmla="*/ 105 h 105"/>
                <a:gd name="T10" fmla="*/ 0 w 87"/>
                <a:gd name="T11" fmla="*/ 0 h 105"/>
                <a:gd name="T12" fmla="*/ 14 w 87"/>
                <a:gd name="T13" fmla="*/ 0 h 105"/>
                <a:gd name="T14" fmla="*/ 44 w 87"/>
                <a:gd name="T15" fmla="*/ 9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 h="105">
                  <a:moveTo>
                    <a:pt x="44" y="90"/>
                  </a:moveTo>
                  <a:lnTo>
                    <a:pt x="76" y="0"/>
                  </a:lnTo>
                  <a:lnTo>
                    <a:pt x="87" y="0"/>
                  </a:lnTo>
                  <a:lnTo>
                    <a:pt x="49" y="105"/>
                  </a:lnTo>
                  <a:lnTo>
                    <a:pt x="40" y="105"/>
                  </a:lnTo>
                  <a:lnTo>
                    <a:pt x="0" y="0"/>
                  </a:lnTo>
                  <a:lnTo>
                    <a:pt x="14" y="0"/>
                  </a:lnTo>
                  <a:lnTo>
                    <a:pt x="44"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24">
              <a:extLst>
                <a:ext uri="{FF2B5EF4-FFF2-40B4-BE49-F238E27FC236}">
                  <a16:creationId xmlns:a16="http://schemas.microsoft.com/office/drawing/2014/main" id="{C49E3A68-850E-4F80-95C4-ABE2027A8029}"/>
                </a:ext>
              </a:extLst>
            </p:cNvPr>
            <p:cNvSpPr>
              <a:spLocks noEditPoints="1"/>
            </p:cNvSpPr>
            <p:nvPr userDrawn="1"/>
          </p:nvSpPr>
          <p:spPr bwMode="auto">
            <a:xfrm>
              <a:off x="2713038" y="1707932"/>
              <a:ext cx="23813" cy="227013"/>
            </a:xfrm>
            <a:custGeom>
              <a:avLst/>
              <a:gdLst>
                <a:gd name="T0" fmla="*/ 0 w 8"/>
                <a:gd name="T1" fmla="*/ 5 h 75"/>
                <a:gd name="T2" fmla="*/ 1 w 8"/>
                <a:gd name="T3" fmla="*/ 2 h 75"/>
                <a:gd name="T4" fmla="*/ 4 w 8"/>
                <a:gd name="T5" fmla="*/ 0 h 75"/>
                <a:gd name="T6" fmla="*/ 7 w 8"/>
                <a:gd name="T7" fmla="*/ 2 h 75"/>
                <a:gd name="T8" fmla="*/ 8 w 8"/>
                <a:gd name="T9" fmla="*/ 5 h 75"/>
                <a:gd name="T10" fmla="*/ 7 w 8"/>
                <a:gd name="T11" fmla="*/ 7 h 75"/>
                <a:gd name="T12" fmla="*/ 4 w 8"/>
                <a:gd name="T13" fmla="*/ 9 h 75"/>
                <a:gd name="T14" fmla="*/ 1 w 8"/>
                <a:gd name="T15" fmla="*/ 7 h 75"/>
                <a:gd name="T16" fmla="*/ 0 w 8"/>
                <a:gd name="T17" fmla="*/ 5 h 75"/>
                <a:gd name="T18" fmla="*/ 7 w 8"/>
                <a:gd name="T19" fmla="*/ 75 h 75"/>
                <a:gd name="T20" fmla="*/ 1 w 8"/>
                <a:gd name="T21" fmla="*/ 75 h 75"/>
                <a:gd name="T22" fmla="*/ 1 w 8"/>
                <a:gd name="T23" fmla="*/ 20 h 75"/>
                <a:gd name="T24" fmla="*/ 7 w 8"/>
                <a:gd name="T25" fmla="*/ 20 h 75"/>
                <a:gd name="T26" fmla="*/ 7 w 8"/>
                <a:gd name="T27"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75">
                  <a:moveTo>
                    <a:pt x="0" y="5"/>
                  </a:moveTo>
                  <a:cubicBezTo>
                    <a:pt x="0" y="3"/>
                    <a:pt x="0" y="2"/>
                    <a:pt x="1" y="2"/>
                  </a:cubicBezTo>
                  <a:cubicBezTo>
                    <a:pt x="2" y="1"/>
                    <a:pt x="3" y="0"/>
                    <a:pt x="4" y="0"/>
                  </a:cubicBezTo>
                  <a:cubicBezTo>
                    <a:pt x="5" y="0"/>
                    <a:pt x="6" y="1"/>
                    <a:pt x="7" y="2"/>
                  </a:cubicBezTo>
                  <a:cubicBezTo>
                    <a:pt x="8" y="2"/>
                    <a:pt x="8" y="3"/>
                    <a:pt x="8" y="5"/>
                  </a:cubicBezTo>
                  <a:cubicBezTo>
                    <a:pt x="8" y="6"/>
                    <a:pt x="8" y="7"/>
                    <a:pt x="7" y="7"/>
                  </a:cubicBezTo>
                  <a:cubicBezTo>
                    <a:pt x="6" y="8"/>
                    <a:pt x="5" y="9"/>
                    <a:pt x="4" y="9"/>
                  </a:cubicBezTo>
                  <a:cubicBezTo>
                    <a:pt x="3" y="9"/>
                    <a:pt x="2" y="8"/>
                    <a:pt x="1" y="7"/>
                  </a:cubicBezTo>
                  <a:cubicBezTo>
                    <a:pt x="0" y="7"/>
                    <a:pt x="0" y="6"/>
                    <a:pt x="0" y="5"/>
                  </a:cubicBezTo>
                  <a:close/>
                  <a:moveTo>
                    <a:pt x="7" y="75"/>
                  </a:moveTo>
                  <a:cubicBezTo>
                    <a:pt x="1" y="75"/>
                    <a:pt x="1" y="75"/>
                    <a:pt x="1" y="75"/>
                  </a:cubicBezTo>
                  <a:cubicBezTo>
                    <a:pt x="1" y="20"/>
                    <a:pt x="1" y="20"/>
                    <a:pt x="1" y="20"/>
                  </a:cubicBezTo>
                  <a:cubicBezTo>
                    <a:pt x="7" y="20"/>
                    <a:pt x="7" y="20"/>
                    <a:pt x="7" y="20"/>
                  </a:cubicBezTo>
                  <a:lnTo>
                    <a:pt x="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Freeform 25">
              <a:extLst>
                <a:ext uri="{FF2B5EF4-FFF2-40B4-BE49-F238E27FC236}">
                  <a16:creationId xmlns:a16="http://schemas.microsoft.com/office/drawing/2014/main" id="{869252B0-464F-41EC-BC73-FD171935B39F}"/>
                </a:ext>
              </a:extLst>
            </p:cNvPr>
            <p:cNvSpPr>
              <a:spLocks/>
            </p:cNvSpPr>
            <p:nvPr userDrawn="1"/>
          </p:nvSpPr>
          <p:spPr bwMode="auto">
            <a:xfrm>
              <a:off x="2776538" y="1765082"/>
              <a:ext cx="125413" cy="173038"/>
            </a:xfrm>
            <a:custGeom>
              <a:avLst/>
              <a:gdLst>
                <a:gd name="T0" fmla="*/ 35 w 42"/>
                <a:gd name="T1" fmla="*/ 42 h 57"/>
                <a:gd name="T2" fmla="*/ 35 w 42"/>
                <a:gd name="T3" fmla="*/ 39 h 57"/>
                <a:gd name="T4" fmla="*/ 33 w 42"/>
                <a:gd name="T5" fmla="*/ 36 h 57"/>
                <a:gd name="T6" fmla="*/ 28 w 42"/>
                <a:gd name="T7" fmla="*/ 33 h 57"/>
                <a:gd name="T8" fmla="*/ 21 w 42"/>
                <a:gd name="T9" fmla="*/ 31 h 57"/>
                <a:gd name="T10" fmla="*/ 13 w 42"/>
                <a:gd name="T11" fmla="*/ 29 h 57"/>
                <a:gd name="T12" fmla="*/ 7 w 42"/>
                <a:gd name="T13" fmla="*/ 26 h 57"/>
                <a:gd name="T14" fmla="*/ 3 w 42"/>
                <a:gd name="T15" fmla="*/ 21 h 57"/>
                <a:gd name="T16" fmla="*/ 2 w 42"/>
                <a:gd name="T17" fmla="*/ 15 h 57"/>
                <a:gd name="T18" fmla="*/ 3 w 42"/>
                <a:gd name="T19" fmla="*/ 10 h 57"/>
                <a:gd name="T20" fmla="*/ 7 w 42"/>
                <a:gd name="T21" fmla="*/ 5 h 57"/>
                <a:gd name="T22" fmla="*/ 13 w 42"/>
                <a:gd name="T23" fmla="*/ 2 h 57"/>
                <a:gd name="T24" fmla="*/ 21 w 42"/>
                <a:gd name="T25" fmla="*/ 0 h 57"/>
                <a:gd name="T26" fmla="*/ 30 w 42"/>
                <a:gd name="T27" fmla="*/ 2 h 57"/>
                <a:gd name="T28" fmla="*/ 36 w 42"/>
                <a:gd name="T29" fmla="*/ 5 h 57"/>
                <a:gd name="T30" fmla="*/ 40 w 42"/>
                <a:gd name="T31" fmla="*/ 10 h 57"/>
                <a:gd name="T32" fmla="*/ 41 w 42"/>
                <a:gd name="T33" fmla="*/ 17 h 57"/>
                <a:gd name="T34" fmla="*/ 35 w 42"/>
                <a:gd name="T35" fmla="*/ 17 h 57"/>
                <a:gd name="T36" fmla="*/ 34 w 42"/>
                <a:gd name="T37" fmla="*/ 13 h 57"/>
                <a:gd name="T38" fmla="*/ 32 w 42"/>
                <a:gd name="T39" fmla="*/ 9 h 57"/>
                <a:gd name="T40" fmla="*/ 27 w 42"/>
                <a:gd name="T41" fmla="*/ 7 h 57"/>
                <a:gd name="T42" fmla="*/ 21 w 42"/>
                <a:gd name="T43" fmla="*/ 6 h 57"/>
                <a:gd name="T44" fmla="*/ 15 w 42"/>
                <a:gd name="T45" fmla="*/ 7 h 57"/>
                <a:gd name="T46" fmla="*/ 11 w 42"/>
                <a:gd name="T47" fmla="*/ 9 h 57"/>
                <a:gd name="T48" fmla="*/ 8 w 42"/>
                <a:gd name="T49" fmla="*/ 12 h 57"/>
                <a:gd name="T50" fmla="*/ 8 w 42"/>
                <a:gd name="T51" fmla="*/ 15 h 57"/>
                <a:gd name="T52" fmla="*/ 8 w 42"/>
                <a:gd name="T53" fmla="*/ 19 h 57"/>
                <a:gd name="T54" fmla="*/ 10 w 42"/>
                <a:gd name="T55" fmla="*/ 21 h 57"/>
                <a:gd name="T56" fmla="*/ 15 w 42"/>
                <a:gd name="T57" fmla="*/ 24 h 57"/>
                <a:gd name="T58" fmla="*/ 22 w 42"/>
                <a:gd name="T59" fmla="*/ 26 h 57"/>
                <a:gd name="T60" fmla="*/ 31 w 42"/>
                <a:gd name="T61" fmla="*/ 29 h 57"/>
                <a:gd name="T62" fmla="*/ 37 w 42"/>
                <a:gd name="T63" fmla="*/ 32 h 57"/>
                <a:gd name="T64" fmla="*/ 40 w 42"/>
                <a:gd name="T65" fmla="*/ 36 h 57"/>
                <a:gd name="T66" fmla="*/ 42 w 42"/>
                <a:gd name="T67" fmla="*/ 42 h 57"/>
                <a:gd name="T68" fmla="*/ 40 w 42"/>
                <a:gd name="T69" fmla="*/ 48 h 57"/>
                <a:gd name="T70" fmla="*/ 36 w 42"/>
                <a:gd name="T71" fmla="*/ 53 h 57"/>
                <a:gd name="T72" fmla="*/ 30 w 42"/>
                <a:gd name="T73" fmla="*/ 56 h 57"/>
                <a:gd name="T74" fmla="*/ 21 w 42"/>
                <a:gd name="T75" fmla="*/ 57 h 57"/>
                <a:gd name="T76" fmla="*/ 12 w 42"/>
                <a:gd name="T77" fmla="*/ 56 h 57"/>
                <a:gd name="T78" fmla="*/ 5 w 42"/>
                <a:gd name="T79" fmla="*/ 52 h 57"/>
                <a:gd name="T80" fmla="*/ 1 w 42"/>
                <a:gd name="T81" fmla="*/ 47 h 57"/>
                <a:gd name="T82" fmla="*/ 0 w 42"/>
                <a:gd name="T83" fmla="*/ 41 h 57"/>
                <a:gd name="T84" fmla="*/ 6 w 42"/>
                <a:gd name="T85" fmla="*/ 41 h 57"/>
                <a:gd name="T86" fmla="*/ 8 w 42"/>
                <a:gd name="T87" fmla="*/ 46 h 57"/>
                <a:gd name="T88" fmla="*/ 11 w 42"/>
                <a:gd name="T89" fmla="*/ 50 h 57"/>
                <a:gd name="T90" fmla="*/ 16 w 42"/>
                <a:gd name="T91" fmla="*/ 52 h 57"/>
                <a:gd name="T92" fmla="*/ 21 w 42"/>
                <a:gd name="T93" fmla="*/ 52 h 57"/>
                <a:gd name="T94" fmla="*/ 27 w 42"/>
                <a:gd name="T95" fmla="*/ 52 h 57"/>
                <a:gd name="T96" fmla="*/ 32 w 42"/>
                <a:gd name="T97" fmla="*/ 49 h 57"/>
                <a:gd name="T98" fmla="*/ 35 w 42"/>
                <a:gd name="T99" fmla="*/ 46 h 57"/>
                <a:gd name="T100" fmla="*/ 35 w 42"/>
                <a:gd name="T101" fmla="*/ 4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 h="57">
                  <a:moveTo>
                    <a:pt x="35" y="42"/>
                  </a:moveTo>
                  <a:cubicBezTo>
                    <a:pt x="35" y="41"/>
                    <a:pt x="35" y="40"/>
                    <a:pt x="35" y="39"/>
                  </a:cubicBezTo>
                  <a:cubicBezTo>
                    <a:pt x="35" y="38"/>
                    <a:pt x="34" y="37"/>
                    <a:pt x="33" y="36"/>
                  </a:cubicBezTo>
                  <a:cubicBezTo>
                    <a:pt x="32" y="35"/>
                    <a:pt x="30" y="34"/>
                    <a:pt x="28" y="33"/>
                  </a:cubicBezTo>
                  <a:cubicBezTo>
                    <a:pt x="26" y="32"/>
                    <a:pt x="24" y="32"/>
                    <a:pt x="21" y="31"/>
                  </a:cubicBezTo>
                  <a:cubicBezTo>
                    <a:pt x="18" y="30"/>
                    <a:pt x="15" y="30"/>
                    <a:pt x="13" y="29"/>
                  </a:cubicBezTo>
                  <a:cubicBezTo>
                    <a:pt x="10" y="28"/>
                    <a:pt x="8" y="27"/>
                    <a:pt x="7" y="26"/>
                  </a:cubicBezTo>
                  <a:cubicBezTo>
                    <a:pt x="5" y="24"/>
                    <a:pt x="4" y="23"/>
                    <a:pt x="3" y="21"/>
                  </a:cubicBezTo>
                  <a:cubicBezTo>
                    <a:pt x="2" y="20"/>
                    <a:pt x="2" y="18"/>
                    <a:pt x="2" y="15"/>
                  </a:cubicBezTo>
                  <a:cubicBezTo>
                    <a:pt x="2" y="13"/>
                    <a:pt x="2" y="12"/>
                    <a:pt x="3" y="10"/>
                  </a:cubicBezTo>
                  <a:cubicBezTo>
                    <a:pt x="4" y="8"/>
                    <a:pt x="5" y="6"/>
                    <a:pt x="7" y="5"/>
                  </a:cubicBezTo>
                  <a:cubicBezTo>
                    <a:pt x="8" y="4"/>
                    <a:pt x="11" y="2"/>
                    <a:pt x="13" y="2"/>
                  </a:cubicBezTo>
                  <a:cubicBezTo>
                    <a:pt x="15" y="1"/>
                    <a:pt x="18" y="0"/>
                    <a:pt x="21" y="0"/>
                  </a:cubicBezTo>
                  <a:cubicBezTo>
                    <a:pt x="24" y="0"/>
                    <a:pt x="27" y="1"/>
                    <a:pt x="30" y="2"/>
                  </a:cubicBezTo>
                  <a:cubicBezTo>
                    <a:pt x="32" y="3"/>
                    <a:pt x="34" y="4"/>
                    <a:pt x="36" y="5"/>
                  </a:cubicBezTo>
                  <a:cubicBezTo>
                    <a:pt x="38" y="7"/>
                    <a:pt x="39" y="8"/>
                    <a:pt x="40" y="10"/>
                  </a:cubicBezTo>
                  <a:cubicBezTo>
                    <a:pt x="41" y="12"/>
                    <a:pt x="41" y="15"/>
                    <a:pt x="41" y="17"/>
                  </a:cubicBezTo>
                  <a:cubicBezTo>
                    <a:pt x="35" y="17"/>
                    <a:pt x="35" y="17"/>
                    <a:pt x="35" y="17"/>
                  </a:cubicBezTo>
                  <a:cubicBezTo>
                    <a:pt x="35" y="15"/>
                    <a:pt x="35" y="14"/>
                    <a:pt x="34" y="13"/>
                  </a:cubicBezTo>
                  <a:cubicBezTo>
                    <a:pt x="34" y="11"/>
                    <a:pt x="33" y="10"/>
                    <a:pt x="32" y="9"/>
                  </a:cubicBezTo>
                  <a:cubicBezTo>
                    <a:pt x="30" y="8"/>
                    <a:pt x="29" y="7"/>
                    <a:pt x="27" y="7"/>
                  </a:cubicBezTo>
                  <a:cubicBezTo>
                    <a:pt x="25" y="6"/>
                    <a:pt x="23" y="6"/>
                    <a:pt x="21" y="6"/>
                  </a:cubicBezTo>
                  <a:cubicBezTo>
                    <a:pt x="19" y="6"/>
                    <a:pt x="17" y="6"/>
                    <a:pt x="15" y="7"/>
                  </a:cubicBezTo>
                  <a:cubicBezTo>
                    <a:pt x="13" y="7"/>
                    <a:pt x="12" y="8"/>
                    <a:pt x="11" y="9"/>
                  </a:cubicBezTo>
                  <a:cubicBezTo>
                    <a:pt x="10" y="10"/>
                    <a:pt x="9" y="11"/>
                    <a:pt x="8" y="12"/>
                  </a:cubicBezTo>
                  <a:cubicBezTo>
                    <a:pt x="8" y="13"/>
                    <a:pt x="8" y="14"/>
                    <a:pt x="8" y="15"/>
                  </a:cubicBezTo>
                  <a:cubicBezTo>
                    <a:pt x="8" y="16"/>
                    <a:pt x="8" y="18"/>
                    <a:pt x="8" y="19"/>
                  </a:cubicBezTo>
                  <a:cubicBezTo>
                    <a:pt x="9" y="20"/>
                    <a:pt x="9" y="21"/>
                    <a:pt x="10" y="21"/>
                  </a:cubicBezTo>
                  <a:cubicBezTo>
                    <a:pt x="11" y="22"/>
                    <a:pt x="13" y="23"/>
                    <a:pt x="15" y="24"/>
                  </a:cubicBezTo>
                  <a:cubicBezTo>
                    <a:pt x="17" y="24"/>
                    <a:pt x="19" y="25"/>
                    <a:pt x="22" y="26"/>
                  </a:cubicBezTo>
                  <a:cubicBezTo>
                    <a:pt x="26" y="27"/>
                    <a:pt x="29" y="28"/>
                    <a:pt x="31" y="29"/>
                  </a:cubicBezTo>
                  <a:cubicBezTo>
                    <a:pt x="33" y="29"/>
                    <a:pt x="35" y="31"/>
                    <a:pt x="37" y="32"/>
                  </a:cubicBezTo>
                  <a:cubicBezTo>
                    <a:pt x="39" y="33"/>
                    <a:pt x="40" y="35"/>
                    <a:pt x="40" y="36"/>
                  </a:cubicBezTo>
                  <a:cubicBezTo>
                    <a:pt x="41" y="38"/>
                    <a:pt x="42" y="40"/>
                    <a:pt x="42" y="42"/>
                  </a:cubicBezTo>
                  <a:cubicBezTo>
                    <a:pt x="42" y="44"/>
                    <a:pt x="41" y="47"/>
                    <a:pt x="40" y="48"/>
                  </a:cubicBezTo>
                  <a:cubicBezTo>
                    <a:pt x="39" y="50"/>
                    <a:pt x="38" y="52"/>
                    <a:pt x="36" y="53"/>
                  </a:cubicBezTo>
                  <a:cubicBezTo>
                    <a:pt x="34" y="55"/>
                    <a:pt x="32" y="56"/>
                    <a:pt x="30" y="56"/>
                  </a:cubicBezTo>
                  <a:cubicBezTo>
                    <a:pt x="27" y="57"/>
                    <a:pt x="24" y="57"/>
                    <a:pt x="21" y="57"/>
                  </a:cubicBezTo>
                  <a:cubicBezTo>
                    <a:pt x="18" y="57"/>
                    <a:pt x="15" y="57"/>
                    <a:pt x="12" y="56"/>
                  </a:cubicBezTo>
                  <a:cubicBezTo>
                    <a:pt x="9" y="55"/>
                    <a:pt x="7" y="54"/>
                    <a:pt x="5" y="52"/>
                  </a:cubicBezTo>
                  <a:cubicBezTo>
                    <a:pt x="3" y="51"/>
                    <a:pt x="2" y="49"/>
                    <a:pt x="1" y="47"/>
                  </a:cubicBezTo>
                  <a:cubicBezTo>
                    <a:pt x="0" y="45"/>
                    <a:pt x="0" y="43"/>
                    <a:pt x="0" y="41"/>
                  </a:cubicBezTo>
                  <a:cubicBezTo>
                    <a:pt x="6" y="41"/>
                    <a:pt x="6" y="41"/>
                    <a:pt x="6" y="41"/>
                  </a:cubicBezTo>
                  <a:cubicBezTo>
                    <a:pt x="6" y="43"/>
                    <a:pt x="7" y="45"/>
                    <a:pt x="8" y="46"/>
                  </a:cubicBezTo>
                  <a:cubicBezTo>
                    <a:pt x="9" y="48"/>
                    <a:pt x="10" y="49"/>
                    <a:pt x="11" y="50"/>
                  </a:cubicBezTo>
                  <a:cubicBezTo>
                    <a:pt x="13" y="51"/>
                    <a:pt x="14" y="51"/>
                    <a:pt x="16" y="52"/>
                  </a:cubicBezTo>
                  <a:cubicBezTo>
                    <a:pt x="18" y="52"/>
                    <a:pt x="20" y="52"/>
                    <a:pt x="21" y="52"/>
                  </a:cubicBezTo>
                  <a:cubicBezTo>
                    <a:pt x="24" y="52"/>
                    <a:pt x="26" y="52"/>
                    <a:pt x="27" y="52"/>
                  </a:cubicBezTo>
                  <a:cubicBezTo>
                    <a:pt x="29" y="51"/>
                    <a:pt x="31" y="50"/>
                    <a:pt x="32" y="49"/>
                  </a:cubicBezTo>
                  <a:cubicBezTo>
                    <a:pt x="33" y="48"/>
                    <a:pt x="34" y="47"/>
                    <a:pt x="35" y="46"/>
                  </a:cubicBezTo>
                  <a:cubicBezTo>
                    <a:pt x="35" y="45"/>
                    <a:pt x="35" y="44"/>
                    <a:pt x="35"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26">
              <a:extLst>
                <a:ext uri="{FF2B5EF4-FFF2-40B4-BE49-F238E27FC236}">
                  <a16:creationId xmlns:a16="http://schemas.microsoft.com/office/drawing/2014/main" id="{1CC4E57E-C934-4CAB-A798-A0AC20357EE2}"/>
                </a:ext>
              </a:extLst>
            </p:cNvPr>
            <p:cNvSpPr>
              <a:spLocks noEditPoints="1"/>
            </p:cNvSpPr>
            <p:nvPr userDrawn="1"/>
          </p:nvSpPr>
          <p:spPr bwMode="auto">
            <a:xfrm>
              <a:off x="2932113" y="1765082"/>
              <a:ext cx="147638" cy="173038"/>
            </a:xfrm>
            <a:custGeom>
              <a:avLst/>
              <a:gdLst>
                <a:gd name="T0" fmla="*/ 0 w 49"/>
                <a:gd name="T1" fmla="*/ 28 h 57"/>
                <a:gd name="T2" fmla="*/ 2 w 49"/>
                <a:gd name="T3" fmla="*/ 17 h 57"/>
                <a:gd name="T4" fmla="*/ 7 w 49"/>
                <a:gd name="T5" fmla="*/ 8 h 57"/>
                <a:gd name="T6" fmla="*/ 14 w 49"/>
                <a:gd name="T7" fmla="*/ 3 h 57"/>
                <a:gd name="T8" fmla="*/ 24 w 49"/>
                <a:gd name="T9" fmla="*/ 0 h 57"/>
                <a:gd name="T10" fmla="*/ 35 w 49"/>
                <a:gd name="T11" fmla="*/ 3 h 57"/>
                <a:gd name="T12" fmla="*/ 42 w 49"/>
                <a:gd name="T13" fmla="*/ 8 h 57"/>
                <a:gd name="T14" fmla="*/ 47 w 49"/>
                <a:gd name="T15" fmla="*/ 17 h 57"/>
                <a:gd name="T16" fmla="*/ 49 w 49"/>
                <a:gd name="T17" fmla="*/ 28 h 57"/>
                <a:gd name="T18" fmla="*/ 49 w 49"/>
                <a:gd name="T19" fmla="*/ 30 h 57"/>
                <a:gd name="T20" fmla="*/ 47 w 49"/>
                <a:gd name="T21" fmla="*/ 41 h 57"/>
                <a:gd name="T22" fmla="*/ 42 w 49"/>
                <a:gd name="T23" fmla="*/ 50 h 57"/>
                <a:gd name="T24" fmla="*/ 35 w 49"/>
                <a:gd name="T25" fmla="*/ 55 h 57"/>
                <a:gd name="T26" fmla="*/ 24 w 49"/>
                <a:gd name="T27" fmla="*/ 57 h 57"/>
                <a:gd name="T28" fmla="*/ 14 w 49"/>
                <a:gd name="T29" fmla="*/ 55 h 57"/>
                <a:gd name="T30" fmla="*/ 7 w 49"/>
                <a:gd name="T31" fmla="*/ 50 h 57"/>
                <a:gd name="T32" fmla="*/ 2 w 49"/>
                <a:gd name="T33" fmla="*/ 41 h 57"/>
                <a:gd name="T34" fmla="*/ 0 w 49"/>
                <a:gd name="T35" fmla="*/ 30 h 57"/>
                <a:gd name="T36" fmla="*/ 0 w 49"/>
                <a:gd name="T37" fmla="*/ 28 h 57"/>
                <a:gd name="T38" fmla="*/ 6 w 49"/>
                <a:gd name="T39" fmla="*/ 30 h 57"/>
                <a:gd name="T40" fmla="*/ 7 w 49"/>
                <a:gd name="T41" fmla="*/ 38 h 57"/>
                <a:gd name="T42" fmla="*/ 11 w 49"/>
                <a:gd name="T43" fmla="*/ 46 h 57"/>
                <a:gd name="T44" fmla="*/ 17 w 49"/>
                <a:gd name="T45" fmla="*/ 51 h 57"/>
                <a:gd name="T46" fmla="*/ 24 w 49"/>
                <a:gd name="T47" fmla="*/ 52 h 57"/>
                <a:gd name="T48" fmla="*/ 32 w 49"/>
                <a:gd name="T49" fmla="*/ 51 h 57"/>
                <a:gd name="T50" fmla="*/ 38 w 49"/>
                <a:gd name="T51" fmla="*/ 46 h 57"/>
                <a:gd name="T52" fmla="*/ 42 w 49"/>
                <a:gd name="T53" fmla="*/ 38 h 57"/>
                <a:gd name="T54" fmla="*/ 43 w 49"/>
                <a:gd name="T55" fmla="*/ 30 h 57"/>
                <a:gd name="T56" fmla="*/ 43 w 49"/>
                <a:gd name="T57" fmla="*/ 28 h 57"/>
                <a:gd name="T58" fmla="*/ 42 w 49"/>
                <a:gd name="T59" fmla="*/ 20 h 57"/>
                <a:gd name="T60" fmla="*/ 38 w 49"/>
                <a:gd name="T61" fmla="*/ 12 h 57"/>
                <a:gd name="T62" fmla="*/ 32 w 49"/>
                <a:gd name="T63" fmla="*/ 8 h 57"/>
                <a:gd name="T64" fmla="*/ 24 w 49"/>
                <a:gd name="T65" fmla="*/ 6 h 57"/>
                <a:gd name="T66" fmla="*/ 17 w 49"/>
                <a:gd name="T67" fmla="*/ 8 h 57"/>
                <a:gd name="T68" fmla="*/ 11 w 49"/>
                <a:gd name="T69" fmla="*/ 12 h 57"/>
                <a:gd name="T70" fmla="*/ 7 w 49"/>
                <a:gd name="T71" fmla="*/ 20 h 57"/>
                <a:gd name="T72" fmla="*/ 6 w 49"/>
                <a:gd name="T73" fmla="*/ 28 h 57"/>
                <a:gd name="T74" fmla="*/ 6 w 49"/>
                <a:gd name="T75"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 h="57">
                  <a:moveTo>
                    <a:pt x="0" y="28"/>
                  </a:moveTo>
                  <a:cubicBezTo>
                    <a:pt x="0" y="24"/>
                    <a:pt x="0" y="20"/>
                    <a:pt x="2" y="17"/>
                  </a:cubicBezTo>
                  <a:cubicBezTo>
                    <a:pt x="3" y="14"/>
                    <a:pt x="4" y="11"/>
                    <a:pt x="7" y="8"/>
                  </a:cubicBezTo>
                  <a:cubicBezTo>
                    <a:pt x="9" y="6"/>
                    <a:pt x="11" y="4"/>
                    <a:pt x="14" y="3"/>
                  </a:cubicBezTo>
                  <a:cubicBezTo>
                    <a:pt x="17" y="1"/>
                    <a:pt x="21" y="0"/>
                    <a:pt x="24" y="0"/>
                  </a:cubicBezTo>
                  <a:cubicBezTo>
                    <a:pt x="28" y="0"/>
                    <a:pt x="32" y="1"/>
                    <a:pt x="35" y="3"/>
                  </a:cubicBezTo>
                  <a:cubicBezTo>
                    <a:pt x="38" y="4"/>
                    <a:pt x="40" y="6"/>
                    <a:pt x="42" y="8"/>
                  </a:cubicBezTo>
                  <a:cubicBezTo>
                    <a:pt x="44" y="11"/>
                    <a:pt x="46" y="14"/>
                    <a:pt x="47" y="17"/>
                  </a:cubicBezTo>
                  <a:cubicBezTo>
                    <a:pt x="48" y="20"/>
                    <a:pt x="49" y="24"/>
                    <a:pt x="49" y="28"/>
                  </a:cubicBezTo>
                  <a:cubicBezTo>
                    <a:pt x="49" y="30"/>
                    <a:pt x="49" y="30"/>
                    <a:pt x="49" y="30"/>
                  </a:cubicBezTo>
                  <a:cubicBezTo>
                    <a:pt x="49" y="34"/>
                    <a:pt x="48" y="38"/>
                    <a:pt x="47" y="41"/>
                  </a:cubicBezTo>
                  <a:cubicBezTo>
                    <a:pt x="46" y="44"/>
                    <a:pt x="44" y="47"/>
                    <a:pt x="42" y="50"/>
                  </a:cubicBezTo>
                  <a:cubicBezTo>
                    <a:pt x="40" y="52"/>
                    <a:pt x="38" y="54"/>
                    <a:pt x="35" y="55"/>
                  </a:cubicBezTo>
                  <a:cubicBezTo>
                    <a:pt x="32" y="57"/>
                    <a:pt x="28" y="57"/>
                    <a:pt x="24" y="57"/>
                  </a:cubicBezTo>
                  <a:cubicBezTo>
                    <a:pt x="21" y="57"/>
                    <a:pt x="17" y="57"/>
                    <a:pt x="14" y="55"/>
                  </a:cubicBezTo>
                  <a:cubicBezTo>
                    <a:pt x="11" y="54"/>
                    <a:pt x="9" y="52"/>
                    <a:pt x="7" y="50"/>
                  </a:cubicBezTo>
                  <a:cubicBezTo>
                    <a:pt x="4" y="47"/>
                    <a:pt x="3" y="44"/>
                    <a:pt x="2" y="41"/>
                  </a:cubicBezTo>
                  <a:cubicBezTo>
                    <a:pt x="0" y="38"/>
                    <a:pt x="0" y="34"/>
                    <a:pt x="0" y="30"/>
                  </a:cubicBezTo>
                  <a:lnTo>
                    <a:pt x="0" y="28"/>
                  </a:lnTo>
                  <a:close/>
                  <a:moveTo>
                    <a:pt x="6" y="30"/>
                  </a:moveTo>
                  <a:cubicBezTo>
                    <a:pt x="6" y="33"/>
                    <a:pt x="6" y="36"/>
                    <a:pt x="7" y="38"/>
                  </a:cubicBezTo>
                  <a:cubicBezTo>
                    <a:pt x="8" y="41"/>
                    <a:pt x="9" y="44"/>
                    <a:pt x="11" y="46"/>
                  </a:cubicBezTo>
                  <a:cubicBezTo>
                    <a:pt x="12" y="48"/>
                    <a:pt x="14" y="49"/>
                    <a:pt x="17" y="51"/>
                  </a:cubicBezTo>
                  <a:cubicBezTo>
                    <a:pt x="19" y="52"/>
                    <a:pt x="21" y="52"/>
                    <a:pt x="24" y="52"/>
                  </a:cubicBezTo>
                  <a:cubicBezTo>
                    <a:pt x="27" y="52"/>
                    <a:pt x="30" y="52"/>
                    <a:pt x="32" y="51"/>
                  </a:cubicBezTo>
                  <a:cubicBezTo>
                    <a:pt x="35" y="49"/>
                    <a:pt x="37" y="48"/>
                    <a:pt x="38" y="46"/>
                  </a:cubicBezTo>
                  <a:cubicBezTo>
                    <a:pt x="40" y="44"/>
                    <a:pt x="41" y="41"/>
                    <a:pt x="42" y="38"/>
                  </a:cubicBezTo>
                  <a:cubicBezTo>
                    <a:pt x="42" y="36"/>
                    <a:pt x="43" y="33"/>
                    <a:pt x="43" y="30"/>
                  </a:cubicBezTo>
                  <a:cubicBezTo>
                    <a:pt x="43" y="28"/>
                    <a:pt x="43" y="28"/>
                    <a:pt x="43" y="28"/>
                  </a:cubicBezTo>
                  <a:cubicBezTo>
                    <a:pt x="43" y="25"/>
                    <a:pt x="42" y="22"/>
                    <a:pt x="42" y="20"/>
                  </a:cubicBezTo>
                  <a:cubicBezTo>
                    <a:pt x="41" y="17"/>
                    <a:pt x="40" y="15"/>
                    <a:pt x="38" y="12"/>
                  </a:cubicBezTo>
                  <a:cubicBezTo>
                    <a:pt x="37" y="10"/>
                    <a:pt x="35" y="9"/>
                    <a:pt x="32" y="8"/>
                  </a:cubicBezTo>
                  <a:cubicBezTo>
                    <a:pt x="30" y="6"/>
                    <a:pt x="27" y="6"/>
                    <a:pt x="24" y="6"/>
                  </a:cubicBezTo>
                  <a:cubicBezTo>
                    <a:pt x="21" y="6"/>
                    <a:pt x="19" y="6"/>
                    <a:pt x="17" y="8"/>
                  </a:cubicBezTo>
                  <a:cubicBezTo>
                    <a:pt x="14" y="9"/>
                    <a:pt x="12" y="10"/>
                    <a:pt x="11" y="12"/>
                  </a:cubicBezTo>
                  <a:cubicBezTo>
                    <a:pt x="9" y="15"/>
                    <a:pt x="8" y="17"/>
                    <a:pt x="7" y="20"/>
                  </a:cubicBezTo>
                  <a:cubicBezTo>
                    <a:pt x="6" y="22"/>
                    <a:pt x="6" y="25"/>
                    <a:pt x="6" y="28"/>
                  </a:cubicBezTo>
                  <a:lnTo>
                    <a:pt x="6"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Freeform 27">
              <a:extLst>
                <a:ext uri="{FF2B5EF4-FFF2-40B4-BE49-F238E27FC236}">
                  <a16:creationId xmlns:a16="http://schemas.microsoft.com/office/drawing/2014/main" id="{DABF080E-6B56-4E45-B9A7-283336E1A698}"/>
                </a:ext>
              </a:extLst>
            </p:cNvPr>
            <p:cNvSpPr>
              <a:spLocks/>
            </p:cNvSpPr>
            <p:nvPr userDrawn="1"/>
          </p:nvSpPr>
          <p:spPr bwMode="auto">
            <a:xfrm>
              <a:off x="3116263" y="1765082"/>
              <a:ext cx="77788" cy="169863"/>
            </a:xfrm>
            <a:custGeom>
              <a:avLst/>
              <a:gdLst>
                <a:gd name="T0" fmla="*/ 26 w 26"/>
                <a:gd name="T1" fmla="*/ 7 h 56"/>
                <a:gd name="T2" fmla="*/ 22 w 26"/>
                <a:gd name="T3" fmla="*/ 6 h 56"/>
                <a:gd name="T4" fmla="*/ 16 w 26"/>
                <a:gd name="T5" fmla="*/ 7 h 56"/>
                <a:gd name="T6" fmla="*/ 12 w 26"/>
                <a:gd name="T7" fmla="*/ 10 h 56"/>
                <a:gd name="T8" fmla="*/ 9 w 26"/>
                <a:gd name="T9" fmla="*/ 14 h 56"/>
                <a:gd name="T10" fmla="*/ 7 w 26"/>
                <a:gd name="T11" fmla="*/ 19 h 56"/>
                <a:gd name="T12" fmla="*/ 7 w 26"/>
                <a:gd name="T13" fmla="*/ 56 h 56"/>
                <a:gd name="T14" fmla="*/ 0 w 26"/>
                <a:gd name="T15" fmla="*/ 56 h 56"/>
                <a:gd name="T16" fmla="*/ 0 w 26"/>
                <a:gd name="T17" fmla="*/ 1 h 56"/>
                <a:gd name="T18" fmla="*/ 6 w 26"/>
                <a:gd name="T19" fmla="*/ 1 h 56"/>
                <a:gd name="T20" fmla="*/ 7 w 26"/>
                <a:gd name="T21" fmla="*/ 10 h 56"/>
                <a:gd name="T22" fmla="*/ 13 w 26"/>
                <a:gd name="T23" fmla="*/ 3 h 56"/>
                <a:gd name="T24" fmla="*/ 22 w 26"/>
                <a:gd name="T25" fmla="*/ 0 h 56"/>
                <a:gd name="T26" fmla="*/ 24 w 26"/>
                <a:gd name="T27" fmla="*/ 1 h 56"/>
                <a:gd name="T28" fmla="*/ 26 w 26"/>
                <a:gd name="T29" fmla="*/ 1 h 56"/>
                <a:gd name="T30" fmla="*/ 26 w 26"/>
                <a:gd name="T31" fmla="*/ 7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56">
                  <a:moveTo>
                    <a:pt x="26" y="7"/>
                  </a:moveTo>
                  <a:cubicBezTo>
                    <a:pt x="25" y="6"/>
                    <a:pt x="23" y="6"/>
                    <a:pt x="22" y="6"/>
                  </a:cubicBezTo>
                  <a:cubicBezTo>
                    <a:pt x="20" y="6"/>
                    <a:pt x="18" y="7"/>
                    <a:pt x="16" y="7"/>
                  </a:cubicBezTo>
                  <a:cubicBezTo>
                    <a:pt x="15" y="8"/>
                    <a:pt x="13" y="9"/>
                    <a:pt x="12" y="10"/>
                  </a:cubicBezTo>
                  <a:cubicBezTo>
                    <a:pt x="11" y="11"/>
                    <a:pt x="9" y="12"/>
                    <a:pt x="9" y="14"/>
                  </a:cubicBezTo>
                  <a:cubicBezTo>
                    <a:pt x="8" y="15"/>
                    <a:pt x="7" y="17"/>
                    <a:pt x="7" y="19"/>
                  </a:cubicBezTo>
                  <a:cubicBezTo>
                    <a:pt x="7" y="56"/>
                    <a:pt x="7" y="56"/>
                    <a:pt x="7" y="56"/>
                  </a:cubicBezTo>
                  <a:cubicBezTo>
                    <a:pt x="0" y="56"/>
                    <a:pt x="0" y="56"/>
                    <a:pt x="0" y="56"/>
                  </a:cubicBezTo>
                  <a:cubicBezTo>
                    <a:pt x="0" y="1"/>
                    <a:pt x="0" y="1"/>
                    <a:pt x="0" y="1"/>
                  </a:cubicBezTo>
                  <a:cubicBezTo>
                    <a:pt x="6" y="1"/>
                    <a:pt x="6" y="1"/>
                    <a:pt x="6" y="1"/>
                  </a:cubicBezTo>
                  <a:cubicBezTo>
                    <a:pt x="7" y="10"/>
                    <a:pt x="7" y="10"/>
                    <a:pt x="7" y="10"/>
                  </a:cubicBezTo>
                  <a:cubicBezTo>
                    <a:pt x="8" y="7"/>
                    <a:pt x="10" y="5"/>
                    <a:pt x="13" y="3"/>
                  </a:cubicBezTo>
                  <a:cubicBezTo>
                    <a:pt x="15" y="1"/>
                    <a:pt x="18" y="0"/>
                    <a:pt x="22" y="0"/>
                  </a:cubicBezTo>
                  <a:cubicBezTo>
                    <a:pt x="23" y="0"/>
                    <a:pt x="24" y="1"/>
                    <a:pt x="24" y="1"/>
                  </a:cubicBezTo>
                  <a:cubicBezTo>
                    <a:pt x="25" y="1"/>
                    <a:pt x="26" y="1"/>
                    <a:pt x="26" y="1"/>
                  </a:cubicBezTo>
                  <a:lnTo>
                    <a:pt x="26"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28">
              <a:extLst>
                <a:ext uri="{FF2B5EF4-FFF2-40B4-BE49-F238E27FC236}">
                  <a16:creationId xmlns:a16="http://schemas.microsoft.com/office/drawing/2014/main" id="{0FE2724D-07F9-4A1C-8899-7035B8F34468}"/>
                </a:ext>
              </a:extLst>
            </p:cNvPr>
            <p:cNvSpPr>
              <a:spLocks/>
            </p:cNvSpPr>
            <p:nvPr userDrawn="1"/>
          </p:nvSpPr>
          <p:spPr bwMode="auto">
            <a:xfrm>
              <a:off x="3206750" y="1768257"/>
              <a:ext cx="138113" cy="236538"/>
            </a:xfrm>
            <a:custGeom>
              <a:avLst/>
              <a:gdLst>
                <a:gd name="T0" fmla="*/ 24 w 46"/>
                <a:gd name="T1" fmla="*/ 47 h 78"/>
                <a:gd name="T2" fmla="*/ 40 w 46"/>
                <a:gd name="T3" fmla="*/ 0 h 78"/>
                <a:gd name="T4" fmla="*/ 46 w 46"/>
                <a:gd name="T5" fmla="*/ 0 h 78"/>
                <a:gd name="T6" fmla="*/ 23 w 46"/>
                <a:gd name="T7" fmla="*/ 64 h 78"/>
                <a:gd name="T8" fmla="*/ 21 w 46"/>
                <a:gd name="T9" fmla="*/ 68 h 78"/>
                <a:gd name="T10" fmla="*/ 19 w 46"/>
                <a:gd name="T11" fmla="*/ 73 h 78"/>
                <a:gd name="T12" fmla="*/ 14 w 46"/>
                <a:gd name="T13" fmla="*/ 76 h 78"/>
                <a:gd name="T14" fmla="*/ 8 w 46"/>
                <a:gd name="T15" fmla="*/ 78 h 78"/>
                <a:gd name="T16" fmla="*/ 7 w 46"/>
                <a:gd name="T17" fmla="*/ 78 h 78"/>
                <a:gd name="T18" fmla="*/ 5 w 46"/>
                <a:gd name="T19" fmla="*/ 77 h 78"/>
                <a:gd name="T20" fmla="*/ 4 w 46"/>
                <a:gd name="T21" fmla="*/ 77 h 78"/>
                <a:gd name="T22" fmla="*/ 3 w 46"/>
                <a:gd name="T23" fmla="*/ 77 h 78"/>
                <a:gd name="T24" fmla="*/ 3 w 46"/>
                <a:gd name="T25" fmla="*/ 72 h 78"/>
                <a:gd name="T26" fmla="*/ 5 w 46"/>
                <a:gd name="T27" fmla="*/ 72 h 78"/>
                <a:gd name="T28" fmla="*/ 6 w 46"/>
                <a:gd name="T29" fmla="*/ 72 h 78"/>
                <a:gd name="T30" fmla="*/ 11 w 46"/>
                <a:gd name="T31" fmla="*/ 72 h 78"/>
                <a:gd name="T32" fmla="*/ 14 w 46"/>
                <a:gd name="T33" fmla="*/ 70 h 78"/>
                <a:gd name="T34" fmla="*/ 16 w 46"/>
                <a:gd name="T35" fmla="*/ 67 h 78"/>
                <a:gd name="T36" fmla="*/ 18 w 46"/>
                <a:gd name="T37" fmla="*/ 62 h 78"/>
                <a:gd name="T38" fmla="*/ 21 w 46"/>
                <a:gd name="T39" fmla="*/ 55 h 78"/>
                <a:gd name="T40" fmla="*/ 0 w 46"/>
                <a:gd name="T41" fmla="*/ 0 h 78"/>
                <a:gd name="T42" fmla="*/ 7 w 46"/>
                <a:gd name="T43" fmla="*/ 0 h 78"/>
                <a:gd name="T44" fmla="*/ 24 w 46"/>
                <a:gd name="T45" fmla="*/ 47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 h="78">
                  <a:moveTo>
                    <a:pt x="24" y="47"/>
                  </a:moveTo>
                  <a:cubicBezTo>
                    <a:pt x="40" y="0"/>
                    <a:pt x="40" y="0"/>
                    <a:pt x="40" y="0"/>
                  </a:cubicBezTo>
                  <a:cubicBezTo>
                    <a:pt x="46" y="0"/>
                    <a:pt x="46" y="0"/>
                    <a:pt x="46" y="0"/>
                  </a:cubicBezTo>
                  <a:cubicBezTo>
                    <a:pt x="23" y="64"/>
                    <a:pt x="23" y="64"/>
                    <a:pt x="23" y="64"/>
                  </a:cubicBezTo>
                  <a:cubicBezTo>
                    <a:pt x="23" y="65"/>
                    <a:pt x="22" y="67"/>
                    <a:pt x="21" y="68"/>
                  </a:cubicBezTo>
                  <a:cubicBezTo>
                    <a:pt x="21" y="70"/>
                    <a:pt x="20" y="71"/>
                    <a:pt x="19" y="73"/>
                  </a:cubicBezTo>
                  <a:cubicBezTo>
                    <a:pt x="17" y="74"/>
                    <a:pt x="16" y="75"/>
                    <a:pt x="14" y="76"/>
                  </a:cubicBezTo>
                  <a:cubicBezTo>
                    <a:pt x="12" y="77"/>
                    <a:pt x="10" y="78"/>
                    <a:pt x="8" y="78"/>
                  </a:cubicBezTo>
                  <a:cubicBezTo>
                    <a:pt x="7" y="78"/>
                    <a:pt x="7" y="78"/>
                    <a:pt x="7" y="78"/>
                  </a:cubicBezTo>
                  <a:cubicBezTo>
                    <a:pt x="6" y="78"/>
                    <a:pt x="6" y="77"/>
                    <a:pt x="5" y="77"/>
                  </a:cubicBezTo>
                  <a:cubicBezTo>
                    <a:pt x="5" y="77"/>
                    <a:pt x="4" y="77"/>
                    <a:pt x="4" y="77"/>
                  </a:cubicBezTo>
                  <a:cubicBezTo>
                    <a:pt x="4" y="77"/>
                    <a:pt x="3" y="77"/>
                    <a:pt x="3" y="77"/>
                  </a:cubicBezTo>
                  <a:cubicBezTo>
                    <a:pt x="3" y="72"/>
                    <a:pt x="3" y="72"/>
                    <a:pt x="3" y="72"/>
                  </a:cubicBezTo>
                  <a:cubicBezTo>
                    <a:pt x="3" y="72"/>
                    <a:pt x="4" y="72"/>
                    <a:pt x="5" y="72"/>
                  </a:cubicBezTo>
                  <a:cubicBezTo>
                    <a:pt x="5" y="72"/>
                    <a:pt x="6" y="72"/>
                    <a:pt x="6" y="72"/>
                  </a:cubicBezTo>
                  <a:cubicBezTo>
                    <a:pt x="8" y="72"/>
                    <a:pt x="9" y="72"/>
                    <a:pt x="11" y="72"/>
                  </a:cubicBezTo>
                  <a:cubicBezTo>
                    <a:pt x="12" y="71"/>
                    <a:pt x="13" y="71"/>
                    <a:pt x="14" y="70"/>
                  </a:cubicBezTo>
                  <a:cubicBezTo>
                    <a:pt x="15" y="69"/>
                    <a:pt x="16" y="68"/>
                    <a:pt x="16" y="67"/>
                  </a:cubicBezTo>
                  <a:cubicBezTo>
                    <a:pt x="17" y="65"/>
                    <a:pt x="18" y="64"/>
                    <a:pt x="18" y="62"/>
                  </a:cubicBezTo>
                  <a:cubicBezTo>
                    <a:pt x="21" y="55"/>
                    <a:pt x="21" y="55"/>
                    <a:pt x="21" y="55"/>
                  </a:cubicBezTo>
                  <a:cubicBezTo>
                    <a:pt x="0" y="0"/>
                    <a:pt x="0" y="0"/>
                    <a:pt x="0" y="0"/>
                  </a:cubicBezTo>
                  <a:cubicBezTo>
                    <a:pt x="7" y="0"/>
                    <a:pt x="7" y="0"/>
                    <a:pt x="7" y="0"/>
                  </a:cubicBezTo>
                  <a:lnTo>
                    <a:pt x="24"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29">
              <a:extLst>
                <a:ext uri="{FF2B5EF4-FFF2-40B4-BE49-F238E27FC236}">
                  <a16:creationId xmlns:a16="http://schemas.microsoft.com/office/drawing/2014/main" id="{C4E5DCFC-17D0-4AB3-9618-96D630B9970B}"/>
                </a:ext>
              </a:extLst>
            </p:cNvPr>
            <p:cNvSpPr>
              <a:spLocks noEditPoints="1"/>
            </p:cNvSpPr>
            <p:nvPr userDrawn="1"/>
          </p:nvSpPr>
          <p:spPr bwMode="auto">
            <a:xfrm>
              <a:off x="3440113" y="1765082"/>
              <a:ext cx="133350" cy="173038"/>
            </a:xfrm>
            <a:custGeom>
              <a:avLst/>
              <a:gdLst>
                <a:gd name="T0" fmla="*/ 38 w 44"/>
                <a:gd name="T1" fmla="*/ 56 h 57"/>
                <a:gd name="T2" fmla="*/ 37 w 44"/>
                <a:gd name="T3" fmla="*/ 53 h 57"/>
                <a:gd name="T4" fmla="*/ 37 w 44"/>
                <a:gd name="T5" fmla="*/ 49 h 57"/>
                <a:gd name="T6" fmla="*/ 33 w 44"/>
                <a:gd name="T7" fmla="*/ 52 h 57"/>
                <a:gd name="T8" fmla="*/ 29 w 44"/>
                <a:gd name="T9" fmla="*/ 55 h 57"/>
                <a:gd name="T10" fmla="*/ 24 w 44"/>
                <a:gd name="T11" fmla="*/ 57 h 57"/>
                <a:gd name="T12" fmla="*/ 18 w 44"/>
                <a:gd name="T13" fmla="*/ 57 h 57"/>
                <a:gd name="T14" fmla="*/ 11 w 44"/>
                <a:gd name="T15" fmla="*/ 56 h 57"/>
                <a:gd name="T16" fmla="*/ 5 w 44"/>
                <a:gd name="T17" fmla="*/ 53 h 57"/>
                <a:gd name="T18" fmla="*/ 2 w 44"/>
                <a:gd name="T19" fmla="*/ 48 h 57"/>
                <a:gd name="T20" fmla="*/ 0 w 44"/>
                <a:gd name="T21" fmla="*/ 42 h 57"/>
                <a:gd name="T22" fmla="*/ 2 w 44"/>
                <a:gd name="T23" fmla="*/ 35 h 57"/>
                <a:gd name="T24" fmla="*/ 7 w 44"/>
                <a:gd name="T25" fmla="*/ 29 h 57"/>
                <a:gd name="T26" fmla="*/ 15 w 44"/>
                <a:gd name="T27" fmla="*/ 26 h 57"/>
                <a:gd name="T28" fmla="*/ 25 w 44"/>
                <a:gd name="T29" fmla="*/ 25 h 57"/>
                <a:gd name="T30" fmla="*/ 37 w 44"/>
                <a:gd name="T31" fmla="*/ 25 h 57"/>
                <a:gd name="T32" fmla="*/ 37 w 44"/>
                <a:gd name="T33" fmla="*/ 18 h 57"/>
                <a:gd name="T34" fmla="*/ 33 w 44"/>
                <a:gd name="T35" fmla="*/ 9 h 57"/>
                <a:gd name="T36" fmla="*/ 22 w 44"/>
                <a:gd name="T37" fmla="*/ 6 h 57"/>
                <a:gd name="T38" fmla="*/ 16 w 44"/>
                <a:gd name="T39" fmla="*/ 6 h 57"/>
                <a:gd name="T40" fmla="*/ 12 w 44"/>
                <a:gd name="T41" fmla="*/ 9 h 57"/>
                <a:gd name="T42" fmla="*/ 9 w 44"/>
                <a:gd name="T43" fmla="*/ 12 h 57"/>
                <a:gd name="T44" fmla="*/ 8 w 44"/>
                <a:gd name="T45" fmla="*/ 17 h 57"/>
                <a:gd name="T46" fmla="*/ 2 w 44"/>
                <a:gd name="T47" fmla="*/ 17 h 57"/>
                <a:gd name="T48" fmla="*/ 3 w 44"/>
                <a:gd name="T49" fmla="*/ 11 h 57"/>
                <a:gd name="T50" fmla="*/ 7 w 44"/>
                <a:gd name="T51" fmla="*/ 5 h 57"/>
                <a:gd name="T52" fmla="*/ 14 w 44"/>
                <a:gd name="T53" fmla="*/ 2 h 57"/>
                <a:gd name="T54" fmla="*/ 23 w 44"/>
                <a:gd name="T55" fmla="*/ 0 h 57"/>
                <a:gd name="T56" fmla="*/ 31 w 44"/>
                <a:gd name="T57" fmla="*/ 2 h 57"/>
                <a:gd name="T58" fmla="*/ 37 w 44"/>
                <a:gd name="T59" fmla="*/ 5 h 57"/>
                <a:gd name="T60" fmla="*/ 41 w 44"/>
                <a:gd name="T61" fmla="*/ 11 h 57"/>
                <a:gd name="T62" fmla="*/ 43 w 44"/>
                <a:gd name="T63" fmla="*/ 18 h 57"/>
                <a:gd name="T64" fmla="*/ 43 w 44"/>
                <a:gd name="T65" fmla="*/ 45 h 57"/>
                <a:gd name="T66" fmla="*/ 43 w 44"/>
                <a:gd name="T67" fmla="*/ 48 h 57"/>
                <a:gd name="T68" fmla="*/ 43 w 44"/>
                <a:gd name="T69" fmla="*/ 51 h 57"/>
                <a:gd name="T70" fmla="*/ 44 w 44"/>
                <a:gd name="T71" fmla="*/ 54 h 57"/>
                <a:gd name="T72" fmla="*/ 44 w 44"/>
                <a:gd name="T73" fmla="*/ 56 h 57"/>
                <a:gd name="T74" fmla="*/ 44 w 44"/>
                <a:gd name="T75" fmla="*/ 56 h 57"/>
                <a:gd name="T76" fmla="*/ 38 w 44"/>
                <a:gd name="T77" fmla="*/ 56 h 57"/>
                <a:gd name="T78" fmla="*/ 19 w 44"/>
                <a:gd name="T79" fmla="*/ 52 h 57"/>
                <a:gd name="T80" fmla="*/ 25 w 44"/>
                <a:gd name="T81" fmla="*/ 51 h 57"/>
                <a:gd name="T82" fmla="*/ 30 w 44"/>
                <a:gd name="T83" fmla="*/ 49 h 57"/>
                <a:gd name="T84" fmla="*/ 34 w 44"/>
                <a:gd name="T85" fmla="*/ 45 h 57"/>
                <a:gd name="T86" fmla="*/ 37 w 44"/>
                <a:gd name="T87" fmla="*/ 41 h 57"/>
                <a:gd name="T88" fmla="*/ 37 w 44"/>
                <a:gd name="T89" fmla="*/ 29 h 57"/>
                <a:gd name="T90" fmla="*/ 26 w 44"/>
                <a:gd name="T91" fmla="*/ 29 h 57"/>
                <a:gd name="T92" fmla="*/ 18 w 44"/>
                <a:gd name="T93" fmla="*/ 30 h 57"/>
                <a:gd name="T94" fmla="*/ 12 w 44"/>
                <a:gd name="T95" fmla="*/ 32 h 57"/>
                <a:gd name="T96" fmla="*/ 8 w 44"/>
                <a:gd name="T97" fmla="*/ 36 h 57"/>
                <a:gd name="T98" fmla="*/ 6 w 44"/>
                <a:gd name="T99" fmla="*/ 41 h 57"/>
                <a:gd name="T100" fmla="*/ 7 w 44"/>
                <a:gd name="T101" fmla="*/ 46 h 57"/>
                <a:gd name="T102" fmla="*/ 10 w 44"/>
                <a:gd name="T103" fmla="*/ 49 h 57"/>
                <a:gd name="T104" fmla="*/ 14 w 44"/>
                <a:gd name="T105" fmla="*/ 51 h 57"/>
                <a:gd name="T106" fmla="*/ 19 w 44"/>
                <a:gd name="T107" fmla="*/ 5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 h="57">
                  <a:moveTo>
                    <a:pt x="38" y="56"/>
                  </a:moveTo>
                  <a:cubicBezTo>
                    <a:pt x="37" y="55"/>
                    <a:pt x="37" y="54"/>
                    <a:pt x="37" y="53"/>
                  </a:cubicBezTo>
                  <a:cubicBezTo>
                    <a:pt x="37" y="52"/>
                    <a:pt x="37" y="50"/>
                    <a:pt x="37" y="49"/>
                  </a:cubicBezTo>
                  <a:cubicBezTo>
                    <a:pt x="36" y="50"/>
                    <a:pt x="35" y="51"/>
                    <a:pt x="33" y="52"/>
                  </a:cubicBezTo>
                  <a:cubicBezTo>
                    <a:pt x="32" y="53"/>
                    <a:pt x="31" y="54"/>
                    <a:pt x="29" y="55"/>
                  </a:cubicBezTo>
                  <a:cubicBezTo>
                    <a:pt x="28" y="56"/>
                    <a:pt x="26" y="56"/>
                    <a:pt x="24" y="57"/>
                  </a:cubicBezTo>
                  <a:cubicBezTo>
                    <a:pt x="22" y="57"/>
                    <a:pt x="20" y="57"/>
                    <a:pt x="18" y="57"/>
                  </a:cubicBezTo>
                  <a:cubicBezTo>
                    <a:pt x="15" y="57"/>
                    <a:pt x="13" y="57"/>
                    <a:pt x="11" y="56"/>
                  </a:cubicBezTo>
                  <a:cubicBezTo>
                    <a:pt x="8" y="56"/>
                    <a:pt x="7" y="54"/>
                    <a:pt x="5" y="53"/>
                  </a:cubicBezTo>
                  <a:cubicBezTo>
                    <a:pt x="4" y="52"/>
                    <a:pt x="2" y="50"/>
                    <a:pt x="2" y="48"/>
                  </a:cubicBezTo>
                  <a:cubicBezTo>
                    <a:pt x="1" y="46"/>
                    <a:pt x="0" y="44"/>
                    <a:pt x="0" y="42"/>
                  </a:cubicBezTo>
                  <a:cubicBezTo>
                    <a:pt x="0" y="39"/>
                    <a:pt x="1" y="37"/>
                    <a:pt x="2" y="35"/>
                  </a:cubicBezTo>
                  <a:cubicBezTo>
                    <a:pt x="3" y="32"/>
                    <a:pt x="5" y="31"/>
                    <a:pt x="7" y="29"/>
                  </a:cubicBezTo>
                  <a:cubicBezTo>
                    <a:pt x="9" y="28"/>
                    <a:pt x="12" y="26"/>
                    <a:pt x="15" y="26"/>
                  </a:cubicBezTo>
                  <a:cubicBezTo>
                    <a:pt x="18" y="25"/>
                    <a:pt x="21" y="25"/>
                    <a:pt x="25" y="25"/>
                  </a:cubicBezTo>
                  <a:cubicBezTo>
                    <a:pt x="37" y="25"/>
                    <a:pt x="37" y="25"/>
                    <a:pt x="37" y="25"/>
                  </a:cubicBezTo>
                  <a:cubicBezTo>
                    <a:pt x="37" y="18"/>
                    <a:pt x="37" y="18"/>
                    <a:pt x="37" y="18"/>
                  </a:cubicBezTo>
                  <a:cubicBezTo>
                    <a:pt x="37" y="14"/>
                    <a:pt x="35" y="11"/>
                    <a:pt x="33" y="9"/>
                  </a:cubicBezTo>
                  <a:cubicBezTo>
                    <a:pt x="31" y="7"/>
                    <a:pt x="27" y="6"/>
                    <a:pt x="22" y="6"/>
                  </a:cubicBezTo>
                  <a:cubicBezTo>
                    <a:pt x="20" y="6"/>
                    <a:pt x="18" y="6"/>
                    <a:pt x="16" y="6"/>
                  </a:cubicBezTo>
                  <a:cubicBezTo>
                    <a:pt x="15" y="7"/>
                    <a:pt x="13" y="8"/>
                    <a:pt x="12" y="9"/>
                  </a:cubicBezTo>
                  <a:cubicBezTo>
                    <a:pt x="10" y="10"/>
                    <a:pt x="9" y="11"/>
                    <a:pt x="9" y="12"/>
                  </a:cubicBezTo>
                  <a:cubicBezTo>
                    <a:pt x="8" y="14"/>
                    <a:pt x="8" y="15"/>
                    <a:pt x="8" y="17"/>
                  </a:cubicBezTo>
                  <a:cubicBezTo>
                    <a:pt x="2" y="17"/>
                    <a:pt x="2" y="17"/>
                    <a:pt x="2" y="17"/>
                  </a:cubicBezTo>
                  <a:cubicBezTo>
                    <a:pt x="2" y="15"/>
                    <a:pt x="2" y="13"/>
                    <a:pt x="3" y="11"/>
                  </a:cubicBezTo>
                  <a:cubicBezTo>
                    <a:pt x="4" y="9"/>
                    <a:pt x="6" y="7"/>
                    <a:pt x="7" y="5"/>
                  </a:cubicBezTo>
                  <a:cubicBezTo>
                    <a:pt x="9" y="4"/>
                    <a:pt x="11" y="3"/>
                    <a:pt x="14" y="2"/>
                  </a:cubicBezTo>
                  <a:cubicBezTo>
                    <a:pt x="17" y="1"/>
                    <a:pt x="19" y="0"/>
                    <a:pt x="23" y="0"/>
                  </a:cubicBezTo>
                  <a:cubicBezTo>
                    <a:pt x="26" y="0"/>
                    <a:pt x="28" y="1"/>
                    <a:pt x="31" y="2"/>
                  </a:cubicBezTo>
                  <a:cubicBezTo>
                    <a:pt x="33" y="2"/>
                    <a:pt x="35" y="3"/>
                    <a:pt x="37" y="5"/>
                  </a:cubicBezTo>
                  <a:cubicBezTo>
                    <a:pt x="39" y="6"/>
                    <a:pt x="40" y="8"/>
                    <a:pt x="41" y="11"/>
                  </a:cubicBezTo>
                  <a:cubicBezTo>
                    <a:pt x="42" y="13"/>
                    <a:pt x="43" y="15"/>
                    <a:pt x="43" y="18"/>
                  </a:cubicBezTo>
                  <a:cubicBezTo>
                    <a:pt x="43" y="45"/>
                    <a:pt x="43" y="45"/>
                    <a:pt x="43" y="45"/>
                  </a:cubicBezTo>
                  <a:cubicBezTo>
                    <a:pt x="43" y="46"/>
                    <a:pt x="43" y="47"/>
                    <a:pt x="43" y="48"/>
                  </a:cubicBezTo>
                  <a:cubicBezTo>
                    <a:pt x="43" y="49"/>
                    <a:pt x="43" y="50"/>
                    <a:pt x="43" y="51"/>
                  </a:cubicBezTo>
                  <a:cubicBezTo>
                    <a:pt x="43" y="52"/>
                    <a:pt x="43" y="53"/>
                    <a:pt x="44" y="54"/>
                  </a:cubicBezTo>
                  <a:cubicBezTo>
                    <a:pt x="44" y="54"/>
                    <a:pt x="44" y="55"/>
                    <a:pt x="44" y="56"/>
                  </a:cubicBezTo>
                  <a:cubicBezTo>
                    <a:pt x="44" y="56"/>
                    <a:pt x="44" y="56"/>
                    <a:pt x="44" y="56"/>
                  </a:cubicBezTo>
                  <a:lnTo>
                    <a:pt x="38" y="56"/>
                  </a:lnTo>
                  <a:close/>
                  <a:moveTo>
                    <a:pt x="19" y="52"/>
                  </a:moveTo>
                  <a:cubicBezTo>
                    <a:pt x="21" y="52"/>
                    <a:pt x="23" y="52"/>
                    <a:pt x="25" y="51"/>
                  </a:cubicBezTo>
                  <a:cubicBezTo>
                    <a:pt x="27" y="51"/>
                    <a:pt x="28" y="50"/>
                    <a:pt x="30" y="49"/>
                  </a:cubicBezTo>
                  <a:cubicBezTo>
                    <a:pt x="31" y="48"/>
                    <a:pt x="33" y="47"/>
                    <a:pt x="34" y="45"/>
                  </a:cubicBezTo>
                  <a:cubicBezTo>
                    <a:pt x="35" y="44"/>
                    <a:pt x="36" y="43"/>
                    <a:pt x="37" y="41"/>
                  </a:cubicBezTo>
                  <a:cubicBezTo>
                    <a:pt x="37" y="29"/>
                    <a:pt x="37" y="29"/>
                    <a:pt x="37" y="29"/>
                  </a:cubicBezTo>
                  <a:cubicBezTo>
                    <a:pt x="26" y="29"/>
                    <a:pt x="26" y="29"/>
                    <a:pt x="26" y="29"/>
                  </a:cubicBezTo>
                  <a:cubicBezTo>
                    <a:pt x="23" y="29"/>
                    <a:pt x="20" y="29"/>
                    <a:pt x="18" y="30"/>
                  </a:cubicBezTo>
                  <a:cubicBezTo>
                    <a:pt x="15" y="31"/>
                    <a:pt x="13" y="31"/>
                    <a:pt x="12" y="32"/>
                  </a:cubicBezTo>
                  <a:cubicBezTo>
                    <a:pt x="10" y="33"/>
                    <a:pt x="9" y="35"/>
                    <a:pt x="8" y="36"/>
                  </a:cubicBezTo>
                  <a:cubicBezTo>
                    <a:pt x="7" y="38"/>
                    <a:pt x="6" y="39"/>
                    <a:pt x="6" y="41"/>
                  </a:cubicBezTo>
                  <a:cubicBezTo>
                    <a:pt x="6" y="43"/>
                    <a:pt x="7" y="44"/>
                    <a:pt x="7" y="46"/>
                  </a:cubicBezTo>
                  <a:cubicBezTo>
                    <a:pt x="8" y="47"/>
                    <a:pt x="9" y="48"/>
                    <a:pt x="10" y="49"/>
                  </a:cubicBezTo>
                  <a:cubicBezTo>
                    <a:pt x="11" y="50"/>
                    <a:pt x="12" y="51"/>
                    <a:pt x="14" y="51"/>
                  </a:cubicBezTo>
                  <a:cubicBezTo>
                    <a:pt x="15" y="52"/>
                    <a:pt x="17" y="52"/>
                    <a:pt x="19"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30">
              <a:extLst>
                <a:ext uri="{FF2B5EF4-FFF2-40B4-BE49-F238E27FC236}">
                  <a16:creationId xmlns:a16="http://schemas.microsoft.com/office/drawing/2014/main" id="{F028CC77-7678-41F7-9DD9-DB199CA8CA47}"/>
                </a:ext>
              </a:extLst>
            </p:cNvPr>
            <p:cNvSpPr>
              <a:spLocks/>
            </p:cNvSpPr>
            <p:nvPr userDrawn="1"/>
          </p:nvSpPr>
          <p:spPr bwMode="auto">
            <a:xfrm>
              <a:off x="3617913" y="1765082"/>
              <a:ext cx="122238" cy="169863"/>
            </a:xfrm>
            <a:custGeom>
              <a:avLst/>
              <a:gdLst>
                <a:gd name="T0" fmla="*/ 6 w 41"/>
                <a:gd name="T1" fmla="*/ 1 h 56"/>
                <a:gd name="T2" fmla="*/ 6 w 41"/>
                <a:gd name="T3" fmla="*/ 11 h 56"/>
                <a:gd name="T4" fmla="*/ 9 w 41"/>
                <a:gd name="T5" fmla="*/ 7 h 56"/>
                <a:gd name="T6" fmla="*/ 13 w 41"/>
                <a:gd name="T7" fmla="*/ 3 h 56"/>
                <a:gd name="T8" fmla="*/ 18 w 41"/>
                <a:gd name="T9" fmla="*/ 1 h 56"/>
                <a:gd name="T10" fmla="*/ 24 w 41"/>
                <a:gd name="T11" fmla="*/ 0 h 56"/>
                <a:gd name="T12" fmla="*/ 31 w 41"/>
                <a:gd name="T13" fmla="*/ 2 h 56"/>
                <a:gd name="T14" fmla="*/ 37 w 41"/>
                <a:gd name="T15" fmla="*/ 5 h 56"/>
                <a:gd name="T16" fmla="*/ 40 w 41"/>
                <a:gd name="T17" fmla="*/ 11 h 56"/>
                <a:gd name="T18" fmla="*/ 41 w 41"/>
                <a:gd name="T19" fmla="*/ 21 h 56"/>
                <a:gd name="T20" fmla="*/ 41 w 41"/>
                <a:gd name="T21" fmla="*/ 56 h 56"/>
                <a:gd name="T22" fmla="*/ 35 w 41"/>
                <a:gd name="T23" fmla="*/ 56 h 56"/>
                <a:gd name="T24" fmla="*/ 35 w 41"/>
                <a:gd name="T25" fmla="*/ 21 h 56"/>
                <a:gd name="T26" fmla="*/ 34 w 41"/>
                <a:gd name="T27" fmla="*/ 14 h 56"/>
                <a:gd name="T28" fmla="*/ 32 w 41"/>
                <a:gd name="T29" fmla="*/ 9 h 56"/>
                <a:gd name="T30" fmla="*/ 28 w 41"/>
                <a:gd name="T31" fmla="*/ 6 h 56"/>
                <a:gd name="T32" fmla="*/ 22 w 41"/>
                <a:gd name="T33" fmla="*/ 6 h 56"/>
                <a:gd name="T34" fmla="*/ 16 w 41"/>
                <a:gd name="T35" fmla="*/ 7 h 56"/>
                <a:gd name="T36" fmla="*/ 12 w 41"/>
                <a:gd name="T37" fmla="*/ 10 h 56"/>
                <a:gd name="T38" fmla="*/ 8 w 41"/>
                <a:gd name="T39" fmla="*/ 14 h 56"/>
                <a:gd name="T40" fmla="*/ 6 w 41"/>
                <a:gd name="T41" fmla="*/ 19 h 56"/>
                <a:gd name="T42" fmla="*/ 6 w 41"/>
                <a:gd name="T43" fmla="*/ 56 h 56"/>
                <a:gd name="T44" fmla="*/ 0 w 41"/>
                <a:gd name="T45" fmla="*/ 56 h 56"/>
                <a:gd name="T46" fmla="*/ 0 w 41"/>
                <a:gd name="T47" fmla="*/ 1 h 56"/>
                <a:gd name="T48" fmla="*/ 6 w 41"/>
                <a:gd name="T49"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56">
                  <a:moveTo>
                    <a:pt x="6" y="1"/>
                  </a:moveTo>
                  <a:cubicBezTo>
                    <a:pt x="6" y="11"/>
                    <a:pt x="6" y="11"/>
                    <a:pt x="6" y="11"/>
                  </a:cubicBezTo>
                  <a:cubicBezTo>
                    <a:pt x="7" y="9"/>
                    <a:pt x="8" y="8"/>
                    <a:pt x="9" y="7"/>
                  </a:cubicBezTo>
                  <a:cubicBezTo>
                    <a:pt x="10" y="5"/>
                    <a:pt x="12" y="4"/>
                    <a:pt x="13" y="3"/>
                  </a:cubicBezTo>
                  <a:cubicBezTo>
                    <a:pt x="15" y="2"/>
                    <a:pt x="16" y="2"/>
                    <a:pt x="18" y="1"/>
                  </a:cubicBezTo>
                  <a:cubicBezTo>
                    <a:pt x="20" y="1"/>
                    <a:pt x="22" y="0"/>
                    <a:pt x="24" y="0"/>
                  </a:cubicBezTo>
                  <a:cubicBezTo>
                    <a:pt x="26" y="0"/>
                    <a:pt x="29" y="1"/>
                    <a:pt x="31" y="2"/>
                  </a:cubicBezTo>
                  <a:cubicBezTo>
                    <a:pt x="33" y="2"/>
                    <a:pt x="35" y="4"/>
                    <a:pt x="37" y="5"/>
                  </a:cubicBezTo>
                  <a:cubicBezTo>
                    <a:pt x="38" y="7"/>
                    <a:pt x="39" y="9"/>
                    <a:pt x="40" y="11"/>
                  </a:cubicBezTo>
                  <a:cubicBezTo>
                    <a:pt x="41" y="14"/>
                    <a:pt x="41" y="17"/>
                    <a:pt x="41" y="21"/>
                  </a:cubicBezTo>
                  <a:cubicBezTo>
                    <a:pt x="41" y="56"/>
                    <a:pt x="41" y="56"/>
                    <a:pt x="41" y="56"/>
                  </a:cubicBezTo>
                  <a:cubicBezTo>
                    <a:pt x="35" y="56"/>
                    <a:pt x="35" y="56"/>
                    <a:pt x="35" y="56"/>
                  </a:cubicBezTo>
                  <a:cubicBezTo>
                    <a:pt x="35" y="21"/>
                    <a:pt x="35" y="21"/>
                    <a:pt x="35" y="21"/>
                  </a:cubicBezTo>
                  <a:cubicBezTo>
                    <a:pt x="35" y="18"/>
                    <a:pt x="35" y="15"/>
                    <a:pt x="34" y="14"/>
                  </a:cubicBezTo>
                  <a:cubicBezTo>
                    <a:pt x="34" y="12"/>
                    <a:pt x="33" y="10"/>
                    <a:pt x="32" y="9"/>
                  </a:cubicBezTo>
                  <a:cubicBezTo>
                    <a:pt x="31" y="8"/>
                    <a:pt x="29" y="7"/>
                    <a:pt x="28" y="6"/>
                  </a:cubicBezTo>
                  <a:cubicBezTo>
                    <a:pt x="26" y="6"/>
                    <a:pt x="24" y="6"/>
                    <a:pt x="22" y="6"/>
                  </a:cubicBezTo>
                  <a:cubicBezTo>
                    <a:pt x="20" y="6"/>
                    <a:pt x="18" y="6"/>
                    <a:pt x="16" y="7"/>
                  </a:cubicBezTo>
                  <a:cubicBezTo>
                    <a:pt x="15" y="8"/>
                    <a:pt x="13" y="9"/>
                    <a:pt x="12" y="10"/>
                  </a:cubicBezTo>
                  <a:cubicBezTo>
                    <a:pt x="10" y="11"/>
                    <a:pt x="9" y="12"/>
                    <a:pt x="8" y="14"/>
                  </a:cubicBezTo>
                  <a:cubicBezTo>
                    <a:pt x="7" y="16"/>
                    <a:pt x="6" y="17"/>
                    <a:pt x="6" y="19"/>
                  </a:cubicBezTo>
                  <a:cubicBezTo>
                    <a:pt x="6" y="56"/>
                    <a:pt x="6" y="56"/>
                    <a:pt x="6" y="56"/>
                  </a:cubicBezTo>
                  <a:cubicBezTo>
                    <a:pt x="0" y="56"/>
                    <a:pt x="0" y="56"/>
                    <a:pt x="0" y="56"/>
                  </a:cubicBezTo>
                  <a:cubicBezTo>
                    <a:pt x="0" y="1"/>
                    <a:pt x="0" y="1"/>
                    <a:pt x="0" y="1"/>
                  </a:cubicBezTo>
                  <a:lnTo>
                    <a:pt x="6"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31">
              <a:extLst>
                <a:ext uri="{FF2B5EF4-FFF2-40B4-BE49-F238E27FC236}">
                  <a16:creationId xmlns:a16="http://schemas.microsoft.com/office/drawing/2014/main" id="{AB46467E-A48E-4C6C-B98D-24543952503E}"/>
                </a:ext>
              </a:extLst>
            </p:cNvPr>
            <p:cNvSpPr>
              <a:spLocks noEditPoints="1"/>
            </p:cNvSpPr>
            <p:nvPr userDrawn="1"/>
          </p:nvSpPr>
          <p:spPr bwMode="auto">
            <a:xfrm>
              <a:off x="3779838" y="1699994"/>
              <a:ext cx="134938" cy="238125"/>
            </a:xfrm>
            <a:custGeom>
              <a:avLst/>
              <a:gdLst>
                <a:gd name="T0" fmla="*/ 0 w 45"/>
                <a:gd name="T1" fmla="*/ 50 h 79"/>
                <a:gd name="T2" fmla="*/ 2 w 45"/>
                <a:gd name="T3" fmla="*/ 39 h 79"/>
                <a:gd name="T4" fmla="*/ 6 w 45"/>
                <a:gd name="T5" fmla="*/ 30 h 79"/>
                <a:gd name="T6" fmla="*/ 13 w 45"/>
                <a:gd name="T7" fmla="*/ 24 h 79"/>
                <a:gd name="T8" fmla="*/ 22 w 45"/>
                <a:gd name="T9" fmla="*/ 22 h 79"/>
                <a:gd name="T10" fmla="*/ 32 w 45"/>
                <a:gd name="T11" fmla="*/ 25 h 79"/>
                <a:gd name="T12" fmla="*/ 39 w 45"/>
                <a:gd name="T13" fmla="*/ 31 h 79"/>
                <a:gd name="T14" fmla="*/ 39 w 45"/>
                <a:gd name="T15" fmla="*/ 0 h 79"/>
                <a:gd name="T16" fmla="*/ 45 w 45"/>
                <a:gd name="T17" fmla="*/ 0 h 79"/>
                <a:gd name="T18" fmla="*/ 45 w 45"/>
                <a:gd name="T19" fmla="*/ 78 h 79"/>
                <a:gd name="T20" fmla="*/ 39 w 45"/>
                <a:gd name="T21" fmla="*/ 78 h 79"/>
                <a:gd name="T22" fmla="*/ 39 w 45"/>
                <a:gd name="T23" fmla="*/ 71 h 79"/>
                <a:gd name="T24" fmla="*/ 32 w 45"/>
                <a:gd name="T25" fmla="*/ 77 h 79"/>
                <a:gd name="T26" fmla="*/ 22 w 45"/>
                <a:gd name="T27" fmla="*/ 79 h 79"/>
                <a:gd name="T28" fmla="*/ 13 w 45"/>
                <a:gd name="T29" fmla="*/ 77 h 79"/>
                <a:gd name="T30" fmla="*/ 6 w 45"/>
                <a:gd name="T31" fmla="*/ 72 h 79"/>
                <a:gd name="T32" fmla="*/ 2 w 45"/>
                <a:gd name="T33" fmla="*/ 63 h 79"/>
                <a:gd name="T34" fmla="*/ 0 w 45"/>
                <a:gd name="T35" fmla="*/ 52 h 79"/>
                <a:gd name="T36" fmla="*/ 0 w 45"/>
                <a:gd name="T37" fmla="*/ 50 h 79"/>
                <a:gd name="T38" fmla="*/ 7 w 45"/>
                <a:gd name="T39" fmla="*/ 52 h 79"/>
                <a:gd name="T40" fmla="*/ 8 w 45"/>
                <a:gd name="T41" fmla="*/ 60 h 79"/>
                <a:gd name="T42" fmla="*/ 11 w 45"/>
                <a:gd name="T43" fmla="*/ 68 h 79"/>
                <a:gd name="T44" fmla="*/ 16 w 45"/>
                <a:gd name="T45" fmla="*/ 72 h 79"/>
                <a:gd name="T46" fmla="*/ 23 w 45"/>
                <a:gd name="T47" fmla="*/ 74 h 79"/>
                <a:gd name="T48" fmla="*/ 28 w 45"/>
                <a:gd name="T49" fmla="*/ 73 h 79"/>
                <a:gd name="T50" fmla="*/ 33 w 45"/>
                <a:gd name="T51" fmla="*/ 71 h 79"/>
                <a:gd name="T52" fmla="*/ 36 w 45"/>
                <a:gd name="T53" fmla="*/ 68 h 79"/>
                <a:gd name="T54" fmla="*/ 39 w 45"/>
                <a:gd name="T55" fmla="*/ 64 h 79"/>
                <a:gd name="T56" fmla="*/ 39 w 45"/>
                <a:gd name="T57" fmla="*/ 38 h 79"/>
                <a:gd name="T58" fmla="*/ 36 w 45"/>
                <a:gd name="T59" fmla="*/ 34 h 79"/>
                <a:gd name="T60" fmla="*/ 33 w 45"/>
                <a:gd name="T61" fmla="*/ 31 h 79"/>
                <a:gd name="T62" fmla="*/ 29 w 45"/>
                <a:gd name="T63" fmla="*/ 29 h 79"/>
                <a:gd name="T64" fmla="*/ 23 w 45"/>
                <a:gd name="T65" fmla="*/ 28 h 79"/>
                <a:gd name="T66" fmla="*/ 16 w 45"/>
                <a:gd name="T67" fmla="*/ 30 h 79"/>
                <a:gd name="T68" fmla="*/ 11 w 45"/>
                <a:gd name="T69" fmla="*/ 34 h 79"/>
                <a:gd name="T70" fmla="*/ 8 w 45"/>
                <a:gd name="T71" fmla="*/ 42 h 79"/>
                <a:gd name="T72" fmla="*/ 7 w 45"/>
                <a:gd name="T73" fmla="*/ 50 h 79"/>
                <a:gd name="T74" fmla="*/ 7 w 45"/>
                <a:gd name="T75" fmla="*/ 5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79">
                  <a:moveTo>
                    <a:pt x="0" y="50"/>
                  </a:moveTo>
                  <a:cubicBezTo>
                    <a:pt x="0" y="46"/>
                    <a:pt x="1" y="42"/>
                    <a:pt x="2" y="39"/>
                  </a:cubicBezTo>
                  <a:cubicBezTo>
                    <a:pt x="3" y="35"/>
                    <a:pt x="4" y="33"/>
                    <a:pt x="6" y="30"/>
                  </a:cubicBezTo>
                  <a:cubicBezTo>
                    <a:pt x="8" y="28"/>
                    <a:pt x="10" y="26"/>
                    <a:pt x="13" y="24"/>
                  </a:cubicBezTo>
                  <a:cubicBezTo>
                    <a:pt x="15" y="23"/>
                    <a:pt x="18" y="22"/>
                    <a:pt x="22" y="22"/>
                  </a:cubicBezTo>
                  <a:cubicBezTo>
                    <a:pt x="26" y="22"/>
                    <a:pt x="29" y="23"/>
                    <a:pt x="32" y="25"/>
                  </a:cubicBezTo>
                  <a:cubicBezTo>
                    <a:pt x="35" y="26"/>
                    <a:pt x="37" y="29"/>
                    <a:pt x="39" y="31"/>
                  </a:cubicBezTo>
                  <a:cubicBezTo>
                    <a:pt x="39" y="0"/>
                    <a:pt x="39" y="0"/>
                    <a:pt x="39" y="0"/>
                  </a:cubicBezTo>
                  <a:cubicBezTo>
                    <a:pt x="45" y="0"/>
                    <a:pt x="45" y="0"/>
                    <a:pt x="45" y="0"/>
                  </a:cubicBezTo>
                  <a:cubicBezTo>
                    <a:pt x="45" y="78"/>
                    <a:pt x="45" y="78"/>
                    <a:pt x="45" y="78"/>
                  </a:cubicBezTo>
                  <a:cubicBezTo>
                    <a:pt x="39" y="78"/>
                    <a:pt x="39" y="78"/>
                    <a:pt x="39" y="78"/>
                  </a:cubicBezTo>
                  <a:cubicBezTo>
                    <a:pt x="39" y="71"/>
                    <a:pt x="39" y="71"/>
                    <a:pt x="39" y="71"/>
                  </a:cubicBezTo>
                  <a:cubicBezTo>
                    <a:pt x="37" y="74"/>
                    <a:pt x="35" y="76"/>
                    <a:pt x="32" y="77"/>
                  </a:cubicBezTo>
                  <a:cubicBezTo>
                    <a:pt x="29" y="79"/>
                    <a:pt x="26" y="79"/>
                    <a:pt x="22" y="79"/>
                  </a:cubicBezTo>
                  <a:cubicBezTo>
                    <a:pt x="18" y="79"/>
                    <a:pt x="15" y="79"/>
                    <a:pt x="13" y="77"/>
                  </a:cubicBezTo>
                  <a:cubicBezTo>
                    <a:pt x="10" y="76"/>
                    <a:pt x="8" y="74"/>
                    <a:pt x="6" y="72"/>
                  </a:cubicBezTo>
                  <a:cubicBezTo>
                    <a:pt x="4" y="69"/>
                    <a:pt x="3" y="66"/>
                    <a:pt x="2" y="63"/>
                  </a:cubicBezTo>
                  <a:cubicBezTo>
                    <a:pt x="1" y="59"/>
                    <a:pt x="0" y="56"/>
                    <a:pt x="0" y="52"/>
                  </a:cubicBezTo>
                  <a:lnTo>
                    <a:pt x="0" y="50"/>
                  </a:lnTo>
                  <a:close/>
                  <a:moveTo>
                    <a:pt x="7" y="52"/>
                  </a:moveTo>
                  <a:cubicBezTo>
                    <a:pt x="7" y="55"/>
                    <a:pt x="7" y="58"/>
                    <a:pt x="8" y="60"/>
                  </a:cubicBezTo>
                  <a:cubicBezTo>
                    <a:pt x="8" y="63"/>
                    <a:pt x="9" y="66"/>
                    <a:pt x="11" y="68"/>
                  </a:cubicBezTo>
                  <a:cubicBezTo>
                    <a:pt x="12" y="70"/>
                    <a:pt x="14" y="71"/>
                    <a:pt x="16" y="72"/>
                  </a:cubicBezTo>
                  <a:cubicBezTo>
                    <a:pt x="18" y="74"/>
                    <a:pt x="20" y="74"/>
                    <a:pt x="23" y="74"/>
                  </a:cubicBezTo>
                  <a:cubicBezTo>
                    <a:pt x="25" y="74"/>
                    <a:pt x="27" y="74"/>
                    <a:pt x="28" y="73"/>
                  </a:cubicBezTo>
                  <a:cubicBezTo>
                    <a:pt x="30" y="73"/>
                    <a:pt x="32" y="72"/>
                    <a:pt x="33" y="71"/>
                  </a:cubicBezTo>
                  <a:cubicBezTo>
                    <a:pt x="34" y="71"/>
                    <a:pt x="35" y="69"/>
                    <a:pt x="36" y="68"/>
                  </a:cubicBezTo>
                  <a:cubicBezTo>
                    <a:pt x="37" y="67"/>
                    <a:pt x="38" y="66"/>
                    <a:pt x="39" y="64"/>
                  </a:cubicBezTo>
                  <a:cubicBezTo>
                    <a:pt x="39" y="38"/>
                    <a:pt x="39" y="38"/>
                    <a:pt x="39" y="38"/>
                  </a:cubicBezTo>
                  <a:cubicBezTo>
                    <a:pt x="38" y="37"/>
                    <a:pt x="37" y="36"/>
                    <a:pt x="36" y="34"/>
                  </a:cubicBezTo>
                  <a:cubicBezTo>
                    <a:pt x="36" y="33"/>
                    <a:pt x="34" y="32"/>
                    <a:pt x="33" y="31"/>
                  </a:cubicBezTo>
                  <a:cubicBezTo>
                    <a:pt x="32" y="30"/>
                    <a:pt x="30" y="29"/>
                    <a:pt x="29" y="29"/>
                  </a:cubicBezTo>
                  <a:cubicBezTo>
                    <a:pt x="27" y="28"/>
                    <a:pt x="25" y="28"/>
                    <a:pt x="23" y="28"/>
                  </a:cubicBezTo>
                  <a:cubicBezTo>
                    <a:pt x="20" y="28"/>
                    <a:pt x="18" y="28"/>
                    <a:pt x="16" y="30"/>
                  </a:cubicBezTo>
                  <a:cubicBezTo>
                    <a:pt x="14" y="31"/>
                    <a:pt x="12" y="32"/>
                    <a:pt x="11" y="34"/>
                  </a:cubicBezTo>
                  <a:cubicBezTo>
                    <a:pt x="9" y="36"/>
                    <a:pt x="8" y="39"/>
                    <a:pt x="8" y="42"/>
                  </a:cubicBezTo>
                  <a:cubicBezTo>
                    <a:pt x="7" y="44"/>
                    <a:pt x="7" y="47"/>
                    <a:pt x="7" y="50"/>
                  </a:cubicBezTo>
                  <a:lnTo>
                    <a:pt x="7"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Rectangle 32">
              <a:extLst>
                <a:ext uri="{FF2B5EF4-FFF2-40B4-BE49-F238E27FC236}">
                  <a16:creationId xmlns:a16="http://schemas.microsoft.com/office/drawing/2014/main" id="{93EE483F-7273-4A90-BD6A-C88ADB4BD63B}"/>
                </a:ext>
              </a:extLst>
            </p:cNvPr>
            <p:cNvSpPr>
              <a:spLocks noChangeArrowheads="1"/>
            </p:cNvSpPr>
            <p:nvPr userDrawn="1"/>
          </p:nvSpPr>
          <p:spPr bwMode="auto">
            <a:xfrm>
              <a:off x="4048125" y="1714282"/>
              <a:ext cx="17463" cy="2206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33">
              <a:extLst>
                <a:ext uri="{FF2B5EF4-FFF2-40B4-BE49-F238E27FC236}">
                  <a16:creationId xmlns:a16="http://schemas.microsoft.com/office/drawing/2014/main" id="{72B0B6D7-5594-49B0-9A1B-7C2249555C85}"/>
                </a:ext>
              </a:extLst>
            </p:cNvPr>
            <p:cNvSpPr>
              <a:spLocks/>
            </p:cNvSpPr>
            <p:nvPr userDrawn="1"/>
          </p:nvSpPr>
          <p:spPr bwMode="auto">
            <a:xfrm>
              <a:off x="4122738" y="1765082"/>
              <a:ext cx="122238" cy="169863"/>
            </a:xfrm>
            <a:custGeom>
              <a:avLst/>
              <a:gdLst>
                <a:gd name="T0" fmla="*/ 5 w 41"/>
                <a:gd name="T1" fmla="*/ 1 h 56"/>
                <a:gd name="T2" fmla="*/ 6 w 41"/>
                <a:gd name="T3" fmla="*/ 11 h 56"/>
                <a:gd name="T4" fmla="*/ 9 w 41"/>
                <a:gd name="T5" fmla="*/ 7 h 56"/>
                <a:gd name="T6" fmla="*/ 13 w 41"/>
                <a:gd name="T7" fmla="*/ 3 h 56"/>
                <a:gd name="T8" fmla="*/ 18 w 41"/>
                <a:gd name="T9" fmla="*/ 1 h 56"/>
                <a:gd name="T10" fmla="*/ 24 w 41"/>
                <a:gd name="T11" fmla="*/ 0 h 56"/>
                <a:gd name="T12" fmla="*/ 31 w 41"/>
                <a:gd name="T13" fmla="*/ 2 h 56"/>
                <a:gd name="T14" fmla="*/ 36 w 41"/>
                <a:gd name="T15" fmla="*/ 5 h 56"/>
                <a:gd name="T16" fmla="*/ 40 w 41"/>
                <a:gd name="T17" fmla="*/ 11 h 56"/>
                <a:gd name="T18" fmla="*/ 41 w 41"/>
                <a:gd name="T19" fmla="*/ 21 h 56"/>
                <a:gd name="T20" fmla="*/ 41 w 41"/>
                <a:gd name="T21" fmla="*/ 56 h 56"/>
                <a:gd name="T22" fmla="*/ 35 w 41"/>
                <a:gd name="T23" fmla="*/ 56 h 56"/>
                <a:gd name="T24" fmla="*/ 35 w 41"/>
                <a:gd name="T25" fmla="*/ 21 h 56"/>
                <a:gd name="T26" fmla="*/ 34 w 41"/>
                <a:gd name="T27" fmla="*/ 14 h 56"/>
                <a:gd name="T28" fmla="*/ 32 w 41"/>
                <a:gd name="T29" fmla="*/ 9 h 56"/>
                <a:gd name="T30" fmla="*/ 27 w 41"/>
                <a:gd name="T31" fmla="*/ 6 h 56"/>
                <a:gd name="T32" fmla="*/ 22 w 41"/>
                <a:gd name="T33" fmla="*/ 6 h 56"/>
                <a:gd name="T34" fmla="*/ 16 w 41"/>
                <a:gd name="T35" fmla="*/ 7 h 56"/>
                <a:gd name="T36" fmla="*/ 12 w 41"/>
                <a:gd name="T37" fmla="*/ 10 h 56"/>
                <a:gd name="T38" fmla="*/ 8 w 41"/>
                <a:gd name="T39" fmla="*/ 14 h 56"/>
                <a:gd name="T40" fmla="*/ 6 w 41"/>
                <a:gd name="T41" fmla="*/ 19 h 56"/>
                <a:gd name="T42" fmla="*/ 6 w 41"/>
                <a:gd name="T43" fmla="*/ 56 h 56"/>
                <a:gd name="T44" fmla="*/ 0 w 41"/>
                <a:gd name="T45" fmla="*/ 56 h 56"/>
                <a:gd name="T46" fmla="*/ 0 w 41"/>
                <a:gd name="T47" fmla="*/ 1 h 56"/>
                <a:gd name="T48" fmla="*/ 5 w 41"/>
                <a:gd name="T49"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56">
                  <a:moveTo>
                    <a:pt x="5" y="1"/>
                  </a:moveTo>
                  <a:cubicBezTo>
                    <a:pt x="6" y="11"/>
                    <a:pt x="6" y="11"/>
                    <a:pt x="6" y="11"/>
                  </a:cubicBezTo>
                  <a:cubicBezTo>
                    <a:pt x="7" y="9"/>
                    <a:pt x="8" y="8"/>
                    <a:pt x="9" y="7"/>
                  </a:cubicBezTo>
                  <a:cubicBezTo>
                    <a:pt x="10" y="5"/>
                    <a:pt x="12" y="4"/>
                    <a:pt x="13" y="3"/>
                  </a:cubicBezTo>
                  <a:cubicBezTo>
                    <a:pt x="15" y="2"/>
                    <a:pt x="16" y="2"/>
                    <a:pt x="18" y="1"/>
                  </a:cubicBezTo>
                  <a:cubicBezTo>
                    <a:pt x="20" y="1"/>
                    <a:pt x="22" y="0"/>
                    <a:pt x="24" y="0"/>
                  </a:cubicBezTo>
                  <a:cubicBezTo>
                    <a:pt x="26" y="0"/>
                    <a:pt x="29" y="1"/>
                    <a:pt x="31" y="2"/>
                  </a:cubicBezTo>
                  <a:cubicBezTo>
                    <a:pt x="33" y="2"/>
                    <a:pt x="35" y="4"/>
                    <a:pt x="36" y="5"/>
                  </a:cubicBezTo>
                  <a:cubicBezTo>
                    <a:pt x="38" y="7"/>
                    <a:pt x="39" y="9"/>
                    <a:pt x="40" y="11"/>
                  </a:cubicBezTo>
                  <a:cubicBezTo>
                    <a:pt x="41" y="14"/>
                    <a:pt x="41" y="17"/>
                    <a:pt x="41" y="21"/>
                  </a:cubicBezTo>
                  <a:cubicBezTo>
                    <a:pt x="41" y="56"/>
                    <a:pt x="41" y="56"/>
                    <a:pt x="41" y="56"/>
                  </a:cubicBezTo>
                  <a:cubicBezTo>
                    <a:pt x="35" y="56"/>
                    <a:pt x="35" y="56"/>
                    <a:pt x="35" y="56"/>
                  </a:cubicBezTo>
                  <a:cubicBezTo>
                    <a:pt x="35" y="21"/>
                    <a:pt x="35" y="21"/>
                    <a:pt x="35" y="21"/>
                  </a:cubicBezTo>
                  <a:cubicBezTo>
                    <a:pt x="35" y="18"/>
                    <a:pt x="35" y="15"/>
                    <a:pt x="34" y="14"/>
                  </a:cubicBezTo>
                  <a:cubicBezTo>
                    <a:pt x="34" y="12"/>
                    <a:pt x="33" y="10"/>
                    <a:pt x="32" y="9"/>
                  </a:cubicBezTo>
                  <a:cubicBezTo>
                    <a:pt x="30" y="8"/>
                    <a:pt x="29" y="7"/>
                    <a:pt x="27" y="6"/>
                  </a:cubicBezTo>
                  <a:cubicBezTo>
                    <a:pt x="26" y="6"/>
                    <a:pt x="24" y="6"/>
                    <a:pt x="22" y="6"/>
                  </a:cubicBezTo>
                  <a:cubicBezTo>
                    <a:pt x="20" y="6"/>
                    <a:pt x="18" y="6"/>
                    <a:pt x="16" y="7"/>
                  </a:cubicBezTo>
                  <a:cubicBezTo>
                    <a:pt x="14" y="8"/>
                    <a:pt x="13" y="9"/>
                    <a:pt x="12" y="10"/>
                  </a:cubicBezTo>
                  <a:cubicBezTo>
                    <a:pt x="10" y="11"/>
                    <a:pt x="9" y="12"/>
                    <a:pt x="8" y="14"/>
                  </a:cubicBezTo>
                  <a:cubicBezTo>
                    <a:pt x="7" y="16"/>
                    <a:pt x="6" y="17"/>
                    <a:pt x="6" y="19"/>
                  </a:cubicBezTo>
                  <a:cubicBezTo>
                    <a:pt x="6" y="56"/>
                    <a:pt x="6" y="56"/>
                    <a:pt x="6" y="56"/>
                  </a:cubicBezTo>
                  <a:cubicBezTo>
                    <a:pt x="0" y="56"/>
                    <a:pt x="0" y="56"/>
                    <a:pt x="0" y="56"/>
                  </a:cubicBezTo>
                  <a:cubicBezTo>
                    <a:pt x="0" y="1"/>
                    <a:pt x="0" y="1"/>
                    <a:pt x="0" y="1"/>
                  </a:cubicBezTo>
                  <a:lnTo>
                    <a:pt x="5"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34">
              <a:extLst>
                <a:ext uri="{FF2B5EF4-FFF2-40B4-BE49-F238E27FC236}">
                  <a16:creationId xmlns:a16="http://schemas.microsoft.com/office/drawing/2014/main" id="{E39E947F-9F23-4661-B0E2-870CC068060C}"/>
                </a:ext>
              </a:extLst>
            </p:cNvPr>
            <p:cNvSpPr>
              <a:spLocks/>
            </p:cNvSpPr>
            <p:nvPr userDrawn="1"/>
          </p:nvSpPr>
          <p:spPr bwMode="auto">
            <a:xfrm>
              <a:off x="4275138" y="1768257"/>
              <a:ext cx="138113" cy="166688"/>
            </a:xfrm>
            <a:custGeom>
              <a:avLst/>
              <a:gdLst>
                <a:gd name="T0" fmla="*/ 44 w 87"/>
                <a:gd name="T1" fmla="*/ 90 h 105"/>
                <a:gd name="T2" fmla="*/ 76 w 87"/>
                <a:gd name="T3" fmla="*/ 0 h 105"/>
                <a:gd name="T4" fmla="*/ 87 w 87"/>
                <a:gd name="T5" fmla="*/ 0 h 105"/>
                <a:gd name="T6" fmla="*/ 48 w 87"/>
                <a:gd name="T7" fmla="*/ 105 h 105"/>
                <a:gd name="T8" fmla="*/ 38 w 87"/>
                <a:gd name="T9" fmla="*/ 105 h 105"/>
                <a:gd name="T10" fmla="*/ 0 w 87"/>
                <a:gd name="T11" fmla="*/ 0 h 105"/>
                <a:gd name="T12" fmla="*/ 12 w 87"/>
                <a:gd name="T13" fmla="*/ 0 h 105"/>
                <a:gd name="T14" fmla="*/ 44 w 87"/>
                <a:gd name="T15" fmla="*/ 9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 h="105">
                  <a:moveTo>
                    <a:pt x="44" y="90"/>
                  </a:moveTo>
                  <a:lnTo>
                    <a:pt x="76" y="0"/>
                  </a:lnTo>
                  <a:lnTo>
                    <a:pt x="87" y="0"/>
                  </a:lnTo>
                  <a:lnTo>
                    <a:pt x="48" y="105"/>
                  </a:lnTo>
                  <a:lnTo>
                    <a:pt x="38" y="105"/>
                  </a:lnTo>
                  <a:lnTo>
                    <a:pt x="0" y="0"/>
                  </a:lnTo>
                  <a:lnTo>
                    <a:pt x="12" y="0"/>
                  </a:lnTo>
                  <a:lnTo>
                    <a:pt x="44"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4" name="Freeform 35">
              <a:extLst>
                <a:ext uri="{FF2B5EF4-FFF2-40B4-BE49-F238E27FC236}">
                  <a16:creationId xmlns:a16="http://schemas.microsoft.com/office/drawing/2014/main" id="{3F910CF7-F9A0-4753-A6D0-4C435A1FC666}"/>
                </a:ext>
              </a:extLst>
            </p:cNvPr>
            <p:cNvSpPr>
              <a:spLocks noEditPoints="1"/>
            </p:cNvSpPr>
            <p:nvPr userDrawn="1"/>
          </p:nvSpPr>
          <p:spPr bwMode="auto">
            <a:xfrm>
              <a:off x="4432300" y="1765082"/>
              <a:ext cx="134938" cy="173038"/>
            </a:xfrm>
            <a:custGeom>
              <a:avLst/>
              <a:gdLst>
                <a:gd name="T0" fmla="*/ 24 w 45"/>
                <a:gd name="T1" fmla="*/ 57 h 57"/>
                <a:gd name="T2" fmla="*/ 15 w 45"/>
                <a:gd name="T3" fmla="*/ 55 h 57"/>
                <a:gd name="T4" fmla="*/ 7 w 45"/>
                <a:gd name="T5" fmla="*/ 50 h 57"/>
                <a:gd name="T6" fmla="*/ 2 w 45"/>
                <a:gd name="T7" fmla="*/ 41 h 57"/>
                <a:gd name="T8" fmla="*/ 0 w 45"/>
                <a:gd name="T9" fmla="*/ 31 h 57"/>
                <a:gd name="T10" fmla="*/ 0 w 45"/>
                <a:gd name="T11" fmla="*/ 28 h 57"/>
                <a:gd name="T12" fmla="*/ 2 w 45"/>
                <a:gd name="T13" fmla="*/ 17 h 57"/>
                <a:gd name="T14" fmla="*/ 7 w 45"/>
                <a:gd name="T15" fmla="*/ 8 h 57"/>
                <a:gd name="T16" fmla="*/ 14 w 45"/>
                <a:gd name="T17" fmla="*/ 2 h 57"/>
                <a:gd name="T18" fmla="*/ 23 w 45"/>
                <a:gd name="T19" fmla="*/ 0 h 57"/>
                <a:gd name="T20" fmla="*/ 33 w 45"/>
                <a:gd name="T21" fmla="*/ 2 h 57"/>
                <a:gd name="T22" fmla="*/ 39 w 45"/>
                <a:gd name="T23" fmla="*/ 8 h 57"/>
                <a:gd name="T24" fmla="*/ 44 w 45"/>
                <a:gd name="T25" fmla="*/ 16 h 57"/>
                <a:gd name="T26" fmla="*/ 45 w 45"/>
                <a:gd name="T27" fmla="*/ 26 h 57"/>
                <a:gd name="T28" fmla="*/ 45 w 45"/>
                <a:gd name="T29" fmla="*/ 29 h 57"/>
                <a:gd name="T30" fmla="*/ 6 w 45"/>
                <a:gd name="T31" fmla="*/ 29 h 57"/>
                <a:gd name="T32" fmla="*/ 6 w 45"/>
                <a:gd name="T33" fmla="*/ 31 h 57"/>
                <a:gd name="T34" fmla="*/ 7 w 45"/>
                <a:gd name="T35" fmla="*/ 39 h 57"/>
                <a:gd name="T36" fmla="*/ 11 w 45"/>
                <a:gd name="T37" fmla="*/ 46 h 57"/>
                <a:gd name="T38" fmla="*/ 17 w 45"/>
                <a:gd name="T39" fmla="*/ 51 h 57"/>
                <a:gd name="T40" fmla="*/ 25 w 45"/>
                <a:gd name="T41" fmla="*/ 52 h 57"/>
                <a:gd name="T42" fmla="*/ 33 w 45"/>
                <a:gd name="T43" fmla="*/ 51 h 57"/>
                <a:gd name="T44" fmla="*/ 40 w 45"/>
                <a:gd name="T45" fmla="*/ 45 h 57"/>
                <a:gd name="T46" fmla="*/ 44 w 45"/>
                <a:gd name="T47" fmla="*/ 48 h 57"/>
                <a:gd name="T48" fmla="*/ 41 w 45"/>
                <a:gd name="T49" fmla="*/ 52 h 57"/>
                <a:gd name="T50" fmla="*/ 37 w 45"/>
                <a:gd name="T51" fmla="*/ 55 h 57"/>
                <a:gd name="T52" fmla="*/ 31 w 45"/>
                <a:gd name="T53" fmla="*/ 57 h 57"/>
                <a:gd name="T54" fmla="*/ 24 w 45"/>
                <a:gd name="T55" fmla="*/ 57 h 57"/>
                <a:gd name="T56" fmla="*/ 23 w 45"/>
                <a:gd name="T57" fmla="*/ 6 h 57"/>
                <a:gd name="T58" fmla="*/ 17 w 45"/>
                <a:gd name="T59" fmla="*/ 7 h 57"/>
                <a:gd name="T60" fmla="*/ 12 w 45"/>
                <a:gd name="T61" fmla="*/ 11 h 57"/>
                <a:gd name="T62" fmla="*/ 8 w 45"/>
                <a:gd name="T63" fmla="*/ 17 h 57"/>
                <a:gd name="T64" fmla="*/ 6 w 45"/>
                <a:gd name="T65" fmla="*/ 24 h 57"/>
                <a:gd name="T66" fmla="*/ 39 w 45"/>
                <a:gd name="T67" fmla="*/ 24 h 57"/>
                <a:gd name="T68" fmla="*/ 39 w 45"/>
                <a:gd name="T69" fmla="*/ 24 h 57"/>
                <a:gd name="T70" fmla="*/ 38 w 45"/>
                <a:gd name="T71" fmla="*/ 17 h 57"/>
                <a:gd name="T72" fmla="*/ 35 w 45"/>
                <a:gd name="T73" fmla="*/ 11 h 57"/>
                <a:gd name="T74" fmla="*/ 30 w 45"/>
                <a:gd name="T75" fmla="*/ 7 h 57"/>
                <a:gd name="T76" fmla="*/ 23 w 45"/>
                <a:gd name="T77" fmla="*/ 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5" h="57">
                  <a:moveTo>
                    <a:pt x="24" y="57"/>
                  </a:moveTo>
                  <a:cubicBezTo>
                    <a:pt x="21" y="57"/>
                    <a:pt x="18" y="57"/>
                    <a:pt x="15" y="55"/>
                  </a:cubicBezTo>
                  <a:cubicBezTo>
                    <a:pt x="12" y="54"/>
                    <a:pt x="9" y="52"/>
                    <a:pt x="7" y="50"/>
                  </a:cubicBezTo>
                  <a:cubicBezTo>
                    <a:pt x="5" y="47"/>
                    <a:pt x="3" y="45"/>
                    <a:pt x="2" y="41"/>
                  </a:cubicBezTo>
                  <a:cubicBezTo>
                    <a:pt x="0" y="38"/>
                    <a:pt x="0" y="34"/>
                    <a:pt x="0" y="31"/>
                  </a:cubicBezTo>
                  <a:cubicBezTo>
                    <a:pt x="0" y="28"/>
                    <a:pt x="0" y="28"/>
                    <a:pt x="0" y="28"/>
                  </a:cubicBezTo>
                  <a:cubicBezTo>
                    <a:pt x="0" y="24"/>
                    <a:pt x="0" y="20"/>
                    <a:pt x="2" y="17"/>
                  </a:cubicBezTo>
                  <a:cubicBezTo>
                    <a:pt x="3" y="13"/>
                    <a:pt x="5" y="10"/>
                    <a:pt x="7" y="8"/>
                  </a:cubicBezTo>
                  <a:cubicBezTo>
                    <a:pt x="9" y="6"/>
                    <a:pt x="12" y="4"/>
                    <a:pt x="14" y="2"/>
                  </a:cubicBezTo>
                  <a:cubicBezTo>
                    <a:pt x="17" y="1"/>
                    <a:pt x="20" y="0"/>
                    <a:pt x="23" y="0"/>
                  </a:cubicBezTo>
                  <a:cubicBezTo>
                    <a:pt x="27" y="0"/>
                    <a:pt x="30" y="1"/>
                    <a:pt x="33" y="2"/>
                  </a:cubicBezTo>
                  <a:cubicBezTo>
                    <a:pt x="35" y="4"/>
                    <a:pt x="38" y="5"/>
                    <a:pt x="39" y="8"/>
                  </a:cubicBezTo>
                  <a:cubicBezTo>
                    <a:pt x="41" y="10"/>
                    <a:pt x="43" y="12"/>
                    <a:pt x="44" y="16"/>
                  </a:cubicBezTo>
                  <a:cubicBezTo>
                    <a:pt x="45" y="19"/>
                    <a:pt x="45" y="22"/>
                    <a:pt x="45" y="26"/>
                  </a:cubicBezTo>
                  <a:cubicBezTo>
                    <a:pt x="45" y="29"/>
                    <a:pt x="45" y="29"/>
                    <a:pt x="45" y="29"/>
                  </a:cubicBezTo>
                  <a:cubicBezTo>
                    <a:pt x="6" y="29"/>
                    <a:pt x="6" y="29"/>
                    <a:pt x="6" y="29"/>
                  </a:cubicBezTo>
                  <a:cubicBezTo>
                    <a:pt x="6" y="31"/>
                    <a:pt x="6" y="31"/>
                    <a:pt x="6" y="31"/>
                  </a:cubicBezTo>
                  <a:cubicBezTo>
                    <a:pt x="6" y="34"/>
                    <a:pt x="6" y="36"/>
                    <a:pt x="7" y="39"/>
                  </a:cubicBezTo>
                  <a:cubicBezTo>
                    <a:pt x="8" y="42"/>
                    <a:pt x="9" y="44"/>
                    <a:pt x="11" y="46"/>
                  </a:cubicBezTo>
                  <a:cubicBezTo>
                    <a:pt x="13" y="48"/>
                    <a:pt x="15" y="49"/>
                    <a:pt x="17" y="51"/>
                  </a:cubicBezTo>
                  <a:cubicBezTo>
                    <a:pt x="19" y="52"/>
                    <a:pt x="22" y="52"/>
                    <a:pt x="25" y="52"/>
                  </a:cubicBezTo>
                  <a:cubicBezTo>
                    <a:pt x="28" y="52"/>
                    <a:pt x="31" y="52"/>
                    <a:pt x="33" y="51"/>
                  </a:cubicBezTo>
                  <a:cubicBezTo>
                    <a:pt x="36" y="49"/>
                    <a:pt x="38" y="47"/>
                    <a:pt x="40" y="45"/>
                  </a:cubicBezTo>
                  <a:cubicBezTo>
                    <a:pt x="44" y="48"/>
                    <a:pt x="44" y="48"/>
                    <a:pt x="44" y="48"/>
                  </a:cubicBezTo>
                  <a:cubicBezTo>
                    <a:pt x="43" y="49"/>
                    <a:pt x="42" y="50"/>
                    <a:pt x="41" y="52"/>
                  </a:cubicBezTo>
                  <a:cubicBezTo>
                    <a:pt x="40" y="53"/>
                    <a:pt x="38" y="54"/>
                    <a:pt x="37" y="55"/>
                  </a:cubicBezTo>
                  <a:cubicBezTo>
                    <a:pt x="35" y="55"/>
                    <a:pt x="33" y="56"/>
                    <a:pt x="31" y="57"/>
                  </a:cubicBezTo>
                  <a:cubicBezTo>
                    <a:pt x="29" y="57"/>
                    <a:pt x="27" y="57"/>
                    <a:pt x="24" y="57"/>
                  </a:cubicBezTo>
                  <a:close/>
                  <a:moveTo>
                    <a:pt x="23" y="6"/>
                  </a:moveTo>
                  <a:cubicBezTo>
                    <a:pt x="21" y="6"/>
                    <a:pt x="19" y="6"/>
                    <a:pt x="17" y="7"/>
                  </a:cubicBezTo>
                  <a:cubicBezTo>
                    <a:pt x="15" y="8"/>
                    <a:pt x="13" y="9"/>
                    <a:pt x="12" y="11"/>
                  </a:cubicBezTo>
                  <a:cubicBezTo>
                    <a:pt x="10" y="12"/>
                    <a:pt x="9" y="14"/>
                    <a:pt x="8" y="17"/>
                  </a:cubicBezTo>
                  <a:cubicBezTo>
                    <a:pt x="7" y="19"/>
                    <a:pt x="6" y="21"/>
                    <a:pt x="6" y="24"/>
                  </a:cubicBezTo>
                  <a:cubicBezTo>
                    <a:pt x="39" y="24"/>
                    <a:pt x="39" y="24"/>
                    <a:pt x="39" y="24"/>
                  </a:cubicBezTo>
                  <a:cubicBezTo>
                    <a:pt x="39" y="24"/>
                    <a:pt x="39" y="24"/>
                    <a:pt x="39" y="24"/>
                  </a:cubicBezTo>
                  <a:cubicBezTo>
                    <a:pt x="39" y="21"/>
                    <a:pt x="39" y="19"/>
                    <a:pt x="38" y="17"/>
                  </a:cubicBezTo>
                  <a:cubicBezTo>
                    <a:pt x="37" y="15"/>
                    <a:pt x="36" y="13"/>
                    <a:pt x="35" y="11"/>
                  </a:cubicBezTo>
                  <a:cubicBezTo>
                    <a:pt x="34" y="9"/>
                    <a:pt x="32" y="8"/>
                    <a:pt x="30" y="7"/>
                  </a:cubicBezTo>
                  <a:cubicBezTo>
                    <a:pt x="28" y="6"/>
                    <a:pt x="26" y="6"/>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5" name="Freeform 36">
              <a:extLst>
                <a:ext uri="{FF2B5EF4-FFF2-40B4-BE49-F238E27FC236}">
                  <a16:creationId xmlns:a16="http://schemas.microsoft.com/office/drawing/2014/main" id="{8BBEC716-37F2-4C7C-B4B7-D9ED9171CE52}"/>
                </a:ext>
              </a:extLst>
            </p:cNvPr>
            <p:cNvSpPr>
              <a:spLocks/>
            </p:cNvSpPr>
            <p:nvPr userDrawn="1"/>
          </p:nvSpPr>
          <p:spPr bwMode="auto">
            <a:xfrm>
              <a:off x="4594225" y="1765082"/>
              <a:ext cx="125413" cy="173038"/>
            </a:xfrm>
            <a:custGeom>
              <a:avLst/>
              <a:gdLst>
                <a:gd name="T0" fmla="*/ 36 w 42"/>
                <a:gd name="T1" fmla="*/ 42 h 57"/>
                <a:gd name="T2" fmla="*/ 35 w 42"/>
                <a:gd name="T3" fmla="*/ 39 h 57"/>
                <a:gd name="T4" fmla="*/ 33 w 42"/>
                <a:gd name="T5" fmla="*/ 36 h 57"/>
                <a:gd name="T6" fmla="*/ 29 w 42"/>
                <a:gd name="T7" fmla="*/ 33 h 57"/>
                <a:gd name="T8" fmla="*/ 21 w 42"/>
                <a:gd name="T9" fmla="*/ 31 h 57"/>
                <a:gd name="T10" fmla="*/ 13 w 42"/>
                <a:gd name="T11" fmla="*/ 29 h 57"/>
                <a:gd name="T12" fmla="*/ 7 w 42"/>
                <a:gd name="T13" fmla="*/ 26 h 57"/>
                <a:gd name="T14" fmla="*/ 3 w 42"/>
                <a:gd name="T15" fmla="*/ 21 h 57"/>
                <a:gd name="T16" fmla="*/ 2 w 42"/>
                <a:gd name="T17" fmla="*/ 15 h 57"/>
                <a:gd name="T18" fmla="*/ 3 w 42"/>
                <a:gd name="T19" fmla="*/ 10 h 57"/>
                <a:gd name="T20" fmla="*/ 7 w 42"/>
                <a:gd name="T21" fmla="*/ 5 h 57"/>
                <a:gd name="T22" fmla="*/ 13 w 42"/>
                <a:gd name="T23" fmla="*/ 2 h 57"/>
                <a:gd name="T24" fmla="*/ 21 w 42"/>
                <a:gd name="T25" fmla="*/ 0 h 57"/>
                <a:gd name="T26" fmla="*/ 30 w 42"/>
                <a:gd name="T27" fmla="*/ 2 h 57"/>
                <a:gd name="T28" fmla="*/ 36 w 42"/>
                <a:gd name="T29" fmla="*/ 5 h 57"/>
                <a:gd name="T30" fmla="*/ 40 w 42"/>
                <a:gd name="T31" fmla="*/ 10 h 57"/>
                <a:gd name="T32" fmla="*/ 42 w 42"/>
                <a:gd name="T33" fmla="*/ 17 h 57"/>
                <a:gd name="T34" fmla="*/ 35 w 42"/>
                <a:gd name="T35" fmla="*/ 17 h 57"/>
                <a:gd name="T36" fmla="*/ 35 w 42"/>
                <a:gd name="T37" fmla="*/ 13 h 57"/>
                <a:gd name="T38" fmla="*/ 32 w 42"/>
                <a:gd name="T39" fmla="*/ 9 h 57"/>
                <a:gd name="T40" fmla="*/ 27 w 42"/>
                <a:gd name="T41" fmla="*/ 7 h 57"/>
                <a:gd name="T42" fmla="*/ 21 w 42"/>
                <a:gd name="T43" fmla="*/ 6 h 57"/>
                <a:gd name="T44" fmla="*/ 15 w 42"/>
                <a:gd name="T45" fmla="*/ 7 h 57"/>
                <a:gd name="T46" fmla="*/ 11 w 42"/>
                <a:gd name="T47" fmla="*/ 9 h 57"/>
                <a:gd name="T48" fmla="*/ 9 w 42"/>
                <a:gd name="T49" fmla="*/ 12 h 57"/>
                <a:gd name="T50" fmla="*/ 8 w 42"/>
                <a:gd name="T51" fmla="*/ 15 h 57"/>
                <a:gd name="T52" fmla="*/ 9 w 42"/>
                <a:gd name="T53" fmla="*/ 19 h 57"/>
                <a:gd name="T54" fmla="*/ 11 w 42"/>
                <a:gd name="T55" fmla="*/ 21 h 57"/>
                <a:gd name="T56" fmla="*/ 15 w 42"/>
                <a:gd name="T57" fmla="*/ 24 h 57"/>
                <a:gd name="T58" fmla="*/ 23 w 42"/>
                <a:gd name="T59" fmla="*/ 26 h 57"/>
                <a:gd name="T60" fmla="*/ 31 w 42"/>
                <a:gd name="T61" fmla="*/ 29 h 57"/>
                <a:gd name="T62" fmla="*/ 37 w 42"/>
                <a:gd name="T63" fmla="*/ 32 h 57"/>
                <a:gd name="T64" fmla="*/ 41 w 42"/>
                <a:gd name="T65" fmla="*/ 36 h 57"/>
                <a:gd name="T66" fmla="*/ 42 w 42"/>
                <a:gd name="T67" fmla="*/ 42 h 57"/>
                <a:gd name="T68" fmla="*/ 40 w 42"/>
                <a:gd name="T69" fmla="*/ 48 h 57"/>
                <a:gd name="T70" fmla="*/ 36 w 42"/>
                <a:gd name="T71" fmla="*/ 53 h 57"/>
                <a:gd name="T72" fmla="*/ 30 w 42"/>
                <a:gd name="T73" fmla="*/ 56 h 57"/>
                <a:gd name="T74" fmla="*/ 22 w 42"/>
                <a:gd name="T75" fmla="*/ 57 h 57"/>
                <a:gd name="T76" fmla="*/ 12 w 42"/>
                <a:gd name="T77" fmla="*/ 56 h 57"/>
                <a:gd name="T78" fmla="*/ 6 w 42"/>
                <a:gd name="T79" fmla="*/ 52 h 57"/>
                <a:gd name="T80" fmla="*/ 1 w 42"/>
                <a:gd name="T81" fmla="*/ 47 h 57"/>
                <a:gd name="T82" fmla="*/ 0 w 42"/>
                <a:gd name="T83" fmla="*/ 41 h 57"/>
                <a:gd name="T84" fmla="*/ 6 w 42"/>
                <a:gd name="T85" fmla="*/ 41 h 57"/>
                <a:gd name="T86" fmla="*/ 8 w 42"/>
                <a:gd name="T87" fmla="*/ 46 h 57"/>
                <a:gd name="T88" fmla="*/ 12 w 42"/>
                <a:gd name="T89" fmla="*/ 50 h 57"/>
                <a:gd name="T90" fmla="*/ 16 w 42"/>
                <a:gd name="T91" fmla="*/ 52 h 57"/>
                <a:gd name="T92" fmla="*/ 22 w 42"/>
                <a:gd name="T93" fmla="*/ 52 h 57"/>
                <a:gd name="T94" fmla="*/ 28 w 42"/>
                <a:gd name="T95" fmla="*/ 52 h 57"/>
                <a:gd name="T96" fmla="*/ 32 w 42"/>
                <a:gd name="T97" fmla="*/ 49 h 57"/>
                <a:gd name="T98" fmla="*/ 35 w 42"/>
                <a:gd name="T99" fmla="*/ 46 h 57"/>
                <a:gd name="T100" fmla="*/ 36 w 42"/>
                <a:gd name="T101" fmla="*/ 4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 h="57">
                  <a:moveTo>
                    <a:pt x="36" y="42"/>
                  </a:moveTo>
                  <a:cubicBezTo>
                    <a:pt x="36" y="41"/>
                    <a:pt x="36" y="40"/>
                    <a:pt x="35" y="39"/>
                  </a:cubicBezTo>
                  <a:cubicBezTo>
                    <a:pt x="35" y="38"/>
                    <a:pt x="34" y="37"/>
                    <a:pt x="33" y="36"/>
                  </a:cubicBezTo>
                  <a:cubicBezTo>
                    <a:pt x="32" y="35"/>
                    <a:pt x="30" y="34"/>
                    <a:pt x="29" y="33"/>
                  </a:cubicBezTo>
                  <a:cubicBezTo>
                    <a:pt x="27" y="32"/>
                    <a:pt x="24" y="32"/>
                    <a:pt x="21" y="31"/>
                  </a:cubicBezTo>
                  <a:cubicBezTo>
                    <a:pt x="18" y="30"/>
                    <a:pt x="15" y="30"/>
                    <a:pt x="13" y="29"/>
                  </a:cubicBezTo>
                  <a:cubicBezTo>
                    <a:pt x="11" y="28"/>
                    <a:pt x="9" y="27"/>
                    <a:pt x="7" y="26"/>
                  </a:cubicBezTo>
                  <a:cubicBezTo>
                    <a:pt x="5" y="24"/>
                    <a:pt x="4" y="23"/>
                    <a:pt x="3" y="21"/>
                  </a:cubicBezTo>
                  <a:cubicBezTo>
                    <a:pt x="2" y="20"/>
                    <a:pt x="2" y="18"/>
                    <a:pt x="2" y="15"/>
                  </a:cubicBezTo>
                  <a:cubicBezTo>
                    <a:pt x="2" y="13"/>
                    <a:pt x="2" y="12"/>
                    <a:pt x="3" y="10"/>
                  </a:cubicBezTo>
                  <a:cubicBezTo>
                    <a:pt x="4" y="8"/>
                    <a:pt x="5" y="6"/>
                    <a:pt x="7" y="5"/>
                  </a:cubicBezTo>
                  <a:cubicBezTo>
                    <a:pt x="9" y="4"/>
                    <a:pt x="11" y="2"/>
                    <a:pt x="13" y="2"/>
                  </a:cubicBezTo>
                  <a:cubicBezTo>
                    <a:pt x="16" y="1"/>
                    <a:pt x="18" y="0"/>
                    <a:pt x="21" y="0"/>
                  </a:cubicBezTo>
                  <a:cubicBezTo>
                    <a:pt x="24" y="0"/>
                    <a:pt x="27" y="1"/>
                    <a:pt x="30" y="2"/>
                  </a:cubicBezTo>
                  <a:cubicBezTo>
                    <a:pt x="32" y="3"/>
                    <a:pt x="34" y="4"/>
                    <a:pt x="36" y="5"/>
                  </a:cubicBezTo>
                  <a:cubicBezTo>
                    <a:pt x="38" y="7"/>
                    <a:pt x="39" y="8"/>
                    <a:pt x="40" y="10"/>
                  </a:cubicBezTo>
                  <a:cubicBezTo>
                    <a:pt x="41" y="12"/>
                    <a:pt x="42" y="15"/>
                    <a:pt x="42" y="17"/>
                  </a:cubicBezTo>
                  <a:cubicBezTo>
                    <a:pt x="35" y="17"/>
                    <a:pt x="35" y="17"/>
                    <a:pt x="35" y="17"/>
                  </a:cubicBezTo>
                  <a:cubicBezTo>
                    <a:pt x="35" y="15"/>
                    <a:pt x="35" y="14"/>
                    <a:pt x="35" y="13"/>
                  </a:cubicBezTo>
                  <a:cubicBezTo>
                    <a:pt x="34" y="11"/>
                    <a:pt x="33" y="10"/>
                    <a:pt x="32" y="9"/>
                  </a:cubicBezTo>
                  <a:cubicBezTo>
                    <a:pt x="31" y="8"/>
                    <a:pt x="29" y="7"/>
                    <a:pt x="27" y="7"/>
                  </a:cubicBezTo>
                  <a:cubicBezTo>
                    <a:pt x="26" y="6"/>
                    <a:pt x="24" y="6"/>
                    <a:pt x="21" y="6"/>
                  </a:cubicBezTo>
                  <a:cubicBezTo>
                    <a:pt x="19" y="6"/>
                    <a:pt x="17" y="6"/>
                    <a:pt x="15" y="7"/>
                  </a:cubicBezTo>
                  <a:cubicBezTo>
                    <a:pt x="14" y="7"/>
                    <a:pt x="12" y="8"/>
                    <a:pt x="11" y="9"/>
                  </a:cubicBezTo>
                  <a:cubicBezTo>
                    <a:pt x="10" y="10"/>
                    <a:pt x="9" y="11"/>
                    <a:pt x="9" y="12"/>
                  </a:cubicBezTo>
                  <a:cubicBezTo>
                    <a:pt x="8" y="13"/>
                    <a:pt x="8" y="14"/>
                    <a:pt x="8" y="15"/>
                  </a:cubicBezTo>
                  <a:cubicBezTo>
                    <a:pt x="8" y="16"/>
                    <a:pt x="8" y="18"/>
                    <a:pt x="9" y="19"/>
                  </a:cubicBezTo>
                  <a:cubicBezTo>
                    <a:pt x="9" y="20"/>
                    <a:pt x="10" y="21"/>
                    <a:pt x="11" y="21"/>
                  </a:cubicBezTo>
                  <a:cubicBezTo>
                    <a:pt x="12" y="22"/>
                    <a:pt x="13" y="23"/>
                    <a:pt x="15" y="24"/>
                  </a:cubicBezTo>
                  <a:cubicBezTo>
                    <a:pt x="17" y="24"/>
                    <a:pt x="20" y="25"/>
                    <a:pt x="23" y="26"/>
                  </a:cubicBezTo>
                  <a:cubicBezTo>
                    <a:pt x="26" y="27"/>
                    <a:pt x="29" y="28"/>
                    <a:pt x="31" y="29"/>
                  </a:cubicBezTo>
                  <a:cubicBezTo>
                    <a:pt x="34" y="29"/>
                    <a:pt x="36" y="31"/>
                    <a:pt x="37" y="32"/>
                  </a:cubicBezTo>
                  <a:cubicBezTo>
                    <a:pt x="39" y="33"/>
                    <a:pt x="40" y="35"/>
                    <a:pt x="41" y="36"/>
                  </a:cubicBezTo>
                  <a:cubicBezTo>
                    <a:pt x="42" y="38"/>
                    <a:pt x="42" y="40"/>
                    <a:pt x="42" y="42"/>
                  </a:cubicBezTo>
                  <a:cubicBezTo>
                    <a:pt x="42" y="44"/>
                    <a:pt x="41" y="47"/>
                    <a:pt x="40" y="48"/>
                  </a:cubicBezTo>
                  <a:cubicBezTo>
                    <a:pt x="40" y="50"/>
                    <a:pt x="38" y="52"/>
                    <a:pt x="36" y="53"/>
                  </a:cubicBezTo>
                  <a:cubicBezTo>
                    <a:pt x="35" y="55"/>
                    <a:pt x="33" y="56"/>
                    <a:pt x="30" y="56"/>
                  </a:cubicBezTo>
                  <a:cubicBezTo>
                    <a:pt x="28" y="57"/>
                    <a:pt x="25" y="57"/>
                    <a:pt x="22" y="57"/>
                  </a:cubicBezTo>
                  <a:cubicBezTo>
                    <a:pt x="18" y="57"/>
                    <a:pt x="15" y="57"/>
                    <a:pt x="12" y="56"/>
                  </a:cubicBezTo>
                  <a:cubicBezTo>
                    <a:pt x="10" y="55"/>
                    <a:pt x="7" y="54"/>
                    <a:pt x="6" y="52"/>
                  </a:cubicBezTo>
                  <a:cubicBezTo>
                    <a:pt x="4" y="51"/>
                    <a:pt x="2" y="49"/>
                    <a:pt x="1" y="47"/>
                  </a:cubicBezTo>
                  <a:cubicBezTo>
                    <a:pt x="1" y="45"/>
                    <a:pt x="0" y="43"/>
                    <a:pt x="0" y="41"/>
                  </a:cubicBezTo>
                  <a:cubicBezTo>
                    <a:pt x="6" y="41"/>
                    <a:pt x="6" y="41"/>
                    <a:pt x="6" y="41"/>
                  </a:cubicBezTo>
                  <a:cubicBezTo>
                    <a:pt x="6" y="43"/>
                    <a:pt x="7" y="45"/>
                    <a:pt x="8" y="46"/>
                  </a:cubicBezTo>
                  <a:cubicBezTo>
                    <a:pt x="9" y="48"/>
                    <a:pt x="10" y="49"/>
                    <a:pt x="12" y="50"/>
                  </a:cubicBezTo>
                  <a:cubicBezTo>
                    <a:pt x="13" y="51"/>
                    <a:pt x="15" y="51"/>
                    <a:pt x="16" y="52"/>
                  </a:cubicBezTo>
                  <a:cubicBezTo>
                    <a:pt x="18" y="52"/>
                    <a:pt x="20" y="52"/>
                    <a:pt x="22" y="52"/>
                  </a:cubicBezTo>
                  <a:cubicBezTo>
                    <a:pt x="24" y="52"/>
                    <a:pt x="26" y="52"/>
                    <a:pt x="28" y="52"/>
                  </a:cubicBezTo>
                  <a:cubicBezTo>
                    <a:pt x="29" y="51"/>
                    <a:pt x="31" y="50"/>
                    <a:pt x="32" y="49"/>
                  </a:cubicBezTo>
                  <a:cubicBezTo>
                    <a:pt x="33" y="48"/>
                    <a:pt x="34" y="47"/>
                    <a:pt x="35" y="46"/>
                  </a:cubicBezTo>
                  <a:cubicBezTo>
                    <a:pt x="35" y="45"/>
                    <a:pt x="36" y="44"/>
                    <a:pt x="3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6" name="Freeform 37">
              <a:extLst>
                <a:ext uri="{FF2B5EF4-FFF2-40B4-BE49-F238E27FC236}">
                  <a16:creationId xmlns:a16="http://schemas.microsoft.com/office/drawing/2014/main" id="{76D724D5-69BB-4AA3-B2B0-8E1DDB663FB2}"/>
                </a:ext>
              </a:extLst>
            </p:cNvPr>
            <p:cNvSpPr>
              <a:spLocks/>
            </p:cNvSpPr>
            <p:nvPr userDrawn="1"/>
          </p:nvSpPr>
          <p:spPr bwMode="auto">
            <a:xfrm>
              <a:off x="4741863" y="1726982"/>
              <a:ext cx="84138" cy="211138"/>
            </a:xfrm>
            <a:custGeom>
              <a:avLst/>
              <a:gdLst>
                <a:gd name="T0" fmla="*/ 16 w 28"/>
                <a:gd name="T1" fmla="*/ 0 h 70"/>
                <a:gd name="T2" fmla="*/ 16 w 28"/>
                <a:gd name="T3" fmla="*/ 14 h 70"/>
                <a:gd name="T4" fmla="*/ 27 w 28"/>
                <a:gd name="T5" fmla="*/ 14 h 70"/>
                <a:gd name="T6" fmla="*/ 27 w 28"/>
                <a:gd name="T7" fmla="*/ 19 h 70"/>
                <a:gd name="T8" fmla="*/ 16 w 28"/>
                <a:gd name="T9" fmla="*/ 19 h 70"/>
                <a:gd name="T10" fmla="*/ 16 w 28"/>
                <a:gd name="T11" fmla="*/ 56 h 70"/>
                <a:gd name="T12" fmla="*/ 17 w 28"/>
                <a:gd name="T13" fmla="*/ 61 h 70"/>
                <a:gd name="T14" fmla="*/ 18 w 28"/>
                <a:gd name="T15" fmla="*/ 63 h 70"/>
                <a:gd name="T16" fmla="*/ 20 w 28"/>
                <a:gd name="T17" fmla="*/ 65 h 70"/>
                <a:gd name="T18" fmla="*/ 23 w 28"/>
                <a:gd name="T19" fmla="*/ 65 h 70"/>
                <a:gd name="T20" fmla="*/ 26 w 28"/>
                <a:gd name="T21" fmla="*/ 65 h 70"/>
                <a:gd name="T22" fmla="*/ 28 w 28"/>
                <a:gd name="T23" fmla="*/ 65 h 70"/>
                <a:gd name="T24" fmla="*/ 28 w 28"/>
                <a:gd name="T25" fmla="*/ 70 h 70"/>
                <a:gd name="T26" fmla="*/ 25 w 28"/>
                <a:gd name="T27" fmla="*/ 70 h 70"/>
                <a:gd name="T28" fmla="*/ 22 w 28"/>
                <a:gd name="T29" fmla="*/ 70 h 70"/>
                <a:gd name="T30" fmla="*/ 17 w 28"/>
                <a:gd name="T31" fmla="*/ 70 h 70"/>
                <a:gd name="T32" fmla="*/ 13 w 28"/>
                <a:gd name="T33" fmla="*/ 67 h 70"/>
                <a:gd name="T34" fmla="*/ 11 w 28"/>
                <a:gd name="T35" fmla="*/ 63 h 70"/>
                <a:gd name="T36" fmla="*/ 10 w 28"/>
                <a:gd name="T37" fmla="*/ 56 h 70"/>
                <a:gd name="T38" fmla="*/ 10 w 28"/>
                <a:gd name="T39" fmla="*/ 19 h 70"/>
                <a:gd name="T40" fmla="*/ 0 w 28"/>
                <a:gd name="T41" fmla="*/ 19 h 70"/>
                <a:gd name="T42" fmla="*/ 0 w 28"/>
                <a:gd name="T43" fmla="*/ 14 h 70"/>
                <a:gd name="T44" fmla="*/ 10 w 28"/>
                <a:gd name="T45" fmla="*/ 14 h 70"/>
                <a:gd name="T46" fmla="*/ 10 w 28"/>
                <a:gd name="T47" fmla="*/ 0 h 70"/>
                <a:gd name="T48" fmla="*/ 16 w 28"/>
                <a:gd name="T49"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70">
                  <a:moveTo>
                    <a:pt x="16" y="0"/>
                  </a:moveTo>
                  <a:cubicBezTo>
                    <a:pt x="16" y="14"/>
                    <a:pt x="16" y="14"/>
                    <a:pt x="16" y="14"/>
                  </a:cubicBezTo>
                  <a:cubicBezTo>
                    <a:pt x="27" y="14"/>
                    <a:pt x="27" y="14"/>
                    <a:pt x="27" y="14"/>
                  </a:cubicBezTo>
                  <a:cubicBezTo>
                    <a:pt x="27" y="19"/>
                    <a:pt x="27" y="19"/>
                    <a:pt x="27" y="19"/>
                  </a:cubicBezTo>
                  <a:cubicBezTo>
                    <a:pt x="16" y="19"/>
                    <a:pt x="16" y="19"/>
                    <a:pt x="16" y="19"/>
                  </a:cubicBezTo>
                  <a:cubicBezTo>
                    <a:pt x="16" y="56"/>
                    <a:pt x="16" y="56"/>
                    <a:pt x="16" y="56"/>
                  </a:cubicBezTo>
                  <a:cubicBezTo>
                    <a:pt x="16" y="58"/>
                    <a:pt x="16" y="60"/>
                    <a:pt x="17" y="61"/>
                  </a:cubicBezTo>
                  <a:cubicBezTo>
                    <a:pt x="17" y="62"/>
                    <a:pt x="18" y="63"/>
                    <a:pt x="18" y="63"/>
                  </a:cubicBezTo>
                  <a:cubicBezTo>
                    <a:pt x="19" y="64"/>
                    <a:pt x="20" y="65"/>
                    <a:pt x="20" y="65"/>
                  </a:cubicBezTo>
                  <a:cubicBezTo>
                    <a:pt x="21" y="65"/>
                    <a:pt x="22" y="65"/>
                    <a:pt x="23" y="65"/>
                  </a:cubicBezTo>
                  <a:cubicBezTo>
                    <a:pt x="24" y="65"/>
                    <a:pt x="25" y="65"/>
                    <a:pt x="26" y="65"/>
                  </a:cubicBezTo>
                  <a:cubicBezTo>
                    <a:pt x="27" y="65"/>
                    <a:pt x="27" y="65"/>
                    <a:pt x="28" y="65"/>
                  </a:cubicBezTo>
                  <a:cubicBezTo>
                    <a:pt x="28" y="70"/>
                    <a:pt x="28" y="70"/>
                    <a:pt x="28" y="70"/>
                  </a:cubicBezTo>
                  <a:cubicBezTo>
                    <a:pt x="28" y="70"/>
                    <a:pt x="27" y="70"/>
                    <a:pt x="25" y="70"/>
                  </a:cubicBezTo>
                  <a:cubicBezTo>
                    <a:pt x="24" y="70"/>
                    <a:pt x="23" y="70"/>
                    <a:pt x="22" y="70"/>
                  </a:cubicBezTo>
                  <a:cubicBezTo>
                    <a:pt x="20" y="70"/>
                    <a:pt x="19" y="70"/>
                    <a:pt x="17" y="70"/>
                  </a:cubicBezTo>
                  <a:cubicBezTo>
                    <a:pt x="16" y="69"/>
                    <a:pt x="14" y="69"/>
                    <a:pt x="13" y="67"/>
                  </a:cubicBezTo>
                  <a:cubicBezTo>
                    <a:pt x="12" y="66"/>
                    <a:pt x="11" y="65"/>
                    <a:pt x="11" y="63"/>
                  </a:cubicBezTo>
                  <a:cubicBezTo>
                    <a:pt x="10" y="61"/>
                    <a:pt x="10" y="59"/>
                    <a:pt x="10" y="56"/>
                  </a:cubicBezTo>
                  <a:cubicBezTo>
                    <a:pt x="10" y="19"/>
                    <a:pt x="10" y="19"/>
                    <a:pt x="10" y="19"/>
                  </a:cubicBezTo>
                  <a:cubicBezTo>
                    <a:pt x="0" y="19"/>
                    <a:pt x="0" y="19"/>
                    <a:pt x="0" y="19"/>
                  </a:cubicBezTo>
                  <a:cubicBezTo>
                    <a:pt x="0" y="14"/>
                    <a:pt x="0" y="14"/>
                    <a:pt x="0" y="14"/>
                  </a:cubicBezTo>
                  <a:cubicBezTo>
                    <a:pt x="10" y="14"/>
                    <a:pt x="10" y="14"/>
                    <a:pt x="10" y="14"/>
                  </a:cubicBezTo>
                  <a:cubicBezTo>
                    <a:pt x="10" y="0"/>
                    <a:pt x="10" y="0"/>
                    <a:pt x="10" y="0"/>
                  </a:cubicBez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7" name="Freeform 38">
              <a:extLst>
                <a:ext uri="{FF2B5EF4-FFF2-40B4-BE49-F238E27FC236}">
                  <a16:creationId xmlns:a16="http://schemas.microsoft.com/office/drawing/2014/main" id="{BC504BB1-B4B1-429F-B59D-EEE0866D7E2E}"/>
                </a:ext>
              </a:extLst>
            </p:cNvPr>
            <p:cNvSpPr>
              <a:spLocks/>
            </p:cNvSpPr>
            <p:nvPr userDrawn="1"/>
          </p:nvSpPr>
          <p:spPr bwMode="auto">
            <a:xfrm>
              <a:off x="4860925" y="1765082"/>
              <a:ext cx="231775" cy="169863"/>
            </a:xfrm>
            <a:custGeom>
              <a:avLst/>
              <a:gdLst>
                <a:gd name="T0" fmla="*/ 6 w 77"/>
                <a:gd name="T1" fmla="*/ 1 h 56"/>
                <a:gd name="T2" fmla="*/ 6 w 77"/>
                <a:gd name="T3" fmla="*/ 10 h 56"/>
                <a:gd name="T4" fmla="*/ 9 w 77"/>
                <a:gd name="T5" fmla="*/ 6 h 56"/>
                <a:gd name="T6" fmla="*/ 13 w 77"/>
                <a:gd name="T7" fmla="*/ 3 h 56"/>
                <a:gd name="T8" fmla="*/ 18 w 77"/>
                <a:gd name="T9" fmla="*/ 1 h 56"/>
                <a:gd name="T10" fmla="*/ 23 w 77"/>
                <a:gd name="T11" fmla="*/ 0 h 56"/>
                <a:gd name="T12" fmla="*/ 34 w 77"/>
                <a:gd name="T13" fmla="*/ 3 h 56"/>
                <a:gd name="T14" fmla="*/ 40 w 77"/>
                <a:gd name="T15" fmla="*/ 11 h 56"/>
                <a:gd name="T16" fmla="*/ 43 w 77"/>
                <a:gd name="T17" fmla="*/ 7 h 56"/>
                <a:gd name="T18" fmla="*/ 47 w 77"/>
                <a:gd name="T19" fmla="*/ 4 h 56"/>
                <a:gd name="T20" fmla="*/ 53 w 77"/>
                <a:gd name="T21" fmla="*/ 1 h 56"/>
                <a:gd name="T22" fmla="*/ 59 w 77"/>
                <a:gd name="T23" fmla="*/ 0 h 56"/>
                <a:gd name="T24" fmla="*/ 66 w 77"/>
                <a:gd name="T25" fmla="*/ 2 h 56"/>
                <a:gd name="T26" fmla="*/ 72 w 77"/>
                <a:gd name="T27" fmla="*/ 5 h 56"/>
                <a:gd name="T28" fmla="*/ 76 w 77"/>
                <a:gd name="T29" fmla="*/ 12 h 56"/>
                <a:gd name="T30" fmla="*/ 77 w 77"/>
                <a:gd name="T31" fmla="*/ 21 h 56"/>
                <a:gd name="T32" fmla="*/ 77 w 77"/>
                <a:gd name="T33" fmla="*/ 56 h 56"/>
                <a:gd name="T34" fmla="*/ 71 w 77"/>
                <a:gd name="T35" fmla="*/ 56 h 56"/>
                <a:gd name="T36" fmla="*/ 71 w 77"/>
                <a:gd name="T37" fmla="*/ 21 h 56"/>
                <a:gd name="T38" fmla="*/ 70 w 77"/>
                <a:gd name="T39" fmla="*/ 13 h 56"/>
                <a:gd name="T40" fmla="*/ 67 w 77"/>
                <a:gd name="T41" fmla="*/ 9 h 56"/>
                <a:gd name="T42" fmla="*/ 63 w 77"/>
                <a:gd name="T43" fmla="*/ 6 h 56"/>
                <a:gd name="T44" fmla="*/ 57 w 77"/>
                <a:gd name="T45" fmla="*/ 6 h 56"/>
                <a:gd name="T46" fmla="*/ 51 w 77"/>
                <a:gd name="T47" fmla="*/ 7 h 56"/>
                <a:gd name="T48" fmla="*/ 46 w 77"/>
                <a:gd name="T49" fmla="*/ 11 h 56"/>
                <a:gd name="T50" fmla="*/ 43 w 77"/>
                <a:gd name="T51" fmla="*/ 15 h 56"/>
                <a:gd name="T52" fmla="*/ 41 w 77"/>
                <a:gd name="T53" fmla="*/ 20 h 56"/>
                <a:gd name="T54" fmla="*/ 41 w 77"/>
                <a:gd name="T55" fmla="*/ 56 h 56"/>
                <a:gd name="T56" fmla="*/ 35 w 77"/>
                <a:gd name="T57" fmla="*/ 56 h 56"/>
                <a:gd name="T58" fmla="*/ 35 w 77"/>
                <a:gd name="T59" fmla="*/ 20 h 56"/>
                <a:gd name="T60" fmla="*/ 34 w 77"/>
                <a:gd name="T61" fmla="*/ 13 h 56"/>
                <a:gd name="T62" fmla="*/ 31 w 77"/>
                <a:gd name="T63" fmla="*/ 9 h 56"/>
                <a:gd name="T64" fmla="*/ 27 w 77"/>
                <a:gd name="T65" fmla="*/ 6 h 56"/>
                <a:gd name="T66" fmla="*/ 22 w 77"/>
                <a:gd name="T67" fmla="*/ 6 h 56"/>
                <a:gd name="T68" fmla="*/ 16 w 77"/>
                <a:gd name="T69" fmla="*/ 7 h 56"/>
                <a:gd name="T70" fmla="*/ 11 w 77"/>
                <a:gd name="T71" fmla="*/ 10 h 56"/>
                <a:gd name="T72" fmla="*/ 8 w 77"/>
                <a:gd name="T73" fmla="*/ 14 h 56"/>
                <a:gd name="T74" fmla="*/ 6 w 77"/>
                <a:gd name="T75" fmla="*/ 19 h 56"/>
                <a:gd name="T76" fmla="*/ 6 w 77"/>
                <a:gd name="T77" fmla="*/ 56 h 56"/>
                <a:gd name="T78" fmla="*/ 0 w 77"/>
                <a:gd name="T79" fmla="*/ 56 h 56"/>
                <a:gd name="T80" fmla="*/ 0 w 77"/>
                <a:gd name="T81" fmla="*/ 1 h 56"/>
                <a:gd name="T82" fmla="*/ 6 w 77"/>
                <a:gd name="T8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7" h="56">
                  <a:moveTo>
                    <a:pt x="6" y="1"/>
                  </a:moveTo>
                  <a:cubicBezTo>
                    <a:pt x="6" y="10"/>
                    <a:pt x="6" y="10"/>
                    <a:pt x="6" y="10"/>
                  </a:cubicBezTo>
                  <a:cubicBezTo>
                    <a:pt x="7" y="9"/>
                    <a:pt x="8" y="8"/>
                    <a:pt x="9" y="6"/>
                  </a:cubicBezTo>
                  <a:cubicBezTo>
                    <a:pt x="10" y="5"/>
                    <a:pt x="11" y="4"/>
                    <a:pt x="13" y="3"/>
                  </a:cubicBezTo>
                  <a:cubicBezTo>
                    <a:pt x="14" y="2"/>
                    <a:pt x="16" y="2"/>
                    <a:pt x="18" y="1"/>
                  </a:cubicBezTo>
                  <a:cubicBezTo>
                    <a:pt x="20" y="1"/>
                    <a:pt x="21" y="0"/>
                    <a:pt x="23" y="0"/>
                  </a:cubicBezTo>
                  <a:cubicBezTo>
                    <a:pt x="28" y="0"/>
                    <a:pt x="31" y="1"/>
                    <a:pt x="34" y="3"/>
                  </a:cubicBezTo>
                  <a:cubicBezTo>
                    <a:pt x="37" y="5"/>
                    <a:pt x="39" y="7"/>
                    <a:pt x="40" y="11"/>
                  </a:cubicBezTo>
                  <a:cubicBezTo>
                    <a:pt x="41" y="10"/>
                    <a:pt x="42" y="8"/>
                    <a:pt x="43" y="7"/>
                  </a:cubicBezTo>
                  <a:cubicBezTo>
                    <a:pt x="44" y="6"/>
                    <a:pt x="46" y="4"/>
                    <a:pt x="47" y="4"/>
                  </a:cubicBezTo>
                  <a:cubicBezTo>
                    <a:pt x="49" y="3"/>
                    <a:pt x="51" y="2"/>
                    <a:pt x="53" y="1"/>
                  </a:cubicBezTo>
                  <a:cubicBezTo>
                    <a:pt x="54" y="1"/>
                    <a:pt x="57" y="0"/>
                    <a:pt x="59" y="0"/>
                  </a:cubicBezTo>
                  <a:cubicBezTo>
                    <a:pt x="62" y="0"/>
                    <a:pt x="64" y="1"/>
                    <a:pt x="66" y="2"/>
                  </a:cubicBezTo>
                  <a:cubicBezTo>
                    <a:pt x="69" y="2"/>
                    <a:pt x="70" y="4"/>
                    <a:pt x="72" y="5"/>
                  </a:cubicBezTo>
                  <a:cubicBezTo>
                    <a:pt x="74" y="7"/>
                    <a:pt x="75" y="9"/>
                    <a:pt x="76" y="12"/>
                  </a:cubicBezTo>
                  <a:cubicBezTo>
                    <a:pt x="76" y="14"/>
                    <a:pt x="77" y="17"/>
                    <a:pt x="77" y="21"/>
                  </a:cubicBezTo>
                  <a:cubicBezTo>
                    <a:pt x="77" y="56"/>
                    <a:pt x="77" y="56"/>
                    <a:pt x="77" y="56"/>
                  </a:cubicBezTo>
                  <a:cubicBezTo>
                    <a:pt x="71" y="56"/>
                    <a:pt x="71" y="56"/>
                    <a:pt x="71" y="56"/>
                  </a:cubicBezTo>
                  <a:cubicBezTo>
                    <a:pt x="71" y="21"/>
                    <a:pt x="71" y="21"/>
                    <a:pt x="71" y="21"/>
                  </a:cubicBezTo>
                  <a:cubicBezTo>
                    <a:pt x="71" y="18"/>
                    <a:pt x="70" y="15"/>
                    <a:pt x="70" y="13"/>
                  </a:cubicBezTo>
                  <a:cubicBezTo>
                    <a:pt x="69" y="11"/>
                    <a:pt x="68" y="10"/>
                    <a:pt x="67" y="9"/>
                  </a:cubicBezTo>
                  <a:cubicBezTo>
                    <a:pt x="66" y="8"/>
                    <a:pt x="64" y="7"/>
                    <a:pt x="63" y="6"/>
                  </a:cubicBezTo>
                  <a:cubicBezTo>
                    <a:pt x="61" y="6"/>
                    <a:pt x="59" y="6"/>
                    <a:pt x="57" y="6"/>
                  </a:cubicBezTo>
                  <a:cubicBezTo>
                    <a:pt x="55" y="6"/>
                    <a:pt x="52" y="6"/>
                    <a:pt x="51" y="7"/>
                  </a:cubicBezTo>
                  <a:cubicBezTo>
                    <a:pt x="49" y="8"/>
                    <a:pt x="47" y="9"/>
                    <a:pt x="46" y="11"/>
                  </a:cubicBezTo>
                  <a:cubicBezTo>
                    <a:pt x="44" y="12"/>
                    <a:pt x="43" y="13"/>
                    <a:pt x="43" y="15"/>
                  </a:cubicBezTo>
                  <a:cubicBezTo>
                    <a:pt x="42" y="17"/>
                    <a:pt x="41" y="18"/>
                    <a:pt x="41" y="20"/>
                  </a:cubicBezTo>
                  <a:cubicBezTo>
                    <a:pt x="41" y="56"/>
                    <a:pt x="41" y="56"/>
                    <a:pt x="41" y="56"/>
                  </a:cubicBezTo>
                  <a:cubicBezTo>
                    <a:pt x="35" y="56"/>
                    <a:pt x="35" y="56"/>
                    <a:pt x="35" y="56"/>
                  </a:cubicBezTo>
                  <a:cubicBezTo>
                    <a:pt x="35" y="20"/>
                    <a:pt x="35" y="20"/>
                    <a:pt x="35" y="20"/>
                  </a:cubicBezTo>
                  <a:cubicBezTo>
                    <a:pt x="35" y="17"/>
                    <a:pt x="35" y="15"/>
                    <a:pt x="34" y="13"/>
                  </a:cubicBezTo>
                  <a:cubicBezTo>
                    <a:pt x="34" y="11"/>
                    <a:pt x="33" y="10"/>
                    <a:pt x="31" y="9"/>
                  </a:cubicBezTo>
                  <a:cubicBezTo>
                    <a:pt x="30" y="8"/>
                    <a:pt x="29" y="7"/>
                    <a:pt x="27" y="6"/>
                  </a:cubicBezTo>
                  <a:cubicBezTo>
                    <a:pt x="26" y="6"/>
                    <a:pt x="24" y="6"/>
                    <a:pt x="22" y="6"/>
                  </a:cubicBezTo>
                  <a:cubicBezTo>
                    <a:pt x="19" y="6"/>
                    <a:pt x="17" y="6"/>
                    <a:pt x="16" y="7"/>
                  </a:cubicBezTo>
                  <a:cubicBezTo>
                    <a:pt x="14" y="8"/>
                    <a:pt x="12" y="9"/>
                    <a:pt x="11" y="10"/>
                  </a:cubicBezTo>
                  <a:cubicBezTo>
                    <a:pt x="10" y="11"/>
                    <a:pt x="9" y="12"/>
                    <a:pt x="8" y="14"/>
                  </a:cubicBezTo>
                  <a:cubicBezTo>
                    <a:pt x="7" y="15"/>
                    <a:pt x="6" y="17"/>
                    <a:pt x="6" y="19"/>
                  </a:cubicBezTo>
                  <a:cubicBezTo>
                    <a:pt x="6" y="56"/>
                    <a:pt x="6" y="56"/>
                    <a:pt x="6" y="56"/>
                  </a:cubicBezTo>
                  <a:cubicBezTo>
                    <a:pt x="0" y="56"/>
                    <a:pt x="0" y="56"/>
                    <a:pt x="0" y="56"/>
                  </a:cubicBezTo>
                  <a:cubicBezTo>
                    <a:pt x="0" y="1"/>
                    <a:pt x="0" y="1"/>
                    <a:pt x="0" y="1"/>
                  </a:cubicBezTo>
                  <a:lnTo>
                    <a:pt x="6"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8" name="Freeform 39">
              <a:extLst>
                <a:ext uri="{FF2B5EF4-FFF2-40B4-BE49-F238E27FC236}">
                  <a16:creationId xmlns:a16="http://schemas.microsoft.com/office/drawing/2014/main" id="{5162210A-3B7F-4FE3-90D4-002CD2B514CC}"/>
                </a:ext>
              </a:extLst>
            </p:cNvPr>
            <p:cNvSpPr>
              <a:spLocks noEditPoints="1"/>
            </p:cNvSpPr>
            <p:nvPr userDrawn="1"/>
          </p:nvSpPr>
          <p:spPr bwMode="auto">
            <a:xfrm>
              <a:off x="5129213" y="1765082"/>
              <a:ext cx="134938" cy="173038"/>
            </a:xfrm>
            <a:custGeom>
              <a:avLst/>
              <a:gdLst>
                <a:gd name="T0" fmla="*/ 24 w 45"/>
                <a:gd name="T1" fmla="*/ 57 h 57"/>
                <a:gd name="T2" fmla="*/ 15 w 45"/>
                <a:gd name="T3" fmla="*/ 55 h 57"/>
                <a:gd name="T4" fmla="*/ 7 w 45"/>
                <a:gd name="T5" fmla="*/ 50 h 57"/>
                <a:gd name="T6" fmla="*/ 2 w 45"/>
                <a:gd name="T7" fmla="*/ 41 h 57"/>
                <a:gd name="T8" fmla="*/ 0 w 45"/>
                <a:gd name="T9" fmla="*/ 31 h 57"/>
                <a:gd name="T10" fmla="*/ 0 w 45"/>
                <a:gd name="T11" fmla="*/ 28 h 57"/>
                <a:gd name="T12" fmla="*/ 2 w 45"/>
                <a:gd name="T13" fmla="*/ 17 h 57"/>
                <a:gd name="T14" fmla="*/ 7 w 45"/>
                <a:gd name="T15" fmla="*/ 8 h 57"/>
                <a:gd name="T16" fmla="*/ 14 w 45"/>
                <a:gd name="T17" fmla="*/ 2 h 57"/>
                <a:gd name="T18" fmla="*/ 23 w 45"/>
                <a:gd name="T19" fmla="*/ 0 h 57"/>
                <a:gd name="T20" fmla="*/ 33 w 45"/>
                <a:gd name="T21" fmla="*/ 2 h 57"/>
                <a:gd name="T22" fmla="*/ 39 w 45"/>
                <a:gd name="T23" fmla="*/ 8 h 57"/>
                <a:gd name="T24" fmla="*/ 44 w 45"/>
                <a:gd name="T25" fmla="*/ 16 h 57"/>
                <a:gd name="T26" fmla="*/ 45 w 45"/>
                <a:gd name="T27" fmla="*/ 26 h 57"/>
                <a:gd name="T28" fmla="*/ 45 w 45"/>
                <a:gd name="T29" fmla="*/ 29 h 57"/>
                <a:gd name="T30" fmla="*/ 6 w 45"/>
                <a:gd name="T31" fmla="*/ 29 h 57"/>
                <a:gd name="T32" fmla="*/ 6 w 45"/>
                <a:gd name="T33" fmla="*/ 31 h 57"/>
                <a:gd name="T34" fmla="*/ 7 w 45"/>
                <a:gd name="T35" fmla="*/ 39 h 57"/>
                <a:gd name="T36" fmla="*/ 11 w 45"/>
                <a:gd name="T37" fmla="*/ 46 h 57"/>
                <a:gd name="T38" fmla="*/ 17 w 45"/>
                <a:gd name="T39" fmla="*/ 51 h 57"/>
                <a:gd name="T40" fmla="*/ 25 w 45"/>
                <a:gd name="T41" fmla="*/ 52 h 57"/>
                <a:gd name="T42" fmla="*/ 33 w 45"/>
                <a:gd name="T43" fmla="*/ 51 h 57"/>
                <a:gd name="T44" fmla="*/ 40 w 45"/>
                <a:gd name="T45" fmla="*/ 45 h 57"/>
                <a:gd name="T46" fmla="*/ 44 w 45"/>
                <a:gd name="T47" fmla="*/ 48 h 57"/>
                <a:gd name="T48" fmla="*/ 41 w 45"/>
                <a:gd name="T49" fmla="*/ 52 h 57"/>
                <a:gd name="T50" fmla="*/ 37 w 45"/>
                <a:gd name="T51" fmla="*/ 55 h 57"/>
                <a:gd name="T52" fmla="*/ 31 w 45"/>
                <a:gd name="T53" fmla="*/ 57 h 57"/>
                <a:gd name="T54" fmla="*/ 24 w 45"/>
                <a:gd name="T55" fmla="*/ 57 h 57"/>
                <a:gd name="T56" fmla="*/ 23 w 45"/>
                <a:gd name="T57" fmla="*/ 6 h 57"/>
                <a:gd name="T58" fmla="*/ 17 w 45"/>
                <a:gd name="T59" fmla="*/ 7 h 57"/>
                <a:gd name="T60" fmla="*/ 12 w 45"/>
                <a:gd name="T61" fmla="*/ 11 h 57"/>
                <a:gd name="T62" fmla="*/ 8 w 45"/>
                <a:gd name="T63" fmla="*/ 17 h 57"/>
                <a:gd name="T64" fmla="*/ 6 w 45"/>
                <a:gd name="T65" fmla="*/ 24 h 57"/>
                <a:gd name="T66" fmla="*/ 39 w 45"/>
                <a:gd name="T67" fmla="*/ 24 h 57"/>
                <a:gd name="T68" fmla="*/ 39 w 45"/>
                <a:gd name="T69" fmla="*/ 24 h 57"/>
                <a:gd name="T70" fmla="*/ 38 w 45"/>
                <a:gd name="T71" fmla="*/ 17 h 57"/>
                <a:gd name="T72" fmla="*/ 35 w 45"/>
                <a:gd name="T73" fmla="*/ 11 h 57"/>
                <a:gd name="T74" fmla="*/ 30 w 45"/>
                <a:gd name="T75" fmla="*/ 7 h 57"/>
                <a:gd name="T76" fmla="*/ 23 w 45"/>
                <a:gd name="T77" fmla="*/ 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5" h="57">
                  <a:moveTo>
                    <a:pt x="24" y="57"/>
                  </a:moveTo>
                  <a:cubicBezTo>
                    <a:pt x="21" y="57"/>
                    <a:pt x="18" y="57"/>
                    <a:pt x="15" y="55"/>
                  </a:cubicBezTo>
                  <a:cubicBezTo>
                    <a:pt x="12" y="54"/>
                    <a:pt x="9" y="52"/>
                    <a:pt x="7" y="50"/>
                  </a:cubicBezTo>
                  <a:cubicBezTo>
                    <a:pt x="5" y="47"/>
                    <a:pt x="3" y="45"/>
                    <a:pt x="2" y="41"/>
                  </a:cubicBezTo>
                  <a:cubicBezTo>
                    <a:pt x="0" y="38"/>
                    <a:pt x="0" y="34"/>
                    <a:pt x="0" y="31"/>
                  </a:cubicBezTo>
                  <a:cubicBezTo>
                    <a:pt x="0" y="28"/>
                    <a:pt x="0" y="28"/>
                    <a:pt x="0" y="28"/>
                  </a:cubicBezTo>
                  <a:cubicBezTo>
                    <a:pt x="0" y="24"/>
                    <a:pt x="0" y="20"/>
                    <a:pt x="2" y="17"/>
                  </a:cubicBezTo>
                  <a:cubicBezTo>
                    <a:pt x="3" y="13"/>
                    <a:pt x="5" y="10"/>
                    <a:pt x="7" y="8"/>
                  </a:cubicBezTo>
                  <a:cubicBezTo>
                    <a:pt x="9" y="6"/>
                    <a:pt x="12" y="4"/>
                    <a:pt x="14" y="2"/>
                  </a:cubicBezTo>
                  <a:cubicBezTo>
                    <a:pt x="17" y="1"/>
                    <a:pt x="20" y="0"/>
                    <a:pt x="23" y="0"/>
                  </a:cubicBezTo>
                  <a:cubicBezTo>
                    <a:pt x="27" y="0"/>
                    <a:pt x="30" y="1"/>
                    <a:pt x="33" y="2"/>
                  </a:cubicBezTo>
                  <a:cubicBezTo>
                    <a:pt x="35" y="4"/>
                    <a:pt x="38" y="5"/>
                    <a:pt x="39" y="8"/>
                  </a:cubicBezTo>
                  <a:cubicBezTo>
                    <a:pt x="41" y="10"/>
                    <a:pt x="43" y="12"/>
                    <a:pt x="44" y="16"/>
                  </a:cubicBezTo>
                  <a:cubicBezTo>
                    <a:pt x="45" y="19"/>
                    <a:pt x="45" y="22"/>
                    <a:pt x="45" y="26"/>
                  </a:cubicBezTo>
                  <a:cubicBezTo>
                    <a:pt x="45" y="29"/>
                    <a:pt x="45" y="29"/>
                    <a:pt x="45" y="29"/>
                  </a:cubicBezTo>
                  <a:cubicBezTo>
                    <a:pt x="6" y="29"/>
                    <a:pt x="6" y="29"/>
                    <a:pt x="6" y="29"/>
                  </a:cubicBezTo>
                  <a:cubicBezTo>
                    <a:pt x="6" y="31"/>
                    <a:pt x="6" y="31"/>
                    <a:pt x="6" y="31"/>
                  </a:cubicBezTo>
                  <a:cubicBezTo>
                    <a:pt x="6" y="34"/>
                    <a:pt x="6" y="36"/>
                    <a:pt x="7" y="39"/>
                  </a:cubicBezTo>
                  <a:cubicBezTo>
                    <a:pt x="8" y="42"/>
                    <a:pt x="9" y="44"/>
                    <a:pt x="11" y="46"/>
                  </a:cubicBezTo>
                  <a:cubicBezTo>
                    <a:pt x="13" y="48"/>
                    <a:pt x="15" y="49"/>
                    <a:pt x="17" y="51"/>
                  </a:cubicBezTo>
                  <a:cubicBezTo>
                    <a:pt x="19" y="52"/>
                    <a:pt x="22" y="52"/>
                    <a:pt x="25" y="52"/>
                  </a:cubicBezTo>
                  <a:cubicBezTo>
                    <a:pt x="28" y="52"/>
                    <a:pt x="31" y="52"/>
                    <a:pt x="33" y="51"/>
                  </a:cubicBezTo>
                  <a:cubicBezTo>
                    <a:pt x="36" y="49"/>
                    <a:pt x="38" y="47"/>
                    <a:pt x="40" y="45"/>
                  </a:cubicBezTo>
                  <a:cubicBezTo>
                    <a:pt x="44" y="48"/>
                    <a:pt x="44" y="48"/>
                    <a:pt x="44" y="48"/>
                  </a:cubicBezTo>
                  <a:cubicBezTo>
                    <a:pt x="43" y="49"/>
                    <a:pt x="42" y="50"/>
                    <a:pt x="41" y="52"/>
                  </a:cubicBezTo>
                  <a:cubicBezTo>
                    <a:pt x="39" y="53"/>
                    <a:pt x="38" y="54"/>
                    <a:pt x="37" y="55"/>
                  </a:cubicBezTo>
                  <a:cubicBezTo>
                    <a:pt x="35" y="55"/>
                    <a:pt x="33" y="56"/>
                    <a:pt x="31" y="57"/>
                  </a:cubicBezTo>
                  <a:cubicBezTo>
                    <a:pt x="29" y="57"/>
                    <a:pt x="27" y="57"/>
                    <a:pt x="24" y="57"/>
                  </a:cubicBezTo>
                  <a:close/>
                  <a:moveTo>
                    <a:pt x="23" y="6"/>
                  </a:moveTo>
                  <a:cubicBezTo>
                    <a:pt x="21" y="6"/>
                    <a:pt x="19" y="6"/>
                    <a:pt x="17" y="7"/>
                  </a:cubicBezTo>
                  <a:cubicBezTo>
                    <a:pt x="15" y="8"/>
                    <a:pt x="13" y="9"/>
                    <a:pt x="12" y="11"/>
                  </a:cubicBezTo>
                  <a:cubicBezTo>
                    <a:pt x="10" y="12"/>
                    <a:pt x="9" y="14"/>
                    <a:pt x="8" y="17"/>
                  </a:cubicBezTo>
                  <a:cubicBezTo>
                    <a:pt x="7" y="19"/>
                    <a:pt x="6" y="21"/>
                    <a:pt x="6" y="24"/>
                  </a:cubicBezTo>
                  <a:cubicBezTo>
                    <a:pt x="39" y="24"/>
                    <a:pt x="39" y="24"/>
                    <a:pt x="39" y="24"/>
                  </a:cubicBezTo>
                  <a:cubicBezTo>
                    <a:pt x="39" y="24"/>
                    <a:pt x="39" y="24"/>
                    <a:pt x="39" y="24"/>
                  </a:cubicBezTo>
                  <a:cubicBezTo>
                    <a:pt x="39" y="21"/>
                    <a:pt x="39" y="19"/>
                    <a:pt x="38" y="17"/>
                  </a:cubicBezTo>
                  <a:cubicBezTo>
                    <a:pt x="37" y="15"/>
                    <a:pt x="36" y="13"/>
                    <a:pt x="35" y="11"/>
                  </a:cubicBezTo>
                  <a:cubicBezTo>
                    <a:pt x="34" y="9"/>
                    <a:pt x="32" y="8"/>
                    <a:pt x="30" y="7"/>
                  </a:cubicBezTo>
                  <a:cubicBezTo>
                    <a:pt x="28" y="6"/>
                    <a:pt x="26" y="6"/>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9" name="Freeform 40">
              <a:extLst>
                <a:ext uri="{FF2B5EF4-FFF2-40B4-BE49-F238E27FC236}">
                  <a16:creationId xmlns:a16="http://schemas.microsoft.com/office/drawing/2014/main" id="{33AFD4BE-471F-4249-AA1E-56E73118EED6}"/>
                </a:ext>
              </a:extLst>
            </p:cNvPr>
            <p:cNvSpPr>
              <a:spLocks/>
            </p:cNvSpPr>
            <p:nvPr userDrawn="1"/>
          </p:nvSpPr>
          <p:spPr bwMode="auto">
            <a:xfrm>
              <a:off x="5300663" y="1765082"/>
              <a:ext cx="122238" cy="169863"/>
            </a:xfrm>
            <a:custGeom>
              <a:avLst/>
              <a:gdLst>
                <a:gd name="T0" fmla="*/ 6 w 41"/>
                <a:gd name="T1" fmla="*/ 1 h 56"/>
                <a:gd name="T2" fmla="*/ 6 w 41"/>
                <a:gd name="T3" fmla="*/ 11 h 56"/>
                <a:gd name="T4" fmla="*/ 9 w 41"/>
                <a:gd name="T5" fmla="*/ 7 h 56"/>
                <a:gd name="T6" fmla="*/ 13 w 41"/>
                <a:gd name="T7" fmla="*/ 3 h 56"/>
                <a:gd name="T8" fmla="*/ 18 w 41"/>
                <a:gd name="T9" fmla="*/ 1 h 56"/>
                <a:gd name="T10" fmla="*/ 24 w 41"/>
                <a:gd name="T11" fmla="*/ 0 h 56"/>
                <a:gd name="T12" fmla="*/ 31 w 41"/>
                <a:gd name="T13" fmla="*/ 2 h 56"/>
                <a:gd name="T14" fmla="*/ 37 w 41"/>
                <a:gd name="T15" fmla="*/ 5 h 56"/>
                <a:gd name="T16" fmla="*/ 40 w 41"/>
                <a:gd name="T17" fmla="*/ 11 h 56"/>
                <a:gd name="T18" fmla="*/ 41 w 41"/>
                <a:gd name="T19" fmla="*/ 21 h 56"/>
                <a:gd name="T20" fmla="*/ 41 w 41"/>
                <a:gd name="T21" fmla="*/ 56 h 56"/>
                <a:gd name="T22" fmla="*/ 35 w 41"/>
                <a:gd name="T23" fmla="*/ 56 h 56"/>
                <a:gd name="T24" fmla="*/ 35 w 41"/>
                <a:gd name="T25" fmla="*/ 21 h 56"/>
                <a:gd name="T26" fmla="*/ 34 w 41"/>
                <a:gd name="T27" fmla="*/ 14 h 56"/>
                <a:gd name="T28" fmla="*/ 32 w 41"/>
                <a:gd name="T29" fmla="*/ 9 h 56"/>
                <a:gd name="T30" fmla="*/ 28 w 41"/>
                <a:gd name="T31" fmla="*/ 6 h 56"/>
                <a:gd name="T32" fmla="*/ 22 w 41"/>
                <a:gd name="T33" fmla="*/ 6 h 56"/>
                <a:gd name="T34" fmla="*/ 16 w 41"/>
                <a:gd name="T35" fmla="*/ 7 h 56"/>
                <a:gd name="T36" fmla="*/ 12 w 41"/>
                <a:gd name="T37" fmla="*/ 10 h 56"/>
                <a:gd name="T38" fmla="*/ 8 w 41"/>
                <a:gd name="T39" fmla="*/ 14 h 56"/>
                <a:gd name="T40" fmla="*/ 6 w 41"/>
                <a:gd name="T41" fmla="*/ 19 h 56"/>
                <a:gd name="T42" fmla="*/ 6 w 41"/>
                <a:gd name="T43" fmla="*/ 56 h 56"/>
                <a:gd name="T44" fmla="*/ 0 w 41"/>
                <a:gd name="T45" fmla="*/ 56 h 56"/>
                <a:gd name="T46" fmla="*/ 0 w 41"/>
                <a:gd name="T47" fmla="*/ 1 h 56"/>
                <a:gd name="T48" fmla="*/ 6 w 41"/>
                <a:gd name="T49"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56">
                  <a:moveTo>
                    <a:pt x="6" y="1"/>
                  </a:moveTo>
                  <a:cubicBezTo>
                    <a:pt x="6" y="11"/>
                    <a:pt x="6" y="11"/>
                    <a:pt x="6" y="11"/>
                  </a:cubicBezTo>
                  <a:cubicBezTo>
                    <a:pt x="7" y="9"/>
                    <a:pt x="8" y="8"/>
                    <a:pt x="9" y="7"/>
                  </a:cubicBezTo>
                  <a:cubicBezTo>
                    <a:pt x="10" y="5"/>
                    <a:pt x="12" y="4"/>
                    <a:pt x="13" y="3"/>
                  </a:cubicBezTo>
                  <a:cubicBezTo>
                    <a:pt x="15" y="2"/>
                    <a:pt x="16" y="2"/>
                    <a:pt x="18" y="1"/>
                  </a:cubicBezTo>
                  <a:cubicBezTo>
                    <a:pt x="20" y="1"/>
                    <a:pt x="22" y="0"/>
                    <a:pt x="24" y="0"/>
                  </a:cubicBezTo>
                  <a:cubicBezTo>
                    <a:pt x="27" y="0"/>
                    <a:pt x="29" y="1"/>
                    <a:pt x="31" y="2"/>
                  </a:cubicBezTo>
                  <a:cubicBezTo>
                    <a:pt x="33" y="2"/>
                    <a:pt x="35" y="4"/>
                    <a:pt x="37" y="5"/>
                  </a:cubicBezTo>
                  <a:cubicBezTo>
                    <a:pt x="38" y="7"/>
                    <a:pt x="39" y="9"/>
                    <a:pt x="40" y="11"/>
                  </a:cubicBezTo>
                  <a:cubicBezTo>
                    <a:pt x="41" y="14"/>
                    <a:pt x="41" y="17"/>
                    <a:pt x="41" y="21"/>
                  </a:cubicBezTo>
                  <a:cubicBezTo>
                    <a:pt x="41" y="56"/>
                    <a:pt x="41" y="56"/>
                    <a:pt x="41" y="56"/>
                  </a:cubicBezTo>
                  <a:cubicBezTo>
                    <a:pt x="35" y="56"/>
                    <a:pt x="35" y="56"/>
                    <a:pt x="35" y="56"/>
                  </a:cubicBezTo>
                  <a:cubicBezTo>
                    <a:pt x="35" y="21"/>
                    <a:pt x="35" y="21"/>
                    <a:pt x="35" y="21"/>
                  </a:cubicBezTo>
                  <a:cubicBezTo>
                    <a:pt x="35" y="18"/>
                    <a:pt x="35" y="15"/>
                    <a:pt x="34" y="14"/>
                  </a:cubicBezTo>
                  <a:cubicBezTo>
                    <a:pt x="34" y="12"/>
                    <a:pt x="33" y="10"/>
                    <a:pt x="32" y="9"/>
                  </a:cubicBezTo>
                  <a:cubicBezTo>
                    <a:pt x="31" y="8"/>
                    <a:pt x="29" y="7"/>
                    <a:pt x="28" y="6"/>
                  </a:cubicBezTo>
                  <a:cubicBezTo>
                    <a:pt x="26" y="6"/>
                    <a:pt x="24" y="6"/>
                    <a:pt x="22" y="6"/>
                  </a:cubicBezTo>
                  <a:cubicBezTo>
                    <a:pt x="20" y="6"/>
                    <a:pt x="18" y="6"/>
                    <a:pt x="16" y="7"/>
                  </a:cubicBezTo>
                  <a:cubicBezTo>
                    <a:pt x="15" y="8"/>
                    <a:pt x="13" y="9"/>
                    <a:pt x="12" y="10"/>
                  </a:cubicBezTo>
                  <a:cubicBezTo>
                    <a:pt x="10" y="11"/>
                    <a:pt x="9" y="12"/>
                    <a:pt x="8" y="14"/>
                  </a:cubicBezTo>
                  <a:cubicBezTo>
                    <a:pt x="7" y="16"/>
                    <a:pt x="6" y="17"/>
                    <a:pt x="6" y="19"/>
                  </a:cubicBezTo>
                  <a:cubicBezTo>
                    <a:pt x="6" y="56"/>
                    <a:pt x="6" y="56"/>
                    <a:pt x="6" y="56"/>
                  </a:cubicBezTo>
                  <a:cubicBezTo>
                    <a:pt x="0" y="56"/>
                    <a:pt x="0" y="56"/>
                    <a:pt x="0" y="56"/>
                  </a:cubicBezTo>
                  <a:cubicBezTo>
                    <a:pt x="0" y="1"/>
                    <a:pt x="0" y="1"/>
                    <a:pt x="0" y="1"/>
                  </a:cubicBezTo>
                  <a:lnTo>
                    <a:pt x="6"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0" name="Freeform 41">
              <a:extLst>
                <a:ext uri="{FF2B5EF4-FFF2-40B4-BE49-F238E27FC236}">
                  <a16:creationId xmlns:a16="http://schemas.microsoft.com/office/drawing/2014/main" id="{E731602F-C885-41BF-B100-B1A38A5A70E6}"/>
                </a:ext>
              </a:extLst>
            </p:cNvPr>
            <p:cNvSpPr>
              <a:spLocks/>
            </p:cNvSpPr>
            <p:nvPr userDrawn="1"/>
          </p:nvSpPr>
          <p:spPr bwMode="auto">
            <a:xfrm>
              <a:off x="5449888" y="1726982"/>
              <a:ext cx="87313" cy="211138"/>
            </a:xfrm>
            <a:custGeom>
              <a:avLst/>
              <a:gdLst>
                <a:gd name="T0" fmla="*/ 16 w 29"/>
                <a:gd name="T1" fmla="*/ 0 h 70"/>
                <a:gd name="T2" fmla="*/ 16 w 29"/>
                <a:gd name="T3" fmla="*/ 14 h 70"/>
                <a:gd name="T4" fmla="*/ 28 w 29"/>
                <a:gd name="T5" fmla="*/ 14 h 70"/>
                <a:gd name="T6" fmla="*/ 28 w 29"/>
                <a:gd name="T7" fmla="*/ 19 h 70"/>
                <a:gd name="T8" fmla="*/ 16 w 29"/>
                <a:gd name="T9" fmla="*/ 19 h 70"/>
                <a:gd name="T10" fmla="*/ 16 w 29"/>
                <a:gd name="T11" fmla="*/ 56 h 70"/>
                <a:gd name="T12" fmla="*/ 17 w 29"/>
                <a:gd name="T13" fmla="*/ 61 h 70"/>
                <a:gd name="T14" fmla="*/ 19 w 29"/>
                <a:gd name="T15" fmla="*/ 63 h 70"/>
                <a:gd name="T16" fmla="*/ 21 w 29"/>
                <a:gd name="T17" fmla="*/ 65 h 70"/>
                <a:gd name="T18" fmla="*/ 24 w 29"/>
                <a:gd name="T19" fmla="*/ 65 h 70"/>
                <a:gd name="T20" fmla="*/ 26 w 29"/>
                <a:gd name="T21" fmla="*/ 65 h 70"/>
                <a:gd name="T22" fmla="*/ 29 w 29"/>
                <a:gd name="T23" fmla="*/ 65 h 70"/>
                <a:gd name="T24" fmla="*/ 29 w 29"/>
                <a:gd name="T25" fmla="*/ 70 h 70"/>
                <a:gd name="T26" fmla="*/ 26 w 29"/>
                <a:gd name="T27" fmla="*/ 70 h 70"/>
                <a:gd name="T28" fmla="*/ 22 w 29"/>
                <a:gd name="T29" fmla="*/ 70 h 70"/>
                <a:gd name="T30" fmla="*/ 17 w 29"/>
                <a:gd name="T31" fmla="*/ 70 h 70"/>
                <a:gd name="T32" fmla="*/ 14 w 29"/>
                <a:gd name="T33" fmla="*/ 67 h 70"/>
                <a:gd name="T34" fmla="*/ 11 w 29"/>
                <a:gd name="T35" fmla="*/ 63 h 70"/>
                <a:gd name="T36" fmla="*/ 10 w 29"/>
                <a:gd name="T37" fmla="*/ 56 h 70"/>
                <a:gd name="T38" fmla="*/ 10 w 29"/>
                <a:gd name="T39" fmla="*/ 19 h 70"/>
                <a:gd name="T40" fmla="*/ 0 w 29"/>
                <a:gd name="T41" fmla="*/ 19 h 70"/>
                <a:gd name="T42" fmla="*/ 0 w 29"/>
                <a:gd name="T43" fmla="*/ 14 h 70"/>
                <a:gd name="T44" fmla="*/ 10 w 29"/>
                <a:gd name="T45" fmla="*/ 14 h 70"/>
                <a:gd name="T46" fmla="*/ 10 w 29"/>
                <a:gd name="T47" fmla="*/ 0 h 70"/>
                <a:gd name="T48" fmla="*/ 16 w 29"/>
                <a:gd name="T49"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70">
                  <a:moveTo>
                    <a:pt x="16" y="0"/>
                  </a:moveTo>
                  <a:cubicBezTo>
                    <a:pt x="16" y="14"/>
                    <a:pt x="16" y="14"/>
                    <a:pt x="16" y="14"/>
                  </a:cubicBezTo>
                  <a:cubicBezTo>
                    <a:pt x="28" y="14"/>
                    <a:pt x="28" y="14"/>
                    <a:pt x="28" y="14"/>
                  </a:cubicBezTo>
                  <a:cubicBezTo>
                    <a:pt x="28" y="19"/>
                    <a:pt x="28" y="19"/>
                    <a:pt x="28" y="19"/>
                  </a:cubicBezTo>
                  <a:cubicBezTo>
                    <a:pt x="16" y="19"/>
                    <a:pt x="16" y="19"/>
                    <a:pt x="16" y="19"/>
                  </a:cubicBezTo>
                  <a:cubicBezTo>
                    <a:pt x="16" y="56"/>
                    <a:pt x="16" y="56"/>
                    <a:pt x="16" y="56"/>
                  </a:cubicBezTo>
                  <a:cubicBezTo>
                    <a:pt x="16" y="58"/>
                    <a:pt x="17" y="60"/>
                    <a:pt x="17" y="61"/>
                  </a:cubicBezTo>
                  <a:cubicBezTo>
                    <a:pt x="17" y="62"/>
                    <a:pt x="18" y="63"/>
                    <a:pt x="19" y="63"/>
                  </a:cubicBezTo>
                  <a:cubicBezTo>
                    <a:pt x="19" y="64"/>
                    <a:pt x="20" y="65"/>
                    <a:pt x="21" y="65"/>
                  </a:cubicBezTo>
                  <a:cubicBezTo>
                    <a:pt x="22" y="65"/>
                    <a:pt x="23" y="65"/>
                    <a:pt x="24" y="65"/>
                  </a:cubicBezTo>
                  <a:cubicBezTo>
                    <a:pt x="25" y="65"/>
                    <a:pt x="25" y="65"/>
                    <a:pt x="26" y="65"/>
                  </a:cubicBezTo>
                  <a:cubicBezTo>
                    <a:pt x="27" y="65"/>
                    <a:pt x="28" y="65"/>
                    <a:pt x="29" y="65"/>
                  </a:cubicBezTo>
                  <a:cubicBezTo>
                    <a:pt x="29" y="70"/>
                    <a:pt x="29" y="70"/>
                    <a:pt x="29" y="70"/>
                  </a:cubicBezTo>
                  <a:cubicBezTo>
                    <a:pt x="28" y="70"/>
                    <a:pt x="27" y="70"/>
                    <a:pt x="26" y="70"/>
                  </a:cubicBezTo>
                  <a:cubicBezTo>
                    <a:pt x="25" y="70"/>
                    <a:pt x="23" y="70"/>
                    <a:pt x="22" y="70"/>
                  </a:cubicBezTo>
                  <a:cubicBezTo>
                    <a:pt x="21" y="70"/>
                    <a:pt x="19" y="70"/>
                    <a:pt x="17" y="70"/>
                  </a:cubicBezTo>
                  <a:cubicBezTo>
                    <a:pt x="16" y="69"/>
                    <a:pt x="15" y="69"/>
                    <a:pt x="14" y="67"/>
                  </a:cubicBezTo>
                  <a:cubicBezTo>
                    <a:pt x="13" y="66"/>
                    <a:pt x="12" y="65"/>
                    <a:pt x="11" y="63"/>
                  </a:cubicBezTo>
                  <a:cubicBezTo>
                    <a:pt x="11" y="61"/>
                    <a:pt x="10" y="59"/>
                    <a:pt x="10" y="56"/>
                  </a:cubicBezTo>
                  <a:cubicBezTo>
                    <a:pt x="10" y="19"/>
                    <a:pt x="10" y="19"/>
                    <a:pt x="10" y="19"/>
                  </a:cubicBezTo>
                  <a:cubicBezTo>
                    <a:pt x="0" y="19"/>
                    <a:pt x="0" y="19"/>
                    <a:pt x="0" y="19"/>
                  </a:cubicBezTo>
                  <a:cubicBezTo>
                    <a:pt x="0" y="14"/>
                    <a:pt x="0" y="14"/>
                    <a:pt x="0" y="14"/>
                  </a:cubicBezTo>
                  <a:cubicBezTo>
                    <a:pt x="10" y="14"/>
                    <a:pt x="10" y="14"/>
                    <a:pt x="10" y="14"/>
                  </a:cubicBezTo>
                  <a:cubicBezTo>
                    <a:pt x="10" y="0"/>
                    <a:pt x="10" y="0"/>
                    <a:pt x="10" y="0"/>
                  </a:cubicBezTo>
                  <a:lnTo>
                    <a:pt x="1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nvGrpSpPr>
          <p:cNvPr id="83" name="Group 82">
            <a:extLst>
              <a:ext uri="{FF2B5EF4-FFF2-40B4-BE49-F238E27FC236}">
                <a16:creationId xmlns:a16="http://schemas.microsoft.com/office/drawing/2014/main" id="{3B3F99A0-4334-4B14-9825-473B225DE5F6}"/>
              </a:ext>
            </a:extLst>
          </p:cNvPr>
          <p:cNvGrpSpPr/>
          <p:nvPr userDrawn="1"/>
        </p:nvGrpSpPr>
        <p:grpSpPr>
          <a:xfrm>
            <a:off x="4212815" y="5591894"/>
            <a:ext cx="1480371" cy="316227"/>
            <a:chOff x="4216820" y="5591894"/>
            <a:chExt cx="1480371" cy="316227"/>
          </a:xfrm>
        </p:grpSpPr>
        <p:grpSp>
          <p:nvGrpSpPr>
            <p:cNvPr id="72" name="Group 71">
              <a:extLst>
                <a:ext uri="{FF2B5EF4-FFF2-40B4-BE49-F238E27FC236}">
                  <a16:creationId xmlns:a16="http://schemas.microsoft.com/office/drawing/2014/main" id="{00DB50F4-A163-4CD8-9635-91EB38782410}"/>
                </a:ext>
              </a:extLst>
            </p:cNvPr>
            <p:cNvGrpSpPr/>
            <p:nvPr userDrawn="1"/>
          </p:nvGrpSpPr>
          <p:grpSpPr>
            <a:xfrm>
              <a:off x="4604868" y="5591894"/>
              <a:ext cx="316227" cy="316227"/>
              <a:chOff x="3726180" y="4259976"/>
              <a:chExt cx="720000" cy="720000"/>
            </a:xfrm>
          </p:grpSpPr>
          <p:sp>
            <p:nvSpPr>
              <p:cNvPr id="52" name="Rectangle: Rounded Corners 51">
                <a:extLst>
                  <a:ext uri="{FF2B5EF4-FFF2-40B4-BE49-F238E27FC236}">
                    <a16:creationId xmlns:a16="http://schemas.microsoft.com/office/drawing/2014/main" id="{D2DFA31F-0A88-415D-AB38-B00305CCE757}"/>
                  </a:ext>
                </a:extLst>
              </p:cNvPr>
              <p:cNvSpPr/>
              <p:nvPr userDrawn="1"/>
            </p:nvSpPr>
            <p:spPr bwMode="gray">
              <a:xfrm>
                <a:off x="3726180" y="4259976"/>
                <a:ext cx="720000" cy="720000"/>
              </a:xfrm>
              <a:prstGeom prst="roundRect">
                <a:avLst>
                  <a:gd name="adj" fmla="val 13055"/>
                </a:avLst>
              </a:prstGeom>
              <a:solidFill>
                <a:schemeClr val="bg1"/>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GB" sz="1500" b="1" dirty="0">
                  <a:solidFill>
                    <a:srgbClr val="FFFFFF"/>
                  </a:solidFill>
                  <a:latin typeface="+mj-lt"/>
                  <a:ea typeface="ＭＳ Ｐゴシック" pitchFamily="-108" charset="-128"/>
                  <a:sym typeface="Trebuchet MS" panose="020B0603020202020204" pitchFamily="34" charset="0"/>
                </a:endParaRPr>
              </a:p>
            </p:txBody>
          </p:sp>
          <p:sp>
            <p:nvSpPr>
              <p:cNvPr id="56" name="Freeform 45">
                <a:extLst>
                  <a:ext uri="{FF2B5EF4-FFF2-40B4-BE49-F238E27FC236}">
                    <a16:creationId xmlns:a16="http://schemas.microsoft.com/office/drawing/2014/main" id="{CF3EBD33-9521-4936-B037-AD047AAB9518}"/>
                  </a:ext>
                </a:extLst>
              </p:cNvPr>
              <p:cNvSpPr>
                <a:spLocks/>
              </p:cNvSpPr>
              <p:nvPr userDrawn="1"/>
            </p:nvSpPr>
            <p:spPr bwMode="auto">
              <a:xfrm>
                <a:off x="4030943" y="4361796"/>
                <a:ext cx="289705" cy="618179"/>
              </a:xfrm>
              <a:custGeom>
                <a:avLst/>
                <a:gdLst>
                  <a:gd name="T0" fmla="*/ 127 w 588"/>
                  <a:gd name="T1" fmla="*/ 1260 h 1260"/>
                  <a:gd name="T2" fmla="*/ 388 w 588"/>
                  <a:gd name="T3" fmla="*/ 1260 h 1260"/>
                  <a:gd name="T4" fmla="*/ 388 w 588"/>
                  <a:gd name="T5" fmla="*/ 630 h 1260"/>
                  <a:gd name="T6" fmla="*/ 563 w 588"/>
                  <a:gd name="T7" fmla="*/ 630 h 1260"/>
                  <a:gd name="T8" fmla="*/ 588 w 588"/>
                  <a:gd name="T9" fmla="*/ 417 h 1260"/>
                  <a:gd name="T10" fmla="*/ 389 w 588"/>
                  <a:gd name="T11" fmla="*/ 417 h 1260"/>
                  <a:gd name="T12" fmla="*/ 389 w 588"/>
                  <a:gd name="T13" fmla="*/ 272 h 1260"/>
                  <a:gd name="T14" fmla="*/ 446 w 588"/>
                  <a:gd name="T15" fmla="*/ 221 h 1260"/>
                  <a:gd name="T16" fmla="*/ 588 w 588"/>
                  <a:gd name="T17" fmla="*/ 221 h 1260"/>
                  <a:gd name="T18" fmla="*/ 588 w 588"/>
                  <a:gd name="T19" fmla="*/ 0 h 1260"/>
                  <a:gd name="T20" fmla="*/ 395 w 588"/>
                  <a:gd name="T21" fmla="*/ 0 h 1260"/>
                  <a:gd name="T22" fmla="*/ 127 w 588"/>
                  <a:gd name="T23" fmla="*/ 244 h 1260"/>
                  <a:gd name="T24" fmla="*/ 127 w 588"/>
                  <a:gd name="T25" fmla="*/ 418 h 1260"/>
                  <a:gd name="T26" fmla="*/ 0 w 588"/>
                  <a:gd name="T27" fmla="*/ 418 h 1260"/>
                  <a:gd name="T28" fmla="*/ 0 w 588"/>
                  <a:gd name="T29" fmla="*/ 630 h 1260"/>
                  <a:gd name="T30" fmla="*/ 127 w 588"/>
                  <a:gd name="T31" fmla="*/ 630 h 1260"/>
                  <a:gd name="T32" fmla="*/ 127 w 588"/>
                  <a:gd name="T33" fmla="*/ 1260 h 1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8" h="1260">
                    <a:moveTo>
                      <a:pt x="127" y="1260"/>
                    </a:moveTo>
                    <a:cubicBezTo>
                      <a:pt x="388" y="1260"/>
                      <a:pt x="388" y="1260"/>
                      <a:pt x="388" y="1260"/>
                    </a:cubicBezTo>
                    <a:cubicBezTo>
                      <a:pt x="388" y="630"/>
                      <a:pt x="388" y="630"/>
                      <a:pt x="388" y="630"/>
                    </a:cubicBezTo>
                    <a:cubicBezTo>
                      <a:pt x="563" y="630"/>
                      <a:pt x="563" y="630"/>
                      <a:pt x="563" y="630"/>
                    </a:cubicBezTo>
                    <a:cubicBezTo>
                      <a:pt x="563" y="630"/>
                      <a:pt x="580" y="528"/>
                      <a:pt x="588" y="417"/>
                    </a:cubicBezTo>
                    <a:cubicBezTo>
                      <a:pt x="389" y="417"/>
                      <a:pt x="389" y="417"/>
                      <a:pt x="389" y="417"/>
                    </a:cubicBezTo>
                    <a:cubicBezTo>
                      <a:pt x="389" y="272"/>
                      <a:pt x="389" y="272"/>
                      <a:pt x="389" y="272"/>
                    </a:cubicBezTo>
                    <a:cubicBezTo>
                      <a:pt x="389" y="250"/>
                      <a:pt x="418" y="221"/>
                      <a:pt x="446" y="221"/>
                    </a:cubicBezTo>
                    <a:cubicBezTo>
                      <a:pt x="588" y="221"/>
                      <a:pt x="588" y="221"/>
                      <a:pt x="588" y="221"/>
                    </a:cubicBezTo>
                    <a:cubicBezTo>
                      <a:pt x="588" y="0"/>
                      <a:pt x="588" y="0"/>
                      <a:pt x="588" y="0"/>
                    </a:cubicBezTo>
                    <a:cubicBezTo>
                      <a:pt x="395" y="0"/>
                      <a:pt x="395" y="0"/>
                      <a:pt x="395" y="0"/>
                    </a:cubicBezTo>
                    <a:cubicBezTo>
                      <a:pt x="121" y="0"/>
                      <a:pt x="127" y="213"/>
                      <a:pt x="127" y="244"/>
                    </a:cubicBezTo>
                    <a:cubicBezTo>
                      <a:pt x="127" y="418"/>
                      <a:pt x="127" y="418"/>
                      <a:pt x="127" y="418"/>
                    </a:cubicBezTo>
                    <a:cubicBezTo>
                      <a:pt x="0" y="418"/>
                      <a:pt x="0" y="418"/>
                      <a:pt x="0" y="418"/>
                    </a:cubicBezTo>
                    <a:cubicBezTo>
                      <a:pt x="0" y="630"/>
                      <a:pt x="0" y="630"/>
                      <a:pt x="0" y="630"/>
                    </a:cubicBezTo>
                    <a:cubicBezTo>
                      <a:pt x="127" y="630"/>
                      <a:pt x="127" y="630"/>
                      <a:pt x="127" y="630"/>
                    </a:cubicBezTo>
                    <a:cubicBezTo>
                      <a:pt x="127" y="1260"/>
                      <a:pt x="127" y="1260"/>
                      <a:pt x="127" y="126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73" name="Group 72">
              <a:extLst>
                <a:ext uri="{FF2B5EF4-FFF2-40B4-BE49-F238E27FC236}">
                  <a16:creationId xmlns:a16="http://schemas.microsoft.com/office/drawing/2014/main" id="{E3A241EE-2339-4ACF-8572-72EF268530B4}"/>
                </a:ext>
              </a:extLst>
            </p:cNvPr>
            <p:cNvGrpSpPr/>
            <p:nvPr userDrawn="1"/>
          </p:nvGrpSpPr>
          <p:grpSpPr>
            <a:xfrm>
              <a:off x="4992916" y="5591894"/>
              <a:ext cx="316227" cy="316227"/>
              <a:chOff x="4541652" y="4259976"/>
              <a:chExt cx="720000" cy="720000"/>
            </a:xfrm>
          </p:grpSpPr>
          <p:sp>
            <p:nvSpPr>
              <p:cNvPr id="58" name="Rectangle: Rounded Corners 57">
                <a:extLst>
                  <a:ext uri="{FF2B5EF4-FFF2-40B4-BE49-F238E27FC236}">
                    <a16:creationId xmlns:a16="http://schemas.microsoft.com/office/drawing/2014/main" id="{3D6B4314-136E-488F-ADA6-185D2498AA6D}"/>
                  </a:ext>
                </a:extLst>
              </p:cNvPr>
              <p:cNvSpPr/>
              <p:nvPr userDrawn="1"/>
            </p:nvSpPr>
            <p:spPr bwMode="gray">
              <a:xfrm>
                <a:off x="4541652" y="4259976"/>
                <a:ext cx="720000" cy="720000"/>
              </a:xfrm>
              <a:prstGeom prst="roundRect">
                <a:avLst>
                  <a:gd name="adj" fmla="val 13055"/>
                </a:avLst>
              </a:prstGeom>
              <a:solidFill>
                <a:schemeClr val="bg1"/>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GB" sz="1500" b="1" dirty="0">
                  <a:solidFill>
                    <a:srgbClr val="FFFFFF"/>
                  </a:solidFill>
                  <a:latin typeface="+mj-lt"/>
                  <a:ea typeface="ＭＳ Ｐゴシック" pitchFamily="-108" charset="-128"/>
                  <a:sym typeface="Trebuchet MS" panose="020B0603020202020204" pitchFamily="34" charset="0"/>
                </a:endParaRPr>
              </a:p>
            </p:txBody>
          </p:sp>
          <p:sp>
            <p:nvSpPr>
              <p:cNvPr id="62" name="Freeform 49">
                <a:extLst>
                  <a:ext uri="{FF2B5EF4-FFF2-40B4-BE49-F238E27FC236}">
                    <a16:creationId xmlns:a16="http://schemas.microsoft.com/office/drawing/2014/main" id="{D8EBC3CF-0608-47CA-8987-9846233B126A}"/>
                  </a:ext>
                </a:extLst>
              </p:cNvPr>
              <p:cNvSpPr>
                <a:spLocks/>
              </p:cNvSpPr>
              <p:nvPr userDrawn="1"/>
            </p:nvSpPr>
            <p:spPr bwMode="auto">
              <a:xfrm>
                <a:off x="4637199" y="4404817"/>
                <a:ext cx="528907" cy="430318"/>
              </a:xfrm>
              <a:custGeom>
                <a:avLst/>
                <a:gdLst>
                  <a:gd name="T0" fmla="*/ 505 w 1606"/>
                  <a:gd name="T1" fmla="*/ 1306 h 1306"/>
                  <a:gd name="T2" fmla="*/ 1442 w 1606"/>
                  <a:gd name="T3" fmla="*/ 368 h 1306"/>
                  <a:gd name="T4" fmla="*/ 1442 w 1606"/>
                  <a:gd name="T5" fmla="*/ 326 h 1306"/>
                  <a:gd name="T6" fmla="*/ 1606 w 1606"/>
                  <a:gd name="T7" fmla="*/ 155 h 1306"/>
                  <a:gd name="T8" fmla="*/ 1417 w 1606"/>
                  <a:gd name="T9" fmla="*/ 207 h 1306"/>
                  <a:gd name="T10" fmla="*/ 1562 w 1606"/>
                  <a:gd name="T11" fmla="*/ 25 h 1306"/>
                  <a:gd name="T12" fmla="*/ 1352 w 1606"/>
                  <a:gd name="T13" fmla="*/ 105 h 1306"/>
                  <a:gd name="T14" fmla="*/ 1112 w 1606"/>
                  <a:gd name="T15" fmla="*/ 0 h 1306"/>
                  <a:gd name="T16" fmla="*/ 782 w 1606"/>
                  <a:gd name="T17" fmla="*/ 330 h 1306"/>
                  <a:gd name="T18" fmla="*/ 791 w 1606"/>
                  <a:gd name="T19" fmla="*/ 405 h 1306"/>
                  <a:gd name="T20" fmla="*/ 112 w 1606"/>
                  <a:gd name="T21" fmla="*/ 61 h 1306"/>
                  <a:gd name="T22" fmla="*/ 67 w 1606"/>
                  <a:gd name="T23" fmla="*/ 226 h 1306"/>
                  <a:gd name="T24" fmla="*/ 214 w 1606"/>
                  <a:gd name="T25" fmla="*/ 501 h 1306"/>
                  <a:gd name="T26" fmla="*/ 65 w 1606"/>
                  <a:gd name="T27" fmla="*/ 459 h 1306"/>
                  <a:gd name="T28" fmla="*/ 65 w 1606"/>
                  <a:gd name="T29" fmla="*/ 464 h 1306"/>
                  <a:gd name="T30" fmla="*/ 329 w 1606"/>
                  <a:gd name="T31" fmla="*/ 787 h 1306"/>
                  <a:gd name="T32" fmla="*/ 242 w 1606"/>
                  <a:gd name="T33" fmla="*/ 798 h 1306"/>
                  <a:gd name="T34" fmla="*/ 180 w 1606"/>
                  <a:gd name="T35" fmla="*/ 792 h 1306"/>
                  <a:gd name="T36" fmla="*/ 488 w 1606"/>
                  <a:gd name="T37" fmla="*/ 1021 h 1306"/>
                  <a:gd name="T38" fmla="*/ 79 w 1606"/>
                  <a:gd name="T39" fmla="*/ 1162 h 1306"/>
                  <a:gd name="T40" fmla="*/ 0 w 1606"/>
                  <a:gd name="T41" fmla="*/ 1158 h 1306"/>
                  <a:gd name="T42" fmla="*/ 505 w 1606"/>
                  <a:gd name="T43" fmla="*/ 1306 h 1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06" h="1306">
                    <a:moveTo>
                      <a:pt x="505" y="1306"/>
                    </a:moveTo>
                    <a:cubicBezTo>
                      <a:pt x="1111" y="1306"/>
                      <a:pt x="1442" y="803"/>
                      <a:pt x="1442" y="368"/>
                    </a:cubicBezTo>
                    <a:cubicBezTo>
                      <a:pt x="1442" y="354"/>
                      <a:pt x="1442" y="340"/>
                      <a:pt x="1442" y="326"/>
                    </a:cubicBezTo>
                    <a:cubicBezTo>
                      <a:pt x="1506" y="279"/>
                      <a:pt x="1562" y="221"/>
                      <a:pt x="1606" y="155"/>
                    </a:cubicBezTo>
                    <a:cubicBezTo>
                      <a:pt x="1547" y="181"/>
                      <a:pt x="1483" y="199"/>
                      <a:pt x="1417" y="207"/>
                    </a:cubicBezTo>
                    <a:cubicBezTo>
                      <a:pt x="1485" y="166"/>
                      <a:pt x="1537" y="102"/>
                      <a:pt x="1562" y="25"/>
                    </a:cubicBezTo>
                    <a:cubicBezTo>
                      <a:pt x="1498" y="62"/>
                      <a:pt x="1427" y="90"/>
                      <a:pt x="1352" y="105"/>
                    </a:cubicBezTo>
                    <a:cubicBezTo>
                      <a:pt x="1292" y="41"/>
                      <a:pt x="1207" y="0"/>
                      <a:pt x="1112" y="0"/>
                    </a:cubicBezTo>
                    <a:cubicBezTo>
                      <a:pt x="930" y="0"/>
                      <a:pt x="782" y="148"/>
                      <a:pt x="782" y="330"/>
                    </a:cubicBezTo>
                    <a:cubicBezTo>
                      <a:pt x="782" y="356"/>
                      <a:pt x="785" y="381"/>
                      <a:pt x="791" y="405"/>
                    </a:cubicBezTo>
                    <a:cubicBezTo>
                      <a:pt x="517" y="391"/>
                      <a:pt x="274" y="260"/>
                      <a:pt x="112" y="61"/>
                    </a:cubicBezTo>
                    <a:cubicBezTo>
                      <a:pt x="84" y="109"/>
                      <a:pt x="67" y="166"/>
                      <a:pt x="67" y="226"/>
                    </a:cubicBezTo>
                    <a:cubicBezTo>
                      <a:pt x="67" y="341"/>
                      <a:pt x="125" y="442"/>
                      <a:pt x="214" y="501"/>
                    </a:cubicBezTo>
                    <a:cubicBezTo>
                      <a:pt x="160" y="499"/>
                      <a:pt x="109" y="484"/>
                      <a:pt x="65" y="459"/>
                    </a:cubicBezTo>
                    <a:cubicBezTo>
                      <a:pt x="65" y="461"/>
                      <a:pt x="65" y="462"/>
                      <a:pt x="65" y="464"/>
                    </a:cubicBezTo>
                    <a:cubicBezTo>
                      <a:pt x="65" y="623"/>
                      <a:pt x="178" y="756"/>
                      <a:pt x="329" y="787"/>
                    </a:cubicBezTo>
                    <a:cubicBezTo>
                      <a:pt x="301" y="794"/>
                      <a:pt x="272" y="798"/>
                      <a:pt x="242" y="798"/>
                    </a:cubicBezTo>
                    <a:cubicBezTo>
                      <a:pt x="221" y="798"/>
                      <a:pt x="200" y="796"/>
                      <a:pt x="180" y="792"/>
                    </a:cubicBezTo>
                    <a:cubicBezTo>
                      <a:pt x="222" y="923"/>
                      <a:pt x="344" y="1018"/>
                      <a:pt x="488" y="1021"/>
                    </a:cubicBezTo>
                    <a:cubicBezTo>
                      <a:pt x="375" y="1109"/>
                      <a:pt x="233" y="1162"/>
                      <a:pt x="79" y="1162"/>
                    </a:cubicBezTo>
                    <a:cubicBezTo>
                      <a:pt x="52" y="1162"/>
                      <a:pt x="26" y="1161"/>
                      <a:pt x="0" y="1158"/>
                    </a:cubicBezTo>
                    <a:cubicBezTo>
                      <a:pt x="146" y="1251"/>
                      <a:pt x="319" y="1306"/>
                      <a:pt x="505" y="1306"/>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74" name="Group 73">
              <a:extLst>
                <a:ext uri="{FF2B5EF4-FFF2-40B4-BE49-F238E27FC236}">
                  <a16:creationId xmlns:a16="http://schemas.microsoft.com/office/drawing/2014/main" id="{6E33FB9A-C97A-469B-B3CD-2B6D2A58E6B6}"/>
                </a:ext>
              </a:extLst>
            </p:cNvPr>
            <p:cNvGrpSpPr/>
            <p:nvPr userDrawn="1"/>
          </p:nvGrpSpPr>
          <p:grpSpPr>
            <a:xfrm>
              <a:off x="4216820" y="5591894"/>
              <a:ext cx="316227" cy="316227"/>
              <a:chOff x="5361249" y="4259976"/>
              <a:chExt cx="720000" cy="720000"/>
            </a:xfrm>
          </p:grpSpPr>
          <p:sp>
            <p:nvSpPr>
              <p:cNvPr id="63" name="Rectangle: Rounded Corners 62">
                <a:extLst>
                  <a:ext uri="{FF2B5EF4-FFF2-40B4-BE49-F238E27FC236}">
                    <a16:creationId xmlns:a16="http://schemas.microsoft.com/office/drawing/2014/main" id="{760909F1-50D0-4689-A8B7-0421FBE6D7CB}"/>
                  </a:ext>
                </a:extLst>
              </p:cNvPr>
              <p:cNvSpPr/>
              <p:nvPr userDrawn="1"/>
            </p:nvSpPr>
            <p:spPr bwMode="gray">
              <a:xfrm>
                <a:off x="5361249" y="4259976"/>
                <a:ext cx="720000" cy="720000"/>
              </a:xfrm>
              <a:prstGeom prst="roundRect">
                <a:avLst>
                  <a:gd name="adj" fmla="val 13055"/>
                </a:avLst>
              </a:prstGeom>
              <a:solidFill>
                <a:schemeClr val="bg1"/>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GB" sz="1500" b="1" dirty="0">
                  <a:solidFill>
                    <a:srgbClr val="FFFFFF"/>
                  </a:solidFill>
                  <a:latin typeface="+mj-lt"/>
                  <a:ea typeface="ＭＳ Ｐゴシック" pitchFamily="-108" charset="-128"/>
                  <a:sym typeface="Trebuchet MS" panose="020B0603020202020204" pitchFamily="34" charset="0"/>
                </a:endParaRPr>
              </a:p>
            </p:txBody>
          </p:sp>
          <p:grpSp>
            <p:nvGrpSpPr>
              <p:cNvPr id="69" name="Group 68">
                <a:extLst>
                  <a:ext uri="{FF2B5EF4-FFF2-40B4-BE49-F238E27FC236}">
                    <a16:creationId xmlns:a16="http://schemas.microsoft.com/office/drawing/2014/main" id="{C31F5DAD-4B4B-4E45-9B99-6AA0E61658D3}"/>
                  </a:ext>
                </a:extLst>
              </p:cNvPr>
              <p:cNvGrpSpPr/>
              <p:nvPr userDrawn="1"/>
            </p:nvGrpSpPr>
            <p:grpSpPr>
              <a:xfrm>
                <a:off x="5475858" y="4374585"/>
                <a:ext cx="490783" cy="490783"/>
                <a:chOff x="5929143" y="4019579"/>
                <a:chExt cx="317500" cy="317500"/>
              </a:xfrm>
              <a:solidFill>
                <a:schemeClr val="accent1"/>
              </a:solidFill>
            </p:grpSpPr>
            <p:sp>
              <p:nvSpPr>
                <p:cNvPr id="67" name="Freeform 53">
                  <a:extLst>
                    <a:ext uri="{FF2B5EF4-FFF2-40B4-BE49-F238E27FC236}">
                      <a16:creationId xmlns:a16="http://schemas.microsoft.com/office/drawing/2014/main" id="{9861ADD5-8A96-4A0D-9F2D-C58A2B626505}"/>
                    </a:ext>
                  </a:extLst>
                </p:cNvPr>
                <p:cNvSpPr>
                  <a:spLocks noEditPoints="1"/>
                </p:cNvSpPr>
                <p:nvPr userDrawn="1"/>
              </p:nvSpPr>
              <p:spPr bwMode="auto">
                <a:xfrm>
                  <a:off x="5929143" y="4019579"/>
                  <a:ext cx="74613" cy="317500"/>
                </a:xfrm>
                <a:custGeom>
                  <a:avLst/>
                  <a:gdLst>
                    <a:gd name="T0" fmla="*/ 1 w 24"/>
                    <a:gd name="T1" fmla="*/ 34 h 103"/>
                    <a:gd name="T2" fmla="*/ 23 w 24"/>
                    <a:gd name="T3" fmla="*/ 34 h 103"/>
                    <a:gd name="T4" fmla="*/ 23 w 24"/>
                    <a:gd name="T5" fmla="*/ 103 h 103"/>
                    <a:gd name="T6" fmla="*/ 1 w 24"/>
                    <a:gd name="T7" fmla="*/ 103 h 103"/>
                    <a:gd name="T8" fmla="*/ 1 w 24"/>
                    <a:gd name="T9" fmla="*/ 34 h 103"/>
                    <a:gd name="T10" fmla="*/ 12 w 24"/>
                    <a:gd name="T11" fmla="*/ 0 h 103"/>
                    <a:gd name="T12" fmla="*/ 24 w 24"/>
                    <a:gd name="T13" fmla="*/ 12 h 103"/>
                    <a:gd name="T14" fmla="*/ 12 w 24"/>
                    <a:gd name="T15" fmla="*/ 25 h 103"/>
                    <a:gd name="T16" fmla="*/ 0 w 24"/>
                    <a:gd name="T17" fmla="*/ 12 h 103"/>
                    <a:gd name="T18" fmla="*/ 12 w 24"/>
                    <a:gd name="T1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103">
                      <a:moveTo>
                        <a:pt x="1" y="34"/>
                      </a:moveTo>
                      <a:cubicBezTo>
                        <a:pt x="23" y="34"/>
                        <a:pt x="23" y="34"/>
                        <a:pt x="23" y="34"/>
                      </a:cubicBezTo>
                      <a:cubicBezTo>
                        <a:pt x="23" y="103"/>
                        <a:pt x="23" y="103"/>
                        <a:pt x="23" y="103"/>
                      </a:cubicBezTo>
                      <a:cubicBezTo>
                        <a:pt x="1" y="103"/>
                        <a:pt x="1" y="103"/>
                        <a:pt x="1" y="103"/>
                      </a:cubicBezTo>
                      <a:lnTo>
                        <a:pt x="1" y="34"/>
                      </a:lnTo>
                      <a:close/>
                      <a:moveTo>
                        <a:pt x="12" y="0"/>
                      </a:moveTo>
                      <a:cubicBezTo>
                        <a:pt x="19" y="0"/>
                        <a:pt x="24" y="5"/>
                        <a:pt x="24" y="12"/>
                      </a:cubicBezTo>
                      <a:cubicBezTo>
                        <a:pt x="24" y="19"/>
                        <a:pt x="19" y="25"/>
                        <a:pt x="12" y="25"/>
                      </a:cubicBezTo>
                      <a:cubicBezTo>
                        <a:pt x="5" y="25"/>
                        <a:pt x="0" y="19"/>
                        <a:pt x="0" y="12"/>
                      </a:cubicBezTo>
                      <a:cubicBezTo>
                        <a:pt x="0" y="5"/>
                        <a:pt x="5" y="0"/>
                        <a:pt x="1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8" name="Freeform 54">
                  <a:extLst>
                    <a:ext uri="{FF2B5EF4-FFF2-40B4-BE49-F238E27FC236}">
                      <a16:creationId xmlns:a16="http://schemas.microsoft.com/office/drawing/2014/main" id="{95A7E54B-201C-45EC-9500-028E3B120744}"/>
                    </a:ext>
                  </a:extLst>
                </p:cNvPr>
                <p:cNvSpPr>
                  <a:spLocks/>
                </p:cNvSpPr>
                <p:nvPr userDrawn="1"/>
              </p:nvSpPr>
              <p:spPr bwMode="auto">
                <a:xfrm>
                  <a:off x="6040268" y="4118004"/>
                  <a:ext cx="206375" cy="219075"/>
                </a:xfrm>
                <a:custGeom>
                  <a:avLst/>
                  <a:gdLst>
                    <a:gd name="T0" fmla="*/ 0 w 67"/>
                    <a:gd name="T1" fmla="*/ 2 h 71"/>
                    <a:gd name="T2" fmla="*/ 21 w 67"/>
                    <a:gd name="T3" fmla="*/ 2 h 71"/>
                    <a:gd name="T4" fmla="*/ 21 w 67"/>
                    <a:gd name="T5" fmla="*/ 11 h 71"/>
                    <a:gd name="T6" fmla="*/ 21 w 67"/>
                    <a:gd name="T7" fmla="*/ 11 h 71"/>
                    <a:gd name="T8" fmla="*/ 41 w 67"/>
                    <a:gd name="T9" fmla="*/ 0 h 71"/>
                    <a:gd name="T10" fmla="*/ 67 w 67"/>
                    <a:gd name="T11" fmla="*/ 33 h 71"/>
                    <a:gd name="T12" fmla="*/ 67 w 67"/>
                    <a:gd name="T13" fmla="*/ 71 h 71"/>
                    <a:gd name="T14" fmla="*/ 45 w 67"/>
                    <a:gd name="T15" fmla="*/ 71 h 71"/>
                    <a:gd name="T16" fmla="*/ 45 w 67"/>
                    <a:gd name="T17" fmla="*/ 37 h 71"/>
                    <a:gd name="T18" fmla="*/ 34 w 67"/>
                    <a:gd name="T19" fmla="*/ 19 h 71"/>
                    <a:gd name="T20" fmla="*/ 21 w 67"/>
                    <a:gd name="T21" fmla="*/ 37 h 71"/>
                    <a:gd name="T22" fmla="*/ 21 w 67"/>
                    <a:gd name="T23" fmla="*/ 71 h 71"/>
                    <a:gd name="T24" fmla="*/ 0 w 67"/>
                    <a:gd name="T25" fmla="*/ 71 h 71"/>
                    <a:gd name="T26" fmla="*/ 0 w 67"/>
                    <a:gd name="T27" fmla="*/ 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71">
                      <a:moveTo>
                        <a:pt x="0" y="2"/>
                      </a:moveTo>
                      <a:cubicBezTo>
                        <a:pt x="21" y="2"/>
                        <a:pt x="21" y="2"/>
                        <a:pt x="21" y="2"/>
                      </a:cubicBezTo>
                      <a:cubicBezTo>
                        <a:pt x="21" y="11"/>
                        <a:pt x="21" y="11"/>
                        <a:pt x="21" y="11"/>
                      </a:cubicBezTo>
                      <a:cubicBezTo>
                        <a:pt x="21" y="11"/>
                        <a:pt x="21" y="11"/>
                        <a:pt x="21" y="11"/>
                      </a:cubicBezTo>
                      <a:cubicBezTo>
                        <a:pt x="24" y="6"/>
                        <a:pt x="31" y="0"/>
                        <a:pt x="41" y="0"/>
                      </a:cubicBezTo>
                      <a:cubicBezTo>
                        <a:pt x="63" y="0"/>
                        <a:pt x="67" y="15"/>
                        <a:pt x="67" y="33"/>
                      </a:cubicBezTo>
                      <a:cubicBezTo>
                        <a:pt x="67" y="71"/>
                        <a:pt x="67" y="71"/>
                        <a:pt x="67" y="71"/>
                      </a:cubicBezTo>
                      <a:cubicBezTo>
                        <a:pt x="45" y="71"/>
                        <a:pt x="45" y="71"/>
                        <a:pt x="45" y="71"/>
                      </a:cubicBezTo>
                      <a:cubicBezTo>
                        <a:pt x="45" y="37"/>
                        <a:pt x="45" y="37"/>
                        <a:pt x="45" y="37"/>
                      </a:cubicBezTo>
                      <a:cubicBezTo>
                        <a:pt x="45" y="29"/>
                        <a:pt x="45" y="19"/>
                        <a:pt x="34" y="19"/>
                      </a:cubicBezTo>
                      <a:cubicBezTo>
                        <a:pt x="23" y="19"/>
                        <a:pt x="21" y="28"/>
                        <a:pt x="21" y="37"/>
                      </a:cubicBezTo>
                      <a:cubicBezTo>
                        <a:pt x="21" y="71"/>
                        <a:pt x="21" y="71"/>
                        <a:pt x="21" y="71"/>
                      </a:cubicBezTo>
                      <a:cubicBezTo>
                        <a:pt x="0" y="71"/>
                        <a:pt x="0" y="71"/>
                        <a:pt x="0" y="71"/>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nvGrpSpPr>
            <p:cNvPr id="80" name="Group 79">
              <a:extLst>
                <a:ext uri="{FF2B5EF4-FFF2-40B4-BE49-F238E27FC236}">
                  <a16:creationId xmlns:a16="http://schemas.microsoft.com/office/drawing/2014/main" id="{31194259-CEA7-4B92-A271-C55E0A015373}"/>
                </a:ext>
              </a:extLst>
            </p:cNvPr>
            <p:cNvGrpSpPr/>
            <p:nvPr userDrawn="1"/>
          </p:nvGrpSpPr>
          <p:grpSpPr>
            <a:xfrm>
              <a:off x="5380964" y="5591894"/>
              <a:ext cx="316227" cy="316227"/>
              <a:chOff x="6175975" y="4259976"/>
              <a:chExt cx="720000" cy="720000"/>
            </a:xfrm>
          </p:grpSpPr>
          <p:sp>
            <p:nvSpPr>
              <p:cNvPr id="71" name="Rectangle: Rounded Corners 70">
                <a:extLst>
                  <a:ext uri="{FF2B5EF4-FFF2-40B4-BE49-F238E27FC236}">
                    <a16:creationId xmlns:a16="http://schemas.microsoft.com/office/drawing/2014/main" id="{89B2624D-369B-4DF6-ACDA-338759375ADB}"/>
                  </a:ext>
                </a:extLst>
              </p:cNvPr>
              <p:cNvSpPr/>
              <p:nvPr userDrawn="1"/>
            </p:nvSpPr>
            <p:spPr bwMode="gray">
              <a:xfrm>
                <a:off x="6175975" y="4259976"/>
                <a:ext cx="720000" cy="720000"/>
              </a:xfrm>
              <a:prstGeom prst="roundRect">
                <a:avLst>
                  <a:gd name="adj" fmla="val 13055"/>
                </a:avLst>
              </a:prstGeom>
              <a:solidFill>
                <a:schemeClr val="bg1"/>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GB" sz="1500" b="1" dirty="0">
                  <a:solidFill>
                    <a:srgbClr val="FFFFFF"/>
                  </a:solidFill>
                  <a:latin typeface="+mj-lt"/>
                  <a:ea typeface="ＭＳ Ｐゴシック" pitchFamily="-108" charset="-128"/>
                  <a:sym typeface="Trebuchet MS" panose="020B0603020202020204" pitchFamily="34" charset="0"/>
                </a:endParaRPr>
              </a:p>
            </p:txBody>
          </p:sp>
          <p:grpSp>
            <p:nvGrpSpPr>
              <p:cNvPr id="79" name="Group 78">
                <a:extLst>
                  <a:ext uri="{FF2B5EF4-FFF2-40B4-BE49-F238E27FC236}">
                    <a16:creationId xmlns:a16="http://schemas.microsoft.com/office/drawing/2014/main" id="{40B11CF6-739B-4889-8AFD-3569048FE9C7}"/>
                  </a:ext>
                </a:extLst>
              </p:cNvPr>
              <p:cNvGrpSpPr/>
              <p:nvPr userDrawn="1"/>
            </p:nvGrpSpPr>
            <p:grpSpPr>
              <a:xfrm>
                <a:off x="6316594" y="4465613"/>
                <a:ext cx="438763" cy="308726"/>
                <a:chOff x="4168775" y="2878138"/>
                <a:chExt cx="1574800" cy="1108075"/>
              </a:xfrm>
            </p:grpSpPr>
            <p:sp>
              <p:nvSpPr>
                <p:cNvPr id="77" name="Freeform 58">
                  <a:extLst>
                    <a:ext uri="{FF2B5EF4-FFF2-40B4-BE49-F238E27FC236}">
                      <a16:creationId xmlns:a16="http://schemas.microsoft.com/office/drawing/2014/main" id="{C0B06F32-9C43-4BED-9090-D52FAC6BDCA5}"/>
                    </a:ext>
                  </a:extLst>
                </p:cNvPr>
                <p:cNvSpPr>
                  <a:spLocks/>
                </p:cNvSpPr>
                <p:nvPr userDrawn="1"/>
              </p:nvSpPr>
              <p:spPr bwMode="auto">
                <a:xfrm>
                  <a:off x="4168775" y="2878138"/>
                  <a:ext cx="1574800" cy="1108075"/>
                </a:xfrm>
                <a:custGeom>
                  <a:avLst/>
                  <a:gdLst>
                    <a:gd name="T0" fmla="*/ 511 w 522"/>
                    <a:gd name="T1" fmla="*/ 57 h 366"/>
                    <a:gd name="T2" fmla="*/ 465 w 522"/>
                    <a:gd name="T3" fmla="*/ 11 h 366"/>
                    <a:gd name="T4" fmla="*/ 261 w 522"/>
                    <a:gd name="T5" fmla="*/ 0 h 366"/>
                    <a:gd name="T6" fmla="*/ 57 w 522"/>
                    <a:gd name="T7" fmla="*/ 11 h 366"/>
                    <a:gd name="T8" fmla="*/ 11 w 522"/>
                    <a:gd name="T9" fmla="*/ 57 h 366"/>
                    <a:gd name="T10" fmla="*/ 0 w 522"/>
                    <a:gd name="T11" fmla="*/ 183 h 366"/>
                    <a:gd name="T12" fmla="*/ 11 w 522"/>
                    <a:gd name="T13" fmla="*/ 309 h 366"/>
                    <a:gd name="T14" fmla="*/ 57 w 522"/>
                    <a:gd name="T15" fmla="*/ 355 h 366"/>
                    <a:gd name="T16" fmla="*/ 261 w 522"/>
                    <a:gd name="T17" fmla="*/ 366 h 366"/>
                    <a:gd name="T18" fmla="*/ 465 w 522"/>
                    <a:gd name="T19" fmla="*/ 355 h 366"/>
                    <a:gd name="T20" fmla="*/ 511 w 522"/>
                    <a:gd name="T21" fmla="*/ 309 h 366"/>
                    <a:gd name="T22" fmla="*/ 522 w 522"/>
                    <a:gd name="T23" fmla="*/ 183 h 366"/>
                    <a:gd name="T24" fmla="*/ 511 w 522"/>
                    <a:gd name="T25" fmla="*/ 57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2" h="366">
                      <a:moveTo>
                        <a:pt x="511" y="57"/>
                      </a:moveTo>
                      <a:cubicBezTo>
                        <a:pt x="505" y="35"/>
                        <a:pt x="488" y="17"/>
                        <a:pt x="465" y="11"/>
                      </a:cubicBezTo>
                      <a:cubicBezTo>
                        <a:pt x="424" y="0"/>
                        <a:pt x="261" y="0"/>
                        <a:pt x="261" y="0"/>
                      </a:cubicBezTo>
                      <a:cubicBezTo>
                        <a:pt x="261" y="0"/>
                        <a:pt x="98" y="0"/>
                        <a:pt x="57" y="11"/>
                      </a:cubicBezTo>
                      <a:cubicBezTo>
                        <a:pt x="34" y="17"/>
                        <a:pt x="17" y="35"/>
                        <a:pt x="11" y="57"/>
                      </a:cubicBezTo>
                      <a:cubicBezTo>
                        <a:pt x="0" y="98"/>
                        <a:pt x="0" y="183"/>
                        <a:pt x="0" y="183"/>
                      </a:cubicBezTo>
                      <a:cubicBezTo>
                        <a:pt x="0" y="183"/>
                        <a:pt x="0" y="268"/>
                        <a:pt x="11" y="309"/>
                      </a:cubicBezTo>
                      <a:cubicBezTo>
                        <a:pt x="17" y="331"/>
                        <a:pt x="34" y="349"/>
                        <a:pt x="57" y="355"/>
                      </a:cubicBezTo>
                      <a:cubicBezTo>
                        <a:pt x="98" y="366"/>
                        <a:pt x="261" y="366"/>
                        <a:pt x="261" y="366"/>
                      </a:cubicBezTo>
                      <a:cubicBezTo>
                        <a:pt x="261" y="366"/>
                        <a:pt x="424" y="366"/>
                        <a:pt x="465" y="355"/>
                      </a:cubicBezTo>
                      <a:cubicBezTo>
                        <a:pt x="488" y="349"/>
                        <a:pt x="505" y="331"/>
                        <a:pt x="511" y="309"/>
                      </a:cubicBezTo>
                      <a:cubicBezTo>
                        <a:pt x="522" y="268"/>
                        <a:pt x="522" y="183"/>
                        <a:pt x="522" y="183"/>
                      </a:cubicBezTo>
                      <a:cubicBezTo>
                        <a:pt x="522" y="183"/>
                        <a:pt x="522" y="98"/>
                        <a:pt x="511" y="5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78" name="Freeform 59">
                  <a:extLst>
                    <a:ext uri="{FF2B5EF4-FFF2-40B4-BE49-F238E27FC236}">
                      <a16:creationId xmlns:a16="http://schemas.microsoft.com/office/drawing/2014/main" id="{7BE8434C-46F6-46D1-BBF6-6F099AB9F97B}"/>
                    </a:ext>
                  </a:extLst>
                </p:cNvPr>
                <p:cNvSpPr>
                  <a:spLocks/>
                </p:cNvSpPr>
                <p:nvPr userDrawn="1"/>
              </p:nvSpPr>
              <p:spPr bwMode="auto">
                <a:xfrm>
                  <a:off x="4799013" y="3195638"/>
                  <a:ext cx="411163" cy="473075"/>
                </a:xfrm>
                <a:custGeom>
                  <a:avLst/>
                  <a:gdLst>
                    <a:gd name="T0" fmla="*/ 0 w 259"/>
                    <a:gd name="T1" fmla="*/ 298 h 298"/>
                    <a:gd name="T2" fmla="*/ 259 w 259"/>
                    <a:gd name="T3" fmla="*/ 149 h 298"/>
                    <a:gd name="T4" fmla="*/ 0 w 259"/>
                    <a:gd name="T5" fmla="*/ 0 h 298"/>
                    <a:gd name="T6" fmla="*/ 0 w 259"/>
                    <a:gd name="T7" fmla="*/ 298 h 298"/>
                  </a:gdLst>
                  <a:ahLst/>
                  <a:cxnLst>
                    <a:cxn ang="0">
                      <a:pos x="T0" y="T1"/>
                    </a:cxn>
                    <a:cxn ang="0">
                      <a:pos x="T2" y="T3"/>
                    </a:cxn>
                    <a:cxn ang="0">
                      <a:pos x="T4" y="T5"/>
                    </a:cxn>
                    <a:cxn ang="0">
                      <a:pos x="T6" y="T7"/>
                    </a:cxn>
                  </a:cxnLst>
                  <a:rect l="0" t="0" r="r" b="b"/>
                  <a:pathLst>
                    <a:path w="259" h="298">
                      <a:moveTo>
                        <a:pt x="0" y="298"/>
                      </a:moveTo>
                      <a:lnTo>
                        <a:pt x="259" y="149"/>
                      </a:lnTo>
                      <a:lnTo>
                        <a:pt x="0" y="0"/>
                      </a:lnTo>
                      <a:lnTo>
                        <a:pt x="0" y="2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spTree>
    <p:extLst>
      <p:ext uri="{BB962C8B-B14F-4D97-AF65-F5344CB8AC3E}">
        <p14:creationId xmlns:p14="http://schemas.microsoft.com/office/powerpoint/2010/main" val="13481029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bwMode="auto">
          <a:xfrm>
            <a:off x="1" y="1"/>
            <a:ext cx="9906000" cy="825949"/>
          </a:xfrm>
          <a:prstGeom prst="rect">
            <a:avLst/>
          </a:prstGeom>
          <a:solidFill>
            <a:srgbClr val="00568A"/>
          </a:solidFill>
          <a:ln w="12700" cap="flat" cmpd="sng" algn="ctr">
            <a:noFill/>
            <a:prstDash val="solid"/>
            <a:round/>
            <a:headEnd type="none" w="med" len="med"/>
            <a:tailEnd type="none" w="med" len="med"/>
          </a:ln>
          <a:effectLst/>
        </p:spPr>
        <p:txBody>
          <a:bodyPr vert="horz" wrap="square" lIns="180000" tIns="46800" rIns="90000" bIns="46800" numCol="1" rtlCol="0" anchor="ctr" anchorCtr="0" compatLnSpc="1">
            <a:prstTxWarp prst="textNoShape">
              <a:avLst/>
            </a:prstTxWarp>
          </a:bodyPr>
          <a:lstStyle/>
          <a:p>
            <a:pPr algn="l"/>
            <a:endParaRPr lang="en-GB" sz="1600" noProof="0" dirty="0">
              <a:solidFill>
                <a:schemeClr val="bg2"/>
              </a:solidFill>
              <a:latin typeface="+mj-lt"/>
            </a:endParaRPr>
          </a:p>
        </p:txBody>
      </p:sp>
      <p:sp>
        <p:nvSpPr>
          <p:cNvPr id="17" name="Freeform 16"/>
          <p:cNvSpPr/>
          <p:nvPr userDrawn="1"/>
        </p:nvSpPr>
        <p:spPr bwMode="auto">
          <a:xfrm flipH="1">
            <a:off x="9267825" y="0"/>
            <a:ext cx="638169" cy="825950"/>
          </a:xfrm>
          <a:custGeom>
            <a:avLst/>
            <a:gdLst>
              <a:gd name="connsiteX0" fmla="*/ 0 w 289082"/>
              <a:gd name="connsiteY0" fmla="*/ 0 h 825950"/>
              <a:gd name="connsiteX1" fmla="*/ 0 w 289082"/>
              <a:gd name="connsiteY1" fmla="*/ 825950 h 825950"/>
              <a:gd name="connsiteX2" fmla="*/ 289082 w 289082"/>
              <a:gd name="connsiteY2" fmla="*/ 825950 h 825950"/>
              <a:gd name="connsiteX3" fmla="*/ 0 w 289082"/>
              <a:gd name="connsiteY3" fmla="*/ 0 h 825950"/>
            </a:gdLst>
            <a:ahLst/>
            <a:cxnLst>
              <a:cxn ang="0">
                <a:pos x="connsiteX0" y="connsiteY0"/>
              </a:cxn>
              <a:cxn ang="0">
                <a:pos x="connsiteX1" y="connsiteY1"/>
              </a:cxn>
              <a:cxn ang="0">
                <a:pos x="connsiteX2" y="connsiteY2"/>
              </a:cxn>
              <a:cxn ang="0">
                <a:pos x="connsiteX3" y="connsiteY3"/>
              </a:cxn>
            </a:cxnLst>
            <a:rect l="l" t="t" r="r" b="b"/>
            <a:pathLst>
              <a:path w="289082" h="825950">
                <a:moveTo>
                  <a:pt x="0" y="0"/>
                </a:moveTo>
                <a:lnTo>
                  <a:pt x="0" y="825950"/>
                </a:lnTo>
                <a:lnTo>
                  <a:pt x="289082" y="825950"/>
                </a:lnTo>
                <a:lnTo>
                  <a:pt x="0" y="0"/>
                </a:lnTo>
                <a:close/>
              </a:path>
            </a:pathLst>
          </a:custGeom>
          <a:solidFill>
            <a:srgbClr val="004B7D"/>
          </a:solidFill>
          <a:ln w="12700"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30000"/>
              </a:spcBef>
              <a:spcAft>
                <a:spcPct val="0"/>
              </a:spcAft>
              <a:buClrTx/>
              <a:buSzPct val="110000"/>
              <a:buFontTx/>
              <a:buNone/>
              <a:tabLst/>
            </a:pPr>
            <a:endParaRPr kumimoji="0" lang="en-GB" sz="1200" b="0" i="0" u="none" strike="noStrike" cap="none" normalizeH="0" baseline="0" noProof="0" dirty="0">
              <a:ln>
                <a:noFill/>
              </a:ln>
              <a:solidFill>
                <a:srgbClr val="000000"/>
              </a:solidFill>
              <a:effectLst/>
              <a:latin typeface="+mj-lt"/>
            </a:endParaRPr>
          </a:p>
        </p:txBody>
      </p:sp>
      <p:sp>
        <p:nvSpPr>
          <p:cNvPr id="113666" name="Rectangle 2"/>
          <p:cNvSpPr>
            <a:spLocks noGrp="1" noChangeArrowheads="1"/>
          </p:cNvSpPr>
          <p:nvPr>
            <p:ph type="title"/>
          </p:nvPr>
        </p:nvSpPr>
        <p:spPr bwMode="auto">
          <a:xfrm>
            <a:off x="304800" y="264543"/>
            <a:ext cx="9296400" cy="296863"/>
          </a:xfrm>
          <a:prstGeom prst="rect">
            <a:avLst/>
          </a:prstGeom>
          <a:noFill/>
          <a:ln w="12700" algn="ctr">
            <a:noFill/>
            <a:miter lim="800000"/>
            <a:headEnd/>
            <a:tailEnd/>
          </a:ln>
          <a:effectLst/>
        </p:spPr>
        <p:txBody>
          <a:bodyPr vert="horz" wrap="square" lIns="0" tIns="38100" rIns="0" bIns="38100" numCol="1" anchor="ctr" anchorCtr="0" compatLnSpc="1">
            <a:prstTxWarp prst="textNoShape">
              <a:avLst/>
            </a:prstTxWarp>
            <a:noAutofit/>
          </a:bodyPr>
          <a:lstStyle/>
          <a:p>
            <a:pPr lvl="0">
              <a:buSzTx/>
            </a:pPr>
            <a:r>
              <a:rPr lang="en-GB" noProof="0" dirty="0"/>
              <a:t>Slide Title 2</a:t>
            </a:r>
          </a:p>
        </p:txBody>
      </p:sp>
      <p:sp>
        <p:nvSpPr>
          <p:cNvPr id="113671" name="Rectangle 7"/>
          <p:cNvSpPr>
            <a:spLocks noGrp="1" noChangeArrowheads="1"/>
          </p:cNvSpPr>
          <p:nvPr>
            <p:ph type="body" idx="1"/>
          </p:nvPr>
        </p:nvSpPr>
        <p:spPr bwMode="auto">
          <a:xfrm>
            <a:off x="304800" y="1268413"/>
            <a:ext cx="9296400" cy="48974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dirty="0"/>
              <a:t>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0" name="Rectangle 9"/>
          <p:cNvSpPr>
            <a:spLocks noChangeArrowheads="1"/>
          </p:cNvSpPr>
          <p:nvPr userDrawn="1"/>
        </p:nvSpPr>
        <p:spPr bwMode="gray">
          <a:xfrm>
            <a:off x="193675" y="6564313"/>
            <a:ext cx="360996" cy="230832"/>
          </a:xfrm>
          <a:prstGeom prst="rect">
            <a:avLst/>
          </a:prstGeom>
          <a:noFill/>
          <a:ln w="9525" algn="ctr">
            <a:noFill/>
            <a:miter lim="800000"/>
            <a:headEnd/>
            <a:tailEnd/>
          </a:ln>
          <a:effectLst/>
        </p:spPr>
        <p:txBody>
          <a:bodyPr wrap="none" anchor="ctr">
            <a:spAutoFit/>
          </a:bodyPr>
          <a:lstStyle/>
          <a:p>
            <a:pPr algn="l">
              <a:lnSpc>
                <a:spcPct val="90000"/>
              </a:lnSpc>
              <a:spcBef>
                <a:spcPct val="0"/>
              </a:spcBef>
              <a:buSzTx/>
            </a:pPr>
            <a:r>
              <a:rPr lang="en-GB" sz="1000" noProof="0" dirty="0">
                <a:solidFill>
                  <a:srgbClr val="44647D"/>
                </a:solidFill>
                <a:latin typeface="+mj-lt"/>
              </a:rPr>
              <a:t> </a:t>
            </a:r>
            <a:fld id="{52CCA358-1675-4C81-9913-EB992B109D9C}" type="slidenum">
              <a:rPr lang="en-GB" sz="1000" noProof="0" smtClean="0">
                <a:solidFill>
                  <a:srgbClr val="004B7D"/>
                </a:solidFill>
                <a:latin typeface="+mj-lt"/>
              </a:rPr>
              <a:pPr algn="l">
                <a:lnSpc>
                  <a:spcPct val="90000"/>
                </a:lnSpc>
                <a:spcBef>
                  <a:spcPct val="0"/>
                </a:spcBef>
                <a:buSzTx/>
              </a:pPr>
              <a:t>‹#›</a:t>
            </a:fld>
            <a:endParaRPr lang="en-GB" sz="1000" noProof="0" dirty="0">
              <a:solidFill>
                <a:srgbClr val="004B7D"/>
              </a:solidFill>
              <a:latin typeface="+mj-lt"/>
            </a:endParaRPr>
          </a:p>
        </p:txBody>
      </p:sp>
      <p:grpSp>
        <p:nvGrpSpPr>
          <p:cNvPr id="8" name="Group 7">
            <a:extLst>
              <a:ext uri="{FF2B5EF4-FFF2-40B4-BE49-F238E27FC236}">
                <a16:creationId xmlns:a16="http://schemas.microsoft.com/office/drawing/2014/main" id="{566525F4-E98D-4E75-B45D-24BB384DB98A}"/>
              </a:ext>
            </a:extLst>
          </p:cNvPr>
          <p:cNvGrpSpPr/>
          <p:nvPr userDrawn="1"/>
        </p:nvGrpSpPr>
        <p:grpSpPr>
          <a:xfrm>
            <a:off x="8016140" y="6607456"/>
            <a:ext cx="1585060" cy="108072"/>
            <a:chOff x="1743075" y="3209925"/>
            <a:chExt cx="6426201" cy="438150"/>
          </a:xfrm>
          <a:solidFill>
            <a:schemeClr val="accent1"/>
          </a:solidFill>
        </p:grpSpPr>
        <p:sp>
          <p:nvSpPr>
            <p:cNvPr id="9" name="Freeform 5">
              <a:extLst>
                <a:ext uri="{FF2B5EF4-FFF2-40B4-BE49-F238E27FC236}">
                  <a16:creationId xmlns:a16="http://schemas.microsoft.com/office/drawing/2014/main" id="{401436F6-BF1F-4F0B-B7ED-4C92198041BB}"/>
                </a:ext>
              </a:extLst>
            </p:cNvPr>
            <p:cNvSpPr>
              <a:spLocks/>
            </p:cNvSpPr>
            <p:nvPr userDrawn="1"/>
          </p:nvSpPr>
          <p:spPr bwMode="auto">
            <a:xfrm>
              <a:off x="2268538" y="3216275"/>
              <a:ext cx="242888" cy="431800"/>
            </a:xfrm>
            <a:custGeom>
              <a:avLst/>
              <a:gdLst>
                <a:gd name="T0" fmla="*/ 0 w 81"/>
                <a:gd name="T1" fmla="*/ 0 h 141"/>
                <a:gd name="T2" fmla="*/ 0 w 81"/>
                <a:gd name="T3" fmla="*/ 141 h 141"/>
                <a:gd name="T4" fmla="*/ 81 w 81"/>
                <a:gd name="T5" fmla="*/ 141 h 141"/>
                <a:gd name="T6" fmla="*/ 81 w 81"/>
                <a:gd name="T7" fmla="*/ 125 h 141"/>
                <a:gd name="T8" fmla="*/ 18 w 81"/>
                <a:gd name="T9" fmla="*/ 125 h 141"/>
                <a:gd name="T10" fmla="*/ 18 w 81"/>
                <a:gd name="T11" fmla="*/ 78 h 141"/>
                <a:gd name="T12" fmla="*/ 76 w 81"/>
                <a:gd name="T13" fmla="*/ 78 h 141"/>
                <a:gd name="T14" fmla="*/ 76 w 81"/>
                <a:gd name="T15" fmla="*/ 62 h 141"/>
                <a:gd name="T16" fmla="*/ 18 w 81"/>
                <a:gd name="T17" fmla="*/ 62 h 141"/>
                <a:gd name="T18" fmla="*/ 18 w 81"/>
                <a:gd name="T19" fmla="*/ 16 h 141"/>
                <a:gd name="T20" fmla="*/ 79 w 81"/>
                <a:gd name="T21" fmla="*/ 16 h 141"/>
                <a:gd name="T22" fmla="*/ 79 w 81"/>
                <a:gd name="T23" fmla="*/ 0 h 141"/>
                <a:gd name="T24" fmla="*/ 0 w 81"/>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141">
                  <a:moveTo>
                    <a:pt x="0" y="0"/>
                  </a:moveTo>
                  <a:cubicBezTo>
                    <a:pt x="0" y="141"/>
                    <a:pt x="0" y="141"/>
                    <a:pt x="0" y="141"/>
                  </a:cubicBezTo>
                  <a:cubicBezTo>
                    <a:pt x="81" y="141"/>
                    <a:pt x="81" y="141"/>
                    <a:pt x="81" y="141"/>
                  </a:cubicBezTo>
                  <a:cubicBezTo>
                    <a:pt x="81" y="125"/>
                    <a:pt x="81" y="125"/>
                    <a:pt x="81" y="125"/>
                  </a:cubicBezTo>
                  <a:cubicBezTo>
                    <a:pt x="81" y="125"/>
                    <a:pt x="19" y="125"/>
                    <a:pt x="18" y="125"/>
                  </a:cubicBezTo>
                  <a:cubicBezTo>
                    <a:pt x="18" y="123"/>
                    <a:pt x="18" y="80"/>
                    <a:pt x="18" y="78"/>
                  </a:cubicBezTo>
                  <a:cubicBezTo>
                    <a:pt x="19" y="78"/>
                    <a:pt x="76" y="78"/>
                    <a:pt x="76" y="78"/>
                  </a:cubicBezTo>
                  <a:cubicBezTo>
                    <a:pt x="76" y="62"/>
                    <a:pt x="76" y="62"/>
                    <a:pt x="76" y="62"/>
                  </a:cubicBezTo>
                  <a:cubicBezTo>
                    <a:pt x="76" y="62"/>
                    <a:pt x="19" y="62"/>
                    <a:pt x="18" y="62"/>
                  </a:cubicBezTo>
                  <a:cubicBezTo>
                    <a:pt x="18" y="60"/>
                    <a:pt x="18" y="18"/>
                    <a:pt x="18" y="16"/>
                  </a:cubicBezTo>
                  <a:cubicBezTo>
                    <a:pt x="19"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6">
              <a:extLst>
                <a:ext uri="{FF2B5EF4-FFF2-40B4-BE49-F238E27FC236}">
                  <a16:creationId xmlns:a16="http://schemas.microsoft.com/office/drawing/2014/main" id="{F8D26557-8D7C-44C1-A5C4-72736970CEFD}"/>
                </a:ext>
              </a:extLst>
            </p:cNvPr>
            <p:cNvSpPr>
              <a:spLocks/>
            </p:cNvSpPr>
            <p:nvPr userDrawn="1"/>
          </p:nvSpPr>
          <p:spPr bwMode="auto">
            <a:xfrm>
              <a:off x="6931025" y="3213100"/>
              <a:ext cx="246063" cy="431800"/>
            </a:xfrm>
            <a:custGeom>
              <a:avLst/>
              <a:gdLst>
                <a:gd name="T0" fmla="*/ 0 w 82"/>
                <a:gd name="T1" fmla="*/ 0 h 141"/>
                <a:gd name="T2" fmla="*/ 0 w 82"/>
                <a:gd name="T3" fmla="*/ 141 h 141"/>
                <a:gd name="T4" fmla="*/ 82 w 82"/>
                <a:gd name="T5" fmla="*/ 141 h 141"/>
                <a:gd name="T6" fmla="*/ 82 w 82"/>
                <a:gd name="T7" fmla="*/ 125 h 141"/>
                <a:gd name="T8" fmla="*/ 18 w 82"/>
                <a:gd name="T9" fmla="*/ 125 h 141"/>
                <a:gd name="T10" fmla="*/ 18 w 82"/>
                <a:gd name="T11" fmla="*/ 78 h 141"/>
                <a:gd name="T12" fmla="*/ 77 w 82"/>
                <a:gd name="T13" fmla="*/ 78 h 141"/>
                <a:gd name="T14" fmla="*/ 77 w 82"/>
                <a:gd name="T15" fmla="*/ 62 h 141"/>
                <a:gd name="T16" fmla="*/ 18 w 82"/>
                <a:gd name="T17" fmla="*/ 62 h 141"/>
                <a:gd name="T18" fmla="*/ 18 w 82"/>
                <a:gd name="T19" fmla="*/ 16 h 141"/>
                <a:gd name="T20" fmla="*/ 79 w 82"/>
                <a:gd name="T21" fmla="*/ 16 h 141"/>
                <a:gd name="T22" fmla="*/ 79 w 82"/>
                <a:gd name="T23" fmla="*/ 0 h 141"/>
                <a:gd name="T24" fmla="*/ 0 w 82"/>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 h="141">
                  <a:moveTo>
                    <a:pt x="0" y="0"/>
                  </a:moveTo>
                  <a:cubicBezTo>
                    <a:pt x="0" y="141"/>
                    <a:pt x="0" y="141"/>
                    <a:pt x="0" y="141"/>
                  </a:cubicBezTo>
                  <a:cubicBezTo>
                    <a:pt x="82" y="141"/>
                    <a:pt x="82" y="141"/>
                    <a:pt x="82" y="141"/>
                  </a:cubicBezTo>
                  <a:cubicBezTo>
                    <a:pt x="82" y="125"/>
                    <a:pt x="82" y="125"/>
                    <a:pt x="82" y="125"/>
                  </a:cubicBezTo>
                  <a:cubicBezTo>
                    <a:pt x="82" y="125"/>
                    <a:pt x="20" y="125"/>
                    <a:pt x="18" y="125"/>
                  </a:cubicBezTo>
                  <a:cubicBezTo>
                    <a:pt x="18" y="123"/>
                    <a:pt x="18" y="80"/>
                    <a:pt x="18" y="78"/>
                  </a:cubicBezTo>
                  <a:cubicBezTo>
                    <a:pt x="20" y="78"/>
                    <a:pt x="77" y="78"/>
                    <a:pt x="77" y="78"/>
                  </a:cubicBezTo>
                  <a:cubicBezTo>
                    <a:pt x="77" y="62"/>
                    <a:pt x="77" y="62"/>
                    <a:pt x="77" y="62"/>
                  </a:cubicBezTo>
                  <a:cubicBezTo>
                    <a:pt x="77" y="62"/>
                    <a:pt x="20" y="62"/>
                    <a:pt x="18" y="62"/>
                  </a:cubicBezTo>
                  <a:cubicBezTo>
                    <a:pt x="18" y="61"/>
                    <a:pt x="18" y="18"/>
                    <a:pt x="18" y="16"/>
                  </a:cubicBezTo>
                  <a:cubicBezTo>
                    <a:pt x="20" y="16"/>
                    <a:pt x="79" y="16"/>
                    <a:pt x="79" y="16"/>
                  </a:cubicBezTo>
                  <a:cubicBezTo>
                    <a:pt x="79" y="0"/>
                    <a:pt x="79" y="0"/>
                    <a:pt x="79"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7">
              <a:extLst>
                <a:ext uri="{FF2B5EF4-FFF2-40B4-BE49-F238E27FC236}">
                  <a16:creationId xmlns:a16="http://schemas.microsoft.com/office/drawing/2014/main" id="{07E18D4A-E0F6-4A81-8A0D-B78CF10F69A5}"/>
                </a:ext>
              </a:extLst>
            </p:cNvPr>
            <p:cNvSpPr>
              <a:spLocks/>
            </p:cNvSpPr>
            <p:nvPr userDrawn="1"/>
          </p:nvSpPr>
          <p:spPr bwMode="auto">
            <a:xfrm>
              <a:off x="2746375" y="3216275"/>
              <a:ext cx="239713" cy="431800"/>
            </a:xfrm>
            <a:custGeom>
              <a:avLst/>
              <a:gdLst>
                <a:gd name="T0" fmla="*/ 0 w 80"/>
                <a:gd name="T1" fmla="*/ 0 h 141"/>
                <a:gd name="T2" fmla="*/ 0 w 80"/>
                <a:gd name="T3" fmla="*/ 141 h 141"/>
                <a:gd name="T4" fmla="*/ 80 w 80"/>
                <a:gd name="T5" fmla="*/ 141 h 141"/>
                <a:gd name="T6" fmla="*/ 80 w 80"/>
                <a:gd name="T7" fmla="*/ 125 h 141"/>
                <a:gd name="T8" fmla="*/ 18 w 80"/>
                <a:gd name="T9" fmla="*/ 125 h 141"/>
                <a:gd name="T10" fmla="*/ 18 w 80"/>
                <a:gd name="T11" fmla="*/ 0 h 141"/>
                <a:gd name="T12" fmla="*/ 0 w 80"/>
                <a:gd name="T13" fmla="*/ 0 h 141"/>
              </a:gdLst>
              <a:ahLst/>
              <a:cxnLst>
                <a:cxn ang="0">
                  <a:pos x="T0" y="T1"/>
                </a:cxn>
                <a:cxn ang="0">
                  <a:pos x="T2" y="T3"/>
                </a:cxn>
                <a:cxn ang="0">
                  <a:pos x="T4" y="T5"/>
                </a:cxn>
                <a:cxn ang="0">
                  <a:pos x="T6" y="T7"/>
                </a:cxn>
                <a:cxn ang="0">
                  <a:pos x="T8" y="T9"/>
                </a:cxn>
                <a:cxn ang="0">
                  <a:pos x="T10" y="T11"/>
                </a:cxn>
                <a:cxn ang="0">
                  <a:pos x="T12" y="T13"/>
                </a:cxn>
              </a:cxnLst>
              <a:rect l="0" t="0" r="r" b="b"/>
              <a:pathLst>
                <a:path w="80" h="141">
                  <a:moveTo>
                    <a:pt x="0" y="0"/>
                  </a:moveTo>
                  <a:cubicBezTo>
                    <a:pt x="0" y="141"/>
                    <a:pt x="0" y="141"/>
                    <a:pt x="0" y="141"/>
                  </a:cubicBezTo>
                  <a:cubicBezTo>
                    <a:pt x="80" y="141"/>
                    <a:pt x="80" y="141"/>
                    <a:pt x="80" y="141"/>
                  </a:cubicBezTo>
                  <a:cubicBezTo>
                    <a:pt x="80" y="125"/>
                    <a:pt x="80" y="125"/>
                    <a:pt x="80" y="125"/>
                  </a:cubicBezTo>
                  <a:cubicBezTo>
                    <a:pt x="80" y="125"/>
                    <a:pt x="19" y="125"/>
                    <a:pt x="18" y="125"/>
                  </a:cubicBezTo>
                  <a:cubicBezTo>
                    <a:pt x="18" y="123"/>
                    <a:pt x="18" y="0"/>
                    <a:pt x="18"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8">
              <a:extLst>
                <a:ext uri="{FF2B5EF4-FFF2-40B4-BE49-F238E27FC236}">
                  <a16:creationId xmlns:a16="http://schemas.microsoft.com/office/drawing/2014/main" id="{DCD906E6-16E0-431F-8D4D-DBE33BDBEE02}"/>
                </a:ext>
              </a:extLst>
            </p:cNvPr>
            <p:cNvSpPr>
              <a:spLocks/>
            </p:cNvSpPr>
            <p:nvPr userDrawn="1"/>
          </p:nvSpPr>
          <p:spPr bwMode="auto">
            <a:xfrm>
              <a:off x="3100388" y="3216275"/>
              <a:ext cx="333375" cy="431800"/>
            </a:xfrm>
            <a:custGeom>
              <a:avLst/>
              <a:gdLst>
                <a:gd name="T0" fmla="*/ 0 w 111"/>
                <a:gd name="T1" fmla="*/ 0 h 141"/>
                <a:gd name="T2" fmla="*/ 0 w 111"/>
                <a:gd name="T3" fmla="*/ 16 h 141"/>
                <a:gd name="T4" fmla="*/ 47 w 111"/>
                <a:gd name="T5" fmla="*/ 16 h 141"/>
                <a:gd name="T6" fmla="*/ 47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7" y="16"/>
                  </a:cubicBezTo>
                  <a:cubicBezTo>
                    <a:pt x="47" y="18"/>
                    <a:pt x="47" y="141"/>
                    <a:pt x="47"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9">
              <a:extLst>
                <a:ext uri="{FF2B5EF4-FFF2-40B4-BE49-F238E27FC236}">
                  <a16:creationId xmlns:a16="http://schemas.microsoft.com/office/drawing/2014/main" id="{35CB4F1D-02E3-4724-AB4E-BD2A07940E56}"/>
                </a:ext>
              </a:extLst>
            </p:cNvPr>
            <p:cNvSpPr>
              <a:spLocks/>
            </p:cNvSpPr>
            <p:nvPr userDrawn="1"/>
          </p:nvSpPr>
          <p:spPr bwMode="auto">
            <a:xfrm>
              <a:off x="5840413" y="3213100"/>
              <a:ext cx="333375" cy="431800"/>
            </a:xfrm>
            <a:custGeom>
              <a:avLst/>
              <a:gdLst>
                <a:gd name="T0" fmla="*/ 0 w 111"/>
                <a:gd name="T1" fmla="*/ 0 h 141"/>
                <a:gd name="T2" fmla="*/ 0 w 111"/>
                <a:gd name="T3" fmla="*/ 16 h 141"/>
                <a:gd name="T4" fmla="*/ 46 w 111"/>
                <a:gd name="T5" fmla="*/ 16 h 141"/>
                <a:gd name="T6" fmla="*/ 46 w 111"/>
                <a:gd name="T7" fmla="*/ 141 h 141"/>
                <a:gd name="T8" fmla="*/ 65 w 111"/>
                <a:gd name="T9" fmla="*/ 141 h 141"/>
                <a:gd name="T10" fmla="*/ 65 w 111"/>
                <a:gd name="T11" fmla="*/ 16 h 141"/>
                <a:gd name="T12" fmla="*/ 111 w 111"/>
                <a:gd name="T13" fmla="*/ 16 h 141"/>
                <a:gd name="T14" fmla="*/ 111 w 111"/>
                <a:gd name="T15" fmla="*/ 0 h 141"/>
                <a:gd name="T16" fmla="*/ 0 w 111"/>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141">
                  <a:moveTo>
                    <a:pt x="0" y="0"/>
                  </a:moveTo>
                  <a:cubicBezTo>
                    <a:pt x="0" y="16"/>
                    <a:pt x="0" y="16"/>
                    <a:pt x="0" y="16"/>
                  </a:cubicBezTo>
                  <a:cubicBezTo>
                    <a:pt x="0" y="16"/>
                    <a:pt x="45" y="16"/>
                    <a:pt x="46" y="16"/>
                  </a:cubicBezTo>
                  <a:cubicBezTo>
                    <a:pt x="46" y="18"/>
                    <a:pt x="46" y="141"/>
                    <a:pt x="46" y="141"/>
                  </a:cubicBezTo>
                  <a:cubicBezTo>
                    <a:pt x="65" y="141"/>
                    <a:pt x="65" y="141"/>
                    <a:pt x="65" y="141"/>
                  </a:cubicBezTo>
                  <a:cubicBezTo>
                    <a:pt x="65" y="141"/>
                    <a:pt x="65" y="18"/>
                    <a:pt x="65" y="16"/>
                  </a:cubicBezTo>
                  <a:cubicBezTo>
                    <a:pt x="66" y="16"/>
                    <a:pt x="111" y="16"/>
                    <a:pt x="111" y="16"/>
                  </a:cubicBezTo>
                  <a:cubicBezTo>
                    <a:pt x="111" y="0"/>
                    <a:pt x="111" y="0"/>
                    <a:pt x="11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10">
              <a:extLst>
                <a:ext uri="{FF2B5EF4-FFF2-40B4-BE49-F238E27FC236}">
                  <a16:creationId xmlns:a16="http://schemas.microsoft.com/office/drawing/2014/main" id="{139B77EE-6B6D-4F53-871D-454740F4AE7F}"/>
                </a:ext>
              </a:extLst>
            </p:cNvPr>
            <p:cNvSpPr>
              <a:spLocks/>
            </p:cNvSpPr>
            <p:nvPr userDrawn="1"/>
          </p:nvSpPr>
          <p:spPr bwMode="auto">
            <a:xfrm>
              <a:off x="6365875" y="3213100"/>
              <a:ext cx="322263" cy="434975"/>
            </a:xfrm>
            <a:custGeom>
              <a:avLst/>
              <a:gdLst>
                <a:gd name="T0" fmla="*/ 0 w 107"/>
                <a:gd name="T1" fmla="*/ 0 h 142"/>
                <a:gd name="T2" fmla="*/ 0 w 107"/>
                <a:gd name="T3" fmla="*/ 142 h 142"/>
                <a:gd name="T4" fmla="*/ 17 w 107"/>
                <a:gd name="T5" fmla="*/ 142 h 142"/>
                <a:gd name="T6" fmla="*/ 17 w 107"/>
                <a:gd name="T7" fmla="*/ 59 h 142"/>
                <a:gd name="T8" fmla="*/ 17 w 107"/>
                <a:gd name="T9" fmla="*/ 28 h 142"/>
                <a:gd name="T10" fmla="*/ 31 w 107"/>
                <a:gd name="T11" fmla="*/ 53 h 142"/>
                <a:gd name="T12" fmla="*/ 87 w 107"/>
                <a:gd name="T13" fmla="*/ 142 h 142"/>
                <a:gd name="T14" fmla="*/ 106 w 107"/>
                <a:gd name="T15" fmla="*/ 142 h 142"/>
                <a:gd name="T16" fmla="*/ 107 w 107"/>
                <a:gd name="T17" fmla="*/ 0 h 142"/>
                <a:gd name="T18" fmla="*/ 89 w 107"/>
                <a:gd name="T19" fmla="*/ 0 h 142"/>
                <a:gd name="T20" fmla="*/ 89 w 107"/>
                <a:gd name="T21" fmla="*/ 113 h 142"/>
                <a:gd name="T22" fmla="*/ 20 w 107"/>
                <a:gd name="T23" fmla="*/ 0 h 142"/>
                <a:gd name="T24" fmla="*/ 0 w 107"/>
                <a:gd name="T25"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7" h="142">
                  <a:moveTo>
                    <a:pt x="0" y="0"/>
                  </a:moveTo>
                  <a:cubicBezTo>
                    <a:pt x="0" y="142"/>
                    <a:pt x="0" y="142"/>
                    <a:pt x="0" y="142"/>
                  </a:cubicBezTo>
                  <a:cubicBezTo>
                    <a:pt x="17" y="142"/>
                    <a:pt x="17" y="142"/>
                    <a:pt x="17" y="142"/>
                  </a:cubicBezTo>
                  <a:cubicBezTo>
                    <a:pt x="17" y="59"/>
                    <a:pt x="17" y="59"/>
                    <a:pt x="17" y="59"/>
                  </a:cubicBezTo>
                  <a:cubicBezTo>
                    <a:pt x="17" y="59"/>
                    <a:pt x="17" y="33"/>
                    <a:pt x="17" y="28"/>
                  </a:cubicBezTo>
                  <a:cubicBezTo>
                    <a:pt x="20" y="32"/>
                    <a:pt x="31" y="53"/>
                    <a:pt x="31" y="53"/>
                  </a:cubicBezTo>
                  <a:cubicBezTo>
                    <a:pt x="31" y="53"/>
                    <a:pt x="87" y="142"/>
                    <a:pt x="87" y="142"/>
                  </a:cubicBezTo>
                  <a:cubicBezTo>
                    <a:pt x="106" y="142"/>
                    <a:pt x="106" y="142"/>
                    <a:pt x="106" y="142"/>
                  </a:cubicBezTo>
                  <a:cubicBezTo>
                    <a:pt x="107" y="0"/>
                    <a:pt x="107" y="0"/>
                    <a:pt x="107" y="0"/>
                  </a:cubicBezTo>
                  <a:cubicBezTo>
                    <a:pt x="89" y="0"/>
                    <a:pt x="89" y="0"/>
                    <a:pt x="89" y="0"/>
                  </a:cubicBezTo>
                  <a:cubicBezTo>
                    <a:pt x="89" y="0"/>
                    <a:pt x="89" y="108"/>
                    <a:pt x="89" y="113"/>
                  </a:cubicBezTo>
                  <a:cubicBezTo>
                    <a:pt x="86" y="108"/>
                    <a:pt x="20" y="0"/>
                    <a:pt x="20"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1">
              <a:extLst>
                <a:ext uri="{FF2B5EF4-FFF2-40B4-BE49-F238E27FC236}">
                  <a16:creationId xmlns:a16="http://schemas.microsoft.com/office/drawing/2014/main" id="{2BA0B436-D44A-498A-86A4-50F0A01831D6}"/>
                </a:ext>
              </a:extLst>
            </p:cNvPr>
            <p:cNvSpPr>
              <a:spLocks/>
            </p:cNvSpPr>
            <p:nvPr userDrawn="1"/>
          </p:nvSpPr>
          <p:spPr bwMode="auto">
            <a:xfrm>
              <a:off x="7929563" y="3209925"/>
              <a:ext cx="239713" cy="438150"/>
            </a:xfrm>
            <a:custGeom>
              <a:avLst/>
              <a:gdLst>
                <a:gd name="T0" fmla="*/ 0 w 80"/>
                <a:gd name="T1" fmla="*/ 37 h 143"/>
                <a:gd name="T2" fmla="*/ 34 w 80"/>
                <a:gd name="T3" fmla="*/ 77 h 143"/>
                <a:gd name="T4" fmla="*/ 61 w 80"/>
                <a:gd name="T5" fmla="*/ 104 h 143"/>
                <a:gd name="T6" fmla="*/ 34 w 80"/>
                <a:gd name="T7" fmla="*/ 127 h 143"/>
                <a:gd name="T8" fmla="*/ 5 w 80"/>
                <a:gd name="T9" fmla="*/ 119 h 143"/>
                <a:gd name="T10" fmla="*/ 2 w 80"/>
                <a:gd name="T11" fmla="*/ 118 h 143"/>
                <a:gd name="T12" fmla="*/ 0 w 80"/>
                <a:gd name="T13" fmla="*/ 137 h 143"/>
                <a:gd name="T14" fmla="*/ 2 w 80"/>
                <a:gd name="T15" fmla="*/ 138 h 143"/>
                <a:gd name="T16" fmla="*/ 34 w 80"/>
                <a:gd name="T17" fmla="*/ 143 h 143"/>
                <a:gd name="T18" fmla="*/ 80 w 80"/>
                <a:gd name="T19" fmla="*/ 103 h 143"/>
                <a:gd name="T20" fmla="*/ 44 w 80"/>
                <a:gd name="T21" fmla="*/ 62 h 143"/>
                <a:gd name="T22" fmla="*/ 18 w 80"/>
                <a:gd name="T23" fmla="*/ 36 h 143"/>
                <a:gd name="T24" fmla="*/ 44 w 80"/>
                <a:gd name="T25" fmla="*/ 17 h 143"/>
                <a:gd name="T26" fmla="*/ 68 w 80"/>
                <a:gd name="T27" fmla="*/ 22 h 143"/>
                <a:gd name="T28" fmla="*/ 71 w 80"/>
                <a:gd name="T29" fmla="*/ 24 h 143"/>
                <a:gd name="T30" fmla="*/ 74 w 80"/>
                <a:gd name="T31" fmla="*/ 6 h 143"/>
                <a:gd name="T32" fmla="*/ 72 w 80"/>
                <a:gd name="T33" fmla="*/ 5 h 143"/>
                <a:gd name="T34" fmla="*/ 44 w 80"/>
                <a:gd name="T35" fmla="*/ 0 h 143"/>
                <a:gd name="T36" fmla="*/ 0 w 80"/>
                <a:gd name="T37" fmla="*/ 3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143">
                  <a:moveTo>
                    <a:pt x="0" y="37"/>
                  </a:moveTo>
                  <a:cubicBezTo>
                    <a:pt x="0" y="59"/>
                    <a:pt x="17" y="68"/>
                    <a:pt x="34" y="77"/>
                  </a:cubicBezTo>
                  <a:cubicBezTo>
                    <a:pt x="48" y="84"/>
                    <a:pt x="61" y="90"/>
                    <a:pt x="61" y="104"/>
                  </a:cubicBezTo>
                  <a:cubicBezTo>
                    <a:pt x="61" y="118"/>
                    <a:pt x="50" y="127"/>
                    <a:pt x="34" y="127"/>
                  </a:cubicBezTo>
                  <a:cubicBezTo>
                    <a:pt x="24" y="127"/>
                    <a:pt x="16" y="125"/>
                    <a:pt x="5" y="119"/>
                  </a:cubicBezTo>
                  <a:cubicBezTo>
                    <a:pt x="2" y="118"/>
                    <a:pt x="2" y="118"/>
                    <a:pt x="2" y="118"/>
                  </a:cubicBezTo>
                  <a:cubicBezTo>
                    <a:pt x="0" y="137"/>
                    <a:pt x="0" y="137"/>
                    <a:pt x="0" y="137"/>
                  </a:cubicBezTo>
                  <a:cubicBezTo>
                    <a:pt x="2" y="138"/>
                    <a:pt x="2" y="138"/>
                    <a:pt x="2" y="138"/>
                  </a:cubicBezTo>
                  <a:cubicBezTo>
                    <a:pt x="13" y="142"/>
                    <a:pt x="23" y="143"/>
                    <a:pt x="34" y="143"/>
                  </a:cubicBezTo>
                  <a:cubicBezTo>
                    <a:pt x="61" y="143"/>
                    <a:pt x="80" y="127"/>
                    <a:pt x="80" y="103"/>
                  </a:cubicBezTo>
                  <a:cubicBezTo>
                    <a:pt x="80" y="80"/>
                    <a:pt x="61" y="70"/>
                    <a:pt x="44" y="62"/>
                  </a:cubicBezTo>
                  <a:cubicBezTo>
                    <a:pt x="31" y="55"/>
                    <a:pt x="18" y="48"/>
                    <a:pt x="18" y="36"/>
                  </a:cubicBezTo>
                  <a:cubicBezTo>
                    <a:pt x="18" y="25"/>
                    <a:pt x="29" y="17"/>
                    <a:pt x="44" y="17"/>
                  </a:cubicBezTo>
                  <a:cubicBezTo>
                    <a:pt x="52" y="17"/>
                    <a:pt x="60" y="19"/>
                    <a:pt x="68" y="22"/>
                  </a:cubicBezTo>
                  <a:cubicBezTo>
                    <a:pt x="71" y="24"/>
                    <a:pt x="71" y="24"/>
                    <a:pt x="71" y="24"/>
                  </a:cubicBezTo>
                  <a:cubicBezTo>
                    <a:pt x="74" y="6"/>
                    <a:pt x="74" y="6"/>
                    <a:pt x="74" y="6"/>
                  </a:cubicBezTo>
                  <a:cubicBezTo>
                    <a:pt x="72" y="5"/>
                    <a:pt x="72" y="5"/>
                    <a:pt x="72" y="5"/>
                  </a:cubicBezTo>
                  <a:cubicBezTo>
                    <a:pt x="62" y="2"/>
                    <a:pt x="53" y="0"/>
                    <a:pt x="44" y="0"/>
                  </a:cubicBezTo>
                  <a:cubicBezTo>
                    <a:pt x="16" y="0"/>
                    <a:pt x="0" y="14"/>
                    <a:pt x="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Freeform 12">
              <a:extLst>
                <a:ext uri="{FF2B5EF4-FFF2-40B4-BE49-F238E27FC236}">
                  <a16:creationId xmlns:a16="http://schemas.microsoft.com/office/drawing/2014/main" id="{765C5AB4-455F-4814-8C54-75D3150CF145}"/>
                </a:ext>
              </a:extLst>
            </p:cNvPr>
            <p:cNvSpPr>
              <a:spLocks/>
            </p:cNvSpPr>
            <p:nvPr userDrawn="1"/>
          </p:nvSpPr>
          <p:spPr bwMode="auto">
            <a:xfrm>
              <a:off x="1743075" y="3216275"/>
              <a:ext cx="330200" cy="431800"/>
            </a:xfrm>
            <a:custGeom>
              <a:avLst/>
              <a:gdLst>
                <a:gd name="T0" fmla="*/ 0 w 110"/>
                <a:gd name="T1" fmla="*/ 0 h 141"/>
                <a:gd name="T2" fmla="*/ 0 w 110"/>
                <a:gd name="T3" fmla="*/ 141 h 141"/>
                <a:gd name="T4" fmla="*/ 18 w 110"/>
                <a:gd name="T5" fmla="*/ 141 h 141"/>
                <a:gd name="T6" fmla="*/ 18 w 110"/>
                <a:gd name="T7" fmla="*/ 16 h 141"/>
                <a:gd name="T8" fmla="*/ 30 w 110"/>
                <a:gd name="T9" fmla="*/ 16 h 141"/>
                <a:gd name="T10" fmla="*/ 68 w 110"/>
                <a:gd name="T11" fmla="*/ 24 h 141"/>
                <a:gd name="T12" fmla="*/ 91 w 110"/>
                <a:gd name="T13" fmla="*/ 71 h 141"/>
                <a:gd name="T14" fmla="*/ 36 w 110"/>
                <a:gd name="T15" fmla="*/ 125 h 141"/>
                <a:gd name="T16" fmla="*/ 24 w 110"/>
                <a:gd name="T17" fmla="*/ 126 h 141"/>
                <a:gd name="T18" fmla="*/ 38 w 110"/>
                <a:gd name="T19" fmla="*/ 141 h 141"/>
                <a:gd name="T20" fmla="*/ 41 w 110"/>
                <a:gd name="T21" fmla="*/ 141 h 141"/>
                <a:gd name="T22" fmla="*/ 78 w 110"/>
                <a:gd name="T23" fmla="*/ 131 h 141"/>
                <a:gd name="T24" fmla="*/ 110 w 110"/>
                <a:gd name="T25" fmla="*/ 71 h 141"/>
                <a:gd name="T26" fmla="*/ 77 w 110"/>
                <a:gd name="T27" fmla="*/ 9 h 141"/>
                <a:gd name="T28" fmla="*/ 23 w 110"/>
                <a:gd name="T29" fmla="*/ 0 h 141"/>
                <a:gd name="T30" fmla="*/ 0 w 110"/>
                <a:gd name="T3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0" h="141">
                  <a:moveTo>
                    <a:pt x="0" y="0"/>
                  </a:moveTo>
                  <a:cubicBezTo>
                    <a:pt x="0" y="141"/>
                    <a:pt x="0" y="141"/>
                    <a:pt x="0" y="141"/>
                  </a:cubicBezTo>
                  <a:cubicBezTo>
                    <a:pt x="18" y="141"/>
                    <a:pt x="18" y="141"/>
                    <a:pt x="18" y="141"/>
                  </a:cubicBezTo>
                  <a:cubicBezTo>
                    <a:pt x="18" y="141"/>
                    <a:pt x="18" y="18"/>
                    <a:pt x="18" y="16"/>
                  </a:cubicBezTo>
                  <a:cubicBezTo>
                    <a:pt x="20" y="16"/>
                    <a:pt x="30" y="16"/>
                    <a:pt x="30" y="16"/>
                  </a:cubicBezTo>
                  <a:cubicBezTo>
                    <a:pt x="48" y="16"/>
                    <a:pt x="58" y="19"/>
                    <a:pt x="68" y="24"/>
                  </a:cubicBezTo>
                  <a:cubicBezTo>
                    <a:pt x="82" y="33"/>
                    <a:pt x="91" y="50"/>
                    <a:pt x="91" y="71"/>
                  </a:cubicBezTo>
                  <a:cubicBezTo>
                    <a:pt x="91" y="104"/>
                    <a:pt x="71" y="123"/>
                    <a:pt x="36" y="125"/>
                  </a:cubicBezTo>
                  <a:cubicBezTo>
                    <a:pt x="34" y="125"/>
                    <a:pt x="24" y="126"/>
                    <a:pt x="24" y="126"/>
                  </a:cubicBezTo>
                  <a:cubicBezTo>
                    <a:pt x="38" y="141"/>
                    <a:pt x="38" y="141"/>
                    <a:pt x="38" y="141"/>
                  </a:cubicBezTo>
                  <a:cubicBezTo>
                    <a:pt x="41" y="141"/>
                    <a:pt x="41" y="141"/>
                    <a:pt x="41" y="141"/>
                  </a:cubicBezTo>
                  <a:cubicBezTo>
                    <a:pt x="58" y="139"/>
                    <a:pt x="68" y="137"/>
                    <a:pt x="78" y="131"/>
                  </a:cubicBezTo>
                  <a:cubicBezTo>
                    <a:pt x="98" y="119"/>
                    <a:pt x="110" y="98"/>
                    <a:pt x="110" y="71"/>
                  </a:cubicBezTo>
                  <a:cubicBezTo>
                    <a:pt x="110" y="44"/>
                    <a:pt x="97" y="20"/>
                    <a:pt x="77" y="9"/>
                  </a:cubicBezTo>
                  <a:cubicBezTo>
                    <a:pt x="65" y="2"/>
                    <a:pt x="51" y="0"/>
                    <a:pt x="23"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3">
              <a:extLst>
                <a:ext uri="{FF2B5EF4-FFF2-40B4-BE49-F238E27FC236}">
                  <a16:creationId xmlns:a16="http://schemas.microsoft.com/office/drawing/2014/main" id="{BFA1DAFA-4B64-41DA-9CC9-27690015BD02}"/>
                </a:ext>
              </a:extLst>
            </p:cNvPr>
            <p:cNvSpPr>
              <a:spLocks/>
            </p:cNvSpPr>
            <p:nvPr userDrawn="1"/>
          </p:nvSpPr>
          <p:spPr bwMode="auto">
            <a:xfrm>
              <a:off x="3536950" y="3216275"/>
              <a:ext cx="384175" cy="431800"/>
            </a:xfrm>
            <a:custGeom>
              <a:avLst/>
              <a:gdLst>
                <a:gd name="T0" fmla="*/ 57 w 128"/>
                <a:gd name="T1" fmla="*/ 0 h 141"/>
                <a:gd name="T2" fmla="*/ 0 w 128"/>
                <a:gd name="T3" fmla="*/ 141 h 141"/>
                <a:gd name="T4" fmla="*/ 19 w 128"/>
                <a:gd name="T5" fmla="*/ 141 h 141"/>
                <a:gd name="T6" fmla="*/ 63 w 128"/>
                <a:gd name="T7" fmla="*/ 30 h 141"/>
                <a:gd name="T8" fmla="*/ 63 w 128"/>
                <a:gd name="T9" fmla="*/ 31 h 141"/>
                <a:gd name="T10" fmla="*/ 90 w 128"/>
                <a:gd name="T11" fmla="*/ 97 h 141"/>
                <a:gd name="T12" fmla="*/ 42 w 128"/>
                <a:gd name="T13" fmla="*/ 97 h 141"/>
                <a:gd name="T14" fmla="*/ 56 w 128"/>
                <a:gd name="T15" fmla="*/ 113 h 141"/>
                <a:gd name="T16" fmla="*/ 97 w 128"/>
                <a:gd name="T17" fmla="*/ 113 h 141"/>
                <a:gd name="T18" fmla="*/ 108 w 128"/>
                <a:gd name="T19" fmla="*/ 141 h 141"/>
                <a:gd name="T20" fmla="*/ 128 w 128"/>
                <a:gd name="T21" fmla="*/ 141 h 141"/>
                <a:gd name="T22" fmla="*/ 70 w 128"/>
                <a:gd name="T23" fmla="*/ 0 h 141"/>
                <a:gd name="T24" fmla="*/ 57 w 128"/>
                <a:gd name="T25"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141">
                  <a:moveTo>
                    <a:pt x="57" y="0"/>
                  </a:moveTo>
                  <a:cubicBezTo>
                    <a:pt x="0" y="141"/>
                    <a:pt x="0" y="141"/>
                    <a:pt x="0" y="141"/>
                  </a:cubicBezTo>
                  <a:cubicBezTo>
                    <a:pt x="19" y="141"/>
                    <a:pt x="19" y="141"/>
                    <a:pt x="19" y="141"/>
                  </a:cubicBezTo>
                  <a:cubicBezTo>
                    <a:pt x="19" y="141"/>
                    <a:pt x="61" y="34"/>
                    <a:pt x="63" y="30"/>
                  </a:cubicBezTo>
                  <a:cubicBezTo>
                    <a:pt x="63" y="30"/>
                    <a:pt x="63" y="31"/>
                    <a:pt x="63" y="31"/>
                  </a:cubicBezTo>
                  <a:cubicBezTo>
                    <a:pt x="63" y="31"/>
                    <a:pt x="63" y="31"/>
                    <a:pt x="90" y="97"/>
                  </a:cubicBezTo>
                  <a:cubicBezTo>
                    <a:pt x="87" y="97"/>
                    <a:pt x="42" y="97"/>
                    <a:pt x="42" y="97"/>
                  </a:cubicBezTo>
                  <a:cubicBezTo>
                    <a:pt x="56" y="113"/>
                    <a:pt x="56" y="113"/>
                    <a:pt x="56" y="113"/>
                  </a:cubicBezTo>
                  <a:cubicBezTo>
                    <a:pt x="56" y="113"/>
                    <a:pt x="95" y="113"/>
                    <a:pt x="97" y="113"/>
                  </a:cubicBezTo>
                  <a:cubicBezTo>
                    <a:pt x="97" y="114"/>
                    <a:pt x="108" y="141"/>
                    <a:pt x="108" y="141"/>
                  </a:cubicBezTo>
                  <a:cubicBezTo>
                    <a:pt x="128" y="141"/>
                    <a:pt x="128" y="141"/>
                    <a:pt x="128" y="141"/>
                  </a:cubicBezTo>
                  <a:cubicBezTo>
                    <a:pt x="70" y="0"/>
                    <a:pt x="70" y="0"/>
                    <a:pt x="70" y="0"/>
                  </a:cubicBezTo>
                  <a:lnTo>
                    <a:pt x="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Freeform 14">
              <a:extLst>
                <a:ext uri="{FF2B5EF4-FFF2-40B4-BE49-F238E27FC236}">
                  <a16:creationId xmlns:a16="http://schemas.microsoft.com/office/drawing/2014/main" id="{D2BF41D7-0DEC-4E7F-98D2-7DB9F87CA605}"/>
                </a:ext>
              </a:extLst>
            </p:cNvPr>
            <p:cNvSpPr>
              <a:spLocks/>
            </p:cNvSpPr>
            <p:nvPr userDrawn="1"/>
          </p:nvSpPr>
          <p:spPr bwMode="auto">
            <a:xfrm>
              <a:off x="4810125" y="3213100"/>
              <a:ext cx="381000" cy="434975"/>
            </a:xfrm>
            <a:custGeom>
              <a:avLst/>
              <a:gdLst>
                <a:gd name="T0" fmla="*/ 56 w 127"/>
                <a:gd name="T1" fmla="*/ 0 h 142"/>
                <a:gd name="T2" fmla="*/ 0 w 127"/>
                <a:gd name="T3" fmla="*/ 142 h 142"/>
                <a:gd name="T4" fmla="*/ 18 w 127"/>
                <a:gd name="T5" fmla="*/ 142 h 142"/>
                <a:gd name="T6" fmla="*/ 62 w 127"/>
                <a:gd name="T7" fmla="*/ 30 h 142"/>
                <a:gd name="T8" fmla="*/ 89 w 127"/>
                <a:gd name="T9" fmla="*/ 97 h 142"/>
                <a:gd name="T10" fmla="*/ 41 w 127"/>
                <a:gd name="T11" fmla="*/ 97 h 142"/>
                <a:gd name="T12" fmla="*/ 56 w 127"/>
                <a:gd name="T13" fmla="*/ 114 h 142"/>
                <a:gd name="T14" fmla="*/ 96 w 127"/>
                <a:gd name="T15" fmla="*/ 114 h 142"/>
                <a:gd name="T16" fmla="*/ 108 w 127"/>
                <a:gd name="T17" fmla="*/ 142 h 142"/>
                <a:gd name="T18" fmla="*/ 127 w 127"/>
                <a:gd name="T19" fmla="*/ 142 h 142"/>
                <a:gd name="T20" fmla="*/ 69 w 127"/>
                <a:gd name="T21" fmla="*/ 0 h 142"/>
                <a:gd name="T22" fmla="*/ 56 w 127"/>
                <a:gd name="T2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42">
                  <a:moveTo>
                    <a:pt x="56" y="0"/>
                  </a:moveTo>
                  <a:cubicBezTo>
                    <a:pt x="0" y="142"/>
                    <a:pt x="0" y="142"/>
                    <a:pt x="0" y="142"/>
                  </a:cubicBezTo>
                  <a:cubicBezTo>
                    <a:pt x="18" y="142"/>
                    <a:pt x="18" y="142"/>
                    <a:pt x="18" y="142"/>
                  </a:cubicBezTo>
                  <a:cubicBezTo>
                    <a:pt x="18" y="142"/>
                    <a:pt x="60" y="34"/>
                    <a:pt x="62" y="30"/>
                  </a:cubicBezTo>
                  <a:cubicBezTo>
                    <a:pt x="63" y="34"/>
                    <a:pt x="88" y="95"/>
                    <a:pt x="89" y="97"/>
                  </a:cubicBezTo>
                  <a:cubicBezTo>
                    <a:pt x="87" y="97"/>
                    <a:pt x="41" y="97"/>
                    <a:pt x="41" y="97"/>
                  </a:cubicBezTo>
                  <a:cubicBezTo>
                    <a:pt x="56" y="114"/>
                    <a:pt x="56" y="114"/>
                    <a:pt x="56" y="114"/>
                  </a:cubicBezTo>
                  <a:cubicBezTo>
                    <a:pt x="56" y="114"/>
                    <a:pt x="95" y="114"/>
                    <a:pt x="96" y="114"/>
                  </a:cubicBezTo>
                  <a:cubicBezTo>
                    <a:pt x="96" y="115"/>
                    <a:pt x="108" y="142"/>
                    <a:pt x="108" y="142"/>
                  </a:cubicBezTo>
                  <a:cubicBezTo>
                    <a:pt x="127" y="142"/>
                    <a:pt x="127" y="142"/>
                    <a:pt x="127" y="142"/>
                  </a:cubicBezTo>
                  <a:cubicBezTo>
                    <a:pt x="69" y="0"/>
                    <a:pt x="69" y="0"/>
                    <a:pt x="69" y="0"/>
                  </a:cubicBezTo>
                  <a:lnTo>
                    <a:pt x="5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Freeform 15">
              <a:extLst>
                <a:ext uri="{FF2B5EF4-FFF2-40B4-BE49-F238E27FC236}">
                  <a16:creationId xmlns:a16="http://schemas.microsoft.com/office/drawing/2014/main" id="{6C0BA10B-ABC0-4290-860D-6502EA4C77AB}"/>
                </a:ext>
              </a:extLst>
            </p:cNvPr>
            <p:cNvSpPr>
              <a:spLocks/>
            </p:cNvSpPr>
            <p:nvPr userDrawn="1"/>
          </p:nvSpPr>
          <p:spPr bwMode="auto">
            <a:xfrm>
              <a:off x="4392613" y="3213100"/>
              <a:ext cx="295275" cy="431800"/>
            </a:xfrm>
            <a:custGeom>
              <a:avLst/>
              <a:gdLst>
                <a:gd name="T0" fmla="*/ 0 w 98"/>
                <a:gd name="T1" fmla="*/ 0 h 141"/>
                <a:gd name="T2" fmla="*/ 0 w 98"/>
                <a:gd name="T3" fmla="*/ 141 h 141"/>
                <a:gd name="T4" fmla="*/ 18 w 98"/>
                <a:gd name="T5" fmla="*/ 141 h 141"/>
                <a:gd name="T6" fmla="*/ 18 w 98"/>
                <a:gd name="T7" fmla="*/ 16 h 141"/>
                <a:gd name="T8" fmla="*/ 41 w 98"/>
                <a:gd name="T9" fmla="*/ 16 h 141"/>
                <a:gd name="T10" fmla="*/ 80 w 98"/>
                <a:gd name="T11" fmla="*/ 45 h 141"/>
                <a:gd name="T12" fmla="*/ 41 w 98"/>
                <a:gd name="T13" fmla="*/ 73 h 141"/>
                <a:gd name="T14" fmla="*/ 24 w 98"/>
                <a:gd name="T15" fmla="*/ 73 h 141"/>
                <a:gd name="T16" fmla="*/ 39 w 98"/>
                <a:gd name="T17" fmla="*/ 89 h 141"/>
                <a:gd name="T18" fmla="*/ 43 w 98"/>
                <a:gd name="T19" fmla="*/ 89 h 141"/>
                <a:gd name="T20" fmla="*/ 80 w 98"/>
                <a:gd name="T21" fmla="*/ 80 h 141"/>
                <a:gd name="T22" fmla="*/ 98 w 98"/>
                <a:gd name="T23" fmla="*/ 45 h 141"/>
                <a:gd name="T24" fmla="*/ 78 w 98"/>
                <a:gd name="T25" fmla="*/ 7 h 141"/>
                <a:gd name="T26" fmla="*/ 41 w 98"/>
                <a:gd name="T27" fmla="*/ 0 h 141"/>
                <a:gd name="T28" fmla="*/ 0 w 98"/>
                <a:gd name="T29"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8" h="141">
                  <a:moveTo>
                    <a:pt x="0" y="0"/>
                  </a:moveTo>
                  <a:cubicBezTo>
                    <a:pt x="0" y="141"/>
                    <a:pt x="0" y="141"/>
                    <a:pt x="0" y="141"/>
                  </a:cubicBezTo>
                  <a:cubicBezTo>
                    <a:pt x="18" y="141"/>
                    <a:pt x="18" y="141"/>
                    <a:pt x="18" y="141"/>
                  </a:cubicBezTo>
                  <a:cubicBezTo>
                    <a:pt x="18" y="141"/>
                    <a:pt x="18" y="18"/>
                    <a:pt x="18" y="16"/>
                  </a:cubicBezTo>
                  <a:cubicBezTo>
                    <a:pt x="20" y="16"/>
                    <a:pt x="41" y="16"/>
                    <a:pt x="41" y="16"/>
                  </a:cubicBezTo>
                  <a:cubicBezTo>
                    <a:pt x="67" y="16"/>
                    <a:pt x="80" y="26"/>
                    <a:pt x="80" y="45"/>
                  </a:cubicBezTo>
                  <a:cubicBezTo>
                    <a:pt x="80" y="63"/>
                    <a:pt x="67" y="73"/>
                    <a:pt x="41" y="73"/>
                  </a:cubicBezTo>
                  <a:cubicBezTo>
                    <a:pt x="24" y="73"/>
                    <a:pt x="24" y="73"/>
                    <a:pt x="24" y="73"/>
                  </a:cubicBezTo>
                  <a:cubicBezTo>
                    <a:pt x="39" y="89"/>
                    <a:pt x="39" y="89"/>
                    <a:pt x="39" y="89"/>
                  </a:cubicBezTo>
                  <a:cubicBezTo>
                    <a:pt x="43" y="89"/>
                    <a:pt x="43" y="89"/>
                    <a:pt x="43" y="89"/>
                  </a:cubicBezTo>
                  <a:cubicBezTo>
                    <a:pt x="61" y="89"/>
                    <a:pt x="70" y="87"/>
                    <a:pt x="80" y="80"/>
                  </a:cubicBezTo>
                  <a:cubicBezTo>
                    <a:pt x="92" y="72"/>
                    <a:pt x="98" y="59"/>
                    <a:pt x="98" y="45"/>
                  </a:cubicBezTo>
                  <a:cubicBezTo>
                    <a:pt x="98" y="29"/>
                    <a:pt x="91" y="15"/>
                    <a:pt x="78" y="7"/>
                  </a:cubicBezTo>
                  <a:cubicBezTo>
                    <a:pt x="69" y="2"/>
                    <a:pt x="59" y="0"/>
                    <a:pt x="4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Freeform 16">
              <a:extLst>
                <a:ext uri="{FF2B5EF4-FFF2-40B4-BE49-F238E27FC236}">
                  <a16:creationId xmlns:a16="http://schemas.microsoft.com/office/drawing/2014/main" id="{2758AF45-4890-41C5-8220-24193CF4ADE2}"/>
                </a:ext>
              </a:extLst>
            </p:cNvPr>
            <p:cNvSpPr>
              <a:spLocks/>
            </p:cNvSpPr>
            <p:nvPr userDrawn="1"/>
          </p:nvSpPr>
          <p:spPr bwMode="auto">
            <a:xfrm>
              <a:off x="5372100" y="3213100"/>
              <a:ext cx="292100" cy="434975"/>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4 w 97"/>
                <a:gd name="T19" fmla="*/ 142 h 142"/>
                <a:gd name="T20" fmla="*/ 97 w 97"/>
                <a:gd name="T21" fmla="*/ 142 h 142"/>
                <a:gd name="T22" fmla="*/ 53 w 97"/>
                <a:gd name="T23" fmla="*/ 88 h 142"/>
                <a:gd name="T24" fmla="*/ 76 w 97"/>
                <a:gd name="T25" fmla="*/ 80 h 142"/>
                <a:gd name="T26" fmla="*/ 94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40" y="73"/>
                    <a:pt x="23" y="73"/>
                    <a:pt x="23" y="73"/>
                  </a:cubicBezTo>
                  <a:cubicBezTo>
                    <a:pt x="25" y="76"/>
                    <a:pt x="25" y="76"/>
                    <a:pt x="25" y="76"/>
                  </a:cubicBezTo>
                  <a:cubicBezTo>
                    <a:pt x="25" y="76"/>
                    <a:pt x="74" y="142"/>
                    <a:pt x="74" y="142"/>
                  </a:cubicBezTo>
                  <a:cubicBezTo>
                    <a:pt x="97" y="142"/>
                    <a:pt x="97" y="142"/>
                    <a:pt x="97" y="142"/>
                  </a:cubicBezTo>
                  <a:cubicBezTo>
                    <a:pt x="97" y="142"/>
                    <a:pt x="55" y="90"/>
                    <a:pt x="53" y="88"/>
                  </a:cubicBezTo>
                  <a:cubicBezTo>
                    <a:pt x="63" y="86"/>
                    <a:pt x="70" y="84"/>
                    <a:pt x="76" y="80"/>
                  </a:cubicBezTo>
                  <a:cubicBezTo>
                    <a:pt x="88" y="72"/>
                    <a:pt x="94" y="59"/>
                    <a:pt x="94" y="45"/>
                  </a:cubicBezTo>
                  <a:cubicBezTo>
                    <a:pt x="94"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Freeform 17">
              <a:extLst>
                <a:ext uri="{FF2B5EF4-FFF2-40B4-BE49-F238E27FC236}">
                  <a16:creationId xmlns:a16="http://schemas.microsoft.com/office/drawing/2014/main" id="{B9A1260E-CDC6-44EE-91AA-7CAAA0AF3FDE}"/>
                </a:ext>
              </a:extLst>
            </p:cNvPr>
            <p:cNvSpPr>
              <a:spLocks/>
            </p:cNvSpPr>
            <p:nvPr userDrawn="1"/>
          </p:nvSpPr>
          <p:spPr bwMode="auto">
            <a:xfrm>
              <a:off x="7415213" y="3213100"/>
              <a:ext cx="290513" cy="434975"/>
            </a:xfrm>
            <a:custGeom>
              <a:avLst/>
              <a:gdLst>
                <a:gd name="T0" fmla="*/ 0 w 97"/>
                <a:gd name="T1" fmla="*/ 0 h 142"/>
                <a:gd name="T2" fmla="*/ 0 w 97"/>
                <a:gd name="T3" fmla="*/ 142 h 142"/>
                <a:gd name="T4" fmla="*/ 18 w 97"/>
                <a:gd name="T5" fmla="*/ 142 h 142"/>
                <a:gd name="T6" fmla="*/ 18 w 97"/>
                <a:gd name="T7" fmla="*/ 16 h 142"/>
                <a:gd name="T8" fmla="*/ 37 w 97"/>
                <a:gd name="T9" fmla="*/ 16 h 142"/>
                <a:gd name="T10" fmla="*/ 76 w 97"/>
                <a:gd name="T11" fmla="*/ 44 h 142"/>
                <a:gd name="T12" fmla="*/ 40 w 97"/>
                <a:gd name="T13" fmla="*/ 73 h 142"/>
                <a:gd name="T14" fmla="*/ 23 w 97"/>
                <a:gd name="T15" fmla="*/ 73 h 142"/>
                <a:gd name="T16" fmla="*/ 25 w 97"/>
                <a:gd name="T17" fmla="*/ 76 h 142"/>
                <a:gd name="T18" fmla="*/ 75 w 97"/>
                <a:gd name="T19" fmla="*/ 142 h 142"/>
                <a:gd name="T20" fmla="*/ 97 w 97"/>
                <a:gd name="T21" fmla="*/ 142 h 142"/>
                <a:gd name="T22" fmla="*/ 54 w 97"/>
                <a:gd name="T23" fmla="*/ 88 h 142"/>
                <a:gd name="T24" fmla="*/ 76 w 97"/>
                <a:gd name="T25" fmla="*/ 80 h 142"/>
                <a:gd name="T26" fmla="*/ 95 w 97"/>
                <a:gd name="T27" fmla="*/ 45 h 142"/>
                <a:gd name="T28" fmla="*/ 74 w 97"/>
                <a:gd name="T29" fmla="*/ 7 h 142"/>
                <a:gd name="T30" fmla="*/ 37 w 97"/>
                <a:gd name="T31" fmla="*/ 0 h 142"/>
                <a:gd name="T32" fmla="*/ 0 w 97"/>
                <a:gd name="T33" fmla="*/ 0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7" h="142">
                  <a:moveTo>
                    <a:pt x="0" y="0"/>
                  </a:moveTo>
                  <a:cubicBezTo>
                    <a:pt x="0" y="142"/>
                    <a:pt x="0" y="142"/>
                    <a:pt x="0" y="142"/>
                  </a:cubicBezTo>
                  <a:cubicBezTo>
                    <a:pt x="18" y="142"/>
                    <a:pt x="18" y="142"/>
                    <a:pt x="18" y="142"/>
                  </a:cubicBezTo>
                  <a:cubicBezTo>
                    <a:pt x="18" y="142"/>
                    <a:pt x="18" y="18"/>
                    <a:pt x="18" y="16"/>
                  </a:cubicBezTo>
                  <a:cubicBezTo>
                    <a:pt x="20" y="16"/>
                    <a:pt x="37" y="16"/>
                    <a:pt x="37" y="16"/>
                  </a:cubicBezTo>
                  <a:cubicBezTo>
                    <a:pt x="63" y="16"/>
                    <a:pt x="76" y="26"/>
                    <a:pt x="76" y="44"/>
                  </a:cubicBezTo>
                  <a:cubicBezTo>
                    <a:pt x="76" y="62"/>
                    <a:pt x="64" y="72"/>
                    <a:pt x="40" y="73"/>
                  </a:cubicBezTo>
                  <a:cubicBezTo>
                    <a:pt x="23" y="73"/>
                    <a:pt x="23" y="73"/>
                    <a:pt x="23" y="73"/>
                  </a:cubicBezTo>
                  <a:cubicBezTo>
                    <a:pt x="25" y="76"/>
                    <a:pt x="25" y="76"/>
                    <a:pt x="25" y="76"/>
                  </a:cubicBezTo>
                  <a:cubicBezTo>
                    <a:pt x="75" y="142"/>
                    <a:pt x="75" y="142"/>
                    <a:pt x="75" y="142"/>
                  </a:cubicBezTo>
                  <a:cubicBezTo>
                    <a:pt x="97" y="142"/>
                    <a:pt x="97" y="142"/>
                    <a:pt x="97" y="142"/>
                  </a:cubicBezTo>
                  <a:cubicBezTo>
                    <a:pt x="97" y="142"/>
                    <a:pt x="55" y="90"/>
                    <a:pt x="54" y="88"/>
                  </a:cubicBezTo>
                  <a:cubicBezTo>
                    <a:pt x="63" y="86"/>
                    <a:pt x="70" y="84"/>
                    <a:pt x="76" y="80"/>
                  </a:cubicBezTo>
                  <a:cubicBezTo>
                    <a:pt x="88" y="72"/>
                    <a:pt x="95" y="59"/>
                    <a:pt x="95" y="45"/>
                  </a:cubicBezTo>
                  <a:cubicBezTo>
                    <a:pt x="95" y="29"/>
                    <a:pt x="87" y="15"/>
                    <a:pt x="74" y="7"/>
                  </a:cubicBezTo>
                  <a:cubicBezTo>
                    <a:pt x="65" y="2"/>
                    <a:pt x="55" y="0"/>
                    <a:pt x="3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cSld>
  <p:clrMap bg1="lt1" tx1="dk1" bg2="lt2" tx2="dk2" accent1="accent1" accent2="accent2" accent3="accent3" accent4="accent4" accent5="accent5" accent6="accent6" hlink="hlink" folHlink="folHlink"/>
  <p:sldLayoutIdLst>
    <p:sldLayoutId id="2147483703" r:id="rId1"/>
    <p:sldLayoutId id="2147483701" r:id="rId2"/>
    <p:sldLayoutId id="2147483679" r:id="rId3"/>
    <p:sldLayoutId id="2147483683" r:id="rId4"/>
    <p:sldLayoutId id="2147483700" r:id="rId5"/>
    <p:sldLayoutId id="2147483702" r:id="rId6"/>
  </p:sldLayoutIdLst>
  <p:txStyles>
    <p:titleStyle>
      <a:lvl1pPr algn="l" rtl="0" eaLnBrk="1" fontAlgn="base" hangingPunct="1">
        <a:lnSpc>
          <a:spcPct val="100000"/>
        </a:lnSpc>
        <a:spcBef>
          <a:spcPct val="0"/>
        </a:spcBef>
        <a:spcAft>
          <a:spcPct val="0"/>
        </a:spcAft>
        <a:defRPr lang="en-GB" sz="1800" b="1" kern="0" noProof="0" dirty="0">
          <a:solidFill>
            <a:schemeClr val="bg1"/>
          </a:solidFill>
          <a:latin typeface="+mj-lt"/>
          <a:ea typeface="+mj-ea"/>
          <a:cs typeface="+mj-cs"/>
        </a:defRPr>
      </a:lvl1pPr>
      <a:lvl2pPr algn="l" rtl="0" eaLnBrk="1" fontAlgn="base" hangingPunct="1">
        <a:lnSpc>
          <a:spcPct val="90000"/>
        </a:lnSpc>
        <a:spcBef>
          <a:spcPct val="0"/>
        </a:spcBef>
        <a:spcAft>
          <a:spcPct val="0"/>
        </a:spcAft>
        <a:defRPr sz="1600">
          <a:solidFill>
            <a:schemeClr val="tx1"/>
          </a:solidFill>
          <a:latin typeface="Trebuchet MS" pitchFamily="34" charset="0"/>
        </a:defRPr>
      </a:lvl2pPr>
      <a:lvl3pPr algn="l" rtl="0" eaLnBrk="1" fontAlgn="base" hangingPunct="1">
        <a:lnSpc>
          <a:spcPct val="90000"/>
        </a:lnSpc>
        <a:spcBef>
          <a:spcPct val="0"/>
        </a:spcBef>
        <a:spcAft>
          <a:spcPct val="0"/>
        </a:spcAft>
        <a:defRPr sz="1600">
          <a:solidFill>
            <a:schemeClr val="tx1"/>
          </a:solidFill>
          <a:latin typeface="Trebuchet MS" pitchFamily="34" charset="0"/>
        </a:defRPr>
      </a:lvl3pPr>
      <a:lvl4pPr algn="l" rtl="0" eaLnBrk="1" fontAlgn="base" hangingPunct="1">
        <a:lnSpc>
          <a:spcPct val="90000"/>
        </a:lnSpc>
        <a:spcBef>
          <a:spcPct val="0"/>
        </a:spcBef>
        <a:spcAft>
          <a:spcPct val="0"/>
        </a:spcAft>
        <a:defRPr sz="1600">
          <a:solidFill>
            <a:schemeClr val="tx1"/>
          </a:solidFill>
          <a:latin typeface="Trebuchet MS" pitchFamily="34" charset="0"/>
        </a:defRPr>
      </a:lvl4pPr>
      <a:lvl5pPr algn="l" rtl="0" eaLnBrk="1" fontAlgn="base" hangingPunct="1">
        <a:lnSpc>
          <a:spcPct val="90000"/>
        </a:lnSpc>
        <a:spcBef>
          <a:spcPct val="0"/>
        </a:spcBef>
        <a:spcAft>
          <a:spcPct val="0"/>
        </a:spcAft>
        <a:defRPr sz="1600">
          <a:solidFill>
            <a:schemeClr val="tx1"/>
          </a:solidFill>
          <a:latin typeface="Trebuchet MS" pitchFamily="34" charset="0"/>
        </a:defRPr>
      </a:lvl5pPr>
      <a:lvl6pPr marL="457200" algn="l" rtl="0" eaLnBrk="1" fontAlgn="base" hangingPunct="1">
        <a:lnSpc>
          <a:spcPct val="90000"/>
        </a:lnSpc>
        <a:spcBef>
          <a:spcPct val="0"/>
        </a:spcBef>
        <a:spcAft>
          <a:spcPct val="0"/>
        </a:spcAft>
        <a:defRPr sz="1600">
          <a:solidFill>
            <a:schemeClr val="tx1"/>
          </a:solidFill>
          <a:latin typeface="Trebuchet MS" pitchFamily="34" charset="0"/>
        </a:defRPr>
      </a:lvl6pPr>
      <a:lvl7pPr marL="914400" algn="l" rtl="0" eaLnBrk="1" fontAlgn="base" hangingPunct="1">
        <a:lnSpc>
          <a:spcPct val="90000"/>
        </a:lnSpc>
        <a:spcBef>
          <a:spcPct val="0"/>
        </a:spcBef>
        <a:spcAft>
          <a:spcPct val="0"/>
        </a:spcAft>
        <a:defRPr sz="1600">
          <a:solidFill>
            <a:schemeClr val="tx1"/>
          </a:solidFill>
          <a:latin typeface="Trebuchet MS" pitchFamily="34" charset="0"/>
        </a:defRPr>
      </a:lvl7pPr>
      <a:lvl8pPr marL="1371600" algn="l" rtl="0" eaLnBrk="1" fontAlgn="base" hangingPunct="1">
        <a:lnSpc>
          <a:spcPct val="90000"/>
        </a:lnSpc>
        <a:spcBef>
          <a:spcPct val="0"/>
        </a:spcBef>
        <a:spcAft>
          <a:spcPct val="0"/>
        </a:spcAft>
        <a:defRPr sz="1600">
          <a:solidFill>
            <a:schemeClr val="tx1"/>
          </a:solidFill>
          <a:latin typeface="Trebuchet MS" pitchFamily="34" charset="0"/>
        </a:defRPr>
      </a:lvl8pPr>
      <a:lvl9pPr marL="1828800" algn="l" rtl="0" eaLnBrk="1" fontAlgn="base" hangingPunct="1">
        <a:lnSpc>
          <a:spcPct val="90000"/>
        </a:lnSpc>
        <a:spcBef>
          <a:spcPct val="0"/>
        </a:spcBef>
        <a:spcAft>
          <a:spcPct val="0"/>
        </a:spcAft>
        <a:defRPr sz="1600">
          <a:solidFill>
            <a:schemeClr val="tx1"/>
          </a:solidFill>
          <a:latin typeface="Trebuchet MS" pitchFamily="34" charset="0"/>
        </a:defRPr>
      </a:lvl9pPr>
    </p:titleStyle>
    <p:bodyStyle>
      <a:lvl1pPr marL="187325" indent="-187325" algn="l" rtl="0" eaLnBrk="1" fontAlgn="base" hangingPunct="1">
        <a:spcBef>
          <a:spcPct val="100000"/>
        </a:spcBef>
        <a:spcAft>
          <a:spcPct val="0"/>
        </a:spcAft>
        <a:buSzPct val="90000"/>
        <a:buChar char="•"/>
        <a:defRPr sz="1600">
          <a:solidFill>
            <a:srgbClr val="000000"/>
          </a:solidFill>
          <a:latin typeface="+mn-lt"/>
          <a:ea typeface="+mn-ea"/>
          <a:cs typeface="+mn-cs"/>
        </a:defRPr>
      </a:lvl1pPr>
      <a:lvl2pPr marL="457200" indent="-187325" algn="l" rtl="0" eaLnBrk="1" fontAlgn="base" hangingPunct="1">
        <a:spcBef>
          <a:spcPct val="30000"/>
        </a:spcBef>
        <a:spcAft>
          <a:spcPct val="0"/>
        </a:spcAft>
        <a:buSzPct val="100000"/>
        <a:buChar char="–"/>
        <a:defRPr sz="1600">
          <a:solidFill>
            <a:srgbClr val="000000"/>
          </a:solidFill>
          <a:latin typeface="+mn-lt"/>
        </a:defRPr>
      </a:lvl2pPr>
      <a:lvl3pPr marL="706438" indent="-155575" algn="l" rtl="0" eaLnBrk="1" fontAlgn="base" hangingPunct="1">
        <a:spcBef>
          <a:spcPct val="30000"/>
        </a:spcBef>
        <a:spcAft>
          <a:spcPct val="0"/>
        </a:spcAft>
        <a:buSzPct val="70000"/>
        <a:buChar char="•"/>
        <a:defRPr sz="1400">
          <a:solidFill>
            <a:srgbClr val="000000"/>
          </a:solidFill>
          <a:latin typeface="+mn-lt"/>
        </a:defRPr>
      </a:lvl3pPr>
      <a:lvl4pPr marL="987425" indent="-176213" algn="l" rtl="0" eaLnBrk="1" fontAlgn="base" hangingPunct="1">
        <a:spcBef>
          <a:spcPct val="30000"/>
        </a:spcBef>
        <a:spcAft>
          <a:spcPct val="0"/>
        </a:spcAft>
        <a:buSzPct val="100000"/>
        <a:buChar char="-"/>
        <a:defRPr sz="1400">
          <a:solidFill>
            <a:srgbClr val="000000"/>
          </a:solidFill>
          <a:latin typeface="+mn-lt"/>
        </a:defRPr>
      </a:lvl4pPr>
      <a:lvl5pPr marL="1268413" indent="-187325" algn="l" rtl="0" eaLnBrk="1" fontAlgn="base" hangingPunct="1">
        <a:spcBef>
          <a:spcPct val="30000"/>
        </a:spcBef>
        <a:spcAft>
          <a:spcPct val="0"/>
        </a:spcAft>
        <a:buSzPct val="50000"/>
        <a:buChar char="•"/>
        <a:defRPr sz="1400">
          <a:solidFill>
            <a:srgbClr val="000000"/>
          </a:solidFill>
          <a:latin typeface="+mn-lt"/>
        </a:defRPr>
      </a:lvl5pPr>
      <a:lvl6pPr marL="1725613" indent="-187325" algn="l" rtl="0" eaLnBrk="1" fontAlgn="base" hangingPunct="1">
        <a:spcBef>
          <a:spcPct val="30000"/>
        </a:spcBef>
        <a:spcAft>
          <a:spcPct val="0"/>
        </a:spcAft>
        <a:buSzPct val="50000"/>
        <a:buChar char="•"/>
        <a:defRPr sz="1400">
          <a:solidFill>
            <a:srgbClr val="000000"/>
          </a:solidFill>
          <a:latin typeface="+mn-lt"/>
        </a:defRPr>
      </a:lvl6pPr>
      <a:lvl7pPr marL="2182813" indent="-187325" algn="l" rtl="0" eaLnBrk="1" fontAlgn="base" hangingPunct="1">
        <a:spcBef>
          <a:spcPct val="30000"/>
        </a:spcBef>
        <a:spcAft>
          <a:spcPct val="0"/>
        </a:spcAft>
        <a:buSzPct val="50000"/>
        <a:buChar char="•"/>
        <a:defRPr sz="1400">
          <a:solidFill>
            <a:srgbClr val="000000"/>
          </a:solidFill>
          <a:latin typeface="+mn-lt"/>
        </a:defRPr>
      </a:lvl7pPr>
      <a:lvl8pPr marL="2640013" indent="-187325" algn="l" rtl="0" eaLnBrk="1" fontAlgn="base" hangingPunct="1">
        <a:spcBef>
          <a:spcPct val="30000"/>
        </a:spcBef>
        <a:spcAft>
          <a:spcPct val="0"/>
        </a:spcAft>
        <a:buSzPct val="50000"/>
        <a:buChar char="•"/>
        <a:defRPr sz="1400">
          <a:solidFill>
            <a:srgbClr val="000000"/>
          </a:solidFill>
          <a:latin typeface="+mn-lt"/>
        </a:defRPr>
      </a:lvl8pPr>
      <a:lvl9pPr marL="3097213" indent="-187325" algn="l" rtl="0" eaLnBrk="1" fontAlgn="base" hangingPunct="1">
        <a:spcBef>
          <a:spcPct val="30000"/>
        </a:spcBef>
        <a:spcAft>
          <a:spcPct val="0"/>
        </a:spcAft>
        <a:buSzPct val="50000"/>
        <a:buChar char="•"/>
        <a:defRPr sz="14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chart" Target="../charts/chart1.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6.xml"/><Relationship Id="rId1" Type="http://schemas.openxmlformats.org/officeDocument/2006/relationships/slideLayout" Target="../slideLayouts/slideLayout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9.xml"/><Relationship Id="rId1" Type="http://schemas.openxmlformats.org/officeDocument/2006/relationships/slideLayout" Target="../slideLayouts/slideLayout4.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2.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slide" Target="slide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3.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chart" Target="../charts/chart4.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png"/><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5.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4"/>
          <p:cNvSpPr txBox="1">
            <a:spLocks/>
          </p:cNvSpPr>
          <p:nvPr/>
        </p:nvSpPr>
        <p:spPr>
          <a:xfrm>
            <a:off x="609600" y="4454474"/>
            <a:ext cx="7547572" cy="404812"/>
          </a:xfrm>
          <a:prstGeom prst="rect">
            <a:avLst/>
          </a:prstGeom>
        </p:spPr>
        <p:txBody>
          <a:bodyPr anchor="b"/>
          <a:lstStyle>
            <a:lvl1pPr algn="l" rtl="0" eaLnBrk="1" fontAlgn="base" hangingPunct="1">
              <a:lnSpc>
                <a:spcPct val="90000"/>
              </a:lnSpc>
              <a:spcBef>
                <a:spcPct val="0"/>
              </a:spcBef>
              <a:spcAft>
                <a:spcPct val="0"/>
              </a:spcAft>
              <a:defRPr sz="1600">
                <a:solidFill>
                  <a:schemeClr val="tx1"/>
                </a:solidFill>
                <a:latin typeface="+mj-lt"/>
                <a:ea typeface="+mj-ea"/>
                <a:cs typeface="+mj-cs"/>
              </a:defRPr>
            </a:lvl1pPr>
            <a:lvl2pPr algn="l" rtl="0" eaLnBrk="1" fontAlgn="base" hangingPunct="1">
              <a:lnSpc>
                <a:spcPct val="90000"/>
              </a:lnSpc>
              <a:spcBef>
                <a:spcPct val="0"/>
              </a:spcBef>
              <a:spcAft>
                <a:spcPct val="0"/>
              </a:spcAft>
              <a:defRPr sz="1600">
                <a:solidFill>
                  <a:schemeClr val="tx1"/>
                </a:solidFill>
                <a:latin typeface="Trebuchet MS" pitchFamily="34" charset="0"/>
              </a:defRPr>
            </a:lvl2pPr>
            <a:lvl3pPr algn="l" rtl="0" eaLnBrk="1" fontAlgn="base" hangingPunct="1">
              <a:lnSpc>
                <a:spcPct val="90000"/>
              </a:lnSpc>
              <a:spcBef>
                <a:spcPct val="0"/>
              </a:spcBef>
              <a:spcAft>
                <a:spcPct val="0"/>
              </a:spcAft>
              <a:defRPr sz="1600">
                <a:solidFill>
                  <a:schemeClr val="tx1"/>
                </a:solidFill>
                <a:latin typeface="Trebuchet MS" pitchFamily="34" charset="0"/>
              </a:defRPr>
            </a:lvl3pPr>
            <a:lvl4pPr algn="l" rtl="0" eaLnBrk="1" fontAlgn="base" hangingPunct="1">
              <a:lnSpc>
                <a:spcPct val="90000"/>
              </a:lnSpc>
              <a:spcBef>
                <a:spcPct val="0"/>
              </a:spcBef>
              <a:spcAft>
                <a:spcPct val="0"/>
              </a:spcAft>
              <a:defRPr sz="1600">
                <a:solidFill>
                  <a:schemeClr val="tx1"/>
                </a:solidFill>
                <a:latin typeface="Trebuchet MS" pitchFamily="34" charset="0"/>
              </a:defRPr>
            </a:lvl4pPr>
            <a:lvl5pPr algn="l" rtl="0" eaLnBrk="1" fontAlgn="base" hangingPunct="1">
              <a:lnSpc>
                <a:spcPct val="90000"/>
              </a:lnSpc>
              <a:spcBef>
                <a:spcPct val="0"/>
              </a:spcBef>
              <a:spcAft>
                <a:spcPct val="0"/>
              </a:spcAft>
              <a:defRPr sz="1600">
                <a:solidFill>
                  <a:schemeClr val="tx1"/>
                </a:solidFill>
                <a:latin typeface="Trebuchet MS" pitchFamily="34" charset="0"/>
              </a:defRPr>
            </a:lvl5pPr>
            <a:lvl6pPr marL="457200" algn="l" rtl="0" eaLnBrk="1" fontAlgn="base" hangingPunct="1">
              <a:lnSpc>
                <a:spcPct val="90000"/>
              </a:lnSpc>
              <a:spcBef>
                <a:spcPct val="0"/>
              </a:spcBef>
              <a:spcAft>
                <a:spcPct val="0"/>
              </a:spcAft>
              <a:defRPr sz="1600">
                <a:solidFill>
                  <a:schemeClr val="tx1"/>
                </a:solidFill>
                <a:latin typeface="Trebuchet MS" pitchFamily="34" charset="0"/>
              </a:defRPr>
            </a:lvl6pPr>
            <a:lvl7pPr marL="914400" algn="l" rtl="0" eaLnBrk="1" fontAlgn="base" hangingPunct="1">
              <a:lnSpc>
                <a:spcPct val="90000"/>
              </a:lnSpc>
              <a:spcBef>
                <a:spcPct val="0"/>
              </a:spcBef>
              <a:spcAft>
                <a:spcPct val="0"/>
              </a:spcAft>
              <a:defRPr sz="1600">
                <a:solidFill>
                  <a:schemeClr val="tx1"/>
                </a:solidFill>
                <a:latin typeface="Trebuchet MS" pitchFamily="34" charset="0"/>
              </a:defRPr>
            </a:lvl7pPr>
            <a:lvl8pPr marL="1371600" algn="l" rtl="0" eaLnBrk="1" fontAlgn="base" hangingPunct="1">
              <a:lnSpc>
                <a:spcPct val="90000"/>
              </a:lnSpc>
              <a:spcBef>
                <a:spcPct val="0"/>
              </a:spcBef>
              <a:spcAft>
                <a:spcPct val="0"/>
              </a:spcAft>
              <a:defRPr sz="1600">
                <a:solidFill>
                  <a:schemeClr val="tx1"/>
                </a:solidFill>
                <a:latin typeface="Trebuchet MS" pitchFamily="34" charset="0"/>
              </a:defRPr>
            </a:lvl8pPr>
            <a:lvl9pPr marL="1828800" algn="l" rtl="0" eaLnBrk="1" fontAlgn="base" hangingPunct="1">
              <a:lnSpc>
                <a:spcPct val="90000"/>
              </a:lnSpc>
              <a:spcBef>
                <a:spcPct val="0"/>
              </a:spcBef>
              <a:spcAft>
                <a:spcPct val="0"/>
              </a:spcAft>
              <a:defRPr sz="1600">
                <a:solidFill>
                  <a:schemeClr val="tx1"/>
                </a:solidFill>
                <a:latin typeface="Trebuchet MS" pitchFamily="34" charset="0"/>
              </a:defRPr>
            </a:lvl9pPr>
          </a:lstStyle>
          <a:p>
            <a:pPr>
              <a:buSzTx/>
            </a:pPr>
            <a:r>
              <a:rPr lang="en-GB" sz="2400" kern="0" dirty="0">
                <a:solidFill>
                  <a:schemeClr val="bg1"/>
                </a:solidFill>
                <a:latin typeface="Calibri" panose="020F0502020204030204" pitchFamily="34" charset="0"/>
              </a:rPr>
              <a:t>Ooredoo Algeria – Handover Sessions</a:t>
            </a:r>
          </a:p>
          <a:p>
            <a:pPr>
              <a:buSzTx/>
            </a:pPr>
            <a:r>
              <a:rPr lang="en-GB" sz="2400" b="1" kern="0" dirty="0">
                <a:solidFill>
                  <a:srgbClr val="FF9900"/>
                </a:solidFill>
                <a:latin typeface="Calibri" panose="020F0502020204030204" pitchFamily="34" charset="0"/>
              </a:rPr>
              <a:t>Session 2: Value Segmentation</a:t>
            </a:r>
          </a:p>
        </p:txBody>
      </p:sp>
      <p:sp>
        <p:nvSpPr>
          <p:cNvPr id="17" name="Subtitle 5"/>
          <p:cNvSpPr txBox="1">
            <a:spLocks/>
          </p:cNvSpPr>
          <p:nvPr/>
        </p:nvSpPr>
        <p:spPr>
          <a:xfrm>
            <a:off x="609600" y="4975073"/>
            <a:ext cx="4268787" cy="277813"/>
          </a:xfrm>
          <a:prstGeom prst="rect">
            <a:avLst/>
          </a:prstGeom>
        </p:spPr>
        <p:txBody>
          <a:bodyPr/>
          <a:lstStyle>
            <a:lvl1pPr marL="187325" indent="-187325" algn="l" rtl="0" eaLnBrk="1" fontAlgn="base" hangingPunct="1">
              <a:spcBef>
                <a:spcPct val="100000"/>
              </a:spcBef>
              <a:spcAft>
                <a:spcPct val="0"/>
              </a:spcAft>
              <a:buSzPct val="90000"/>
              <a:buChar char="•"/>
              <a:defRPr sz="1600">
                <a:solidFill>
                  <a:srgbClr val="000000"/>
                </a:solidFill>
                <a:latin typeface="+mn-lt"/>
                <a:ea typeface="+mn-ea"/>
                <a:cs typeface="+mn-cs"/>
              </a:defRPr>
            </a:lvl1pPr>
            <a:lvl2pPr marL="457200" indent="-187325" algn="l" rtl="0" eaLnBrk="1" fontAlgn="base" hangingPunct="1">
              <a:spcBef>
                <a:spcPct val="30000"/>
              </a:spcBef>
              <a:spcAft>
                <a:spcPct val="0"/>
              </a:spcAft>
              <a:buSzPct val="100000"/>
              <a:buChar char="–"/>
              <a:defRPr sz="1600">
                <a:solidFill>
                  <a:srgbClr val="000000"/>
                </a:solidFill>
                <a:latin typeface="+mn-lt"/>
              </a:defRPr>
            </a:lvl2pPr>
            <a:lvl3pPr marL="706438" indent="-155575" algn="l" rtl="0" eaLnBrk="1" fontAlgn="base" hangingPunct="1">
              <a:spcBef>
                <a:spcPct val="30000"/>
              </a:spcBef>
              <a:spcAft>
                <a:spcPct val="0"/>
              </a:spcAft>
              <a:buSzPct val="70000"/>
              <a:buChar char="•"/>
              <a:defRPr sz="1400">
                <a:solidFill>
                  <a:srgbClr val="000000"/>
                </a:solidFill>
                <a:latin typeface="+mn-lt"/>
              </a:defRPr>
            </a:lvl3pPr>
            <a:lvl4pPr marL="987425" indent="-176213" algn="l" rtl="0" eaLnBrk="1" fontAlgn="base" hangingPunct="1">
              <a:spcBef>
                <a:spcPct val="30000"/>
              </a:spcBef>
              <a:spcAft>
                <a:spcPct val="0"/>
              </a:spcAft>
              <a:buSzPct val="100000"/>
              <a:buChar char="-"/>
              <a:defRPr sz="1400">
                <a:solidFill>
                  <a:srgbClr val="000000"/>
                </a:solidFill>
                <a:latin typeface="+mn-lt"/>
              </a:defRPr>
            </a:lvl4pPr>
            <a:lvl5pPr marL="1268413" indent="-187325" algn="l" rtl="0" eaLnBrk="1" fontAlgn="base" hangingPunct="1">
              <a:spcBef>
                <a:spcPct val="30000"/>
              </a:spcBef>
              <a:spcAft>
                <a:spcPct val="0"/>
              </a:spcAft>
              <a:buSzPct val="50000"/>
              <a:buChar char="•"/>
              <a:defRPr sz="1400">
                <a:solidFill>
                  <a:srgbClr val="000000"/>
                </a:solidFill>
                <a:latin typeface="+mn-lt"/>
              </a:defRPr>
            </a:lvl5pPr>
            <a:lvl6pPr marL="1725613" indent="-187325" algn="l" rtl="0" eaLnBrk="1" fontAlgn="base" hangingPunct="1">
              <a:spcBef>
                <a:spcPct val="30000"/>
              </a:spcBef>
              <a:spcAft>
                <a:spcPct val="0"/>
              </a:spcAft>
              <a:buSzPct val="50000"/>
              <a:buChar char="•"/>
              <a:defRPr sz="1400">
                <a:solidFill>
                  <a:srgbClr val="000000"/>
                </a:solidFill>
                <a:latin typeface="+mn-lt"/>
              </a:defRPr>
            </a:lvl6pPr>
            <a:lvl7pPr marL="2182813" indent="-187325" algn="l" rtl="0" eaLnBrk="1" fontAlgn="base" hangingPunct="1">
              <a:spcBef>
                <a:spcPct val="30000"/>
              </a:spcBef>
              <a:spcAft>
                <a:spcPct val="0"/>
              </a:spcAft>
              <a:buSzPct val="50000"/>
              <a:buChar char="•"/>
              <a:defRPr sz="1400">
                <a:solidFill>
                  <a:srgbClr val="000000"/>
                </a:solidFill>
                <a:latin typeface="+mn-lt"/>
              </a:defRPr>
            </a:lvl7pPr>
            <a:lvl8pPr marL="2640013" indent="-187325" algn="l" rtl="0" eaLnBrk="1" fontAlgn="base" hangingPunct="1">
              <a:spcBef>
                <a:spcPct val="30000"/>
              </a:spcBef>
              <a:spcAft>
                <a:spcPct val="0"/>
              </a:spcAft>
              <a:buSzPct val="50000"/>
              <a:buChar char="•"/>
              <a:defRPr sz="1400">
                <a:solidFill>
                  <a:srgbClr val="000000"/>
                </a:solidFill>
                <a:latin typeface="+mn-lt"/>
              </a:defRPr>
            </a:lvl8pPr>
            <a:lvl9pPr marL="3097213" indent="-187325" algn="l" rtl="0" eaLnBrk="1" fontAlgn="base" hangingPunct="1">
              <a:spcBef>
                <a:spcPct val="30000"/>
              </a:spcBef>
              <a:spcAft>
                <a:spcPct val="0"/>
              </a:spcAft>
              <a:buSzPct val="50000"/>
              <a:buChar char="•"/>
              <a:defRPr sz="1400">
                <a:solidFill>
                  <a:srgbClr val="000000"/>
                </a:solidFill>
                <a:latin typeface="+mn-lt"/>
              </a:defRPr>
            </a:lvl9pPr>
          </a:lstStyle>
          <a:p>
            <a:pPr marL="0" indent="0">
              <a:buNone/>
            </a:pPr>
            <a:r>
              <a:rPr lang="en-GB" sz="1400" kern="0" dirty="0">
                <a:solidFill>
                  <a:schemeClr val="bg1"/>
                </a:solidFill>
                <a:latin typeface="Calibri" panose="020F0502020204030204" pitchFamily="34" charset="0"/>
              </a:rPr>
              <a:t>14</a:t>
            </a:r>
            <a:r>
              <a:rPr lang="en-GB" sz="1400" kern="0" baseline="30000" dirty="0">
                <a:solidFill>
                  <a:schemeClr val="bg1"/>
                </a:solidFill>
                <a:latin typeface="Calibri" panose="020F0502020204030204" pitchFamily="34" charset="0"/>
              </a:rPr>
              <a:t>th</a:t>
            </a:r>
            <a:r>
              <a:rPr lang="en-GB" sz="1400" kern="0" dirty="0">
                <a:solidFill>
                  <a:schemeClr val="bg1"/>
                </a:solidFill>
                <a:latin typeface="Calibri" panose="020F0502020204030204" pitchFamily="34" charset="0"/>
              </a:rPr>
              <a:t> March 2019</a:t>
            </a:r>
          </a:p>
        </p:txBody>
      </p:sp>
      <p:pic>
        <p:nvPicPr>
          <p:cNvPr id="7" name="Picture 4" descr="http://www.deltapartnersgroup.com/sites/default/files/styles/bootstrap_images/public/homepage-buildings.jpg?itok=N_aZOorL"/>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a:stretch/>
        </p:blipFill>
        <p:spPr bwMode="auto">
          <a:xfrm>
            <a:off x="0" y="0"/>
            <a:ext cx="9906000" cy="3807382"/>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558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ADCC1-A882-4CF3-8E33-0B44D591DC0A}"/>
              </a:ext>
            </a:extLst>
          </p:cNvPr>
          <p:cNvSpPr>
            <a:spLocks noGrp="1"/>
          </p:cNvSpPr>
          <p:nvPr>
            <p:ph type="title"/>
          </p:nvPr>
        </p:nvSpPr>
        <p:spPr/>
        <p:txBody>
          <a:bodyPr/>
          <a:lstStyle/>
          <a:p>
            <a:r>
              <a:rPr lang="en-US" dirty="0"/>
              <a:t>Prepaid service revenues have suffered a 16% erosion (1.15 Bn DA) during the period of analysis</a:t>
            </a:r>
          </a:p>
        </p:txBody>
      </p:sp>
      <p:graphicFrame>
        <p:nvGraphicFramePr>
          <p:cNvPr id="4" name="Chart 3">
            <a:extLst>
              <a:ext uri="{FF2B5EF4-FFF2-40B4-BE49-F238E27FC236}">
                <a16:creationId xmlns:a16="http://schemas.microsoft.com/office/drawing/2014/main" id="{9106D846-BCA2-49E1-8374-BE027F4DE114}"/>
              </a:ext>
            </a:extLst>
          </p:cNvPr>
          <p:cNvGraphicFramePr/>
          <p:nvPr>
            <p:extLst/>
          </p:nvPr>
        </p:nvGraphicFramePr>
        <p:xfrm>
          <a:off x="304800" y="2293033"/>
          <a:ext cx="9296399" cy="361481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C35307A-C25D-44FC-B64D-051019BDE3E1}"/>
              </a:ext>
            </a:extLst>
          </p:cNvPr>
          <p:cNvSpPr txBox="1"/>
          <p:nvPr/>
        </p:nvSpPr>
        <p:spPr>
          <a:xfrm>
            <a:off x="304800" y="6286494"/>
            <a:ext cx="9296400" cy="246221"/>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Note: Incoming revenue are not included, non-service revenue not included</a:t>
            </a:r>
          </a:p>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sp>
        <p:nvSpPr>
          <p:cNvPr id="6" name="Freeform: Shape 5">
            <a:extLst>
              <a:ext uri="{FF2B5EF4-FFF2-40B4-BE49-F238E27FC236}">
                <a16:creationId xmlns:a16="http://schemas.microsoft.com/office/drawing/2014/main" id="{DD5E0BC2-C4C7-4904-ACFB-135EFAB1ABC1}"/>
              </a:ext>
            </a:extLst>
          </p:cNvPr>
          <p:cNvSpPr/>
          <p:nvPr/>
        </p:nvSpPr>
        <p:spPr bwMode="gray">
          <a:xfrm>
            <a:off x="787791" y="1885071"/>
            <a:ext cx="8285871" cy="924390"/>
          </a:xfrm>
          <a:custGeom>
            <a:avLst/>
            <a:gdLst>
              <a:gd name="connsiteX0" fmla="*/ 0 w 8285871"/>
              <a:gd name="connsiteY0" fmla="*/ 351692 h 2096086"/>
              <a:gd name="connsiteX1" fmla="*/ 0 w 8285871"/>
              <a:gd name="connsiteY1" fmla="*/ 0 h 2096086"/>
              <a:gd name="connsiteX2" fmla="*/ 8285871 w 8285871"/>
              <a:gd name="connsiteY2" fmla="*/ 0 h 2096086"/>
              <a:gd name="connsiteX3" fmla="*/ 8285871 w 8285871"/>
              <a:gd name="connsiteY3" fmla="*/ 2096086 h 2096086"/>
            </a:gdLst>
            <a:ahLst/>
            <a:cxnLst>
              <a:cxn ang="0">
                <a:pos x="connsiteX0" y="connsiteY0"/>
              </a:cxn>
              <a:cxn ang="0">
                <a:pos x="connsiteX1" y="connsiteY1"/>
              </a:cxn>
              <a:cxn ang="0">
                <a:pos x="connsiteX2" y="connsiteY2"/>
              </a:cxn>
              <a:cxn ang="0">
                <a:pos x="connsiteX3" y="connsiteY3"/>
              </a:cxn>
            </a:cxnLst>
            <a:rect l="l" t="t" r="r" b="b"/>
            <a:pathLst>
              <a:path w="8285871" h="2096086">
                <a:moveTo>
                  <a:pt x="0" y="351692"/>
                </a:moveTo>
                <a:lnTo>
                  <a:pt x="0" y="0"/>
                </a:lnTo>
                <a:lnTo>
                  <a:pt x="8285871" y="0"/>
                </a:lnTo>
                <a:lnTo>
                  <a:pt x="8285871" y="2096086"/>
                </a:lnTo>
              </a:path>
            </a:pathLst>
          </a:custGeom>
          <a:noFill/>
          <a:ln w="3175">
            <a:solidFill>
              <a:schemeClr val="accent1"/>
            </a:solidFill>
            <a:prstDash val="solid"/>
            <a:miter lim="800000"/>
            <a:headEnd type="none" w="med" len="med"/>
            <a:tailEnd type="triangle" w="med" len="med"/>
          </a:ln>
          <a:effectLst/>
        </p:spPr>
        <p:txBody>
          <a:bodyPr rtlCol="0" anchor="ctr"/>
          <a:lstStyle/>
          <a:p>
            <a:pPr algn="ctr"/>
            <a:endParaRPr lang="en-US"/>
          </a:p>
        </p:txBody>
      </p:sp>
      <p:sp>
        <p:nvSpPr>
          <p:cNvPr id="7" name="Oval 6">
            <a:extLst>
              <a:ext uri="{FF2B5EF4-FFF2-40B4-BE49-F238E27FC236}">
                <a16:creationId xmlns:a16="http://schemas.microsoft.com/office/drawing/2014/main" id="{0ECE48BC-7746-4B5C-B8FB-AA5DDC555FF3}"/>
              </a:ext>
            </a:extLst>
          </p:cNvPr>
          <p:cNvSpPr/>
          <p:nvPr/>
        </p:nvSpPr>
        <p:spPr bwMode="gray">
          <a:xfrm>
            <a:off x="4438357" y="1667021"/>
            <a:ext cx="984738" cy="436099"/>
          </a:xfrm>
          <a:prstGeom prst="ellipse">
            <a:avLst/>
          </a:prstGeom>
          <a:solidFill>
            <a:srgbClr val="FF0000"/>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r>
              <a:rPr lang="en-US" sz="1500" b="1" dirty="0">
                <a:solidFill>
                  <a:schemeClr val="bg1"/>
                </a:solidFill>
                <a:latin typeface="+mj-lt"/>
                <a:ea typeface="ＭＳ Ｐゴシック" pitchFamily="-108" charset="-128"/>
                <a:sym typeface="Trebuchet MS" panose="020B0603020202020204" pitchFamily="34" charset="0"/>
              </a:rPr>
              <a:t>-16%</a:t>
            </a:r>
          </a:p>
        </p:txBody>
      </p:sp>
      <p:sp>
        <p:nvSpPr>
          <p:cNvPr id="8" name="Text Box 9">
            <a:extLst>
              <a:ext uri="{FF2B5EF4-FFF2-40B4-BE49-F238E27FC236}">
                <a16:creationId xmlns:a16="http://schemas.microsoft.com/office/drawing/2014/main" id="{7BAEF95C-E815-413A-B5CA-6D72D5CB74A2}"/>
              </a:ext>
            </a:extLst>
          </p:cNvPr>
          <p:cNvSpPr txBox="1">
            <a:spLocks noChangeArrowheads="1"/>
          </p:cNvSpPr>
          <p:nvPr/>
        </p:nvSpPr>
        <p:spPr bwMode="gray">
          <a:xfrm>
            <a:off x="304119" y="1134964"/>
            <a:ext cx="2750561" cy="346249"/>
          </a:xfrm>
          <a:prstGeom prst="rect">
            <a:avLst/>
          </a:prstGeom>
          <a:noFill/>
          <a:ln w="25400" algn="ctr">
            <a:noFill/>
            <a:miter lim="800000"/>
            <a:headEnd/>
            <a:tailEnd/>
          </a:ln>
        </p:spPr>
        <p:txBody>
          <a:bodyPr wrap="none" lIns="0" tIns="0" rIns="0" bIns="0">
            <a:spAutoFit/>
          </a:bodyPr>
          <a:lstStyle/>
          <a:p>
            <a:pPr algn="l">
              <a:lnSpc>
                <a:spcPct val="90000"/>
              </a:lnSpc>
              <a:spcBef>
                <a:spcPct val="0"/>
              </a:spcBef>
              <a:buSzPct val="100000"/>
            </a:pPr>
            <a:r>
              <a:rPr lang="en-GB" sz="1500" b="1" dirty="0">
                <a:solidFill>
                  <a:srgbClr val="004B7D"/>
                </a:solidFill>
                <a:latin typeface="+mj-lt"/>
              </a:rPr>
              <a:t>Prepaid service revenue evolution</a:t>
            </a:r>
          </a:p>
          <a:p>
            <a:pPr algn="l">
              <a:lnSpc>
                <a:spcPct val="90000"/>
              </a:lnSpc>
              <a:spcBef>
                <a:spcPct val="0"/>
              </a:spcBef>
              <a:buSzPct val="100000"/>
            </a:pPr>
            <a:r>
              <a:rPr lang="en-GB" sz="1000" dirty="0">
                <a:solidFill>
                  <a:srgbClr val="004B7D"/>
                </a:solidFill>
                <a:latin typeface="+mj-lt"/>
              </a:rPr>
              <a:t>(DA Billions, normalised) </a:t>
            </a:r>
          </a:p>
        </p:txBody>
      </p:sp>
      <p:grpSp>
        <p:nvGrpSpPr>
          <p:cNvPr id="9" name="Group 8">
            <a:extLst>
              <a:ext uri="{FF2B5EF4-FFF2-40B4-BE49-F238E27FC236}">
                <a16:creationId xmlns:a16="http://schemas.microsoft.com/office/drawing/2014/main" id="{E8EBDEB2-FF18-4147-AE09-4D1F784A2574}"/>
              </a:ext>
            </a:extLst>
          </p:cNvPr>
          <p:cNvGrpSpPr/>
          <p:nvPr/>
        </p:nvGrpSpPr>
        <p:grpSpPr>
          <a:xfrm>
            <a:off x="7254068" y="6544089"/>
            <a:ext cx="728904" cy="252000"/>
            <a:chOff x="7005593" y="6563968"/>
            <a:chExt cx="728904" cy="252000"/>
          </a:xfrm>
        </p:grpSpPr>
        <p:pic>
          <p:nvPicPr>
            <p:cNvPr id="10" name="Picture 7" descr="C:\Users\amorales\Downloads\IconShock SuperVista VideoProduction\png\play_256.png">
              <a:hlinkClick r:id="rId3" action="ppaction://hlinksldjump"/>
              <a:extLst>
                <a:ext uri="{FF2B5EF4-FFF2-40B4-BE49-F238E27FC236}">
                  <a16:creationId xmlns:a16="http://schemas.microsoft.com/office/drawing/2014/main" id="{8F0118F2-D2DA-4BCD-ACB4-41BBD70D28D9}"/>
                </a:ext>
              </a:extLst>
            </p:cNvPr>
            <p:cNvPicPr>
              <a:picLocks noChangeAspect="1" noChangeArrowheads="1"/>
            </p:cNvPicPr>
            <p:nvPr/>
          </p:nvPicPr>
          <p:blipFill>
            <a:blip r:embed="rId4">
              <a:duotone>
                <a:prstClr val="black"/>
                <a:srgbClr val="6693B1">
                  <a:tint val="45000"/>
                  <a:satMod val="400000"/>
                </a:srgbClr>
              </a:duotone>
              <a:extLst>
                <a:ext uri="{BEBA8EAE-BF5A-486C-A8C5-ECC9F3942E4B}">
                  <a14:imgProps xmlns:a14="http://schemas.microsoft.com/office/drawing/2010/main">
                    <a14:imgLayer r:embed="rId5">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11" name="TextBox 10">
              <a:extLst>
                <a:ext uri="{FF2B5EF4-FFF2-40B4-BE49-F238E27FC236}">
                  <a16:creationId xmlns:a16="http://schemas.microsoft.com/office/drawing/2014/main" id="{70EC9B31-F329-4E0C-820F-88BE1DD9211A}"/>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Tree>
    <p:extLst>
      <p:ext uri="{BB962C8B-B14F-4D97-AF65-F5344CB8AC3E}">
        <p14:creationId xmlns:p14="http://schemas.microsoft.com/office/powerpoint/2010/main" val="1844313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653C1-33AC-4893-876B-118C75000EF2}"/>
              </a:ext>
            </a:extLst>
          </p:cNvPr>
          <p:cNvSpPr>
            <a:spLocks noGrp="1"/>
          </p:cNvSpPr>
          <p:nvPr>
            <p:ph type="title"/>
          </p:nvPr>
        </p:nvSpPr>
        <p:spPr/>
        <p:txBody>
          <a:bodyPr/>
          <a:lstStyle/>
          <a:p>
            <a:r>
              <a:rPr lang="es-ES" dirty="0" err="1"/>
              <a:t>Sources</a:t>
            </a:r>
            <a:r>
              <a:rPr lang="es-ES" dirty="0"/>
              <a:t> </a:t>
            </a:r>
            <a:r>
              <a:rPr lang="es-ES" dirty="0" err="1"/>
              <a:t>of</a:t>
            </a:r>
            <a:r>
              <a:rPr lang="es-ES" dirty="0"/>
              <a:t> </a:t>
            </a:r>
            <a:r>
              <a:rPr lang="es-ES" dirty="0" err="1"/>
              <a:t>revenue</a:t>
            </a:r>
            <a:r>
              <a:rPr lang="es-ES" dirty="0"/>
              <a:t> decline can be </a:t>
            </a:r>
            <a:r>
              <a:rPr lang="es-ES" dirty="0" err="1"/>
              <a:t>observed</a:t>
            </a:r>
            <a:r>
              <a:rPr lang="es-ES" dirty="0"/>
              <a:t> </a:t>
            </a:r>
            <a:r>
              <a:rPr lang="es-ES" dirty="0" err="1"/>
              <a:t>from</a:t>
            </a:r>
            <a:r>
              <a:rPr lang="es-ES" dirty="0"/>
              <a:t> </a:t>
            </a:r>
            <a:r>
              <a:rPr lang="es-ES" dirty="0" err="1"/>
              <a:t>multiple</a:t>
            </a:r>
            <a:r>
              <a:rPr lang="es-ES" dirty="0"/>
              <a:t> </a:t>
            </a:r>
            <a:r>
              <a:rPr lang="es-ES" dirty="0" err="1"/>
              <a:t>angles</a:t>
            </a:r>
            <a:endParaRPr lang="en-US" dirty="0"/>
          </a:p>
        </p:txBody>
      </p:sp>
      <p:sp>
        <p:nvSpPr>
          <p:cNvPr id="48" name="TextBox 47">
            <a:extLst>
              <a:ext uri="{FF2B5EF4-FFF2-40B4-BE49-F238E27FC236}">
                <a16:creationId xmlns:a16="http://schemas.microsoft.com/office/drawing/2014/main" id="{06ECA647-ED58-4970-9A1F-0298EF758B70}"/>
              </a:ext>
            </a:extLst>
          </p:cNvPr>
          <p:cNvSpPr txBox="1"/>
          <p:nvPr/>
        </p:nvSpPr>
        <p:spPr>
          <a:xfrm>
            <a:off x="304800" y="6163383"/>
            <a:ext cx="9296400" cy="369332"/>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Note: </a:t>
            </a:r>
            <a:r>
              <a:rPr lang="en-GB" sz="800" baseline="30000" dirty="0">
                <a:solidFill>
                  <a:schemeClr val="tx1"/>
                </a:solidFill>
                <a:latin typeface="+mj-lt"/>
              </a:rPr>
              <a:t>1</a:t>
            </a:r>
            <a:r>
              <a:rPr lang="en-GB" sz="800" dirty="0">
                <a:solidFill>
                  <a:schemeClr val="tx1"/>
                </a:solidFill>
                <a:latin typeface="+mj-lt"/>
              </a:rPr>
              <a:t> Segments based on 1 month ARPU. GA of the month have not been segmented. HV segment: 33% revenues in 2018, MD, 33% of revenues, LV 23% of revenues, VLV 10% of revenue</a:t>
            </a:r>
          </a:p>
          <a:p>
            <a:pPr algn="l">
              <a:spcBef>
                <a:spcPct val="0"/>
              </a:spcBef>
            </a:pPr>
            <a:r>
              <a:rPr lang="en-GB" sz="800" dirty="0">
                <a:solidFill>
                  <a:schemeClr val="tx1"/>
                </a:solidFill>
                <a:latin typeface="+mj-lt"/>
              </a:rPr>
              <a:t>2) Assumptions have been used to split daily  and smart bundles revenues as well as out payment revenues into service type revenues. 70% revenues are data and 30% are voice</a:t>
            </a:r>
          </a:p>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sp>
        <p:nvSpPr>
          <p:cNvPr id="49" name="Rectangle 48">
            <a:extLst>
              <a:ext uri="{FF2B5EF4-FFF2-40B4-BE49-F238E27FC236}">
                <a16:creationId xmlns:a16="http://schemas.microsoft.com/office/drawing/2014/main" id="{C7A43BC4-E6CF-43B7-A2AA-B3066E01428F}"/>
              </a:ext>
            </a:extLst>
          </p:cNvPr>
          <p:cNvSpPr/>
          <p:nvPr/>
        </p:nvSpPr>
        <p:spPr bwMode="auto">
          <a:xfrm>
            <a:off x="305943" y="1081953"/>
            <a:ext cx="1718942" cy="5065629"/>
          </a:xfrm>
          <a:prstGeom prst="rect">
            <a:avLst/>
          </a:prstGeom>
          <a:solidFill>
            <a:schemeClr val="accent2"/>
          </a:solidFill>
          <a:ln w="12700">
            <a:noFill/>
            <a:prstDash val="solid"/>
          </a:ln>
          <a:effectLst/>
        </p:spPr>
        <p:txBody>
          <a:bodyPr vert="horz" wrap="square" lIns="72009" tIns="46863" rIns="35941" bIns="46863" rtlCol="0" anchor="t" anchorCtr="0">
            <a:noAutofit/>
          </a:bodyPr>
          <a:lstStyle/>
          <a:p>
            <a:pPr algn="l">
              <a:spcBef>
                <a:spcPts val="0"/>
              </a:spcBef>
              <a:spcAft>
                <a:spcPts val="0"/>
              </a:spcAft>
            </a:pPr>
            <a:r>
              <a:rPr lang="en-GB" sz="1500" b="1" dirty="0">
                <a:solidFill>
                  <a:schemeClr val="tx1"/>
                </a:solidFill>
                <a:latin typeface="+mn-lt"/>
                <a:sym typeface="Trebuchet MS" panose="020B0603020202020204" pitchFamily="34" charset="0"/>
              </a:rPr>
              <a:t>Segments view</a:t>
            </a:r>
            <a:r>
              <a:rPr lang="en-GB" sz="1500" b="1" baseline="30000" dirty="0">
                <a:solidFill>
                  <a:schemeClr val="tx1"/>
                </a:solidFill>
                <a:latin typeface="+mn-lt"/>
                <a:sym typeface="Trebuchet MS" panose="020B0603020202020204" pitchFamily="34" charset="0"/>
              </a:rPr>
              <a:t>1</a:t>
            </a:r>
          </a:p>
        </p:txBody>
      </p:sp>
      <p:sp>
        <p:nvSpPr>
          <p:cNvPr id="50" name="Rectangle 49">
            <a:extLst>
              <a:ext uri="{FF2B5EF4-FFF2-40B4-BE49-F238E27FC236}">
                <a16:creationId xmlns:a16="http://schemas.microsoft.com/office/drawing/2014/main" id="{21585B07-3964-4CE1-9E16-1754514E7CCA}"/>
              </a:ext>
            </a:extLst>
          </p:cNvPr>
          <p:cNvSpPr/>
          <p:nvPr/>
        </p:nvSpPr>
        <p:spPr bwMode="auto">
          <a:xfrm>
            <a:off x="436373" y="1537231"/>
            <a:ext cx="1458081" cy="78143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High Value</a:t>
            </a:r>
          </a:p>
        </p:txBody>
      </p:sp>
      <p:sp>
        <p:nvSpPr>
          <p:cNvPr id="51" name="Rectangle 50">
            <a:extLst>
              <a:ext uri="{FF2B5EF4-FFF2-40B4-BE49-F238E27FC236}">
                <a16:creationId xmlns:a16="http://schemas.microsoft.com/office/drawing/2014/main" id="{5361B728-D5B5-4AA3-8E14-E934E7E0FAD0}"/>
              </a:ext>
            </a:extLst>
          </p:cNvPr>
          <p:cNvSpPr/>
          <p:nvPr/>
        </p:nvSpPr>
        <p:spPr bwMode="auto">
          <a:xfrm>
            <a:off x="436373" y="2469842"/>
            <a:ext cx="1458081" cy="78143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Mid Value</a:t>
            </a:r>
          </a:p>
        </p:txBody>
      </p:sp>
      <p:sp>
        <p:nvSpPr>
          <p:cNvPr id="52" name="Rectangle 51">
            <a:extLst>
              <a:ext uri="{FF2B5EF4-FFF2-40B4-BE49-F238E27FC236}">
                <a16:creationId xmlns:a16="http://schemas.microsoft.com/office/drawing/2014/main" id="{E4CBB7B7-C0F5-4530-81BD-EA28D3A1ECAB}"/>
              </a:ext>
            </a:extLst>
          </p:cNvPr>
          <p:cNvSpPr/>
          <p:nvPr/>
        </p:nvSpPr>
        <p:spPr bwMode="auto">
          <a:xfrm>
            <a:off x="436373" y="3402452"/>
            <a:ext cx="1458081" cy="78143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Low Value</a:t>
            </a:r>
          </a:p>
        </p:txBody>
      </p:sp>
      <p:sp>
        <p:nvSpPr>
          <p:cNvPr id="53" name="Rectangle 52">
            <a:extLst>
              <a:ext uri="{FF2B5EF4-FFF2-40B4-BE49-F238E27FC236}">
                <a16:creationId xmlns:a16="http://schemas.microsoft.com/office/drawing/2014/main" id="{B2F688DB-BCD9-45E5-80E2-63392229E930}"/>
              </a:ext>
            </a:extLst>
          </p:cNvPr>
          <p:cNvSpPr/>
          <p:nvPr/>
        </p:nvSpPr>
        <p:spPr bwMode="auto">
          <a:xfrm>
            <a:off x="436373" y="4335064"/>
            <a:ext cx="1458081" cy="78143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Very Low Value</a:t>
            </a:r>
          </a:p>
        </p:txBody>
      </p:sp>
      <p:sp>
        <p:nvSpPr>
          <p:cNvPr id="54" name="Rectangle 53">
            <a:extLst>
              <a:ext uri="{FF2B5EF4-FFF2-40B4-BE49-F238E27FC236}">
                <a16:creationId xmlns:a16="http://schemas.microsoft.com/office/drawing/2014/main" id="{B1C028D2-51A9-4BA1-8BFF-2DA96A1065C6}"/>
              </a:ext>
            </a:extLst>
          </p:cNvPr>
          <p:cNvSpPr/>
          <p:nvPr/>
        </p:nvSpPr>
        <p:spPr bwMode="auto">
          <a:xfrm>
            <a:off x="436373" y="5267676"/>
            <a:ext cx="1458081" cy="78143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Non-segmented / GA</a:t>
            </a:r>
          </a:p>
        </p:txBody>
      </p:sp>
      <p:sp>
        <p:nvSpPr>
          <p:cNvPr id="55" name="Oval 54">
            <a:extLst>
              <a:ext uri="{FF2B5EF4-FFF2-40B4-BE49-F238E27FC236}">
                <a16:creationId xmlns:a16="http://schemas.microsoft.com/office/drawing/2014/main" id="{357B1E2C-E86A-4C5E-91A4-0EFC72C1F02F}"/>
              </a:ext>
            </a:extLst>
          </p:cNvPr>
          <p:cNvSpPr/>
          <p:nvPr/>
        </p:nvSpPr>
        <p:spPr bwMode="auto">
          <a:xfrm>
            <a:off x="765233" y="1833385"/>
            <a:ext cx="809421" cy="328932"/>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-30%</a:t>
            </a:r>
          </a:p>
        </p:txBody>
      </p:sp>
      <p:sp>
        <p:nvSpPr>
          <p:cNvPr id="56" name="Oval 55">
            <a:extLst>
              <a:ext uri="{FF2B5EF4-FFF2-40B4-BE49-F238E27FC236}">
                <a16:creationId xmlns:a16="http://schemas.microsoft.com/office/drawing/2014/main" id="{9B98412F-91FE-4600-A32C-22CF12D8A874}"/>
              </a:ext>
            </a:extLst>
          </p:cNvPr>
          <p:cNvSpPr/>
          <p:nvPr/>
        </p:nvSpPr>
        <p:spPr bwMode="auto">
          <a:xfrm>
            <a:off x="765233" y="2769239"/>
            <a:ext cx="809421" cy="328932"/>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-7.6%</a:t>
            </a:r>
          </a:p>
        </p:txBody>
      </p:sp>
      <p:sp>
        <p:nvSpPr>
          <p:cNvPr id="57" name="Oval 56">
            <a:extLst>
              <a:ext uri="{FF2B5EF4-FFF2-40B4-BE49-F238E27FC236}">
                <a16:creationId xmlns:a16="http://schemas.microsoft.com/office/drawing/2014/main" id="{21F9A1A5-ACED-481B-A4DB-F1A024942840}"/>
              </a:ext>
            </a:extLst>
          </p:cNvPr>
          <p:cNvSpPr/>
          <p:nvPr/>
        </p:nvSpPr>
        <p:spPr bwMode="auto">
          <a:xfrm>
            <a:off x="765233" y="3705093"/>
            <a:ext cx="809421" cy="328932"/>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-8.4%</a:t>
            </a:r>
          </a:p>
        </p:txBody>
      </p:sp>
      <p:sp>
        <p:nvSpPr>
          <p:cNvPr id="58" name="Oval 57">
            <a:extLst>
              <a:ext uri="{FF2B5EF4-FFF2-40B4-BE49-F238E27FC236}">
                <a16:creationId xmlns:a16="http://schemas.microsoft.com/office/drawing/2014/main" id="{DE4FB6FE-B4AC-4CE9-B49E-85CA955BCDA7}"/>
              </a:ext>
            </a:extLst>
          </p:cNvPr>
          <p:cNvSpPr/>
          <p:nvPr/>
        </p:nvSpPr>
        <p:spPr bwMode="auto">
          <a:xfrm>
            <a:off x="760702" y="4640947"/>
            <a:ext cx="809421" cy="328932"/>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-9.1%</a:t>
            </a:r>
          </a:p>
        </p:txBody>
      </p:sp>
      <p:sp>
        <p:nvSpPr>
          <p:cNvPr id="59" name="Rectangle 58">
            <a:extLst>
              <a:ext uri="{FF2B5EF4-FFF2-40B4-BE49-F238E27FC236}">
                <a16:creationId xmlns:a16="http://schemas.microsoft.com/office/drawing/2014/main" id="{21CE963A-2B7C-4355-8E27-C0B52B70E342}"/>
              </a:ext>
            </a:extLst>
          </p:cNvPr>
          <p:cNvSpPr/>
          <p:nvPr/>
        </p:nvSpPr>
        <p:spPr bwMode="auto">
          <a:xfrm>
            <a:off x="2364413" y="1081952"/>
            <a:ext cx="5178318" cy="1438663"/>
          </a:xfrm>
          <a:prstGeom prst="rect">
            <a:avLst/>
          </a:prstGeom>
          <a:solidFill>
            <a:schemeClr val="accent2"/>
          </a:solidFill>
          <a:ln w="12700">
            <a:noFill/>
            <a:prstDash val="solid"/>
          </a:ln>
          <a:effectLst/>
        </p:spPr>
        <p:txBody>
          <a:bodyPr vert="horz" wrap="square" lIns="72009" tIns="46863" rIns="35941" bIns="46863" rtlCol="0" anchor="t" anchorCtr="0">
            <a:noAutofit/>
          </a:bodyPr>
          <a:lstStyle/>
          <a:p>
            <a:pPr algn="l">
              <a:spcBef>
                <a:spcPts val="0"/>
              </a:spcBef>
              <a:spcAft>
                <a:spcPts val="0"/>
              </a:spcAft>
            </a:pPr>
            <a:r>
              <a:rPr lang="en-GB" sz="1500" b="1" dirty="0">
                <a:solidFill>
                  <a:schemeClr val="tx1"/>
                </a:solidFill>
                <a:latin typeface="+mn-lt"/>
                <a:sym typeface="Trebuchet MS" panose="020B0603020202020204" pitchFamily="34" charset="0"/>
              </a:rPr>
              <a:t>Revenue drivers</a:t>
            </a:r>
          </a:p>
        </p:txBody>
      </p:sp>
      <p:sp>
        <p:nvSpPr>
          <p:cNvPr id="60" name="Rectangle 59">
            <a:extLst>
              <a:ext uri="{FF2B5EF4-FFF2-40B4-BE49-F238E27FC236}">
                <a16:creationId xmlns:a16="http://schemas.microsoft.com/office/drawing/2014/main" id="{87F12B61-4086-4BDE-86B4-7BEB647DDB40}"/>
              </a:ext>
            </a:extLst>
          </p:cNvPr>
          <p:cNvSpPr/>
          <p:nvPr/>
        </p:nvSpPr>
        <p:spPr bwMode="auto">
          <a:xfrm>
            <a:off x="2364413" y="4665992"/>
            <a:ext cx="5178318" cy="1481590"/>
          </a:xfrm>
          <a:prstGeom prst="rect">
            <a:avLst/>
          </a:prstGeom>
          <a:solidFill>
            <a:schemeClr val="accent2"/>
          </a:solidFill>
          <a:ln w="12700">
            <a:noFill/>
            <a:prstDash val="solid"/>
          </a:ln>
          <a:effectLst/>
        </p:spPr>
        <p:txBody>
          <a:bodyPr vert="horz" wrap="square" lIns="72009" tIns="46863" rIns="35941" bIns="46863" rtlCol="0" anchor="t" anchorCtr="0">
            <a:noAutofit/>
          </a:bodyPr>
          <a:lstStyle/>
          <a:p>
            <a:pPr algn="l">
              <a:spcBef>
                <a:spcPts val="0"/>
              </a:spcBef>
              <a:spcAft>
                <a:spcPts val="0"/>
              </a:spcAft>
            </a:pPr>
            <a:r>
              <a:rPr lang="en-GB" sz="1500" b="1" dirty="0">
                <a:solidFill>
                  <a:schemeClr val="tx1"/>
                </a:solidFill>
                <a:latin typeface="+mn-lt"/>
                <a:sym typeface="Trebuchet MS" panose="020B0603020202020204" pitchFamily="34" charset="0"/>
              </a:rPr>
              <a:t>Service type</a:t>
            </a:r>
            <a:r>
              <a:rPr lang="en-GB" sz="1500" b="1" baseline="30000" dirty="0">
                <a:solidFill>
                  <a:schemeClr val="tx1"/>
                </a:solidFill>
                <a:latin typeface="+mn-lt"/>
                <a:sym typeface="Trebuchet MS" panose="020B0603020202020204" pitchFamily="34" charset="0"/>
              </a:rPr>
              <a:t>2</a:t>
            </a:r>
          </a:p>
        </p:txBody>
      </p:sp>
      <p:sp>
        <p:nvSpPr>
          <p:cNvPr id="61" name="Rectangle 60">
            <a:extLst>
              <a:ext uri="{FF2B5EF4-FFF2-40B4-BE49-F238E27FC236}">
                <a16:creationId xmlns:a16="http://schemas.microsoft.com/office/drawing/2014/main" id="{B86D8DB4-E721-4DAE-889E-55F73F659F58}"/>
              </a:ext>
            </a:extLst>
          </p:cNvPr>
          <p:cNvSpPr/>
          <p:nvPr/>
        </p:nvSpPr>
        <p:spPr bwMode="auto">
          <a:xfrm>
            <a:off x="3779611" y="2996419"/>
            <a:ext cx="2347923" cy="1193770"/>
          </a:xfrm>
          <a:prstGeom prst="rect">
            <a:avLst/>
          </a:prstGeom>
          <a:solidFill>
            <a:schemeClr val="accent1"/>
          </a:solidFill>
          <a:ln w="12700">
            <a:noFill/>
            <a:prstDash val="solid"/>
          </a:ln>
          <a:effectLst/>
        </p:spPr>
        <p:txBody>
          <a:bodyPr vert="horz" wrap="square" lIns="72009" tIns="46863" rIns="35941" bIns="46863" rtlCol="0" anchor="t" anchorCtr="0">
            <a:noAutofit/>
          </a:bodyPr>
          <a:lstStyle/>
          <a:p>
            <a:pPr>
              <a:spcBef>
                <a:spcPts val="0"/>
              </a:spcBef>
              <a:spcAft>
                <a:spcPts val="0"/>
              </a:spcAft>
            </a:pPr>
            <a:r>
              <a:rPr lang="en-GB" sz="1600" b="1" dirty="0">
                <a:solidFill>
                  <a:schemeClr val="tx2"/>
                </a:solidFill>
                <a:latin typeface="+mn-lt"/>
                <a:sym typeface="Trebuchet MS" panose="020B0603020202020204" pitchFamily="34" charset="0"/>
              </a:rPr>
              <a:t>Revenue</a:t>
            </a:r>
            <a:r>
              <a:rPr lang="en-GB" sz="1600" b="1" baseline="30000" dirty="0">
                <a:solidFill>
                  <a:schemeClr val="tx2"/>
                </a:solidFill>
                <a:latin typeface="+mn-lt"/>
                <a:sym typeface="Trebuchet MS" panose="020B0603020202020204" pitchFamily="34" charset="0"/>
              </a:rPr>
              <a:t>1</a:t>
            </a:r>
          </a:p>
        </p:txBody>
      </p:sp>
      <p:sp>
        <p:nvSpPr>
          <p:cNvPr id="62" name="Down Arrow 9">
            <a:extLst>
              <a:ext uri="{FF2B5EF4-FFF2-40B4-BE49-F238E27FC236}">
                <a16:creationId xmlns:a16="http://schemas.microsoft.com/office/drawing/2014/main" id="{3D6D5548-AA10-430A-84AD-5D777D15E759}"/>
              </a:ext>
            </a:extLst>
          </p:cNvPr>
          <p:cNvSpPr/>
          <p:nvPr/>
        </p:nvSpPr>
        <p:spPr bwMode="auto">
          <a:xfrm>
            <a:off x="4652235" y="4193558"/>
            <a:ext cx="602675" cy="411480"/>
          </a:xfrm>
          <a:prstGeom prst="downArrow">
            <a:avLst/>
          </a:prstGeom>
          <a:solidFill>
            <a:schemeClr val="accent3"/>
          </a:solidFill>
          <a:ln w="12700"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endParaRPr lang="en-GB" dirty="0" err="1"/>
          </a:p>
        </p:txBody>
      </p:sp>
      <p:sp>
        <p:nvSpPr>
          <p:cNvPr id="63" name="Down Arrow 10">
            <a:extLst>
              <a:ext uri="{FF2B5EF4-FFF2-40B4-BE49-F238E27FC236}">
                <a16:creationId xmlns:a16="http://schemas.microsoft.com/office/drawing/2014/main" id="{E04AA348-C50E-46A1-9924-878BAE208214}"/>
              </a:ext>
            </a:extLst>
          </p:cNvPr>
          <p:cNvSpPr/>
          <p:nvPr/>
        </p:nvSpPr>
        <p:spPr bwMode="auto">
          <a:xfrm flipV="1">
            <a:off x="4652235" y="2564220"/>
            <a:ext cx="602675" cy="411480"/>
          </a:xfrm>
          <a:prstGeom prst="downArrow">
            <a:avLst/>
          </a:prstGeom>
          <a:solidFill>
            <a:schemeClr val="accent3"/>
          </a:solidFill>
          <a:ln w="12700"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endParaRPr lang="en-GB" dirty="0" err="1"/>
          </a:p>
        </p:txBody>
      </p:sp>
      <p:sp>
        <p:nvSpPr>
          <p:cNvPr id="64" name="Down Arrow 11">
            <a:extLst>
              <a:ext uri="{FF2B5EF4-FFF2-40B4-BE49-F238E27FC236}">
                <a16:creationId xmlns:a16="http://schemas.microsoft.com/office/drawing/2014/main" id="{5F14CD76-E3AB-47F4-B87F-B020B24C6005}"/>
              </a:ext>
            </a:extLst>
          </p:cNvPr>
          <p:cNvSpPr/>
          <p:nvPr/>
        </p:nvSpPr>
        <p:spPr bwMode="auto">
          <a:xfrm rot="16200000" flipV="1">
            <a:off x="3277053" y="3375307"/>
            <a:ext cx="569119" cy="435995"/>
          </a:xfrm>
          <a:prstGeom prst="downArrow">
            <a:avLst/>
          </a:prstGeom>
          <a:solidFill>
            <a:schemeClr val="accent3"/>
          </a:solidFill>
          <a:ln w="12700"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endParaRPr lang="en-GB" dirty="0" err="1"/>
          </a:p>
        </p:txBody>
      </p:sp>
      <p:sp>
        <p:nvSpPr>
          <p:cNvPr id="65" name="Down Arrow 12">
            <a:extLst>
              <a:ext uri="{FF2B5EF4-FFF2-40B4-BE49-F238E27FC236}">
                <a16:creationId xmlns:a16="http://schemas.microsoft.com/office/drawing/2014/main" id="{CD5243E2-5E3C-42EA-B911-78C5B2F2E3E3}"/>
              </a:ext>
            </a:extLst>
          </p:cNvPr>
          <p:cNvSpPr/>
          <p:nvPr/>
        </p:nvSpPr>
        <p:spPr bwMode="auto">
          <a:xfrm rot="5400000" flipH="1" flipV="1">
            <a:off x="6057573" y="3375307"/>
            <a:ext cx="569119" cy="435995"/>
          </a:xfrm>
          <a:prstGeom prst="downArrow">
            <a:avLst/>
          </a:prstGeom>
          <a:solidFill>
            <a:schemeClr val="accent3"/>
          </a:solidFill>
          <a:ln w="12700"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endParaRPr lang="en-GB" dirty="0" err="1"/>
          </a:p>
        </p:txBody>
      </p:sp>
      <p:sp>
        <p:nvSpPr>
          <p:cNvPr id="66" name="Rectangle 65">
            <a:extLst>
              <a:ext uri="{FF2B5EF4-FFF2-40B4-BE49-F238E27FC236}">
                <a16:creationId xmlns:a16="http://schemas.microsoft.com/office/drawing/2014/main" id="{71BF47AC-A781-4796-8C8C-ED5647DCB7ED}"/>
              </a:ext>
            </a:extLst>
          </p:cNvPr>
          <p:cNvSpPr/>
          <p:nvPr/>
        </p:nvSpPr>
        <p:spPr bwMode="auto">
          <a:xfrm>
            <a:off x="2428783" y="2030853"/>
            <a:ext cx="1277421" cy="415534"/>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ARPU</a:t>
            </a:r>
          </a:p>
        </p:txBody>
      </p:sp>
      <p:cxnSp>
        <p:nvCxnSpPr>
          <p:cNvPr id="67" name="Elbow Connector 27">
            <a:extLst>
              <a:ext uri="{FF2B5EF4-FFF2-40B4-BE49-F238E27FC236}">
                <a16:creationId xmlns:a16="http://schemas.microsoft.com/office/drawing/2014/main" id="{0695791C-42B7-4E23-9E53-4FF78FB69E57}"/>
              </a:ext>
            </a:extLst>
          </p:cNvPr>
          <p:cNvCxnSpPr>
            <a:cxnSpLocks/>
            <a:stCxn id="98" idx="2"/>
            <a:endCxn id="96" idx="0"/>
          </p:cNvCxnSpPr>
          <p:nvPr/>
        </p:nvCxnSpPr>
        <p:spPr bwMode="auto">
          <a:xfrm rot="16200000" flipH="1">
            <a:off x="4688596" y="1249558"/>
            <a:ext cx="240503" cy="1322085"/>
          </a:xfrm>
          <a:prstGeom prst="bentConnector3">
            <a:avLst>
              <a:gd name="adj1" fmla="val 50000"/>
            </a:avLst>
          </a:prstGeom>
          <a:solidFill>
            <a:schemeClr val="tx2"/>
          </a:solidFill>
          <a:ln w="3175" cap="flat" cmpd="sng" algn="ctr">
            <a:solidFill>
              <a:schemeClr val="tx2"/>
            </a:solidFill>
            <a:prstDash val="solid"/>
            <a:round/>
            <a:headEnd type="none" w="med" len="med"/>
            <a:tailEnd type="none" w="med" len="med"/>
          </a:ln>
          <a:effectLst/>
        </p:spPr>
      </p:cxnSp>
      <p:cxnSp>
        <p:nvCxnSpPr>
          <p:cNvPr id="68" name="Elbow Connector 28">
            <a:extLst>
              <a:ext uri="{FF2B5EF4-FFF2-40B4-BE49-F238E27FC236}">
                <a16:creationId xmlns:a16="http://schemas.microsoft.com/office/drawing/2014/main" id="{F9989F7C-BBF4-47DB-9618-7D7C8DFA5517}"/>
              </a:ext>
            </a:extLst>
          </p:cNvPr>
          <p:cNvCxnSpPr>
            <a:cxnSpLocks/>
            <a:stCxn id="99" idx="2"/>
            <a:endCxn id="96" idx="0"/>
          </p:cNvCxnSpPr>
          <p:nvPr/>
        </p:nvCxnSpPr>
        <p:spPr bwMode="auto">
          <a:xfrm rot="5400000">
            <a:off x="6052068" y="1208172"/>
            <a:ext cx="240503" cy="1404858"/>
          </a:xfrm>
          <a:prstGeom prst="bentConnector3">
            <a:avLst>
              <a:gd name="adj1" fmla="val 50000"/>
            </a:avLst>
          </a:prstGeom>
          <a:solidFill>
            <a:schemeClr val="tx2"/>
          </a:solidFill>
          <a:ln w="3175" cap="flat" cmpd="sng" algn="ctr">
            <a:solidFill>
              <a:schemeClr val="tx2"/>
            </a:solidFill>
            <a:prstDash val="solid"/>
            <a:round/>
            <a:headEnd type="none" w="med" len="med"/>
            <a:tailEnd type="none" w="med" len="med"/>
          </a:ln>
          <a:effectLst/>
        </p:spPr>
      </p:cxnSp>
      <p:sp>
        <p:nvSpPr>
          <p:cNvPr id="69" name="Oval 68">
            <a:extLst>
              <a:ext uri="{FF2B5EF4-FFF2-40B4-BE49-F238E27FC236}">
                <a16:creationId xmlns:a16="http://schemas.microsoft.com/office/drawing/2014/main" id="{1498394F-2842-4417-A53A-F7B3BC7CCA8F}"/>
              </a:ext>
            </a:extLst>
          </p:cNvPr>
          <p:cNvSpPr/>
          <p:nvPr/>
        </p:nvSpPr>
        <p:spPr bwMode="auto">
          <a:xfrm>
            <a:off x="2970835" y="2095535"/>
            <a:ext cx="613250" cy="282478"/>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-17.8%</a:t>
            </a:r>
          </a:p>
        </p:txBody>
      </p:sp>
      <p:sp>
        <p:nvSpPr>
          <p:cNvPr id="70" name="Oval 69">
            <a:extLst>
              <a:ext uri="{FF2B5EF4-FFF2-40B4-BE49-F238E27FC236}">
                <a16:creationId xmlns:a16="http://schemas.microsoft.com/office/drawing/2014/main" id="{7CEDBE22-3FAC-408E-9C63-71731F7D6485}"/>
              </a:ext>
            </a:extLst>
          </p:cNvPr>
          <p:cNvSpPr/>
          <p:nvPr/>
        </p:nvSpPr>
        <p:spPr bwMode="auto">
          <a:xfrm>
            <a:off x="4492847" y="3398669"/>
            <a:ext cx="918052" cy="375979"/>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-16%</a:t>
            </a:r>
          </a:p>
        </p:txBody>
      </p:sp>
      <p:sp>
        <p:nvSpPr>
          <p:cNvPr id="71" name="Oval 70">
            <a:extLst>
              <a:ext uri="{FF2B5EF4-FFF2-40B4-BE49-F238E27FC236}">
                <a16:creationId xmlns:a16="http://schemas.microsoft.com/office/drawing/2014/main" id="{492D99CF-A99A-4CB8-A63F-0E98883A03A4}"/>
              </a:ext>
            </a:extLst>
          </p:cNvPr>
          <p:cNvSpPr/>
          <p:nvPr/>
        </p:nvSpPr>
        <p:spPr bwMode="auto">
          <a:xfrm>
            <a:off x="760702" y="5576801"/>
            <a:ext cx="809421" cy="328932"/>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latin typeface="+mn-lt"/>
              </a:rPr>
              <a:t>63.1%</a:t>
            </a:r>
          </a:p>
        </p:txBody>
      </p:sp>
      <p:sp>
        <p:nvSpPr>
          <p:cNvPr id="72" name="Rectangle 71">
            <a:extLst>
              <a:ext uri="{FF2B5EF4-FFF2-40B4-BE49-F238E27FC236}">
                <a16:creationId xmlns:a16="http://schemas.microsoft.com/office/drawing/2014/main" id="{67EB4274-D65A-4320-8E22-11353EA4F060}"/>
              </a:ext>
            </a:extLst>
          </p:cNvPr>
          <p:cNvSpPr/>
          <p:nvPr/>
        </p:nvSpPr>
        <p:spPr bwMode="auto">
          <a:xfrm>
            <a:off x="2470939" y="5048250"/>
            <a:ext cx="766116" cy="999231"/>
          </a:xfrm>
          <a:prstGeom prst="rect">
            <a:avLst/>
          </a:prstGeom>
          <a:solidFill>
            <a:schemeClr val="bg1"/>
          </a:solidFill>
          <a:ln w="12700">
            <a:noFill/>
            <a:prstDash val="solid"/>
          </a:ln>
        </p:spPr>
        <p:txBody>
          <a:bodyPr vert="horz" wrap="square" lIns="36000" tIns="72000" rIns="36000" bIns="0" rtlCol="0" anchor="t" anchorCtr="0">
            <a:noAutofit/>
          </a:bodyPr>
          <a:lstStyle/>
          <a:p>
            <a:pPr>
              <a:spcBef>
                <a:spcPts val="0"/>
              </a:spcBef>
              <a:spcAft>
                <a:spcPts val="0"/>
              </a:spcAft>
            </a:pPr>
            <a:r>
              <a:rPr lang="en-GB" b="1" dirty="0">
                <a:solidFill>
                  <a:schemeClr val="tx1"/>
                </a:solidFill>
                <a:latin typeface="+mn-lt"/>
                <a:sym typeface="Trebuchet MS" panose="020B0603020202020204" pitchFamily="34" charset="0"/>
              </a:rPr>
              <a:t>Data</a:t>
            </a:r>
          </a:p>
        </p:txBody>
      </p:sp>
      <p:sp>
        <p:nvSpPr>
          <p:cNvPr id="73" name="Rectangle 72">
            <a:extLst>
              <a:ext uri="{FF2B5EF4-FFF2-40B4-BE49-F238E27FC236}">
                <a16:creationId xmlns:a16="http://schemas.microsoft.com/office/drawing/2014/main" id="{A4C9B85D-4406-427A-8FBB-8D911E6DF8BA}"/>
              </a:ext>
            </a:extLst>
          </p:cNvPr>
          <p:cNvSpPr/>
          <p:nvPr/>
        </p:nvSpPr>
        <p:spPr bwMode="auto">
          <a:xfrm>
            <a:off x="3314210" y="5048250"/>
            <a:ext cx="766116" cy="999231"/>
          </a:xfrm>
          <a:prstGeom prst="rect">
            <a:avLst/>
          </a:prstGeom>
          <a:solidFill>
            <a:schemeClr val="bg1"/>
          </a:solidFill>
          <a:ln w="12700">
            <a:noFill/>
            <a:prstDash val="solid"/>
          </a:ln>
        </p:spPr>
        <p:txBody>
          <a:bodyPr vert="horz" wrap="square" lIns="36000" tIns="72000" rIns="36000" bIns="0" rtlCol="0" anchor="t" anchorCtr="0">
            <a:noAutofit/>
          </a:bodyPr>
          <a:lstStyle/>
          <a:p>
            <a:pPr>
              <a:spcBef>
                <a:spcPts val="0"/>
              </a:spcBef>
              <a:spcAft>
                <a:spcPts val="0"/>
              </a:spcAft>
            </a:pPr>
            <a:r>
              <a:rPr lang="en-GB" b="1" dirty="0">
                <a:solidFill>
                  <a:schemeClr val="tx1"/>
                </a:solidFill>
                <a:latin typeface="+mn-lt"/>
                <a:sym typeface="Trebuchet MS" panose="020B0603020202020204" pitchFamily="34" charset="0"/>
              </a:rPr>
              <a:t>Voice –Local</a:t>
            </a:r>
          </a:p>
        </p:txBody>
      </p:sp>
      <p:sp>
        <p:nvSpPr>
          <p:cNvPr id="74" name="Rectangle 73">
            <a:extLst>
              <a:ext uri="{FF2B5EF4-FFF2-40B4-BE49-F238E27FC236}">
                <a16:creationId xmlns:a16="http://schemas.microsoft.com/office/drawing/2014/main" id="{C9CF1E9E-B5E5-45D2-9195-636D34219C44}"/>
              </a:ext>
            </a:extLst>
          </p:cNvPr>
          <p:cNvSpPr/>
          <p:nvPr/>
        </p:nvSpPr>
        <p:spPr bwMode="auto">
          <a:xfrm>
            <a:off x="4157483" y="5048250"/>
            <a:ext cx="766116" cy="999231"/>
          </a:xfrm>
          <a:prstGeom prst="rect">
            <a:avLst/>
          </a:prstGeom>
          <a:solidFill>
            <a:schemeClr val="bg1"/>
          </a:solidFill>
          <a:ln w="12700">
            <a:noFill/>
            <a:prstDash val="solid"/>
          </a:ln>
        </p:spPr>
        <p:txBody>
          <a:bodyPr vert="horz" wrap="square" lIns="0" tIns="72000" rIns="0" bIns="0" rtlCol="0" anchor="t" anchorCtr="0">
            <a:noAutofit/>
          </a:bodyPr>
          <a:lstStyle/>
          <a:p>
            <a:pPr>
              <a:spcBef>
                <a:spcPts val="0"/>
              </a:spcBef>
              <a:spcAft>
                <a:spcPts val="0"/>
              </a:spcAft>
            </a:pPr>
            <a:r>
              <a:rPr lang="en-GB" b="1" dirty="0">
                <a:solidFill>
                  <a:schemeClr val="tx1"/>
                </a:solidFill>
                <a:latin typeface="+mn-lt"/>
                <a:sym typeface="Trebuchet MS" panose="020B0603020202020204" pitchFamily="34" charset="0"/>
              </a:rPr>
              <a:t>Voice - Int’l + Roam</a:t>
            </a:r>
          </a:p>
        </p:txBody>
      </p:sp>
      <p:sp>
        <p:nvSpPr>
          <p:cNvPr id="75" name="Rectangle 74">
            <a:extLst>
              <a:ext uri="{FF2B5EF4-FFF2-40B4-BE49-F238E27FC236}">
                <a16:creationId xmlns:a16="http://schemas.microsoft.com/office/drawing/2014/main" id="{B30C482A-5454-4FCC-9353-403D15DC1D8B}"/>
              </a:ext>
            </a:extLst>
          </p:cNvPr>
          <p:cNvSpPr/>
          <p:nvPr/>
        </p:nvSpPr>
        <p:spPr bwMode="auto">
          <a:xfrm>
            <a:off x="5000754" y="5048250"/>
            <a:ext cx="766116" cy="999231"/>
          </a:xfrm>
          <a:prstGeom prst="rect">
            <a:avLst/>
          </a:prstGeom>
          <a:solidFill>
            <a:schemeClr val="bg1"/>
          </a:solidFill>
          <a:ln w="12700">
            <a:noFill/>
            <a:prstDash val="solid"/>
          </a:ln>
        </p:spPr>
        <p:txBody>
          <a:bodyPr vert="horz" wrap="square" lIns="36000" tIns="72000" rIns="36000" bIns="0" rtlCol="0" anchor="t" anchorCtr="0">
            <a:noAutofit/>
          </a:bodyPr>
          <a:lstStyle/>
          <a:p>
            <a:pPr>
              <a:spcBef>
                <a:spcPts val="0"/>
              </a:spcBef>
              <a:spcAft>
                <a:spcPts val="0"/>
              </a:spcAft>
            </a:pPr>
            <a:r>
              <a:rPr lang="en-US" b="1" dirty="0">
                <a:solidFill>
                  <a:schemeClr val="tx1"/>
                </a:solidFill>
                <a:latin typeface="+mn-lt"/>
                <a:sym typeface="Trebuchet MS" panose="020B0603020202020204" pitchFamily="34" charset="0"/>
              </a:rPr>
              <a:t>VAS / Digital</a:t>
            </a:r>
            <a:endParaRPr lang="en-GB" b="1" dirty="0">
              <a:solidFill>
                <a:schemeClr val="tx1"/>
              </a:solidFill>
              <a:latin typeface="+mn-lt"/>
              <a:sym typeface="Trebuchet MS" panose="020B0603020202020204" pitchFamily="34" charset="0"/>
            </a:endParaRPr>
          </a:p>
        </p:txBody>
      </p:sp>
      <p:sp>
        <p:nvSpPr>
          <p:cNvPr id="77" name="Rectangle 76">
            <a:extLst>
              <a:ext uri="{FF2B5EF4-FFF2-40B4-BE49-F238E27FC236}">
                <a16:creationId xmlns:a16="http://schemas.microsoft.com/office/drawing/2014/main" id="{FB415CCD-2327-40BE-AF30-379526FC3866}"/>
              </a:ext>
            </a:extLst>
          </p:cNvPr>
          <p:cNvSpPr/>
          <p:nvPr/>
        </p:nvSpPr>
        <p:spPr bwMode="auto">
          <a:xfrm>
            <a:off x="5821529" y="5048250"/>
            <a:ext cx="766116" cy="999231"/>
          </a:xfrm>
          <a:prstGeom prst="rect">
            <a:avLst/>
          </a:prstGeom>
          <a:solidFill>
            <a:schemeClr val="bg1"/>
          </a:solidFill>
          <a:ln w="12700">
            <a:noFill/>
            <a:prstDash val="solid"/>
          </a:ln>
        </p:spPr>
        <p:txBody>
          <a:bodyPr vert="horz" wrap="square" lIns="36000" tIns="72000" rIns="36000" bIns="0" rtlCol="0" anchor="t" anchorCtr="0">
            <a:noAutofit/>
          </a:bodyPr>
          <a:lstStyle/>
          <a:p>
            <a:pPr>
              <a:spcBef>
                <a:spcPts val="0"/>
              </a:spcBef>
              <a:spcAft>
                <a:spcPts val="0"/>
              </a:spcAft>
            </a:pPr>
            <a:r>
              <a:rPr lang="en-GB" b="1" dirty="0">
                <a:solidFill>
                  <a:schemeClr val="tx1"/>
                </a:solidFill>
                <a:latin typeface="+mn-lt"/>
                <a:sym typeface="Trebuchet MS" panose="020B0603020202020204" pitchFamily="34" charset="0"/>
              </a:rPr>
              <a:t>SMS</a:t>
            </a:r>
          </a:p>
        </p:txBody>
      </p:sp>
      <p:sp>
        <p:nvSpPr>
          <p:cNvPr id="78" name="Oval 77">
            <a:extLst>
              <a:ext uri="{FF2B5EF4-FFF2-40B4-BE49-F238E27FC236}">
                <a16:creationId xmlns:a16="http://schemas.microsoft.com/office/drawing/2014/main" id="{24A53428-EE7D-4556-9E3D-9600BC93345E}"/>
              </a:ext>
            </a:extLst>
          </p:cNvPr>
          <p:cNvSpPr/>
          <p:nvPr/>
        </p:nvSpPr>
        <p:spPr bwMode="auto">
          <a:xfrm>
            <a:off x="2525598" y="5662205"/>
            <a:ext cx="656797" cy="282478"/>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latin typeface="+mn-lt"/>
              </a:rPr>
              <a:t>13.3%</a:t>
            </a:r>
          </a:p>
        </p:txBody>
      </p:sp>
      <p:sp>
        <p:nvSpPr>
          <p:cNvPr id="79" name="Oval 78">
            <a:extLst>
              <a:ext uri="{FF2B5EF4-FFF2-40B4-BE49-F238E27FC236}">
                <a16:creationId xmlns:a16="http://schemas.microsoft.com/office/drawing/2014/main" id="{56C6C372-C87D-49F7-BEAF-5EAE73F9A507}"/>
              </a:ext>
            </a:extLst>
          </p:cNvPr>
          <p:cNvSpPr/>
          <p:nvPr/>
        </p:nvSpPr>
        <p:spPr bwMode="auto">
          <a:xfrm>
            <a:off x="3368869" y="5662205"/>
            <a:ext cx="656797" cy="282478"/>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-30.3%</a:t>
            </a:r>
          </a:p>
        </p:txBody>
      </p:sp>
      <p:sp>
        <p:nvSpPr>
          <p:cNvPr id="80" name="Oval 79">
            <a:extLst>
              <a:ext uri="{FF2B5EF4-FFF2-40B4-BE49-F238E27FC236}">
                <a16:creationId xmlns:a16="http://schemas.microsoft.com/office/drawing/2014/main" id="{487C951C-526E-40BF-BB7B-3E3D44A006D9}"/>
              </a:ext>
            </a:extLst>
          </p:cNvPr>
          <p:cNvSpPr/>
          <p:nvPr/>
        </p:nvSpPr>
        <p:spPr bwMode="auto">
          <a:xfrm>
            <a:off x="4212142" y="5662205"/>
            <a:ext cx="656797" cy="282478"/>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-54.2%</a:t>
            </a:r>
          </a:p>
        </p:txBody>
      </p:sp>
      <p:sp>
        <p:nvSpPr>
          <p:cNvPr id="81" name="Oval 80">
            <a:extLst>
              <a:ext uri="{FF2B5EF4-FFF2-40B4-BE49-F238E27FC236}">
                <a16:creationId xmlns:a16="http://schemas.microsoft.com/office/drawing/2014/main" id="{E1F5A169-16D1-47C9-994A-257A791E104A}"/>
              </a:ext>
            </a:extLst>
          </p:cNvPr>
          <p:cNvSpPr/>
          <p:nvPr/>
        </p:nvSpPr>
        <p:spPr bwMode="auto">
          <a:xfrm>
            <a:off x="5876190" y="5662205"/>
            <a:ext cx="656797" cy="282478"/>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-32.2%</a:t>
            </a:r>
          </a:p>
        </p:txBody>
      </p:sp>
      <p:sp>
        <p:nvSpPr>
          <p:cNvPr id="82" name="Oval 81">
            <a:extLst>
              <a:ext uri="{FF2B5EF4-FFF2-40B4-BE49-F238E27FC236}">
                <a16:creationId xmlns:a16="http://schemas.microsoft.com/office/drawing/2014/main" id="{9B0B6C60-C240-455F-B28C-8B7BDE0DC25F}"/>
              </a:ext>
            </a:extLst>
          </p:cNvPr>
          <p:cNvSpPr/>
          <p:nvPr/>
        </p:nvSpPr>
        <p:spPr bwMode="auto">
          <a:xfrm>
            <a:off x="5055413" y="5662205"/>
            <a:ext cx="656797" cy="282478"/>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tx1"/>
                </a:solidFill>
                <a:latin typeface="+mn-lt"/>
              </a:rPr>
              <a:t>82.7%</a:t>
            </a:r>
          </a:p>
        </p:txBody>
      </p:sp>
      <p:sp>
        <p:nvSpPr>
          <p:cNvPr id="84" name="Rectangle 83">
            <a:extLst>
              <a:ext uri="{FF2B5EF4-FFF2-40B4-BE49-F238E27FC236}">
                <a16:creationId xmlns:a16="http://schemas.microsoft.com/office/drawing/2014/main" id="{AC37C304-0F15-48F6-B4CF-2749D8923E29}"/>
              </a:ext>
            </a:extLst>
          </p:cNvPr>
          <p:cNvSpPr/>
          <p:nvPr/>
        </p:nvSpPr>
        <p:spPr bwMode="auto">
          <a:xfrm>
            <a:off x="6664802" y="5048250"/>
            <a:ext cx="766116" cy="999231"/>
          </a:xfrm>
          <a:prstGeom prst="rect">
            <a:avLst/>
          </a:prstGeom>
          <a:solidFill>
            <a:schemeClr val="bg1"/>
          </a:solidFill>
          <a:ln w="12700">
            <a:noFill/>
            <a:prstDash val="solid"/>
          </a:ln>
        </p:spPr>
        <p:txBody>
          <a:bodyPr vert="horz" wrap="square" lIns="36000" tIns="72000" rIns="36000" bIns="0" rtlCol="0" anchor="t" anchorCtr="0">
            <a:noAutofit/>
          </a:bodyPr>
          <a:lstStyle/>
          <a:p>
            <a:pPr>
              <a:spcBef>
                <a:spcPts val="0"/>
              </a:spcBef>
              <a:spcAft>
                <a:spcPts val="0"/>
              </a:spcAft>
            </a:pPr>
            <a:r>
              <a:rPr lang="en-GB" b="1" dirty="0">
                <a:solidFill>
                  <a:schemeClr val="tx1"/>
                </a:solidFill>
                <a:latin typeface="+mn-lt"/>
                <a:sym typeface="Trebuchet MS" panose="020B0603020202020204" pitchFamily="34" charset="0"/>
              </a:rPr>
              <a:t>Other</a:t>
            </a:r>
          </a:p>
        </p:txBody>
      </p:sp>
      <p:sp>
        <p:nvSpPr>
          <p:cNvPr id="85" name="Oval 84">
            <a:extLst>
              <a:ext uri="{FF2B5EF4-FFF2-40B4-BE49-F238E27FC236}">
                <a16:creationId xmlns:a16="http://schemas.microsoft.com/office/drawing/2014/main" id="{7D3BB1CC-8362-4ED0-9FAC-3022DA8C0CD3}"/>
              </a:ext>
            </a:extLst>
          </p:cNvPr>
          <p:cNvSpPr/>
          <p:nvPr/>
        </p:nvSpPr>
        <p:spPr bwMode="auto">
          <a:xfrm>
            <a:off x="6719461" y="5662205"/>
            <a:ext cx="656797" cy="282478"/>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latin typeface="+mn-lt"/>
              </a:rPr>
              <a:t>367%</a:t>
            </a:r>
          </a:p>
        </p:txBody>
      </p:sp>
      <p:sp>
        <p:nvSpPr>
          <p:cNvPr id="86" name="Rectangle 85">
            <a:extLst>
              <a:ext uri="{FF2B5EF4-FFF2-40B4-BE49-F238E27FC236}">
                <a16:creationId xmlns:a16="http://schemas.microsoft.com/office/drawing/2014/main" id="{F9705735-69D5-432C-83F1-8B6F51FDC88F}"/>
              </a:ext>
            </a:extLst>
          </p:cNvPr>
          <p:cNvSpPr/>
          <p:nvPr/>
        </p:nvSpPr>
        <p:spPr bwMode="auto">
          <a:xfrm>
            <a:off x="7882258" y="1081953"/>
            <a:ext cx="1718942" cy="5065629"/>
          </a:xfrm>
          <a:prstGeom prst="rect">
            <a:avLst/>
          </a:prstGeom>
          <a:solidFill>
            <a:schemeClr val="accent2"/>
          </a:solidFill>
          <a:ln w="12700">
            <a:noFill/>
            <a:prstDash val="solid"/>
          </a:ln>
          <a:effectLst/>
        </p:spPr>
        <p:txBody>
          <a:bodyPr vert="horz" wrap="square" lIns="72009" tIns="46863" rIns="35941" bIns="46863" rtlCol="0" anchor="t" anchorCtr="0">
            <a:noAutofit/>
          </a:bodyPr>
          <a:lstStyle/>
          <a:p>
            <a:pPr algn="l">
              <a:spcBef>
                <a:spcPts val="0"/>
              </a:spcBef>
              <a:spcAft>
                <a:spcPts val="0"/>
              </a:spcAft>
            </a:pPr>
            <a:r>
              <a:rPr lang="en-GB" sz="1500" b="1" dirty="0">
                <a:solidFill>
                  <a:schemeClr val="tx1"/>
                </a:solidFill>
                <a:latin typeface="+mn-lt"/>
                <a:sym typeface="Trebuchet MS" panose="020B0603020202020204" pitchFamily="34" charset="0"/>
              </a:rPr>
              <a:t>Regions</a:t>
            </a:r>
            <a:endParaRPr lang="en-GB" sz="1500" b="1" baseline="30000" dirty="0">
              <a:solidFill>
                <a:schemeClr val="tx1"/>
              </a:solidFill>
              <a:latin typeface="+mn-lt"/>
              <a:sym typeface="Trebuchet MS" panose="020B0603020202020204" pitchFamily="34" charset="0"/>
            </a:endParaRPr>
          </a:p>
        </p:txBody>
      </p:sp>
      <p:sp>
        <p:nvSpPr>
          <p:cNvPr id="87" name="Rectangle 86">
            <a:extLst>
              <a:ext uri="{FF2B5EF4-FFF2-40B4-BE49-F238E27FC236}">
                <a16:creationId xmlns:a16="http://schemas.microsoft.com/office/drawing/2014/main" id="{06B60EFE-D05A-4A57-8F5C-62F98A899832}"/>
              </a:ext>
            </a:extLst>
          </p:cNvPr>
          <p:cNvSpPr/>
          <p:nvPr/>
        </p:nvSpPr>
        <p:spPr bwMode="auto">
          <a:xfrm>
            <a:off x="8012688" y="1537231"/>
            <a:ext cx="1458081" cy="98504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a:solidFill>
                  <a:schemeClr val="tx1"/>
                </a:solidFill>
                <a:latin typeface="+mn-lt"/>
                <a:sym typeface="Trebuchet MS" panose="020B0603020202020204" pitchFamily="34" charset="0"/>
              </a:rPr>
              <a:t>Centre</a:t>
            </a:r>
            <a:endParaRPr lang="en-GB" b="1" dirty="0">
              <a:solidFill>
                <a:schemeClr val="tx1"/>
              </a:solidFill>
              <a:latin typeface="+mn-lt"/>
              <a:sym typeface="Trebuchet MS" panose="020B0603020202020204" pitchFamily="34" charset="0"/>
            </a:endParaRPr>
          </a:p>
        </p:txBody>
      </p:sp>
      <p:sp>
        <p:nvSpPr>
          <p:cNvPr id="88" name="Rectangle 87">
            <a:extLst>
              <a:ext uri="{FF2B5EF4-FFF2-40B4-BE49-F238E27FC236}">
                <a16:creationId xmlns:a16="http://schemas.microsoft.com/office/drawing/2014/main" id="{55501A2D-61A1-4D94-B278-3075CC321274}"/>
              </a:ext>
            </a:extLst>
          </p:cNvPr>
          <p:cNvSpPr/>
          <p:nvPr/>
        </p:nvSpPr>
        <p:spPr bwMode="auto">
          <a:xfrm>
            <a:off x="8012688" y="2712843"/>
            <a:ext cx="1458081" cy="98504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a:solidFill>
                  <a:schemeClr val="tx1"/>
                </a:solidFill>
                <a:latin typeface="+mn-lt"/>
                <a:sym typeface="Trebuchet MS" panose="020B0603020202020204" pitchFamily="34" charset="0"/>
              </a:rPr>
              <a:t>East</a:t>
            </a:r>
            <a:endParaRPr lang="en-GB" b="1" dirty="0">
              <a:solidFill>
                <a:schemeClr val="tx1"/>
              </a:solidFill>
              <a:latin typeface="+mn-lt"/>
              <a:sym typeface="Trebuchet MS" panose="020B0603020202020204" pitchFamily="34" charset="0"/>
            </a:endParaRPr>
          </a:p>
        </p:txBody>
      </p:sp>
      <p:sp>
        <p:nvSpPr>
          <p:cNvPr id="89" name="Rectangle 88">
            <a:extLst>
              <a:ext uri="{FF2B5EF4-FFF2-40B4-BE49-F238E27FC236}">
                <a16:creationId xmlns:a16="http://schemas.microsoft.com/office/drawing/2014/main" id="{47D85EE2-3898-4FB1-9386-2D6A7C607DBE}"/>
              </a:ext>
            </a:extLst>
          </p:cNvPr>
          <p:cNvSpPr/>
          <p:nvPr/>
        </p:nvSpPr>
        <p:spPr bwMode="auto">
          <a:xfrm>
            <a:off x="8012688" y="3888453"/>
            <a:ext cx="1458081" cy="98504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a:solidFill>
                  <a:schemeClr val="tx1"/>
                </a:solidFill>
                <a:latin typeface="+mn-lt"/>
                <a:sym typeface="Trebuchet MS" panose="020B0603020202020204" pitchFamily="34" charset="0"/>
              </a:rPr>
              <a:t>West</a:t>
            </a:r>
            <a:endParaRPr lang="en-GB" b="1" dirty="0">
              <a:solidFill>
                <a:schemeClr val="tx1"/>
              </a:solidFill>
              <a:latin typeface="+mn-lt"/>
              <a:sym typeface="Trebuchet MS" panose="020B0603020202020204" pitchFamily="34" charset="0"/>
            </a:endParaRPr>
          </a:p>
        </p:txBody>
      </p:sp>
      <p:sp>
        <p:nvSpPr>
          <p:cNvPr id="90" name="Rectangle 89">
            <a:extLst>
              <a:ext uri="{FF2B5EF4-FFF2-40B4-BE49-F238E27FC236}">
                <a16:creationId xmlns:a16="http://schemas.microsoft.com/office/drawing/2014/main" id="{0B7E1FFA-D7C6-49FB-A6D8-667CE0654B8E}"/>
              </a:ext>
            </a:extLst>
          </p:cNvPr>
          <p:cNvSpPr/>
          <p:nvPr/>
        </p:nvSpPr>
        <p:spPr bwMode="auto">
          <a:xfrm>
            <a:off x="8012688" y="5064066"/>
            <a:ext cx="1458081" cy="985042"/>
          </a:xfrm>
          <a:prstGeom prst="rect">
            <a:avLst/>
          </a:prstGeom>
          <a:solidFill>
            <a:schemeClr val="bg1"/>
          </a:solidFill>
          <a:ln w="12700">
            <a:noFill/>
            <a:prstDash val="solid"/>
          </a:ln>
        </p:spPr>
        <p:txBody>
          <a:bodyPr vert="horz" wrap="square" lIns="72009" tIns="46863" rIns="35941" bIns="46863" rtlCol="0" anchor="t" anchorCtr="0">
            <a:noAutofit/>
          </a:bodyPr>
          <a:lstStyle/>
          <a:p>
            <a:pPr algn="l">
              <a:spcBef>
                <a:spcPts val="0"/>
              </a:spcBef>
              <a:spcAft>
                <a:spcPts val="0"/>
              </a:spcAft>
            </a:pPr>
            <a:r>
              <a:rPr lang="en-GB" b="1">
                <a:solidFill>
                  <a:schemeClr val="tx1"/>
                </a:solidFill>
                <a:latin typeface="+mn-lt"/>
                <a:sym typeface="Trebuchet MS" panose="020B0603020202020204" pitchFamily="34" charset="0"/>
              </a:rPr>
              <a:t>Not available</a:t>
            </a:r>
            <a:endParaRPr lang="en-GB" b="1" dirty="0">
              <a:solidFill>
                <a:schemeClr val="tx1"/>
              </a:solidFill>
              <a:latin typeface="+mn-lt"/>
              <a:sym typeface="Trebuchet MS" panose="020B0603020202020204" pitchFamily="34" charset="0"/>
            </a:endParaRPr>
          </a:p>
        </p:txBody>
      </p:sp>
      <p:sp>
        <p:nvSpPr>
          <p:cNvPr id="91" name="Oval 90">
            <a:extLst>
              <a:ext uri="{FF2B5EF4-FFF2-40B4-BE49-F238E27FC236}">
                <a16:creationId xmlns:a16="http://schemas.microsoft.com/office/drawing/2014/main" id="{4A7C9FD1-3CA4-4E5F-A5C3-63B2A6A68309}"/>
              </a:ext>
            </a:extLst>
          </p:cNvPr>
          <p:cNvSpPr/>
          <p:nvPr/>
        </p:nvSpPr>
        <p:spPr bwMode="auto">
          <a:xfrm>
            <a:off x="8341548" y="2002198"/>
            <a:ext cx="809421" cy="328932"/>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-16.2%</a:t>
            </a:r>
          </a:p>
        </p:txBody>
      </p:sp>
      <p:sp>
        <p:nvSpPr>
          <p:cNvPr id="92" name="Oval 91">
            <a:extLst>
              <a:ext uri="{FF2B5EF4-FFF2-40B4-BE49-F238E27FC236}">
                <a16:creationId xmlns:a16="http://schemas.microsoft.com/office/drawing/2014/main" id="{83AFE4B7-8811-42CA-BA17-A9A6914B0AFB}"/>
              </a:ext>
            </a:extLst>
          </p:cNvPr>
          <p:cNvSpPr/>
          <p:nvPr/>
        </p:nvSpPr>
        <p:spPr bwMode="auto">
          <a:xfrm>
            <a:off x="8341548" y="3172513"/>
            <a:ext cx="809421" cy="328932"/>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-17.0%</a:t>
            </a:r>
          </a:p>
        </p:txBody>
      </p:sp>
      <p:sp>
        <p:nvSpPr>
          <p:cNvPr id="93" name="Oval 92">
            <a:extLst>
              <a:ext uri="{FF2B5EF4-FFF2-40B4-BE49-F238E27FC236}">
                <a16:creationId xmlns:a16="http://schemas.microsoft.com/office/drawing/2014/main" id="{145F82EE-FCCD-4846-82AA-286D61EE00D5}"/>
              </a:ext>
            </a:extLst>
          </p:cNvPr>
          <p:cNvSpPr/>
          <p:nvPr/>
        </p:nvSpPr>
        <p:spPr bwMode="auto">
          <a:xfrm>
            <a:off x="8341548" y="4342828"/>
            <a:ext cx="809421" cy="328932"/>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-26.8%</a:t>
            </a:r>
          </a:p>
        </p:txBody>
      </p:sp>
      <p:sp>
        <p:nvSpPr>
          <p:cNvPr id="94" name="Oval 93">
            <a:extLst>
              <a:ext uri="{FF2B5EF4-FFF2-40B4-BE49-F238E27FC236}">
                <a16:creationId xmlns:a16="http://schemas.microsoft.com/office/drawing/2014/main" id="{FFD0427C-4301-44B3-B3F7-6820768117F0}"/>
              </a:ext>
            </a:extLst>
          </p:cNvPr>
          <p:cNvSpPr/>
          <p:nvPr/>
        </p:nvSpPr>
        <p:spPr bwMode="auto">
          <a:xfrm>
            <a:off x="8337017" y="5513144"/>
            <a:ext cx="809421" cy="328932"/>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latin typeface="+mn-lt"/>
              </a:rPr>
              <a:t>+211%</a:t>
            </a:r>
          </a:p>
        </p:txBody>
      </p:sp>
      <p:cxnSp>
        <p:nvCxnSpPr>
          <p:cNvPr id="95" name="Elbow Connector 27">
            <a:extLst>
              <a:ext uri="{FF2B5EF4-FFF2-40B4-BE49-F238E27FC236}">
                <a16:creationId xmlns:a16="http://schemas.microsoft.com/office/drawing/2014/main" id="{C87D88B1-0A55-4C98-B668-20D780FD77C9}"/>
              </a:ext>
            </a:extLst>
          </p:cNvPr>
          <p:cNvCxnSpPr>
            <a:cxnSpLocks/>
            <a:stCxn id="102" idx="2"/>
            <a:endCxn id="96" idx="0"/>
          </p:cNvCxnSpPr>
          <p:nvPr/>
        </p:nvCxnSpPr>
        <p:spPr bwMode="auto">
          <a:xfrm>
            <a:off x="5469890" y="1790350"/>
            <a:ext cx="0" cy="240503"/>
          </a:xfrm>
          <a:prstGeom prst="straightConnector1">
            <a:avLst/>
          </a:prstGeom>
          <a:solidFill>
            <a:schemeClr val="tx2"/>
          </a:solidFill>
          <a:ln w="3175" cap="flat" cmpd="sng" algn="ctr">
            <a:solidFill>
              <a:schemeClr val="tx2"/>
            </a:solidFill>
            <a:prstDash val="solid"/>
            <a:round/>
            <a:headEnd type="none" w="med" len="med"/>
            <a:tailEnd type="none" w="med" len="med"/>
          </a:ln>
          <a:effectLst/>
        </p:spPr>
      </p:cxnSp>
      <p:sp>
        <p:nvSpPr>
          <p:cNvPr id="96" name="Rectangle 95">
            <a:extLst>
              <a:ext uri="{FF2B5EF4-FFF2-40B4-BE49-F238E27FC236}">
                <a16:creationId xmlns:a16="http://schemas.microsoft.com/office/drawing/2014/main" id="{8FCDD51D-B8ED-4774-8D96-A97DD0683859}"/>
              </a:ext>
            </a:extLst>
          </p:cNvPr>
          <p:cNvSpPr/>
          <p:nvPr/>
        </p:nvSpPr>
        <p:spPr bwMode="auto">
          <a:xfrm>
            <a:off x="4685357" y="2030853"/>
            <a:ext cx="1569066" cy="415534"/>
          </a:xfrm>
          <a:prstGeom prst="rect">
            <a:avLst/>
          </a:prstGeom>
          <a:solidFill>
            <a:schemeClr val="bg1"/>
          </a:solidFill>
          <a:ln w="12700">
            <a:noFill/>
            <a:prstDash val="solid"/>
          </a:ln>
        </p:spPr>
        <p:txBody>
          <a:bodyPr vert="horz" wrap="square" lIns="35941" tIns="35941" rIns="35941" bIns="35941" rtlCol="0" anchor="ctr"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Subscribers</a:t>
            </a:r>
          </a:p>
        </p:txBody>
      </p:sp>
      <p:sp>
        <p:nvSpPr>
          <p:cNvPr id="97" name="Oval 96">
            <a:extLst>
              <a:ext uri="{FF2B5EF4-FFF2-40B4-BE49-F238E27FC236}">
                <a16:creationId xmlns:a16="http://schemas.microsoft.com/office/drawing/2014/main" id="{0F40296C-F5A1-4118-AAAC-6FB5B6654A99}"/>
              </a:ext>
            </a:extLst>
          </p:cNvPr>
          <p:cNvSpPr/>
          <p:nvPr/>
        </p:nvSpPr>
        <p:spPr bwMode="auto">
          <a:xfrm>
            <a:off x="5517221" y="2095535"/>
            <a:ext cx="674575" cy="282478"/>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latin typeface="+mn-lt"/>
              </a:rPr>
              <a:t>+2.3%</a:t>
            </a:r>
          </a:p>
        </p:txBody>
      </p:sp>
      <p:sp>
        <p:nvSpPr>
          <p:cNvPr id="98" name="Rectangle 97">
            <a:extLst>
              <a:ext uri="{FF2B5EF4-FFF2-40B4-BE49-F238E27FC236}">
                <a16:creationId xmlns:a16="http://schemas.microsoft.com/office/drawing/2014/main" id="{37B51A3D-D34A-41ED-9D7D-6CAE3D85D172}"/>
              </a:ext>
            </a:extLst>
          </p:cNvPr>
          <p:cNvSpPr/>
          <p:nvPr/>
        </p:nvSpPr>
        <p:spPr bwMode="auto">
          <a:xfrm>
            <a:off x="3640825" y="1374816"/>
            <a:ext cx="1013960" cy="415534"/>
          </a:xfrm>
          <a:prstGeom prst="rect">
            <a:avLst/>
          </a:prstGeom>
          <a:solidFill>
            <a:schemeClr val="bg1"/>
          </a:solidFill>
          <a:ln w="12700">
            <a:noFill/>
            <a:prstDash val="solid"/>
          </a:ln>
        </p:spPr>
        <p:txBody>
          <a:bodyPr vert="horz" wrap="square" lIns="35941" tIns="35941" rIns="35941" bIns="35941" rtlCol="0" anchor="ctr"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GA</a:t>
            </a:r>
          </a:p>
        </p:txBody>
      </p:sp>
      <p:sp>
        <p:nvSpPr>
          <p:cNvPr id="99" name="Rectangle 98">
            <a:extLst>
              <a:ext uri="{FF2B5EF4-FFF2-40B4-BE49-F238E27FC236}">
                <a16:creationId xmlns:a16="http://schemas.microsoft.com/office/drawing/2014/main" id="{456D8FC0-2367-4CF7-A556-A991DF475809}"/>
              </a:ext>
            </a:extLst>
          </p:cNvPr>
          <p:cNvSpPr/>
          <p:nvPr/>
        </p:nvSpPr>
        <p:spPr bwMode="auto">
          <a:xfrm>
            <a:off x="6285004" y="1374816"/>
            <a:ext cx="1179487" cy="415534"/>
          </a:xfrm>
          <a:prstGeom prst="rect">
            <a:avLst/>
          </a:prstGeom>
          <a:solidFill>
            <a:schemeClr val="bg1"/>
          </a:solidFill>
          <a:ln w="12700">
            <a:noFill/>
            <a:prstDash val="solid"/>
          </a:ln>
        </p:spPr>
        <p:txBody>
          <a:bodyPr vert="horz" wrap="square" lIns="35941" tIns="35941" rIns="35941" bIns="35941" rtlCol="0" anchor="ctr"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Churn</a:t>
            </a:r>
          </a:p>
        </p:txBody>
      </p:sp>
      <p:sp>
        <p:nvSpPr>
          <p:cNvPr id="100" name="Oval 99">
            <a:extLst>
              <a:ext uri="{FF2B5EF4-FFF2-40B4-BE49-F238E27FC236}">
                <a16:creationId xmlns:a16="http://schemas.microsoft.com/office/drawing/2014/main" id="{4D4DB31A-2DA2-47F5-83CF-8783D24BEE24}"/>
              </a:ext>
            </a:extLst>
          </p:cNvPr>
          <p:cNvSpPr/>
          <p:nvPr/>
        </p:nvSpPr>
        <p:spPr bwMode="auto">
          <a:xfrm>
            <a:off x="6756343" y="1441344"/>
            <a:ext cx="674575" cy="282478"/>
          </a:xfrm>
          <a:prstGeom prst="ellipse">
            <a:avLst/>
          </a:prstGeom>
          <a:solidFill>
            <a:srgbClr val="FF000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solidFill>
                  <a:schemeClr val="bg1"/>
                </a:solidFill>
                <a:latin typeface="+mn-lt"/>
              </a:rPr>
              <a:t>+71%</a:t>
            </a:r>
          </a:p>
        </p:txBody>
      </p:sp>
      <p:sp>
        <p:nvSpPr>
          <p:cNvPr id="101" name="Oval 100">
            <a:extLst>
              <a:ext uri="{FF2B5EF4-FFF2-40B4-BE49-F238E27FC236}">
                <a16:creationId xmlns:a16="http://schemas.microsoft.com/office/drawing/2014/main" id="{E1D4C62B-4152-4184-830A-EB1E14B1198E}"/>
              </a:ext>
            </a:extLst>
          </p:cNvPr>
          <p:cNvSpPr/>
          <p:nvPr/>
        </p:nvSpPr>
        <p:spPr bwMode="auto">
          <a:xfrm>
            <a:off x="3938453" y="1441344"/>
            <a:ext cx="674575" cy="282478"/>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latin typeface="+mn-lt"/>
              </a:rPr>
              <a:t>+47%</a:t>
            </a:r>
          </a:p>
        </p:txBody>
      </p:sp>
      <p:sp>
        <p:nvSpPr>
          <p:cNvPr id="102" name="Rectangle 101">
            <a:extLst>
              <a:ext uri="{FF2B5EF4-FFF2-40B4-BE49-F238E27FC236}">
                <a16:creationId xmlns:a16="http://schemas.microsoft.com/office/drawing/2014/main" id="{507B9CF9-79CE-43EE-8AAD-6BD2FE014422}"/>
              </a:ext>
            </a:extLst>
          </p:cNvPr>
          <p:cNvSpPr/>
          <p:nvPr/>
        </p:nvSpPr>
        <p:spPr bwMode="auto">
          <a:xfrm>
            <a:off x="4715540" y="1374816"/>
            <a:ext cx="1508700" cy="415534"/>
          </a:xfrm>
          <a:prstGeom prst="rect">
            <a:avLst/>
          </a:prstGeom>
          <a:solidFill>
            <a:schemeClr val="bg1"/>
          </a:solidFill>
          <a:ln w="12700">
            <a:noFill/>
            <a:prstDash val="solid"/>
          </a:ln>
        </p:spPr>
        <p:txBody>
          <a:bodyPr vert="horz" wrap="square" lIns="35941" tIns="35941" rIns="35941" bIns="35941" rtlCol="0" anchor="ctr" anchorCtr="0">
            <a:noAutofit/>
          </a:bodyPr>
          <a:lstStyle/>
          <a:p>
            <a:pPr algn="l">
              <a:spcBef>
                <a:spcPts val="0"/>
              </a:spcBef>
              <a:spcAft>
                <a:spcPts val="0"/>
              </a:spcAft>
            </a:pPr>
            <a:r>
              <a:rPr lang="en-GB" b="1" dirty="0">
                <a:solidFill>
                  <a:schemeClr val="tx1"/>
                </a:solidFill>
                <a:latin typeface="+mn-lt"/>
                <a:sym typeface="Trebuchet MS" panose="020B0603020202020204" pitchFamily="34" charset="0"/>
              </a:rPr>
              <a:t>Returnees</a:t>
            </a:r>
          </a:p>
        </p:txBody>
      </p:sp>
      <p:sp>
        <p:nvSpPr>
          <p:cNvPr id="103" name="Oval 102">
            <a:extLst>
              <a:ext uri="{FF2B5EF4-FFF2-40B4-BE49-F238E27FC236}">
                <a16:creationId xmlns:a16="http://schemas.microsoft.com/office/drawing/2014/main" id="{30A7BF6F-5699-4E6A-B8BA-A02F827D34DA}"/>
              </a:ext>
            </a:extLst>
          </p:cNvPr>
          <p:cNvSpPr/>
          <p:nvPr/>
        </p:nvSpPr>
        <p:spPr bwMode="auto">
          <a:xfrm>
            <a:off x="5497793" y="1441344"/>
            <a:ext cx="674575" cy="282478"/>
          </a:xfrm>
          <a:prstGeom prst="ellipse">
            <a:avLst/>
          </a:prstGeom>
          <a:solidFill>
            <a:srgbClr val="92D050"/>
          </a:solidFill>
          <a:ln w="9525"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b="1" dirty="0">
                <a:latin typeface="+mn-lt"/>
              </a:rPr>
              <a:t>+103%</a:t>
            </a:r>
          </a:p>
        </p:txBody>
      </p:sp>
      <p:grpSp>
        <p:nvGrpSpPr>
          <p:cNvPr id="76" name="Group 75">
            <a:extLst>
              <a:ext uri="{FF2B5EF4-FFF2-40B4-BE49-F238E27FC236}">
                <a16:creationId xmlns:a16="http://schemas.microsoft.com/office/drawing/2014/main" id="{97605041-4C62-4768-9E19-0C2665E921E8}"/>
              </a:ext>
            </a:extLst>
          </p:cNvPr>
          <p:cNvGrpSpPr/>
          <p:nvPr/>
        </p:nvGrpSpPr>
        <p:grpSpPr>
          <a:xfrm>
            <a:off x="7254068" y="6544089"/>
            <a:ext cx="728904" cy="252000"/>
            <a:chOff x="7005593" y="6563968"/>
            <a:chExt cx="728904" cy="252000"/>
          </a:xfrm>
        </p:grpSpPr>
        <p:pic>
          <p:nvPicPr>
            <p:cNvPr id="83" name="Picture 7" descr="C:\Users\amorales\Downloads\IconShock SuperVista VideoProduction\png\play_256.png">
              <a:hlinkClick r:id="rId2" action="ppaction://hlinksldjump"/>
              <a:extLst>
                <a:ext uri="{FF2B5EF4-FFF2-40B4-BE49-F238E27FC236}">
                  <a16:creationId xmlns:a16="http://schemas.microsoft.com/office/drawing/2014/main" id="{5A2D8C72-C4D1-4B03-9004-C8FEDFE074FD}"/>
                </a:ext>
              </a:extLst>
            </p:cNvPr>
            <p:cNvPicPr>
              <a:picLocks noChangeAspect="1" noChangeArrowheads="1"/>
            </p:cNvPicPr>
            <p:nvPr/>
          </p:nvPicPr>
          <p:blipFill>
            <a:blip r:embed="rId3">
              <a:duotone>
                <a:prstClr val="black"/>
                <a:srgbClr val="6693B1">
                  <a:tint val="45000"/>
                  <a:satMod val="400000"/>
                </a:srgbClr>
              </a:duotone>
              <a:extLst>
                <a:ext uri="{BEBA8EAE-BF5A-486C-A8C5-ECC9F3942E4B}">
                  <a14:imgProps xmlns:a14="http://schemas.microsoft.com/office/drawing/2010/main">
                    <a14:imgLayer r:embed="rId4">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104" name="TextBox 103">
              <a:extLst>
                <a:ext uri="{FF2B5EF4-FFF2-40B4-BE49-F238E27FC236}">
                  <a16:creationId xmlns:a16="http://schemas.microsoft.com/office/drawing/2014/main" id="{10A9CA7F-7B2D-40F8-8576-A6274C52FF77}"/>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
        <p:nvSpPr>
          <p:cNvPr id="105" name="Rectangle: Rounded Corners 104">
            <a:extLst>
              <a:ext uri="{FF2B5EF4-FFF2-40B4-BE49-F238E27FC236}">
                <a16:creationId xmlns:a16="http://schemas.microsoft.com/office/drawing/2014/main" id="{1B6CE948-BDA8-4F2F-A21B-95E6B0B95665}"/>
              </a:ext>
            </a:extLst>
          </p:cNvPr>
          <p:cNvSpPr/>
          <p:nvPr/>
        </p:nvSpPr>
        <p:spPr bwMode="gray">
          <a:xfrm>
            <a:off x="204127" y="1005980"/>
            <a:ext cx="1951595" cy="5315307"/>
          </a:xfrm>
          <a:prstGeom prst="roundRect">
            <a:avLst/>
          </a:prstGeom>
          <a:noFill/>
          <a:ln w="28575">
            <a:solidFill>
              <a:srgbClr val="FF0000"/>
            </a:solidFill>
            <a:prstDash val="sys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sp>
        <p:nvSpPr>
          <p:cNvPr id="106" name="Speech Bubble: Rectangle 105">
            <a:extLst>
              <a:ext uri="{FF2B5EF4-FFF2-40B4-BE49-F238E27FC236}">
                <a16:creationId xmlns:a16="http://schemas.microsoft.com/office/drawing/2014/main" id="{9FD1CDDB-CF36-478F-80DF-928B3A568806}"/>
              </a:ext>
            </a:extLst>
          </p:cNvPr>
          <p:cNvSpPr/>
          <p:nvPr/>
        </p:nvSpPr>
        <p:spPr bwMode="gray">
          <a:xfrm>
            <a:off x="2463666" y="2729547"/>
            <a:ext cx="1568302" cy="544439"/>
          </a:xfrm>
          <a:prstGeom prst="wedgeRectCallout">
            <a:avLst>
              <a:gd name="adj1" fmla="val -68499"/>
              <a:gd name="adj2" fmla="val 151951"/>
            </a:avLst>
          </a:prstGeom>
          <a:solidFill>
            <a:srgbClr val="FF0000"/>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r>
              <a:rPr lang="en-US" sz="1500" b="1" dirty="0">
                <a:solidFill>
                  <a:srgbClr val="FFFFFF"/>
                </a:solidFill>
                <a:latin typeface="+mj-lt"/>
                <a:ea typeface="ＭＳ Ｐゴシック" pitchFamily="-108" charset="-128"/>
                <a:sym typeface="Trebuchet MS" panose="020B0603020202020204" pitchFamily="34" charset="0"/>
              </a:rPr>
              <a:t>Objective of the session</a:t>
            </a:r>
          </a:p>
        </p:txBody>
      </p:sp>
    </p:spTree>
    <p:extLst>
      <p:ext uri="{BB962C8B-B14F-4D97-AF65-F5344CB8AC3E}">
        <p14:creationId xmlns:p14="http://schemas.microsoft.com/office/powerpoint/2010/main" val="3373546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120D1-59CA-47E1-82D6-06F346B5F058}"/>
              </a:ext>
            </a:extLst>
          </p:cNvPr>
          <p:cNvSpPr>
            <a:spLocks noGrp="1"/>
          </p:cNvSpPr>
          <p:nvPr>
            <p:ph type="title"/>
          </p:nvPr>
        </p:nvSpPr>
        <p:spPr/>
        <p:txBody>
          <a:bodyPr/>
          <a:lstStyle/>
          <a:p>
            <a:r>
              <a:rPr lang="en-US" dirty="0"/>
              <a:t>OA customer base has been segmented into 5 segments each presents different characteristics in terms of ARPU, data usage and churn</a:t>
            </a:r>
          </a:p>
        </p:txBody>
      </p:sp>
      <p:sp>
        <p:nvSpPr>
          <p:cNvPr id="3" name="Text Box 9">
            <a:extLst>
              <a:ext uri="{FF2B5EF4-FFF2-40B4-BE49-F238E27FC236}">
                <a16:creationId xmlns:a16="http://schemas.microsoft.com/office/drawing/2014/main" id="{0E919C7B-B0C9-4590-8651-1F73AB2EB18F}"/>
              </a:ext>
            </a:extLst>
          </p:cNvPr>
          <p:cNvSpPr txBox="1">
            <a:spLocks noChangeArrowheads="1"/>
          </p:cNvSpPr>
          <p:nvPr/>
        </p:nvSpPr>
        <p:spPr bwMode="gray">
          <a:xfrm>
            <a:off x="304802" y="1320540"/>
            <a:ext cx="2414122" cy="332399"/>
          </a:xfrm>
          <a:prstGeom prst="rect">
            <a:avLst/>
          </a:prstGeom>
          <a:noFill/>
          <a:ln w="25400" algn="ctr">
            <a:noFill/>
            <a:miter lim="800000"/>
            <a:headEnd/>
            <a:tailEnd/>
          </a:ln>
        </p:spPr>
        <p:txBody>
          <a:bodyPr wrap="none" lIns="0" tIns="0" rIns="0" bIns="0">
            <a:spAutoFit/>
          </a:bodyPr>
          <a:lstStyle/>
          <a:p>
            <a:pPr algn="l" eaLnBrk="0" fontAlgn="base" hangingPunct="0">
              <a:lnSpc>
                <a:spcPct val="90000"/>
              </a:lnSpc>
              <a:spcBef>
                <a:spcPct val="0"/>
              </a:spcBef>
              <a:spcAft>
                <a:spcPct val="0"/>
              </a:spcAft>
              <a:buSzPct val="100000"/>
            </a:pPr>
            <a:r>
              <a:rPr lang="en-GB" sz="1400" b="1" dirty="0">
                <a:solidFill>
                  <a:srgbClr val="004B7D"/>
                </a:solidFill>
              </a:rPr>
              <a:t>ARPU based segmentation</a:t>
            </a:r>
          </a:p>
          <a:p>
            <a:pPr algn="l" eaLnBrk="0" fontAlgn="base" hangingPunct="0">
              <a:lnSpc>
                <a:spcPct val="90000"/>
              </a:lnSpc>
              <a:spcBef>
                <a:spcPct val="0"/>
              </a:spcBef>
              <a:spcAft>
                <a:spcPct val="0"/>
              </a:spcAft>
              <a:buSzPct val="100000"/>
            </a:pPr>
            <a:r>
              <a:rPr lang="en-GB" sz="1000" dirty="0">
                <a:solidFill>
                  <a:srgbClr val="004B7D"/>
                </a:solidFill>
              </a:rPr>
              <a:t>(DA, Dec 2018 excludes GA in the month) </a:t>
            </a:r>
          </a:p>
        </p:txBody>
      </p:sp>
      <p:sp>
        <p:nvSpPr>
          <p:cNvPr id="4" name="Text Box 9">
            <a:extLst>
              <a:ext uri="{FF2B5EF4-FFF2-40B4-BE49-F238E27FC236}">
                <a16:creationId xmlns:a16="http://schemas.microsoft.com/office/drawing/2014/main" id="{E7F85BED-5E86-45CD-B989-56B3B7CDD593}"/>
              </a:ext>
            </a:extLst>
          </p:cNvPr>
          <p:cNvSpPr txBox="1">
            <a:spLocks noChangeArrowheads="1"/>
          </p:cNvSpPr>
          <p:nvPr/>
        </p:nvSpPr>
        <p:spPr bwMode="gray">
          <a:xfrm>
            <a:off x="304802" y="1892706"/>
            <a:ext cx="682879" cy="166199"/>
          </a:xfrm>
          <a:prstGeom prst="rect">
            <a:avLst/>
          </a:prstGeom>
          <a:noFill/>
          <a:ln w="25400" algn="ctr">
            <a:noFill/>
            <a:miter lim="800000"/>
            <a:headEnd/>
            <a:tailEnd/>
          </a:ln>
        </p:spPr>
        <p:txBody>
          <a:bodyPr wrap="none" lIns="0" tIns="0" rIns="0" bIns="0">
            <a:spAutoFit/>
          </a:bodyPr>
          <a:lstStyle>
            <a:defPPr>
              <a:defRPr lang="en-GB"/>
            </a:defPPr>
            <a:lvl1pPr algn="l">
              <a:lnSpc>
                <a:spcPct val="90000"/>
              </a:lnSpc>
              <a:spcBef>
                <a:spcPct val="0"/>
              </a:spcBef>
              <a:buSzPct val="100000"/>
              <a:defRPr sz="1400" b="1">
                <a:solidFill>
                  <a:srgbClr val="004B7D"/>
                </a:solidFill>
              </a:defRPr>
            </a:lvl1pPr>
          </a:lstStyle>
          <a:p>
            <a:pPr eaLnBrk="0" fontAlgn="base" hangingPunct="0">
              <a:spcAft>
                <a:spcPct val="0"/>
              </a:spcAft>
            </a:pPr>
            <a:r>
              <a:rPr lang="en-GB" sz="1200" dirty="0"/>
              <a:t>Segments</a:t>
            </a:r>
          </a:p>
        </p:txBody>
      </p:sp>
      <p:graphicFrame>
        <p:nvGraphicFramePr>
          <p:cNvPr id="5" name="Table 4">
            <a:extLst>
              <a:ext uri="{FF2B5EF4-FFF2-40B4-BE49-F238E27FC236}">
                <a16:creationId xmlns:a16="http://schemas.microsoft.com/office/drawing/2014/main" id="{DF6D847C-21BF-4577-993F-EDAB7D27D2D9}"/>
              </a:ext>
            </a:extLst>
          </p:cNvPr>
          <p:cNvGraphicFramePr>
            <a:graphicFrameLocks noGrp="1"/>
          </p:cNvGraphicFramePr>
          <p:nvPr>
            <p:extLst>
              <p:ext uri="{D42A27DB-BD31-4B8C-83A1-F6EECF244321}">
                <p14:modId xmlns:p14="http://schemas.microsoft.com/office/powerpoint/2010/main" val="911500980"/>
              </p:ext>
            </p:extLst>
          </p:nvPr>
        </p:nvGraphicFramePr>
        <p:xfrm>
          <a:off x="3167270" y="1236526"/>
          <a:ext cx="6440280" cy="4803650"/>
        </p:xfrm>
        <a:graphic>
          <a:graphicData uri="http://schemas.openxmlformats.org/drawingml/2006/table">
            <a:tbl>
              <a:tblPr firstRow="1" bandRow="1">
                <a:tableStyleId>{2D5ABB26-0587-4C30-8999-92F81FD0307C}</a:tableStyleId>
              </a:tblPr>
              <a:tblGrid>
                <a:gridCol w="920040">
                  <a:extLst>
                    <a:ext uri="{9D8B030D-6E8A-4147-A177-3AD203B41FA5}">
                      <a16:colId xmlns:a16="http://schemas.microsoft.com/office/drawing/2014/main" val="20000"/>
                    </a:ext>
                  </a:extLst>
                </a:gridCol>
                <a:gridCol w="920040">
                  <a:extLst>
                    <a:ext uri="{9D8B030D-6E8A-4147-A177-3AD203B41FA5}">
                      <a16:colId xmlns:a16="http://schemas.microsoft.com/office/drawing/2014/main" val="20001"/>
                    </a:ext>
                  </a:extLst>
                </a:gridCol>
                <a:gridCol w="920040">
                  <a:extLst>
                    <a:ext uri="{9D8B030D-6E8A-4147-A177-3AD203B41FA5}">
                      <a16:colId xmlns:a16="http://schemas.microsoft.com/office/drawing/2014/main" val="20002"/>
                    </a:ext>
                  </a:extLst>
                </a:gridCol>
                <a:gridCol w="920040">
                  <a:extLst>
                    <a:ext uri="{9D8B030D-6E8A-4147-A177-3AD203B41FA5}">
                      <a16:colId xmlns:a16="http://schemas.microsoft.com/office/drawing/2014/main" val="20003"/>
                    </a:ext>
                  </a:extLst>
                </a:gridCol>
                <a:gridCol w="920040">
                  <a:extLst>
                    <a:ext uri="{9D8B030D-6E8A-4147-A177-3AD203B41FA5}">
                      <a16:colId xmlns:a16="http://schemas.microsoft.com/office/drawing/2014/main" val="20004"/>
                    </a:ext>
                  </a:extLst>
                </a:gridCol>
                <a:gridCol w="920040">
                  <a:extLst>
                    <a:ext uri="{9D8B030D-6E8A-4147-A177-3AD203B41FA5}">
                      <a16:colId xmlns:a16="http://schemas.microsoft.com/office/drawing/2014/main" val="3161380332"/>
                    </a:ext>
                  </a:extLst>
                </a:gridCol>
                <a:gridCol w="920040">
                  <a:extLst>
                    <a:ext uri="{9D8B030D-6E8A-4147-A177-3AD203B41FA5}">
                      <a16:colId xmlns:a16="http://schemas.microsoft.com/office/drawing/2014/main" val="20005"/>
                    </a:ext>
                  </a:extLst>
                </a:gridCol>
              </a:tblGrid>
              <a:tr h="746822">
                <a:tc>
                  <a:txBody>
                    <a:bodyPr/>
                    <a:lstStyle/>
                    <a:p>
                      <a:pPr algn="ctr"/>
                      <a:r>
                        <a:rPr lang="en-US" sz="1100" b="1" baseline="0" noProof="0" dirty="0">
                          <a:solidFill>
                            <a:schemeClr val="bg1"/>
                          </a:solidFill>
                          <a:latin typeface="+mj-lt"/>
                          <a:sym typeface="Trebuchet MS" panose="020B0603020202020204" pitchFamily="34" charset="0"/>
                        </a:rPr>
                        <a:t>Number of customers </a:t>
                      </a:r>
                      <a:r>
                        <a:rPr lang="en-US" sz="1000" b="0" baseline="0" noProof="0" dirty="0">
                          <a:solidFill>
                            <a:schemeClr val="bg1"/>
                          </a:solidFill>
                          <a:latin typeface="+mj-lt"/>
                          <a:sym typeface="Trebuchet MS" panose="020B0603020202020204" pitchFamily="34" charset="0"/>
                        </a:rPr>
                        <a:t>('000s/ %)</a:t>
                      </a:r>
                      <a:endParaRPr lang="en-US" sz="1100" b="1" noProof="0" dirty="0">
                        <a:solidFill>
                          <a:schemeClr val="bg1"/>
                        </a:solidFill>
                        <a:latin typeface="+mj-lt"/>
                        <a:sym typeface="Trebuchet MS" panose="020B0603020202020204" pitchFamily="34" charset="0"/>
                      </a:endParaRPr>
                    </a:p>
                  </a:txBody>
                  <a:tcPr marL="72000" marR="36000" anchor="ctr">
                    <a:lnB w="19050" cap="flat" cmpd="sng" algn="ctr">
                      <a:solidFill>
                        <a:srgbClr val="004B7D"/>
                      </a:solidFill>
                      <a:prstDash val="solid"/>
                      <a:round/>
                      <a:headEnd type="none" w="med" len="med"/>
                      <a:tailEnd type="none" w="med" len="med"/>
                    </a:lnB>
                    <a:solidFill>
                      <a:schemeClr val="tx2"/>
                    </a:solidFill>
                  </a:tcPr>
                </a:tc>
                <a:tc>
                  <a:txBody>
                    <a:bodyPr/>
                    <a:lstStyle/>
                    <a:p>
                      <a:pPr marL="0" algn="ctr" defTabSz="914400" rtl="0" eaLnBrk="1" latinLnBrk="0" hangingPunct="1"/>
                      <a:r>
                        <a:rPr lang="en-US" sz="1100" b="1" kern="1200" noProof="0" dirty="0">
                          <a:solidFill>
                            <a:schemeClr val="bg1"/>
                          </a:solidFill>
                          <a:latin typeface="+mj-lt"/>
                          <a:ea typeface="+mn-ea"/>
                          <a:cs typeface="+mn-cs"/>
                          <a:sym typeface="Trebuchet MS" panose="020B0603020202020204" pitchFamily="34" charset="0"/>
                        </a:rPr>
                        <a:t>Revenue</a:t>
                      </a:r>
                      <a:r>
                        <a:rPr lang="en-US" sz="1100" b="1" kern="1200" baseline="0" noProof="0" dirty="0">
                          <a:solidFill>
                            <a:schemeClr val="bg1"/>
                          </a:solidFill>
                          <a:latin typeface="+mj-lt"/>
                          <a:ea typeface="+mn-ea"/>
                          <a:cs typeface="+mn-cs"/>
                          <a:sym typeface="Trebuchet MS" panose="020B0603020202020204" pitchFamily="34" charset="0"/>
                        </a:rPr>
                        <a:t> </a:t>
                      </a:r>
                    </a:p>
                    <a:p>
                      <a:pPr marL="0" algn="ctr" defTabSz="914400" rtl="0" eaLnBrk="1" latinLnBrk="0" hangingPunct="1"/>
                      <a:r>
                        <a:rPr lang="en-US" sz="1000" b="0" kern="1200" noProof="0" dirty="0">
                          <a:solidFill>
                            <a:schemeClr val="bg1"/>
                          </a:solidFill>
                          <a:latin typeface="+mj-lt"/>
                          <a:ea typeface="+mn-ea"/>
                          <a:cs typeface="+mn-cs"/>
                          <a:sym typeface="Trebuchet MS" panose="020B0603020202020204" pitchFamily="34" charset="0"/>
                        </a:rPr>
                        <a:t>(%</a:t>
                      </a:r>
                      <a:r>
                        <a:rPr lang="en-US" sz="1000" b="0" kern="1200" baseline="0" noProof="0" dirty="0">
                          <a:solidFill>
                            <a:schemeClr val="bg1"/>
                          </a:solidFill>
                          <a:latin typeface="+mj-lt"/>
                          <a:ea typeface="+mn-ea"/>
                          <a:cs typeface="+mn-cs"/>
                          <a:sym typeface="Trebuchet MS" panose="020B0603020202020204" pitchFamily="34" charset="0"/>
                        </a:rPr>
                        <a:t>)</a:t>
                      </a:r>
                    </a:p>
                  </a:txBody>
                  <a:tcPr marL="72000" marR="36000" anchor="ctr">
                    <a:lnB w="19050" cap="flat" cmpd="sng" algn="ctr">
                      <a:solidFill>
                        <a:srgbClr val="004B7D"/>
                      </a:solidFill>
                      <a:prstDash val="solid"/>
                      <a:round/>
                      <a:headEnd type="none" w="med" len="med"/>
                      <a:tailEnd type="none" w="med" len="med"/>
                    </a:lnB>
                    <a:solidFill>
                      <a:schemeClr val="tx2"/>
                    </a:solidFill>
                  </a:tcPr>
                </a:tc>
                <a:tc>
                  <a:txBody>
                    <a:bodyPr/>
                    <a:lstStyle/>
                    <a:p>
                      <a:pPr marL="0" algn="ctr" defTabSz="914400" rtl="0" eaLnBrk="1" latinLnBrk="0" hangingPunct="1"/>
                      <a:r>
                        <a:rPr lang="en-US" sz="1100" b="1" kern="1200" noProof="0" dirty="0">
                          <a:solidFill>
                            <a:schemeClr val="bg1"/>
                          </a:solidFill>
                          <a:latin typeface="+mj-lt"/>
                          <a:ea typeface="+mn-ea"/>
                          <a:cs typeface="+mn-cs"/>
                          <a:sym typeface="Trebuchet MS" panose="020B0603020202020204" pitchFamily="34" charset="0"/>
                        </a:rPr>
                        <a:t>Monthly ARPU </a:t>
                      </a:r>
                      <a:r>
                        <a:rPr lang="en-US" sz="1000" b="0" kern="1200" noProof="0" dirty="0">
                          <a:solidFill>
                            <a:schemeClr val="bg1"/>
                          </a:solidFill>
                          <a:latin typeface="+mj-lt"/>
                          <a:ea typeface="+mn-ea"/>
                          <a:cs typeface="+mn-cs"/>
                          <a:sym typeface="Trebuchet MS" panose="020B0603020202020204" pitchFamily="34" charset="0"/>
                        </a:rPr>
                        <a:t>(DA)</a:t>
                      </a:r>
                    </a:p>
                  </a:txBody>
                  <a:tcPr marL="72000" marR="36000" anchor="ctr">
                    <a:lnB w="19050" cap="flat" cmpd="sng" algn="ctr">
                      <a:solidFill>
                        <a:srgbClr val="004B7D"/>
                      </a:solidFill>
                      <a:prstDash val="solid"/>
                      <a:round/>
                      <a:headEnd type="none" w="med" len="med"/>
                      <a:tailEnd type="none" w="med" len="med"/>
                    </a:lnB>
                    <a:solidFill>
                      <a:schemeClr val="tx2"/>
                    </a:solidFill>
                  </a:tcPr>
                </a:tc>
                <a:tc>
                  <a:txBody>
                    <a:bodyPr/>
                    <a:lstStyle/>
                    <a:p>
                      <a:pPr marL="0" algn="ctr" defTabSz="914400" rtl="0" eaLnBrk="1" latinLnBrk="0" hangingPunct="1"/>
                      <a:r>
                        <a:rPr lang="en-US" sz="1100" b="1" kern="1200" baseline="0" noProof="0" dirty="0">
                          <a:solidFill>
                            <a:schemeClr val="bg1"/>
                          </a:solidFill>
                          <a:latin typeface="+mj-lt"/>
                          <a:ea typeface="+mn-ea"/>
                          <a:cs typeface="+mn-cs"/>
                          <a:sym typeface="Trebuchet MS" panose="020B0603020202020204" pitchFamily="34" charset="0"/>
                        </a:rPr>
                        <a:t>Data users penetration &gt;2MB </a:t>
                      </a:r>
                      <a:r>
                        <a:rPr lang="en-US" sz="1000" b="0" kern="1200" noProof="0" dirty="0">
                          <a:solidFill>
                            <a:schemeClr val="bg1"/>
                          </a:solidFill>
                          <a:latin typeface="+mj-lt"/>
                          <a:ea typeface="+mn-ea"/>
                          <a:cs typeface="+mn-cs"/>
                          <a:sym typeface="Trebuchet MS" panose="020B0603020202020204" pitchFamily="34" charset="0"/>
                        </a:rPr>
                        <a:t>(%)</a:t>
                      </a:r>
                    </a:p>
                  </a:txBody>
                  <a:tcPr marL="72000" marR="36000" anchor="ctr">
                    <a:lnB w="19050" cap="flat" cmpd="sng" algn="ctr">
                      <a:solidFill>
                        <a:srgbClr val="004B7D"/>
                      </a:solidFill>
                      <a:prstDash val="solid"/>
                      <a:round/>
                      <a:headEnd type="none" w="med" len="med"/>
                      <a:tailEnd type="none" w="med" len="med"/>
                    </a:lnB>
                    <a:solidFill>
                      <a:schemeClr val="tx2"/>
                    </a:solidFill>
                  </a:tcPr>
                </a:tc>
                <a:tc>
                  <a:txBody>
                    <a:bodyPr/>
                    <a:lstStyle/>
                    <a:p>
                      <a:pPr marL="0" algn="ctr" defTabSz="914400" rtl="0" eaLnBrk="1" latinLnBrk="0" hangingPunct="1"/>
                      <a:r>
                        <a:rPr lang="en-US" sz="1100" b="1" kern="1200" noProof="0" dirty="0">
                          <a:solidFill>
                            <a:schemeClr val="bg1"/>
                          </a:solidFill>
                          <a:latin typeface="+mj-lt"/>
                          <a:ea typeface="+mn-ea"/>
                          <a:cs typeface="+mn-cs"/>
                          <a:sym typeface="Trebuchet MS" panose="020B0603020202020204" pitchFamily="34" charset="0"/>
                        </a:rPr>
                        <a:t>Smartphone adoption (%)</a:t>
                      </a:r>
                      <a:endParaRPr lang="en-US" sz="1000" b="0" kern="1200" noProof="0" dirty="0">
                        <a:solidFill>
                          <a:schemeClr val="bg1"/>
                        </a:solidFill>
                        <a:latin typeface="+mj-lt"/>
                        <a:ea typeface="+mn-ea"/>
                        <a:cs typeface="+mn-cs"/>
                        <a:sym typeface="Trebuchet MS" panose="020B0603020202020204" pitchFamily="34" charset="0"/>
                      </a:endParaRPr>
                    </a:p>
                  </a:txBody>
                  <a:tcPr marL="72000" marR="36000" anchor="ctr">
                    <a:lnB w="19050" cap="flat" cmpd="sng" algn="ctr">
                      <a:solidFill>
                        <a:srgbClr val="004B7D"/>
                      </a:solidFill>
                      <a:prstDash val="solid"/>
                      <a:round/>
                      <a:headEnd type="none" w="med" len="med"/>
                      <a:tailEnd type="none" w="med" len="med"/>
                    </a:lnB>
                    <a:solidFill>
                      <a:schemeClr val="tx2"/>
                    </a:solidFill>
                  </a:tcPr>
                </a:tc>
                <a:tc>
                  <a:txBody>
                    <a:bodyPr/>
                    <a:lstStyle/>
                    <a:p>
                      <a:pPr marL="0" algn="ctr" defTabSz="914400" rtl="0" eaLnBrk="1" latinLnBrk="0" hangingPunct="1"/>
                      <a:r>
                        <a:rPr lang="en-US" sz="1000" b="1" kern="1200" noProof="0" dirty="0">
                          <a:solidFill>
                            <a:schemeClr val="bg1"/>
                          </a:solidFill>
                          <a:latin typeface="+mj-lt"/>
                          <a:ea typeface="+mn-ea"/>
                          <a:cs typeface="+mn-cs"/>
                          <a:sym typeface="Trebuchet MS" panose="020B0603020202020204" pitchFamily="34" charset="0"/>
                        </a:rPr>
                        <a:t>Monthly churn</a:t>
                      </a:r>
                      <a:r>
                        <a:rPr lang="en-US" sz="1000" b="1" kern="1200" baseline="0" noProof="0" dirty="0">
                          <a:solidFill>
                            <a:schemeClr val="bg1"/>
                          </a:solidFill>
                          <a:latin typeface="+mj-lt"/>
                          <a:ea typeface="+mn-ea"/>
                          <a:cs typeface="+mn-cs"/>
                          <a:sym typeface="Trebuchet MS" panose="020B0603020202020204" pitchFamily="34" charset="0"/>
                        </a:rPr>
                        <a:t> rate</a:t>
                      </a:r>
                      <a:endParaRPr lang="en-US" sz="1000" b="1" kern="1200" noProof="0" dirty="0">
                        <a:solidFill>
                          <a:schemeClr val="bg1"/>
                        </a:solidFill>
                        <a:latin typeface="+mj-lt"/>
                        <a:ea typeface="+mn-ea"/>
                        <a:cs typeface="+mn-cs"/>
                        <a:sym typeface="Trebuchet MS" panose="020B0603020202020204" pitchFamily="34" charset="0"/>
                      </a:endParaRPr>
                    </a:p>
                    <a:p>
                      <a:pPr marL="0" algn="ctr" defTabSz="914400" rtl="0" eaLnBrk="1" latinLnBrk="0" hangingPunct="1"/>
                      <a:r>
                        <a:rPr lang="en-US" sz="800" b="0" kern="1200" noProof="0" dirty="0">
                          <a:solidFill>
                            <a:schemeClr val="bg1"/>
                          </a:solidFill>
                          <a:latin typeface="+mj-lt"/>
                          <a:ea typeface="+mn-ea"/>
                          <a:cs typeface="+mn-cs"/>
                          <a:sym typeface="Trebuchet MS" panose="020B0603020202020204" pitchFamily="34" charset="0"/>
                        </a:rPr>
                        <a:t>(%)</a:t>
                      </a:r>
                    </a:p>
                  </a:txBody>
                  <a:tcPr marL="72000" marR="36000" anchor="ctr">
                    <a:lnB w="19050" cap="flat" cmpd="sng" algn="ctr">
                      <a:solidFill>
                        <a:srgbClr val="004B7D"/>
                      </a:solidFill>
                      <a:prstDash val="solid"/>
                      <a:round/>
                      <a:headEnd type="none" w="med" len="med"/>
                      <a:tailEnd type="none" w="med" len="med"/>
                    </a:lnB>
                    <a:solidFill>
                      <a:schemeClr val="tx2"/>
                    </a:solidFill>
                  </a:tcPr>
                </a:tc>
                <a:tc>
                  <a:txBody>
                    <a:bodyPr/>
                    <a:lstStyle/>
                    <a:p>
                      <a:pPr marL="0" algn="ctr" defTabSz="914400" rtl="0" eaLnBrk="1" latinLnBrk="0" hangingPunct="1"/>
                      <a:r>
                        <a:rPr lang="en-US" sz="1100" b="1" kern="1200" baseline="0" noProof="0" dirty="0">
                          <a:solidFill>
                            <a:schemeClr val="bg1"/>
                          </a:solidFill>
                          <a:latin typeface="+mj-lt"/>
                          <a:ea typeface="+mn-ea"/>
                          <a:cs typeface="+mn-cs"/>
                          <a:sym typeface="Trebuchet MS" panose="020B0603020202020204" pitchFamily="34" charset="0"/>
                        </a:rPr>
                        <a:t>Lifetime Value</a:t>
                      </a:r>
                      <a:r>
                        <a:rPr lang="en-US" sz="1100" b="1" kern="1200" baseline="30000" noProof="0" dirty="0">
                          <a:solidFill>
                            <a:schemeClr val="bg1"/>
                          </a:solidFill>
                          <a:latin typeface="+mj-lt"/>
                          <a:ea typeface="+mn-ea"/>
                          <a:cs typeface="+mn-cs"/>
                          <a:sym typeface="Trebuchet MS" panose="020B0603020202020204" pitchFamily="34" charset="0"/>
                        </a:rPr>
                        <a:t>1</a:t>
                      </a:r>
                    </a:p>
                    <a:p>
                      <a:pPr marL="0" algn="ctr" defTabSz="914400" rtl="0" eaLnBrk="1" latinLnBrk="0" hangingPunct="1"/>
                      <a:r>
                        <a:rPr lang="en-US" sz="1000" b="0" kern="1200" baseline="0" noProof="0" dirty="0">
                          <a:solidFill>
                            <a:schemeClr val="bg1"/>
                          </a:solidFill>
                          <a:latin typeface="+mj-lt"/>
                          <a:ea typeface="+mn-ea"/>
                          <a:cs typeface="+mn-cs"/>
                          <a:sym typeface="Trebuchet MS" panose="020B0603020202020204" pitchFamily="34" charset="0"/>
                        </a:rPr>
                        <a:t>(000 DA)</a:t>
                      </a:r>
                      <a:endParaRPr lang="en-US" sz="1000" b="0" kern="1200" noProof="0" dirty="0">
                        <a:solidFill>
                          <a:schemeClr val="bg1"/>
                        </a:solidFill>
                        <a:latin typeface="+mj-lt"/>
                        <a:ea typeface="+mn-ea"/>
                        <a:cs typeface="+mn-cs"/>
                        <a:sym typeface="Trebuchet MS" panose="020B0603020202020204" pitchFamily="34" charset="0"/>
                      </a:endParaRPr>
                    </a:p>
                  </a:txBody>
                  <a:tcPr marL="72000" marR="36000" anchor="ctr">
                    <a:lnB w="19050" cap="flat" cmpd="sng" algn="ctr">
                      <a:solidFill>
                        <a:srgbClr val="004B7D"/>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76138">
                <a:tc>
                  <a:txBody>
                    <a:bodyPr/>
                    <a:lstStyle/>
                    <a:p>
                      <a:pPr algn="ctr" fontAlgn="b"/>
                      <a:r>
                        <a:rPr lang="en-US" sz="1400" b="1" i="0" u="none" strike="noStrike" dirty="0">
                          <a:solidFill>
                            <a:srgbClr val="000000"/>
                          </a:solidFill>
                          <a:effectLst/>
                          <a:latin typeface="+mj-lt"/>
                        </a:rPr>
                        <a:t>0.6</a:t>
                      </a:r>
                    </a:p>
                  </a:txBody>
                  <a:tcPr marL="9525" marR="9525" marT="9525" marB="0" anchor="ctr">
                    <a:lnL w="12700" cmpd="sng">
                      <a:noFill/>
                      <a:prstDash val="solid"/>
                    </a:lnL>
                    <a:lnR w="6350" cap="flat" cmpd="sng" algn="ctr">
                      <a:solidFill>
                        <a:schemeClr val="bg1"/>
                      </a:solidFill>
                      <a:prstDash val="solid"/>
                      <a:round/>
                      <a:headEnd type="none" w="med" len="med"/>
                      <a:tailEnd type="none" w="med" len="med"/>
                    </a:lnR>
                    <a:lnT w="19050" cap="flat" cmpd="sng" algn="ctr">
                      <a:solidFill>
                        <a:srgbClr val="004B7D"/>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a:solidFill>
                            <a:srgbClr val="000000"/>
                          </a:solidFill>
                          <a:effectLst/>
                          <a:latin typeface="+mj-lt"/>
                        </a:rPr>
                        <a:t>35.1%</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mpd="sng">
                      <a:solidFill>
                        <a:srgbClr val="004B7D"/>
                      </a:solidFill>
                      <a:prstDash val="soli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3,557</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rgbClr val="004B7D"/>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79%</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rgbClr val="004B7D"/>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a:solidFill>
                            <a:srgbClr val="000000"/>
                          </a:solidFill>
                          <a:effectLst/>
                          <a:latin typeface="+mj-lt"/>
                        </a:rPr>
                        <a:t>75%</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mpd="sng">
                      <a:solidFill>
                        <a:srgbClr val="004B7D"/>
                      </a:solidFill>
                      <a:prstDash val="soli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400" b="1" kern="1200" noProof="0" dirty="0">
                          <a:solidFill>
                            <a:srgbClr val="000000"/>
                          </a:solidFill>
                          <a:latin typeface="+mj-lt"/>
                          <a:ea typeface="+mn-ea"/>
                          <a:cs typeface="+mn-cs"/>
                        </a:rPr>
                        <a:t>2.4%</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9050" cap="flat" cmpd="sng" algn="ctr">
                      <a:solidFill>
                        <a:srgbClr val="004B7D"/>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ctr"/>
                      <a:r>
                        <a:rPr lang="en-US" sz="1400" b="1" i="0" u="none" strike="noStrike" noProof="0" dirty="0">
                          <a:solidFill>
                            <a:srgbClr val="000000"/>
                          </a:solidFill>
                          <a:effectLst/>
                          <a:latin typeface="+mj-lt"/>
                        </a:rPr>
                        <a:t>148</a:t>
                      </a:r>
                    </a:p>
                  </a:txBody>
                  <a:tcPr marL="0" marR="0" marT="0" marB="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9050" cmpd="sng">
                      <a:solidFill>
                        <a:srgbClr val="004B7D"/>
                      </a:solidFill>
                      <a:prstDash val="soli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676138">
                <a:tc>
                  <a:txBody>
                    <a:bodyPr/>
                    <a:lstStyle/>
                    <a:p>
                      <a:pPr algn="ctr" fontAlgn="b"/>
                      <a:r>
                        <a:rPr lang="en-US" sz="1400" b="1" i="0" u="none" strike="noStrike">
                          <a:solidFill>
                            <a:srgbClr val="000000"/>
                          </a:solidFill>
                          <a:effectLst/>
                          <a:latin typeface="+mj-lt"/>
                        </a:rPr>
                        <a:t>1.2</a:t>
                      </a:r>
                    </a:p>
                  </a:txBody>
                  <a:tcPr marL="9525" marR="9525" marT="9525" marB="0" anchor="ctr">
                    <a:lnL w="12700" cmpd="sng">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33.3%</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1,593 </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70%</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a:solidFill>
                            <a:srgbClr val="000000"/>
                          </a:solidFill>
                          <a:effectLst/>
                          <a:latin typeface="+mj-lt"/>
                        </a:rPr>
                        <a:t>69%</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400" b="1" kern="1200" noProof="0" dirty="0">
                          <a:solidFill>
                            <a:srgbClr val="000000"/>
                          </a:solidFill>
                          <a:latin typeface="+mj-lt"/>
                          <a:ea typeface="+mn-ea"/>
                          <a:cs typeface="+mn-cs"/>
                        </a:rPr>
                        <a:t>4.3%</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ctr"/>
                      <a:r>
                        <a:rPr lang="en-US" sz="1400" b="1" i="0" u="none" strike="noStrike" noProof="0" dirty="0">
                          <a:solidFill>
                            <a:srgbClr val="000000"/>
                          </a:solidFill>
                          <a:effectLst/>
                          <a:latin typeface="+mj-lt"/>
                        </a:rPr>
                        <a:t>37</a:t>
                      </a:r>
                    </a:p>
                  </a:txBody>
                  <a:tcPr marL="0" marR="0" marT="0" marB="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676138">
                <a:tc>
                  <a:txBody>
                    <a:bodyPr/>
                    <a:lstStyle/>
                    <a:p>
                      <a:pPr algn="ctr" fontAlgn="b"/>
                      <a:r>
                        <a:rPr lang="en-US" sz="1400" b="1" i="0" u="none" strike="noStrike">
                          <a:solidFill>
                            <a:srgbClr val="000000"/>
                          </a:solidFill>
                          <a:effectLst/>
                          <a:latin typeface="+mj-lt"/>
                        </a:rPr>
                        <a:t>1.9</a:t>
                      </a:r>
                    </a:p>
                  </a:txBody>
                  <a:tcPr marL="9525" marR="9525" marT="9525" marB="0" anchor="ctr">
                    <a:lnL w="12700" cmpd="sng">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a:solidFill>
                            <a:srgbClr val="000000"/>
                          </a:solidFill>
                          <a:effectLst/>
                          <a:latin typeface="+mj-lt"/>
                        </a:rPr>
                        <a:t>22.2%</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691.0 </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52%</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a:solidFill>
                            <a:srgbClr val="000000"/>
                          </a:solidFill>
                          <a:effectLst/>
                          <a:latin typeface="+mj-lt"/>
                        </a:rPr>
                        <a:t>59%</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400" b="1" kern="1200" noProof="0" dirty="0">
                          <a:solidFill>
                            <a:srgbClr val="000000"/>
                          </a:solidFill>
                          <a:latin typeface="+mj-lt"/>
                          <a:ea typeface="+mn-ea"/>
                          <a:cs typeface="+mn-cs"/>
                        </a:rPr>
                        <a:t>4.4%</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ctr"/>
                      <a:r>
                        <a:rPr lang="en-US" sz="1400" b="1" i="0" u="none" strike="noStrike" noProof="0" dirty="0">
                          <a:solidFill>
                            <a:srgbClr val="000000"/>
                          </a:solidFill>
                          <a:effectLst/>
                          <a:latin typeface="+mj-lt"/>
                        </a:rPr>
                        <a:t>16</a:t>
                      </a:r>
                    </a:p>
                  </a:txBody>
                  <a:tcPr marL="0" marR="0" marT="0" marB="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676138">
                <a:tc>
                  <a:txBody>
                    <a:bodyPr/>
                    <a:lstStyle/>
                    <a:p>
                      <a:pPr algn="ctr" fontAlgn="b"/>
                      <a:r>
                        <a:rPr lang="en-US" sz="1400" b="1" i="0" u="none" strike="noStrike">
                          <a:solidFill>
                            <a:srgbClr val="000000"/>
                          </a:solidFill>
                          <a:effectLst/>
                          <a:latin typeface="+mj-lt"/>
                        </a:rPr>
                        <a:t>5.1</a:t>
                      </a:r>
                    </a:p>
                  </a:txBody>
                  <a:tcPr marL="9525" marR="9525" marT="9525" marB="0" anchor="ctr">
                    <a:lnL w="12700" cmpd="sng">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a:solidFill>
                            <a:srgbClr val="000000"/>
                          </a:solidFill>
                          <a:effectLst/>
                          <a:latin typeface="+mj-lt"/>
                        </a:rPr>
                        <a:t>9.4%</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110.1 </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32%</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52%</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400" b="1" kern="1200" noProof="0" dirty="0">
                          <a:solidFill>
                            <a:srgbClr val="000000"/>
                          </a:solidFill>
                          <a:latin typeface="+mj-lt"/>
                          <a:ea typeface="+mn-ea"/>
                          <a:cs typeface="+mn-cs"/>
                        </a:rPr>
                        <a:t>10.6%</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ctr"/>
                      <a:r>
                        <a:rPr lang="en-US" sz="1400" b="1" i="0" u="none" strike="noStrike" noProof="0" dirty="0">
                          <a:solidFill>
                            <a:srgbClr val="000000"/>
                          </a:solidFill>
                          <a:effectLst/>
                          <a:latin typeface="+mj-lt"/>
                        </a:rPr>
                        <a:t>1</a:t>
                      </a:r>
                    </a:p>
                  </a:txBody>
                  <a:tcPr marL="0" marR="0" marT="0" marB="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676138">
                <a:tc>
                  <a:txBody>
                    <a:bodyPr/>
                    <a:lstStyle/>
                    <a:p>
                      <a:pPr algn="ctr" fontAlgn="b"/>
                      <a:r>
                        <a:rPr lang="en-US" sz="1400" b="1" i="0" u="none" strike="noStrike">
                          <a:solidFill>
                            <a:srgbClr val="000000"/>
                          </a:solidFill>
                          <a:effectLst/>
                          <a:latin typeface="+mj-lt"/>
                        </a:rPr>
                        <a:t>1.6</a:t>
                      </a:r>
                    </a:p>
                  </a:txBody>
                  <a:tcPr marL="9525" marR="9525" marT="9525" marB="0" anchor="ctr">
                    <a:lnL w="12700" cmpd="sng">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a:solidFill>
                            <a:srgbClr val="000000"/>
                          </a:solidFill>
                          <a:effectLst/>
                          <a:latin typeface="+mj-lt"/>
                        </a:rPr>
                        <a:t>0.0%</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                                       -   </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45%</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fontAlgn="b"/>
                      <a:r>
                        <a:rPr lang="en-US" sz="1400" b="1" i="0" u="none" strike="noStrike" dirty="0">
                          <a:solidFill>
                            <a:srgbClr val="000000"/>
                          </a:solidFill>
                          <a:effectLst/>
                          <a:latin typeface="+mj-lt"/>
                        </a:rPr>
                        <a:t>74%</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400" b="1" kern="1200" noProof="0" dirty="0">
                          <a:solidFill>
                            <a:srgbClr val="000000"/>
                          </a:solidFill>
                          <a:latin typeface="+mj-lt"/>
                          <a:ea typeface="+mn-ea"/>
                          <a:cs typeface="+mn-cs"/>
                        </a:rPr>
                        <a:t>8.0%</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400" b="1" i="0" u="none" kern="1200" noProof="0" dirty="0">
                          <a:solidFill>
                            <a:srgbClr val="000000"/>
                          </a:solidFill>
                          <a:latin typeface="+mj-lt"/>
                          <a:ea typeface="+mn-ea"/>
                          <a:cs typeface="+mn-cs"/>
                        </a:rPr>
                        <a:t>N/A</a:t>
                      </a:r>
                    </a:p>
                  </a:txBody>
                  <a:tcPr marL="0" marR="0" marT="0" marB="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676138">
                <a:tc>
                  <a:txBody>
                    <a:bodyPr/>
                    <a:lstStyle/>
                    <a:p>
                      <a:pPr algn="ctr" fontAlgn="b"/>
                      <a:r>
                        <a:rPr lang="en-US" sz="1400" b="1" i="0" u="none" strike="noStrike">
                          <a:solidFill>
                            <a:srgbClr val="000000"/>
                          </a:solidFill>
                          <a:effectLst/>
                          <a:latin typeface="+mj-lt"/>
                        </a:rPr>
                        <a:t>10.5</a:t>
                      </a:r>
                    </a:p>
                  </a:txBody>
                  <a:tcPr marL="9525" marR="9525" marT="9525" marB="0" anchor="ctr">
                    <a:lnL w="12700" cmpd="sng">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lumMod val="40000"/>
                        <a:lumOff val="60000"/>
                      </a:schemeClr>
                    </a:solidFill>
                  </a:tcPr>
                </a:tc>
                <a:tc>
                  <a:txBody>
                    <a:bodyPr/>
                    <a:lstStyle/>
                    <a:p>
                      <a:pPr algn="ctr" fontAlgn="b"/>
                      <a:r>
                        <a:rPr lang="en-US" sz="1400" b="1" i="0" u="none" strike="noStrike">
                          <a:solidFill>
                            <a:srgbClr val="000000"/>
                          </a:solidFill>
                          <a:effectLst/>
                          <a:latin typeface="+mj-lt"/>
                        </a:rPr>
                        <a:t>100%</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lumMod val="40000"/>
                        <a:lumOff val="60000"/>
                      </a:schemeClr>
                    </a:solidFill>
                  </a:tcPr>
                </a:tc>
                <a:tc>
                  <a:txBody>
                    <a:bodyPr/>
                    <a:lstStyle/>
                    <a:p>
                      <a:pPr algn="ctr" fontAlgn="b"/>
                      <a:r>
                        <a:rPr lang="en-US" sz="1400" b="1" i="0" u="none" strike="noStrike" dirty="0">
                          <a:solidFill>
                            <a:srgbClr val="000000"/>
                          </a:solidFill>
                          <a:effectLst/>
                          <a:latin typeface="+mj-lt"/>
                        </a:rPr>
                        <a:t>569.2 </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lumMod val="40000"/>
                        <a:lumOff val="60000"/>
                      </a:schemeClr>
                    </a:solidFill>
                  </a:tcPr>
                </a:tc>
                <a:tc>
                  <a:txBody>
                    <a:bodyPr/>
                    <a:lstStyle/>
                    <a:p>
                      <a:pPr algn="ctr" fontAlgn="b"/>
                      <a:r>
                        <a:rPr lang="en-US" sz="1400" b="1" i="0" u="none" strike="noStrike">
                          <a:solidFill>
                            <a:srgbClr val="000000"/>
                          </a:solidFill>
                          <a:effectLst/>
                          <a:latin typeface="+mj-lt"/>
                        </a:rPr>
                        <a:t>45%</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lumMod val="40000"/>
                        <a:lumOff val="60000"/>
                      </a:schemeClr>
                    </a:solidFill>
                  </a:tcPr>
                </a:tc>
                <a:tc>
                  <a:txBody>
                    <a:bodyPr/>
                    <a:lstStyle/>
                    <a:p>
                      <a:pPr algn="ctr" fontAlgn="b"/>
                      <a:r>
                        <a:rPr lang="en-US" sz="1400" b="1" i="0" u="none" strike="noStrike" dirty="0">
                          <a:solidFill>
                            <a:srgbClr val="000000"/>
                          </a:solidFill>
                          <a:effectLst/>
                          <a:latin typeface="+mj-lt"/>
                        </a:rPr>
                        <a:t>60%</a:t>
                      </a:r>
                    </a:p>
                  </a:txBody>
                  <a:tcPr marL="9525" marR="952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lumMod val="40000"/>
                        <a:lumOff val="60000"/>
                      </a:schemeClr>
                    </a:solidFill>
                  </a:tcPr>
                </a:tc>
                <a:tc>
                  <a:txBody>
                    <a:bodyPr/>
                    <a:lstStyle/>
                    <a:p>
                      <a:pPr marL="0" algn="ctr" defTabSz="914400" rtl="0" eaLnBrk="1" fontAlgn="b" latinLnBrk="0" hangingPunct="1"/>
                      <a:r>
                        <a:rPr lang="en-US" sz="1400" b="1" kern="1200" noProof="0" dirty="0">
                          <a:solidFill>
                            <a:srgbClr val="000000"/>
                          </a:solidFill>
                          <a:latin typeface="+mj-lt"/>
                          <a:ea typeface="+mn-ea"/>
                          <a:cs typeface="+mn-cs"/>
                        </a:rPr>
                        <a:t>7.7%</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lumMod val="40000"/>
                        <a:lumOff val="60000"/>
                      </a:schemeClr>
                    </a:solidFill>
                  </a:tcPr>
                </a:tc>
                <a:tc>
                  <a:txBody>
                    <a:bodyPr/>
                    <a:lstStyle/>
                    <a:p>
                      <a:pPr marL="0" algn="ctr" defTabSz="914400" rtl="0" eaLnBrk="1" fontAlgn="b" latinLnBrk="0" hangingPunct="1"/>
                      <a:r>
                        <a:rPr lang="en-US" sz="1400" b="1" i="0" u="none" kern="1200" noProof="0" dirty="0">
                          <a:solidFill>
                            <a:srgbClr val="000000"/>
                          </a:solidFill>
                          <a:latin typeface="+mj-lt"/>
                          <a:ea typeface="+mn-ea"/>
                          <a:cs typeface="+mn-cs"/>
                        </a:rPr>
                        <a:t>7.3</a:t>
                      </a:r>
                    </a:p>
                  </a:txBody>
                  <a:tcPr marL="0" marR="0" marT="0" marB="0"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DC417A9D-3D4B-4A61-B027-3F1F455BAE78}"/>
              </a:ext>
            </a:extLst>
          </p:cNvPr>
          <p:cNvSpPr/>
          <p:nvPr/>
        </p:nvSpPr>
        <p:spPr bwMode="auto">
          <a:xfrm>
            <a:off x="304800" y="5430000"/>
            <a:ext cx="2713306" cy="595683"/>
          </a:xfrm>
          <a:prstGeom prst="rect">
            <a:avLst/>
          </a:prstGeom>
          <a:solidFill>
            <a:schemeClr val="bg2">
              <a:lumMod val="40000"/>
              <a:lumOff val="60000"/>
            </a:schemeClr>
          </a:solidFill>
          <a:ln w="9525" cap="flat" cmpd="sng" algn="ctr">
            <a:no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0" fontAlgn="base" hangingPunct="0">
              <a:spcBef>
                <a:spcPct val="30000"/>
              </a:spcBef>
              <a:spcAft>
                <a:spcPct val="0"/>
              </a:spcAft>
              <a:buSzPct val="110000"/>
            </a:pPr>
            <a:r>
              <a:rPr lang="en-GB" sz="1100" b="1" dirty="0">
                <a:solidFill>
                  <a:srgbClr val="000000"/>
                </a:solidFill>
              </a:rPr>
              <a:t>TOTAL</a:t>
            </a:r>
            <a:endParaRPr lang="en-GB" sz="1000" b="1" dirty="0">
              <a:solidFill>
                <a:srgbClr val="000000"/>
              </a:solidFill>
            </a:endParaRPr>
          </a:p>
        </p:txBody>
      </p:sp>
      <p:grpSp>
        <p:nvGrpSpPr>
          <p:cNvPr id="7" name="Group 6">
            <a:extLst>
              <a:ext uri="{FF2B5EF4-FFF2-40B4-BE49-F238E27FC236}">
                <a16:creationId xmlns:a16="http://schemas.microsoft.com/office/drawing/2014/main" id="{B6AF5467-0649-4B94-AF25-CD5559259E7B}"/>
              </a:ext>
            </a:extLst>
          </p:cNvPr>
          <p:cNvGrpSpPr/>
          <p:nvPr/>
        </p:nvGrpSpPr>
        <p:grpSpPr>
          <a:xfrm>
            <a:off x="306187" y="1999372"/>
            <a:ext cx="2711921" cy="3371462"/>
            <a:chOff x="-3403125" y="1081976"/>
            <a:chExt cx="2711921" cy="4130675"/>
          </a:xfrm>
        </p:grpSpPr>
        <p:sp>
          <p:nvSpPr>
            <p:cNvPr id="8" name="AutoShape 3">
              <a:extLst>
                <a:ext uri="{FF2B5EF4-FFF2-40B4-BE49-F238E27FC236}">
                  <a16:creationId xmlns:a16="http://schemas.microsoft.com/office/drawing/2014/main" id="{A0741FB5-B353-4472-8C5A-C25CA7A72A05}"/>
                </a:ext>
              </a:extLst>
            </p:cNvPr>
            <p:cNvSpPr>
              <a:spLocks noChangeArrowheads="1"/>
            </p:cNvSpPr>
            <p:nvPr/>
          </p:nvSpPr>
          <p:spPr bwMode="gray">
            <a:xfrm>
              <a:off x="-2364691" y="1081976"/>
              <a:ext cx="635053" cy="981075"/>
            </a:xfrm>
            <a:prstGeom prst="triangle">
              <a:avLst>
                <a:gd name="adj" fmla="val 49995"/>
              </a:avLst>
            </a:prstGeom>
            <a:solidFill>
              <a:schemeClr val="accent5"/>
            </a:solidFill>
            <a:ln w="9525">
              <a:noFill/>
              <a:miter lim="800000"/>
              <a:headEnd/>
              <a:tailEnd/>
            </a:ln>
          </p:spPr>
          <p:txBody>
            <a:bodyPr wrap="none" lIns="90488" tIns="44450" rIns="90488" bIns="44450" anchor="ctr" anchorCtr="1"/>
            <a:lstStyle/>
            <a:p>
              <a:pPr algn="ctr" eaLnBrk="0" fontAlgn="base" hangingPunct="0">
                <a:spcBef>
                  <a:spcPct val="30000"/>
                </a:spcBef>
                <a:spcAft>
                  <a:spcPct val="0"/>
                </a:spcAft>
                <a:buSzPct val="110000"/>
              </a:pPr>
              <a:r>
                <a:rPr lang="en-GB" sz="1000" b="1" dirty="0">
                  <a:solidFill>
                    <a:srgbClr val="000000"/>
                  </a:solidFill>
                </a:rPr>
                <a:t>High-value</a:t>
              </a:r>
            </a:p>
            <a:p>
              <a:pPr algn="ctr" eaLnBrk="0" fontAlgn="base" hangingPunct="0">
                <a:spcBef>
                  <a:spcPct val="30000"/>
                </a:spcBef>
                <a:spcAft>
                  <a:spcPct val="0"/>
                </a:spcAft>
                <a:buSzPct val="110000"/>
              </a:pPr>
              <a:r>
                <a:rPr lang="en-GB" sz="1000" b="1" dirty="0">
                  <a:solidFill>
                    <a:srgbClr val="000000"/>
                  </a:solidFill>
                </a:rPr>
                <a:t>(2400 DA)</a:t>
              </a:r>
            </a:p>
          </p:txBody>
        </p:sp>
        <p:sp>
          <p:nvSpPr>
            <p:cNvPr id="9" name="AutoShape 4">
              <a:extLst>
                <a:ext uri="{FF2B5EF4-FFF2-40B4-BE49-F238E27FC236}">
                  <a16:creationId xmlns:a16="http://schemas.microsoft.com/office/drawing/2014/main" id="{774B4A92-E756-4F34-88A1-F022FDDF27A7}"/>
                </a:ext>
              </a:extLst>
            </p:cNvPr>
            <p:cNvSpPr>
              <a:spLocks noChangeArrowheads="1"/>
            </p:cNvSpPr>
            <p:nvPr/>
          </p:nvSpPr>
          <p:spPr bwMode="gray">
            <a:xfrm flipV="1">
              <a:off x="-2623618" y="2063051"/>
              <a:ext cx="1152907" cy="787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222 w 21600"/>
                <a:gd name="T13" fmla="*/ 4222 h 21600"/>
                <a:gd name="T14" fmla="*/ 17378 w 21600"/>
                <a:gd name="T15" fmla="*/ 17378 h 21600"/>
              </a:gdLst>
              <a:ahLst/>
              <a:cxnLst>
                <a:cxn ang="T8">
                  <a:pos x="T0" y="T1"/>
                </a:cxn>
                <a:cxn ang="T9">
                  <a:pos x="T2" y="T3"/>
                </a:cxn>
                <a:cxn ang="T10">
                  <a:pos x="T4" y="T5"/>
                </a:cxn>
                <a:cxn ang="T11">
                  <a:pos x="T6" y="T7"/>
                </a:cxn>
              </a:cxnLst>
              <a:rect l="T12" t="T13" r="T14" b="T15"/>
              <a:pathLst>
                <a:path w="21600" h="21600">
                  <a:moveTo>
                    <a:pt x="0" y="0"/>
                  </a:moveTo>
                  <a:lnTo>
                    <a:pt x="4844" y="21600"/>
                  </a:lnTo>
                  <a:lnTo>
                    <a:pt x="16756" y="21600"/>
                  </a:lnTo>
                  <a:lnTo>
                    <a:pt x="21600" y="0"/>
                  </a:lnTo>
                  <a:close/>
                </a:path>
              </a:pathLst>
            </a:custGeom>
            <a:solidFill>
              <a:schemeClr val="accent4"/>
            </a:solidFill>
            <a:ln w="9525">
              <a:noFill/>
              <a:miter lim="800000"/>
              <a:headEnd/>
              <a:tailEnd/>
            </a:ln>
          </p:spPr>
          <p:txBody>
            <a:bodyPr rot="10800000" wrap="none" lIns="90488" tIns="44450" rIns="90488" bIns="44450" anchor="ctr" anchorCtr="1"/>
            <a:lstStyle/>
            <a:p>
              <a:pPr algn="ctr" eaLnBrk="0" fontAlgn="base" hangingPunct="0">
                <a:spcBef>
                  <a:spcPct val="30000"/>
                </a:spcBef>
                <a:spcAft>
                  <a:spcPct val="0"/>
                </a:spcAft>
                <a:buSzPct val="110000"/>
              </a:pPr>
              <a:r>
                <a:rPr lang="en-GB" sz="1000" b="1" dirty="0">
                  <a:solidFill>
                    <a:srgbClr val="000000"/>
                  </a:solidFill>
                </a:rPr>
                <a:t>Medium Value</a:t>
              </a:r>
            </a:p>
            <a:p>
              <a:pPr algn="ctr" eaLnBrk="0" fontAlgn="base" hangingPunct="0">
                <a:spcBef>
                  <a:spcPct val="30000"/>
                </a:spcBef>
                <a:spcAft>
                  <a:spcPct val="0"/>
                </a:spcAft>
                <a:buSzPct val="110000"/>
              </a:pPr>
              <a:r>
                <a:rPr lang="en-GB" sz="1000" b="1" dirty="0">
                  <a:solidFill>
                    <a:srgbClr val="000000"/>
                  </a:solidFill>
                </a:rPr>
                <a:t>(</a:t>
              </a:r>
              <a:r>
                <a:rPr lang="en-GB" sz="1000" b="1" dirty="0"/>
                <a:t>1164 - 2400 DA</a:t>
              </a:r>
              <a:r>
                <a:rPr lang="en-GB" sz="1000" b="1" dirty="0">
                  <a:solidFill>
                    <a:srgbClr val="000000"/>
                  </a:solidFill>
                </a:rPr>
                <a:t>)</a:t>
              </a:r>
            </a:p>
          </p:txBody>
        </p:sp>
        <p:sp>
          <p:nvSpPr>
            <p:cNvPr id="10" name="AutoShape 5">
              <a:extLst>
                <a:ext uri="{FF2B5EF4-FFF2-40B4-BE49-F238E27FC236}">
                  <a16:creationId xmlns:a16="http://schemas.microsoft.com/office/drawing/2014/main" id="{8DCA7BAA-BD3E-4F02-BED3-0BEE63C99673}"/>
                </a:ext>
              </a:extLst>
            </p:cNvPr>
            <p:cNvSpPr>
              <a:spLocks noChangeArrowheads="1"/>
            </p:cNvSpPr>
            <p:nvPr/>
          </p:nvSpPr>
          <p:spPr bwMode="gray">
            <a:xfrm flipV="1">
              <a:off x="-2884362" y="2850451"/>
              <a:ext cx="1675304" cy="787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500 w 21600"/>
                <a:gd name="T13" fmla="*/ 3500 h 21600"/>
                <a:gd name="T14" fmla="*/ 18100 w 21600"/>
                <a:gd name="T15" fmla="*/ 18100 h 21600"/>
              </a:gdLst>
              <a:ahLst/>
              <a:cxnLst>
                <a:cxn ang="T8">
                  <a:pos x="T0" y="T1"/>
                </a:cxn>
                <a:cxn ang="T9">
                  <a:pos x="T2" y="T3"/>
                </a:cxn>
                <a:cxn ang="T10">
                  <a:pos x="T4" y="T5"/>
                </a:cxn>
                <a:cxn ang="T11">
                  <a:pos x="T6" y="T7"/>
                </a:cxn>
              </a:cxnLst>
              <a:rect l="T12" t="T13" r="T14" b="T15"/>
              <a:pathLst>
                <a:path w="21600" h="21600">
                  <a:moveTo>
                    <a:pt x="0" y="0"/>
                  </a:moveTo>
                  <a:lnTo>
                    <a:pt x="3400" y="21600"/>
                  </a:lnTo>
                  <a:lnTo>
                    <a:pt x="18200" y="21600"/>
                  </a:lnTo>
                  <a:lnTo>
                    <a:pt x="21600" y="0"/>
                  </a:lnTo>
                  <a:close/>
                </a:path>
              </a:pathLst>
            </a:custGeom>
            <a:solidFill>
              <a:schemeClr val="accent3"/>
            </a:solidFill>
            <a:ln w="9525">
              <a:noFill/>
              <a:miter lim="800000"/>
              <a:headEnd/>
              <a:tailEnd/>
            </a:ln>
          </p:spPr>
          <p:txBody>
            <a:bodyPr rot="10800000" wrap="none" lIns="72000" tIns="44450" rIns="72000" bIns="44450" anchor="ctr" anchorCtr="1"/>
            <a:lstStyle/>
            <a:p>
              <a:pPr algn="ctr" eaLnBrk="0" fontAlgn="base" hangingPunct="0">
                <a:spcBef>
                  <a:spcPct val="30000"/>
                </a:spcBef>
                <a:spcAft>
                  <a:spcPct val="0"/>
                </a:spcAft>
                <a:buSzPct val="110000"/>
              </a:pPr>
              <a:r>
                <a:rPr lang="en-GB" sz="1000" b="1" dirty="0">
                  <a:solidFill>
                    <a:srgbClr val="000000"/>
                  </a:solidFill>
                </a:rPr>
                <a:t>Low Value</a:t>
              </a:r>
            </a:p>
            <a:p>
              <a:pPr algn="ctr" eaLnBrk="0" fontAlgn="base" hangingPunct="0">
                <a:spcBef>
                  <a:spcPct val="30000"/>
                </a:spcBef>
                <a:spcAft>
                  <a:spcPct val="0"/>
                </a:spcAft>
                <a:buSzPct val="110000"/>
              </a:pPr>
              <a:r>
                <a:rPr lang="en-GB" sz="1000" b="1" dirty="0">
                  <a:solidFill>
                    <a:srgbClr val="000000"/>
                  </a:solidFill>
                </a:rPr>
                <a:t>(422 – 1164 DA)</a:t>
              </a:r>
            </a:p>
          </p:txBody>
        </p:sp>
        <p:sp>
          <p:nvSpPr>
            <p:cNvPr id="11" name="AutoShape 6">
              <a:extLst>
                <a:ext uri="{FF2B5EF4-FFF2-40B4-BE49-F238E27FC236}">
                  <a16:creationId xmlns:a16="http://schemas.microsoft.com/office/drawing/2014/main" id="{259A38DD-76CF-4271-8240-E68540DD404A}"/>
                </a:ext>
              </a:extLst>
            </p:cNvPr>
            <p:cNvSpPr>
              <a:spLocks noChangeArrowheads="1"/>
            </p:cNvSpPr>
            <p:nvPr/>
          </p:nvSpPr>
          <p:spPr bwMode="gray">
            <a:xfrm flipV="1">
              <a:off x="-3144198" y="3637851"/>
              <a:ext cx="2194066" cy="787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3095 w 21600"/>
                <a:gd name="T13" fmla="*/ 3095 h 21600"/>
                <a:gd name="T14" fmla="*/ 18505 w 21600"/>
                <a:gd name="T15" fmla="*/ 18505 h 21600"/>
              </a:gdLst>
              <a:ahLst/>
              <a:cxnLst>
                <a:cxn ang="T8">
                  <a:pos x="T0" y="T1"/>
                </a:cxn>
                <a:cxn ang="T9">
                  <a:pos x="T2" y="T3"/>
                </a:cxn>
                <a:cxn ang="T10">
                  <a:pos x="T4" y="T5"/>
                </a:cxn>
                <a:cxn ang="T11">
                  <a:pos x="T6" y="T7"/>
                </a:cxn>
              </a:cxnLst>
              <a:rect l="T12" t="T13" r="T14" b="T15"/>
              <a:pathLst>
                <a:path w="21600" h="21600">
                  <a:moveTo>
                    <a:pt x="0" y="0"/>
                  </a:moveTo>
                  <a:lnTo>
                    <a:pt x="2589" y="21600"/>
                  </a:lnTo>
                  <a:lnTo>
                    <a:pt x="19011" y="21600"/>
                  </a:lnTo>
                  <a:lnTo>
                    <a:pt x="21600" y="0"/>
                  </a:lnTo>
                  <a:close/>
                </a:path>
              </a:pathLst>
            </a:custGeom>
            <a:solidFill>
              <a:schemeClr val="accent2"/>
            </a:solidFill>
            <a:ln w="9525">
              <a:noFill/>
              <a:miter lim="800000"/>
              <a:headEnd/>
              <a:tailEnd/>
            </a:ln>
          </p:spPr>
          <p:txBody>
            <a:bodyPr rot="10800000" lIns="90488" tIns="44450" rIns="90488" bIns="44450" anchor="ctr" anchorCtr="1"/>
            <a:lstStyle/>
            <a:p>
              <a:pPr algn="ctr" eaLnBrk="0" fontAlgn="base" hangingPunct="0">
                <a:spcBef>
                  <a:spcPct val="30000"/>
                </a:spcBef>
                <a:spcAft>
                  <a:spcPct val="0"/>
                </a:spcAft>
                <a:buSzPct val="110000"/>
              </a:pPr>
              <a:r>
                <a:rPr lang="en-GB" sz="1000" b="1" dirty="0">
                  <a:solidFill>
                    <a:srgbClr val="000000"/>
                  </a:solidFill>
                </a:rPr>
                <a:t>Very Low Value </a:t>
              </a:r>
            </a:p>
            <a:p>
              <a:pPr algn="ctr" eaLnBrk="0" fontAlgn="base" hangingPunct="0">
                <a:spcBef>
                  <a:spcPct val="30000"/>
                </a:spcBef>
                <a:spcAft>
                  <a:spcPct val="0"/>
                </a:spcAft>
                <a:buSzPct val="110000"/>
              </a:pPr>
              <a:r>
                <a:rPr lang="en-GB" sz="1000" b="1" dirty="0">
                  <a:solidFill>
                    <a:srgbClr val="000000"/>
                  </a:solidFill>
                </a:rPr>
                <a:t>(</a:t>
              </a:r>
              <a:r>
                <a:rPr lang="en-GB" sz="1000" b="1" dirty="0"/>
                <a:t>0 - 422</a:t>
              </a:r>
              <a:r>
                <a:rPr lang="en-GB" sz="1000" b="1" dirty="0">
                  <a:solidFill>
                    <a:srgbClr val="000000"/>
                  </a:solidFill>
                </a:rPr>
                <a:t> DA)</a:t>
              </a:r>
            </a:p>
          </p:txBody>
        </p:sp>
        <p:sp>
          <p:nvSpPr>
            <p:cNvPr id="12" name="AutoShape 7">
              <a:extLst>
                <a:ext uri="{FF2B5EF4-FFF2-40B4-BE49-F238E27FC236}">
                  <a16:creationId xmlns:a16="http://schemas.microsoft.com/office/drawing/2014/main" id="{2771844B-4FFD-46FF-A5BD-6519D710AB2B}"/>
                </a:ext>
              </a:extLst>
            </p:cNvPr>
            <p:cNvSpPr>
              <a:spLocks noChangeArrowheads="1"/>
            </p:cNvSpPr>
            <p:nvPr/>
          </p:nvSpPr>
          <p:spPr bwMode="gray">
            <a:xfrm flipV="1">
              <a:off x="-3403125" y="4425251"/>
              <a:ext cx="2711921" cy="787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2846 w 21600"/>
                <a:gd name="T13" fmla="*/ 2846 h 21600"/>
                <a:gd name="T14" fmla="*/ 18754 w 21600"/>
                <a:gd name="T15" fmla="*/ 18754 h 21600"/>
              </a:gdLst>
              <a:ahLst/>
              <a:cxnLst>
                <a:cxn ang="T8">
                  <a:pos x="T0" y="T1"/>
                </a:cxn>
                <a:cxn ang="T9">
                  <a:pos x="T2" y="T3"/>
                </a:cxn>
                <a:cxn ang="T10">
                  <a:pos x="T4" y="T5"/>
                </a:cxn>
                <a:cxn ang="T11">
                  <a:pos x="T6" y="T7"/>
                </a:cxn>
              </a:cxnLst>
              <a:rect l="T12" t="T13" r="T14" b="T15"/>
              <a:pathLst>
                <a:path w="21600" h="21600">
                  <a:moveTo>
                    <a:pt x="0" y="0"/>
                  </a:moveTo>
                  <a:lnTo>
                    <a:pt x="2091" y="21600"/>
                  </a:lnTo>
                  <a:lnTo>
                    <a:pt x="19509" y="21600"/>
                  </a:lnTo>
                  <a:lnTo>
                    <a:pt x="21600" y="0"/>
                  </a:lnTo>
                  <a:close/>
                </a:path>
              </a:pathLst>
            </a:custGeom>
            <a:solidFill>
              <a:schemeClr val="accent1"/>
            </a:solidFill>
            <a:ln w="9525">
              <a:noFill/>
              <a:miter lim="800000"/>
              <a:headEnd/>
              <a:tailEnd/>
            </a:ln>
          </p:spPr>
          <p:txBody>
            <a:bodyPr rot="10800000" lIns="90488" tIns="44450" rIns="90488" bIns="44450" anchor="ctr" anchorCtr="1"/>
            <a:lstStyle/>
            <a:p>
              <a:pPr algn="ctr" eaLnBrk="0" fontAlgn="base" hangingPunct="0">
                <a:spcBef>
                  <a:spcPct val="30000"/>
                </a:spcBef>
                <a:spcAft>
                  <a:spcPct val="0"/>
                </a:spcAft>
                <a:buSzPct val="110000"/>
              </a:pPr>
              <a:r>
                <a:rPr lang="en-GB" sz="1000" b="1" dirty="0">
                  <a:solidFill>
                    <a:schemeClr val="bg1"/>
                  </a:solidFill>
                </a:rPr>
                <a:t>Zero ARPU</a:t>
              </a:r>
            </a:p>
            <a:p>
              <a:pPr algn="ctr" eaLnBrk="0" fontAlgn="base" hangingPunct="0">
                <a:spcBef>
                  <a:spcPct val="30000"/>
                </a:spcBef>
                <a:spcAft>
                  <a:spcPct val="0"/>
                </a:spcAft>
                <a:buSzPct val="110000"/>
              </a:pPr>
              <a:r>
                <a:rPr lang="en-GB" sz="1000" b="1" dirty="0">
                  <a:solidFill>
                    <a:schemeClr val="bg1"/>
                  </a:solidFill>
                </a:rPr>
                <a:t>(0 DA)</a:t>
              </a:r>
            </a:p>
          </p:txBody>
        </p:sp>
      </p:grpSp>
      <p:sp>
        <p:nvSpPr>
          <p:cNvPr id="15" name="TextBox 14">
            <a:extLst>
              <a:ext uri="{FF2B5EF4-FFF2-40B4-BE49-F238E27FC236}">
                <a16:creationId xmlns:a16="http://schemas.microsoft.com/office/drawing/2014/main" id="{A51231C4-7848-4039-AF9A-F074B90B3A4B}"/>
              </a:ext>
            </a:extLst>
          </p:cNvPr>
          <p:cNvSpPr txBox="1"/>
          <p:nvPr/>
        </p:nvSpPr>
        <p:spPr>
          <a:xfrm>
            <a:off x="304800" y="6409604"/>
            <a:ext cx="9296400" cy="123111"/>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grpSp>
        <p:nvGrpSpPr>
          <p:cNvPr id="14" name="Group 13">
            <a:extLst>
              <a:ext uri="{FF2B5EF4-FFF2-40B4-BE49-F238E27FC236}">
                <a16:creationId xmlns:a16="http://schemas.microsoft.com/office/drawing/2014/main" id="{F24D258A-91FA-48CA-AD5E-D6F00074D2B5}"/>
              </a:ext>
            </a:extLst>
          </p:cNvPr>
          <p:cNvGrpSpPr/>
          <p:nvPr/>
        </p:nvGrpSpPr>
        <p:grpSpPr>
          <a:xfrm>
            <a:off x="7254068" y="6544089"/>
            <a:ext cx="728904" cy="252000"/>
            <a:chOff x="7005593" y="6563968"/>
            <a:chExt cx="728904" cy="252000"/>
          </a:xfrm>
        </p:grpSpPr>
        <p:pic>
          <p:nvPicPr>
            <p:cNvPr id="16" name="Picture 7" descr="C:\Users\amorales\Downloads\IconShock SuperVista VideoProduction\png\play_256.png">
              <a:hlinkClick r:id="rId2" action="ppaction://hlinksldjump"/>
              <a:extLst>
                <a:ext uri="{FF2B5EF4-FFF2-40B4-BE49-F238E27FC236}">
                  <a16:creationId xmlns:a16="http://schemas.microsoft.com/office/drawing/2014/main" id="{43434E60-015D-446A-A6E6-5D542BCB3064}"/>
                </a:ext>
              </a:extLst>
            </p:cNvPr>
            <p:cNvPicPr>
              <a:picLocks noChangeAspect="1" noChangeArrowheads="1"/>
            </p:cNvPicPr>
            <p:nvPr/>
          </p:nvPicPr>
          <p:blipFill>
            <a:blip r:embed="rId3">
              <a:duotone>
                <a:prstClr val="black"/>
                <a:srgbClr val="6693B1">
                  <a:tint val="45000"/>
                  <a:satMod val="400000"/>
                </a:srgbClr>
              </a:duotone>
              <a:extLst>
                <a:ext uri="{BEBA8EAE-BF5A-486C-A8C5-ECC9F3942E4B}">
                  <a14:imgProps xmlns:a14="http://schemas.microsoft.com/office/drawing/2010/main">
                    <a14:imgLayer r:embed="rId4">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17" name="TextBox 16">
              <a:extLst>
                <a:ext uri="{FF2B5EF4-FFF2-40B4-BE49-F238E27FC236}">
                  <a16:creationId xmlns:a16="http://schemas.microsoft.com/office/drawing/2014/main" id="{F3855C0D-FA41-42E5-808A-9D59F8F4FD98}"/>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Tree>
    <p:extLst>
      <p:ext uri="{BB962C8B-B14F-4D97-AF65-F5344CB8AC3E}">
        <p14:creationId xmlns:p14="http://schemas.microsoft.com/office/powerpoint/2010/main" val="2682955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C1943-C539-45A9-A99E-B3E06F3A30DE}"/>
              </a:ext>
            </a:extLst>
          </p:cNvPr>
          <p:cNvSpPr>
            <a:spLocks noGrp="1"/>
          </p:cNvSpPr>
          <p:nvPr>
            <p:ph type="title"/>
          </p:nvPr>
        </p:nvSpPr>
        <p:spPr/>
        <p:txBody>
          <a:bodyPr/>
          <a:lstStyle/>
          <a:p>
            <a:r>
              <a:rPr lang="en-US" dirty="0"/>
              <a:t>The revenue cannibalization in High Value segment lead the value destruction in prepaid revenues</a:t>
            </a:r>
          </a:p>
        </p:txBody>
      </p:sp>
      <p:sp>
        <p:nvSpPr>
          <p:cNvPr id="6" name="Text Box 9">
            <a:extLst>
              <a:ext uri="{FF2B5EF4-FFF2-40B4-BE49-F238E27FC236}">
                <a16:creationId xmlns:a16="http://schemas.microsoft.com/office/drawing/2014/main" id="{C31428FC-9BB7-470B-82F8-585812FAD3FB}"/>
              </a:ext>
            </a:extLst>
          </p:cNvPr>
          <p:cNvSpPr txBox="1">
            <a:spLocks noChangeArrowheads="1"/>
          </p:cNvSpPr>
          <p:nvPr/>
        </p:nvSpPr>
        <p:spPr bwMode="gray">
          <a:xfrm>
            <a:off x="304119" y="1359025"/>
            <a:ext cx="5369932" cy="346249"/>
          </a:xfrm>
          <a:prstGeom prst="rect">
            <a:avLst/>
          </a:prstGeom>
          <a:noFill/>
          <a:ln w="25400" algn="ctr">
            <a:noFill/>
            <a:miter lim="800000"/>
            <a:headEnd/>
            <a:tailEnd/>
          </a:ln>
        </p:spPr>
        <p:txBody>
          <a:bodyPr wrap="none" lIns="0" tIns="0" rIns="0" bIns="0">
            <a:spAutoFit/>
          </a:bodyPr>
          <a:lstStyle/>
          <a:p>
            <a:pPr algn="l">
              <a:lnSpc>
                <a:spcPct val="90000"/>
              </a:lnSpc>
              <a:spcBef>
                <a:spcPct val="0"/>
              </a:spcBef>
              <a:buSzPct val="100000"/>
            </a:pPr>
            <a:r>
              <a:rPr lang="en-GB" sz="1500" b="1" dirty="0">
                <a:solidFill>
                  <a:srgbClr val="004B7D"/>
                </a:solidFill>
                <a:latin typeface="+mj-lt"/>
              </a:rPr>
              <a:t>Contribution to prepaid service revenue variation by value segment</a:t>
            </a:r>
          </a:p>
          <a:p>
            <a:pPr algn="l">
              <a:lnSpc>
                <a:spcPct val="90000"/>
              </a:lnSpc>
              <a:spcBef>
                <a:spcPct val="0"/>
              </a:spcBef>
              <a:buSzPct val="100000"/>
            </a:pPr>
            <a:r>
              <a:rPr lang="en-GB" sz="1000" dirty="0">
                <a:solidFill>
                  <a:srgbClr val="004B7D"/>
                </a:solidFill>
                <a:latin typeface="+mj-lt"/>
              </a:rPr>
              <a:t>(DA Billions) </a:t>
            </a:r>
          </a:p>
        </p:txBody>
      </p:sp>
      <p:graphicFrame>
        <p:nvGraphicFramePr>
          <p:cNvPr id="7" name="Chart 6">
            <a:extLst>
              <a:ext uri="{FF2B5EF4-FFF2-40B4-BE49-F238E27FC236}">
                <a16:creationId xmlns:a16="http://schemas.microsoft.com/office/drawing/2014/main" id="{6563E73C-6A50-4022-88FC-C7905CC53C72}"/>
              </a:ext>
            </a:extLst>
          </p:cNvPr>
          <p:cNvGraphicFramePr/>
          <p:nvPr>
            <p:extLst>
              <p:ext uri="{D42A27DB-BD31-4B8C-83A1-F6EECF244321}">
                <p14:modId xmlns:p14="http://schemas.microsoft.com/office/powerpoint/2010/main" val="863359251"/>
              </p:ext>
            </p:extLst>
          </p:nvPr>
        </p:nvGraphicFramePr>
        <p:xfrm>
          <a:off x="1099317" y="1447140"/>
          <a:ext cx="8474173" cy="4208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Table 14">
            <a:extLst>
              <a:ext uri="{FF2B5EF4-FFF2-40B4-BE49-F238E27FC236}">
                <a16:creationId xmlns:a16="http://schemas.microsoft.com/office/drawing/2014/main" id="{36E0C9DA-DC5E-450A-9CD9-CAED161B3494}"/>
              </a:ext>
            </a:extLst>
          </p:cNvPr>
          <p:cNvGraphicFramePr>
            <a:graphicFrameLocks noGrp="1"/>
          </p:cNvGraphicFramePr>
          <p:nvPr>
            <p:extLst/>
          </p:nvPr>
        </p:nvGraphicFramePr>
        <p:xfrm>
          <a:off x="332510" y="5188712"/>
          <a:ext cx="6942935" cy="914400"/>
        </p:xfrm>
        <a:graphic>
          <a:graphicData uri="http://schemas.openxmlformats.org/drawingml/2006/table">
            <a:tbl>
              <a:tblPr firstRow="1" bandRow="1">
                <a:pattFill>
                  <a:fgClr>
                    <a:srgbClr val="F2F2F2"/>
                  </a:fgClr>
                  <a:bgClr>
                    <a:srgbClr val="F2F2F2"/>
                  </a:bgClr>
                </a:pattFill>
                <a:tableStyleId>{2D5ABB26-0587-4C30-8999-92F81FD0307C}</a:tableStyleId>
              </a:tblPr>
              <a:tblGrid>
                <a:gridCol w="2021419">
                  <a:extLst>
                    <a:ext uri="{9D8B030D-6E8A-4147-A177-3AD203B41FA5}">
                      <a16:colId xmlns:a16="http://schemas.microsoft.com/office/drawing/2014/main" val="1158938506"/>
                    </a:ext>
                  </a:extLst>
                </a:gridCol>
                <a:gridCol w="1230379">
                  <a:extLst>
                    <a:ext uri="{9D8B030D-6E8A-4147-A177-3AD203B41FA5}">
                      <a16:colId xmlns:a16="http://schemas.microsoft.com/office/drawing/2014/main" val="3065919566"/>
                    </a:ext>
                  </a:extLst>
                </a:gridCol>
                <a:gridCol w="1230379">
                  <a:extLst>
                    <a:ext uri="{9D8B030D-6E8A-4147-A177-3AD203B41FA5}">
                      <a16:colId xmlns:a16="http://schemas.microsoft.com/office/drawing/2014/main" val="4259557895"/>
                    </a:ext>
                  </a:extLst>
                </a:gridCol>
                <a:gridCol w="1230379">
                  <a:extLst>
                    <a:ext uri="{9D8B030D-6E8A-4147-A177-3AD203B41FA5}">
                      <a16:colId xmlns:a16="http://schemas.microsoft.com/office/drawing/2014/main" val="3796302272"/>
                    </a:ext>
                  </a:extLst>
                </a:gridCol>
                <a:gridCol w="1230379">
                  <a:extLst>
                    <a:ext uri="{9D8B030D-6E8A-4147-A177-3AD203B41FA5}">
                      <a16:colId xmlns:a16="http://schemas.microsoft.com/office/drawing/2014/main" val="4051781472"/>
                    </a:ext>
                  </a:extLst>
                </a:gridCol>
              </a:tblGrid>
              <a:tr h="457200">
                <a:tc>
                  <a:txBody>
                    <a:bodyPr/>
                    <a:lstStyle/>
                    <a:p>
                      <a:r>
                        <a:rPr lang="en-GB" sz="1200" b="1" dirty="0">
                          <a:solidFill>
                            <a:schemeClr val="bg1"/>
                          </a:solidFill>
                          <a:latin typeface="Calibri" panose="020F0502020204030204" pitchFamily="34" charset="0"/>
                          <a:sym typeface="Calibri" panose="020F0502020204030204" pitchFamily="34" charset="0"/>
                        </a:rPr>
                        <a:t>Value segment cut-off amounts (DA monthly)</a:t>
                      </a:r>
                    </a:p>
                  </a:txBody>
                  <a:tcPr anchor="ctr">
                    <a:lnL>
                      <a:noFill/>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Over 2,400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1,164-2,400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422-1,164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a:solidFill>
                            <a:srgbClr val="000000"/>
                          </a:solidFill>
                          <a:latin typeface="Calibri" panose="020F0502020204030204" pitchFamily="34" charset="0"/>
                          <a:sym typeface="Calibri" panose="020F0502020204030204" pitchFamily="34" charset="0"/>
                        </a:rPr>
                        <a:t>Below 422</a:t>
                      </a:r>
                      <a:endParaRPr lang="en-GB" sz="1200" b="1" dirty="0">
                        <a:solidFill>
                          <a:srgbClr val="000000"/>
                        </a:solidFill>
                        <a:latin typeface="Calibri" panose="020F0502020204030204" pitchFamily="34" charset="0"/>
                        <a:sym typeface="Calibri" panose="020F0502020204030204" pitchFamily="34"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00137124"/>
                  </a:ext>
                </a:extLst>
              </a:tr>
              <a:tr h="457200">
                <a:tc>
                  <a:txBody>
                    <a:bodyPr/>
                    <a:lstStyle/>
                    <a:p>
                      <a:r>
                        <a:rPr lang="en-US" sz="1200" b="1" dirty="0">
                          <a:solidFill>
                            <a:schemeClr val="bg1"/>
                          </a:solidFill>
                          <a:latin typeface="Calibri" panose="020F0502020204030204" pitchFamily="34" charset="0"/>
                          <a:sym typeface="Calibri" panose="020F0502020204030204" pitchFamily="34" charset="0"/>
                        </a:rPr>
                        <a:t>Revenue drop vs revenue contribution (Dec 17) index</a:t>
                      </a:r>
                      <a:endParaRPr lang="en-GB" sz="1200" b="1" dirty="0">
                        <a:solidFill>
                          <a:schemeClr val="bg1"/>
                        </a:solidFill>
                        <a:latin typeface="Calibri" panose="020F0502020204030204" pitchFamily="34" charset="0"/>
                        <a:sym typeface="Calibri" panose="020F0502020204030204" pitchFamily="34" charset="0"/>
                      </a:endParaRPr>
                    </a:p>
                  </a:txBody>
                  <a:tcPr anchor="ctr">
                    <a:lnL>
                      <a:noFill/>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1.91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0.48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0.53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0.57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9431544"/>
                  </a:ext>
                </a:extLst>
              </a:tr>
            </a:tbl>
          </a:graphicData>
        </a:graphic>
      </p:graphicFrame>
      <p:sp>
        <p:nvSpPr>
          <p:cNvPr id="16" name="Freeform: Shape 15">
            <a:extLst>
              <a:ext uri="{FF2B5EF4-FFF2-40B4-BE49-F238E27FC236}">
                <a16:creationId xmlns:a16="http://schemas.microsoft.com/office/drawing/2014/main" id="{42DE9C6E-D73E-4E13-A120-338CB4A2AB0E}"/>
              </a:ext>
            </a:extLst>
          </p:cNvPr>
          <p:cNvSpPr/>
          <p:nvPr/>
        </p:nvSpPr>
        <p:spPr bwMode="gray">
          <a:xfrm>
            <a:off x="1412224" y="4240749"/>
            <a:ext cx="867703" cy="218441"/>
          </a:xfrm>
          <a:custGeom>
            <a:avLst/>
            <a:gdLst/>
            <a:ahLst/>
            <a:cxnLst/>
            <a:rect l="0" t="0" r="0" b="0"/>
            <a:pathLst>
              <a:path w="533401" h="218441">
                <a:moveTo>
                  <a:pt x="0" y="215900"/>
                </a:moveTo>
                <a:lnTo>
                  <a:pt x="0" y="101600"/>
                </a:lnTo>
                <a:lnTo>
                  <a:pt x="215900" y="0"/>
                </a:lnTo>
                <a:lnTo>
                  <a:pt x="364236" y="104775"/>
                </a:lnTo>
                <a:lnTo>
                  <a:pt x="533400" y="2540"/>
                </a:lnTo>
                <a:lnTo>
                  <a:pt x="533400" y="116840"/>
                </a:lnTo>
                <a:lnTo>
                  <a:pt x="364236" y="218440"/>
                </a:lnTo>
                <a:lnTo>
                  <a:pt x="215900" y="114300"/>
                </a:lnTo>
                <a:close/>
              </a:path>
            </a:pathLst>
          </a:custGeom>
          <a:solidFill>
            <a:srgbClr val="FFFFFF"/>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sp>
        <p:nvSpPr>
          <p:cNvPr id="17" name="Freeform: Shape 16">
            <a:extLst>
              <a:ext uri="{FF2B5EF4-FFF2-40B4-BE49-F238E27FC236}">
                <a16:creationId xmlns:a16="http://schemas.microsoft.com/office/drawing/2014/main" id="{45FCB9C4-17D2-4F1A-B743-471BC810CCD4}"/>
              </a:ext>
            </a:extLst>
          </p:cNvPr>
          <p:cNvSpPr/>
          <p:nvPr/>
        </p:nvSpPr>
        <p:spPr bwMode="gray">
          <a:xfrm>
            <a:off x="8410198" y="4240749"/>
            <a:ext cx="867703" cy="218441"/>
          </a:xfrm>
          <a:custGeom>
            <a:avLst/>
            <a:gdLst/>
            <a:ahLst/>
            <a:cxnLst/>
            <a:rect l="0" t="0" r="0" b="0"/>
            <a:pathLst>
              <a:path w="533401" h="218441">
                <a:moveTo>
                  <a:pt x="0" y="215900"/>
                </a:moveTo>
                <a:lnTo>
                  <a:pt x="0" y="101600"/>
                </a:lnTo>
                <a:lnTo>
                  <a:pt x="215900" y="0"/>
                </a:lnTo>
                <a:lnTo>
                  <a:pt x="364236" y="104775"/>
                </a:lnTo>
                <a:lnTo>
                  <a:pt x="533400" y="2540"/>
                </a:lnTo>
                <a:lnTo>
                  <a:pt x="533400" y="116840"/>
                </a:lnTo>
                <a:lnTo>
                  <a:pt x="364236" y="218440"/>
                </a:lnTo>
                <a:lnTo>
                  <a:pt x="215900" y="114300"/>
                </a:lnTo>
                <a:close/>
              </a:path>
            </a:pathLst>
          </a:custGeom>
          <a:solidFill>
            <a:srgbClr val="FFFFFF"/>
          </a:solidFill>
          <a:ln w="12700">
            <a:noFill/>
            <a:prstDash val="solid"/>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pic>
        <p:nvPicPr>
          <p:cNvPr id="10" name="Picture 9" descr="http://maps.google.com/mapfiles/kml/shapes/caution.png">
            <a:extLst>
              <a:ext uri="{FF2B5EF4-FFF2-40B4-BE49-F238E27FC236}">
                <a16:creationId xmlns:a16="http://schemas.microsoft.com/office/drawing/2014/main" id="{5C934A67-08DA-4C7B-9615-A2A486E6E90E}"/>
              </a:ext>
            </a:extLst>
          </p:cNvPr>
          <p:cNvPicPr>
            <a:picLocks noChangeAspect="1" noChangeArrowheads="1"/>
          </p:cNvPicPr>
          <p:nvPr/>
        </p:nvPicPr>
        <p:blipFill>
          <a:blip r:embed="rId3" cstate="email"/>
          <a:srcRect/>
          <a:stretch>
            <a:fillRect/>
          </a:stretch>
        </p:blipFill>
        <p:spPr bwMode="auto">
          <a:xfrm>
            <a:off x="2853799" y="3173504"/>
            <a:ext cx="266988" cy="250587"/>
          </a:xfrm>
          <a:prstGeom prst="rect">
            <a:avLst/>
          </a:prstGeom>
          <a:noFill/>
        </p:spPr>
      </p:pic>
      <p:sp>
        <p:nvSpPr>
          <p:cNvPr id="11" name="TextBox 10">
            <a:extLst>
              <a:ext uri="{FF2B5EF4-FFF2-40B4-BE49-F238E27FC236}">
                <a16:creationId xmlns:a16="http://schemas.microsoft.com/office/drawing/2014/main" id="{1F679D8A-DA80-4F36-92EF-BFA5B358C2AF}"/>
              </a:ext>
            </a:extLst>
          </p:cNvPr>
          <p:cNvSpPr txBox="1"/>
          <p:nvPr/>
        </p:nvSpPr>
        <p:spPr>
          <a:xfrm>
            <a:off x="2607465" y="3496606"/>
            <a:ext cx="759656" cy="646331"/>
          </a:xfrm>
          <a:prstGeom prst="rect">
            <a:avLst/>
          </a:prstGeom>
          <a:noFill/>
        </p:spPr>
        <p:txBody>
          <a:bodyPr wrap="square" lIns="0" tIns="0" rIns="0" bIns="0" rtlCol="0">
            <a:spAutoFit/>
          </a:bodyPr>
          <a:lstStyle/>
          <a:p>
            <a:r>
              <a:rPr lang="en-US" sz="1050" i="1" dirty="0">
                <a:solidFill>
                  <a:srgbClr val="C00000"/>
                </a:solidFill>
                <a:latin typeface="+mn-lt"/>
              </a:rPr>
              <a:t>Alarming performance of high value customers</a:t>
            </a:r>
          </a:p>
        </p:txBody>
      </p:sp>
      <p:sp>
        <p:nvSpPr>
          <p:cNvPr id="12" name="Rectangle 11">
            <a:extLst>
              <a:ext uri="{FF2B5EF4-FFF2-40B4-BE49-F238E27FC236}">
                <a16:creationId xmlns:a16="http://schemas.microsoft.com/office/drawing/2014/main" id="{FC61C60E-A79E-452A-9EC7-5C3E2CA93EF4}"/>
              </a:ext>
            </a:extLst>
          </p:cNvPr>
          <p:cNvSpPr/>
          <p:nvPr/>
        </p:nvSpPr>
        <p:spPr bwMode="gray">
          <a:xfrm>
            <a:off x="2419318" y="1793389"/>
            <a:ext cx="1135950" cy="4419412"/>
          </a:xfrm>
          <a:prstGeom prst="rect">
            <a:avLst/>
          </a:prstGeom>
          <a:noFill/>
          <a:ln w="12700">
            <a:solidFill>
              <a:srgbClr val="FF0000"/>
            </a:solidFill>
            <a:prstDash val="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n-lt"/>
              <a:ea typeface="ＭＳ Ｐゴシック" pitchFamily="-108" charset="-128"/>
              <a:sym typeface="Trebuchet MS" panose="020B0603020202020204" pitchFamily="34" charset="0"/>
            </a:endParaRPr>
          </a:p>
        </p:txBody>
      </p:sp>
      <p:sp>
        <p:nvSpPr>
          <p:cNvPr id="13" name="TextBox 12">
            <a:extLst>
              <a:ext uri="{FF2B5EF4-FFF2-40B4-BE49-F238E27FC236}">
                <a16:creationId xmlns:a16="http://schemas.microsoft.com/office/drawing/2014/main" id="{65629CB4-3DC9-4E1D-B5B5-2A717C50F4CF}"/>
              </a:ext>
            </a:extLst>
          </p:cNvPr>
          <p:cNvSpPr txBox="1"/>
          <p:nvPr/>
        </p:nvSpPr>
        <p:spPr>
          <a:xfrm>
            <a:off x="304800" y="6409604"/>
            <a:ext cx="9296400" cy="123111"/>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grpSp>
        <p:nvGrpSpPr>
          <p:cNvPr id="14" name="Group 13">
            <a:extLst>
              <a:ext uri="{FF2B5EF4-FFF2-40B4-BE49-F238E27FC236}">
                <a16:creationId xmlns:a16="http://schemas.microsoft.com/office/drawing/2014/main" id="{8D503D10-F83F-4F61-B8DC-84CD2B2C38E3}"/>
              </a:ext>
            </a:extLst>
          </p:cNvPr>
          <p:cNvGrpSpPr/>
          <p:nvPr/>
        </p:nvGrpSpPr>
        <p:grpSpPr>
          <a:xfrm>
            <a:off x="7254068" y="6544089"/>
            <a:ext cx="728904" cy="252000"/>
            <a:chOff x="7005593" y="6563968"/>
            <a:chExt cx="728904" cy="252000"/>
          </a:xfrm>
        </p:grpSpPr>
        <p:pic>
          <p:nvPicPr>
            <p:cNvPr id="18" name="Picture 7" descr="C:\Users\amorales\Downloads\IconShock SuperVista VideoProduction\png\play_256.png">
              <a:hlinkClick r:id="rId4" action="ppaction://hlinksldjump"/>
              <a:extLst>
                <a:ext uri="{FF2B5EF4-FFF2-40B4-BE49-F238E27FC236}">
                  <a16:creationId xmlns:a16="http://schemas.microsoft.com/office/drawing/2014/main" id="{4F1FED64-E98A-41E4-B0E6-19E8FB942AFF}"/>
                </a:ext>
              </a:extLst>
            </p:cNvPr>
            <p:cNvPicPr>
              <a:picLocks noChangeAspect="1" noChangeArrowheads="1"/>
            </p:cNvPicPr>
            <p:nvPr/>
          </p:nvPicPr>
          <p:blipFill>
            <a:blip r:embed="rId5">
              <a:duotone>
                <a:prstClr val="black"/>
                <a:srgbClr val="6693B1">
                  <a:tint val="45000"/>
                  <a:satMod val="400000"/>
                </a:srgbClr>
              </a:duotone>
              <a:extLst>
                <a:ext uri="{BEBA8EAE-BF5A-486C-A8C5-ECC9F3942E4B}">
                  <a14:imgProps xmlns:a14="http://schemas.microsoft.com/office/drawing/2010/main">
                    <a14:imgLayer r:embed="rId6">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19" name="TextBox 18">
              <a:extLst>
                <a:ext uri="{FF2B5EF4-FFF2-40B4-BE49-F238E27FC236}">
                  <a16:creationId xmlns:a16="http://schemas.microsoft.com/office/drawing/2014/main" id="{A173ACDF-6847-497D-B508-D053DC3A3452}"/>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Tree>
    <p:extLst>
      <p:ext uri="{BB962C8B-B14F-4D97-AF65-F5344CB8AC3E}">
        <p14:creationId xmlns:p14="http://schemas.microsoft.com/office/powerpoint/2010/main" val="293927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FE943-1522-4C29-9CAC-7398828C6BB7}"/>
              </a:ext>
            </a:extLst>
          </p:cNvPr>
          <p:cNvSpPr>
            <a:spLocks noGrp="1"/>
          </p:cNvSpPr>
          <p:nvPr>
            <p:ph type="title"/>
          </p:nvPr>
        </p:nvSpPr>
        <p:spPr/>
        <p:txBody>
          <a:bodyPr/>
          <a:lstStyle/>
          <a:p>
            <a:r>
              <a:rPr lang="en-US" dirty="0"/>
              <a:t>HV customer base deteriorated the most in the past 12 months, while the number of zero-revenue users has grown the most</a:t>
            </a:r>
          </a:p>
        </p:txBody>
      </p:sp>
      <p:graphicFrame>
        <p:nvGraphicFramePr>
          <p:cNvPr id="4" name="Chart 3">
            <a:extLst>
              <a:ext uri="{FF2B5EF4-FFF2-40B4-BE49-F238E27FC236}">
                <a16:creationId xmlns:a16="http://schemas.microsoft.com/office/drawing/2014/main" id="{DB949412-7EB2-4F9B-BE00-97EC7289EB9E}"/>
              </a:ext>
            </a:extLst>
          </p:cNvPr>
          <p:cNvGraphicFramePr/>
          <p:nvPr>
            <p:extLst>
              <p:ext uri="{D42A27DB-BD31-4B8C-83A1-F6EECF244321}">
                <p14:modId xmlns:p14="http://schemas.microsoft.com/office/powerpoint/2010/main" val="174925984"/>
              </p:ext>
            </p:extLst>
          </p:nvPr>
        </p:nvGraphicFramePr>
        <p:xfrm>
          <a:off x="304800" y="1386692"/>
          <a:ext cx="8481391" cy="5024047"/>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38533B8D-54B0-4344-8CAD-D1BD4A615E3B}"/>
              </a:ext>
            </a:extLst>
          </p:cNvPr>
          <p:cNvSpPr txBox="1"/>
          <p:nvPr/>
        </p:nvSpPr>
        <p:spPr bwMode="gray">
          <a:xfrm>
            <a:off x="575945" y="1071601"/>
            <a:ext cx="4390304" cy="332399"/>
          </a:xfrm>
          <a:prstGeom prst="rect">
            <a:avLst/>
          </a:prstGeom>
          <a:noFill/>
          <a:ln w="25400" algn="ctr">
            <a:noFill/>
            <a:miter lim="800000"/>
            <a:headEnd/>
            <a:tailEnd/>
          </a:ln>
          <a:extLst>
            <a:ext uri="{909E8E84-426E-40DD-AFC4-6F175D3DCCD1}">
              <a14:hiddenFill xmlns:a14="http://schemas.microsoft.com/office/drawing/2010/main">
                <a:pattFill>
                  <a:fgClr>
                    <a:srgbClr val="000000"/>
                  </a:fgClr>
                  <a:bgClr>
                    <a:srgbClr val="000000"/>
                  </a:bgClr>
                </a:pattFill>
              </a14:hiddenFill>
            </a:ext>
          </a:extLst>
        </p:spPr>
        <p:txBody>
          <a:bodyPr vert="horz" wrap="none" lIns="0" tIns="0" rIns="0" bIns="0" rtlCol="0" anchor="b" anchorCtr="0">
            <a:spAutoFit/>
          </a:bodyPr>
          <a:lstStyle/>
          <a:p>
            <a:pPr algn="l">
              <a:lnSpc>
                <a:spcPct val="90000"/>
              </a:lnSpc>
              <a:spcBef>
                <a:spcPct val="0"/>
              </a:spcBef>
              <a:buSzPct val="100000"/>
            </a:pPr>
            <a:r>
              <a:rPr lang="en-US" sz="1400" b="1" dirty="0">
                <a:solidFill>
                  <a:srgbClr val="00568A"/>
                </a:solidFill>
                <a:latin typeface="+mj-lt"/>
                <a:sym typeface="Calibri" panose="020F0502020204030204" pitchFamily="34" charset="0"/>
              </a:rPr>
              <a:t>OA subscriber base distribution evolution by value segment</a:t>
            </a:r>
          </a:p>
          <a:p>
            <a:pPr algn="l">
              <a:lnSpc>
                <a:spcPct val="90000"/>
              </a:lnSpc>
              <a:spcBef>
                <a:spcPct val="0"/>
              </a:spcBef>
              <a:buSzPct val="100000"/>
            </a:pPr>
            <a:r>
              <a:rPr lang="en-US" sz="1000" dirty="0">
                <a:solidFill>
                  <a:srgbClr val="00568A"/>
                </a:solidFill>
                <a:latin typeface="+mj-lt"/>
                <a:sym typeface="Calibri" panose="020F0502020204030204" pitchFamily="34" charset="0"/>
              </a:rPr>
              <a:t>(%, Subs millions)</a:t>
            </a:r>
          </a:p>
        </p:txBody>
      </p:sp>
      <p:sp>
        <p:nvSpPr>
          <p:cNvPr id="7" name="TextBox 6">
            <a:extLst>
              <a:ext uri="{FF2B5EF4-FFF2-40B4-BE49-F238E27FC236}">
                <a16:creationId xmlns:a16="http://schemas.microsoft.com/office/drawing/2014/main" id="{4DF8EBD9-5FBD-4AAB-BEE0-E8354FF10EBF}"/>
              </a:ext>
            </a:extLst>
          </p:cNvPr>
          <p:cNvSpPr txBox="1"/>
          <p:nvPr/>
        </p:nvSpPr>
        <p:spPr bwMode="gray">
          <a:xfrm>
            <a:off x="8716617" y="2195524"/>
            <a:ext cx="1041952" cy="304699"/>
          </a:xfrm>
          <a:prstGeom prst="rect">
            <a:avLst/>
          </a:prstGeom>
          <a:noFill/>
          <a:ln w="25400" algn="ctr">
            <a:noFill/>
            <a:miter lim="800000"/>
            <a:headEnd/>
            <a:tailEnd/>
          </a:ln>
          <a:extLst>
            <a:ext uri="{909E8E84-426E-40DD-AFC4-6F175D3DCCD1}">
              <a14:hiddenFill xmlns:a14="http://schemas.microsoft.com/office/drawing/2010/main">
                <a:pattFill>
                  <a:fgClr>
                    <a:srgbClr val="000000"/>
                  </a:fgClr>
                  <a:bgClr>
                    <a:srgbClr val="000000"/>
                  </a:bgClr>
                </a:pattFill>
              </a14:hiddenFill>
            </a:ext>
          </a:extLst>
        </p:spPr>
        <p:txBody>
          <a:bodyPr vert="horz" wrap="none" lIns="0" tIns="0" rIns="0" bIns="0" rtlCol="0" anchor="b" anchorCtr="0">
            <a:spAutoFit/>
          </a:bodyPr>
          <a:lstStyle/>
          <a:p>
            <a:pPr>
              <a:lnSpc>
                <a:spcPct val="90000"/>
              </a:lnSpc>
              <a:spcBef>
                <a:spcPct val="0"/>
              </a:spcBef>
              <a:buSzPct val="100000"/>
            </a:pPr>
            <a:r>
              <a:rPr lang="en-US" sz="1100" b="1" dirty="0">
                <a:solidFill>
                  <a:srgbClr val="00568A"/>
                </a:solidFill>
                <a:latin typeface="+mj-lt"/>
                <a:sym typeface="Calibri" panose="020F0502020204030204" pitchFamily="34" charset="0"/>
              </a:rPr>
              <a:t>Dec.’17 – Dec.’18 </a:t>
            </a:r>
          </a:p>
          <a:p>
            <a:pPr>
              <a:lnSpc>
                <a:spcPct val="90000"/>
              </a:lnSpc>
              <a:spcBef>
                <a:spcPct val="0"/>
              </a:spcBef>
              <a:buSzPct val="100000"/>
            </a:pPr>
            <a:r>
              <a:rPr lang="en-US" sz="1100" b="1" dirty="0">
                <a:solidFill>
                  <a:srgbClr val="00568A"/>
                </a:solidFill>
                <a:latin typeface="+mj-lt"/>
                <a:sym typeface="Calibri" panose="020F0502020204030204" pitchFamily="34" charset="0"/>
              </a:rPr>
              <a:t>CMGR</a:t>
            </a:r>
            <a:endParaRPr lang="en-US" sz="800" dirty="0">
              <a:solidFill>
                <a:srgbClr val="00568A"/>
              </a:solidFill>
              <a:latin typeface="+mj-lt"/>
              <a:sym typeface="Calibri" panose="020F0502020204030204" pitchFamily="34" charset="0"/>
            </a:endParaRPr>
          </a:p>
        </p:txBody>
      </p:sp>
      <p:sp>
        <p:nvSpPr>
          <p:cNvPr id="9" name="Oval 8">
            <a:extLst>
              <a:ext uri="{FF2B5EF4-FFF2-40B4-BE49-F238E27FC236}">
                <a16:creationId xmlns:a16="http://schemas.microsoft.com/office/drawing/2014/main" id="{9EAE77E5-D7A9-4E76-A3F1-26D9370076DC}"/>
              </a:ext>
            </a:extLst>
          </p:cNvPr>
          <p:cNvSpPr/>
          <p:nvPr/>
        </p:nvSpPr>
        <p:spPr bwMode="gray">
          <a:xfrm>
            <a:off x="8908112" y="2550101"/>
            <a:ext cx="643890" cy="226695"/>
          </a:xfrm>
          <a:prstGeom prst="ellipse">
            <a:avLst/>
          </a:prstGeom>
          <a:solidFill>
            <a:srgbClr val="92D050"/>
          </a:solidFill>
          <a:ln w="0">
            <a:noFill/>
            <a:prstDash val="solid"/>
            <a:miter lim="800000"/>
            <a:headEnd/>
            <a:tailEnd/>
          </a:ln>
          <a:effectLst/>
        </p:spPr>
        <p:txBody>
          <a:bodyPr wrap="none" lIns="0" tIns="0" rIns="0" bIns="0" rtlCol="0" anchor="ctr" anchorCtr="0">
            <a:noAutofit/>
          </a:bodyPr>
          <a:lstStyle/>
          <a:p>
            <a:pPr defTabSz="900113" eaLnBrk="1" hangingPunct="1">
              <a:spcBef>
                <a:spcPct val="0"/>
              </a:spcBef>
              <a:buSzTx/>
            </a:pPr>
            <a:r>
              <a:rPr lang="en-US" b="1" dirty="0">
                <a:solidFill>
                  <a:schemeClr val="tx1"/>
                </a:solidFill>
                <a:latin typeface="+mj-lt"/>
                <a:ea typeface="ＭＳ Ｐゴシック" pitchFamily="-108" charset="-128"/>
                <a:sym typeface="Calibri" panose="020F0502020204030204" pitchFamily="34" charset="0"/>
              </a:rPr>
              <a:t>3%</a:t>
            </a:r>
          </a:p>
        </p:txBody>
      </p:sp>
      <p:sp>
        <p:nvSpPr>
          <p:cNvPr id="10" name="Oval 9">
            <a:extLst>
              <a:ext uri="{FF2B5EF4-FFF2-40B4-BE49-F238E27FC236}">
                <a16:creationId xmlns:a16="http://schemas.microsoft.com/office/drawing/2014/main" id="{26842E7C-AE7C-4BEC-AE05-FE94B9BA4F3C}"/>
              </a:ext>
            </a:extLst>
          </p:cNvPr>
          <p:cNvSpPr/>
          <p:nvPr/>
        </p:nvSpPr>
        <p:spPr bwMode="gray">
          <a:xfrm>
            <a:off x="8908112" y="5691669"/>
            <a:ext cx="643890" cy="226695"/>
          </a:xfrm>
          <a:prstGeom prst="ellipse">
            <a:avLst/>
          </a:prstGeom>
          <a:solidFill>
            <a:srgbClr val="FF0000"/>
          </a:solidFill>
          <a:ln w="0">
            <a:noFill/>
            <a:prstDash val="solid"/>
            <a:miter lim="800000"/>
            <a:headEnd/>
            <a:tailEnd/>
          </a:ln>
          <a:effectLst/>
        </p:spPr>
        <p:txBody>
          <a:bodyPr wrap="none" lIns="0" tIns="0" rIns="0" bIns="0" rtlCol="0" anchor="ctr" anchorCtr="0">
            <a:noAutofit/>
          </a:bodyPr>
          <a:lstStyle/>
          <a:p>
            <a:pPr defTabSz="900113" eaLnBrk="1" hangingPunct="1">
              <a:spcBef>
                <a:spcPct val="0"/>
              </a:spcBef>
              <a:buSzTx/>
            </a:pPr>
            <a:r>
              <a:rPr lang="en-US" b="1">
                <a:solidFill>
                  <a:schemeClr val="tx1"/>
                </a:solidFill>
                <a:latin typeface="+mj-lt"/>
                <a:ea typeface="ＭＳ Ｐゴシック" pitchFamily="-108" charset="-128"/>
                <a:sym typeface="Calibri" panose="020F0502020204030204" pitchFamily="34" charset="0"/>
              </a:rPr>
              <a:t>2%</a:t>
            </a:r>
            <a:endParaRPr lang="en-US" b="1" dirty="0">
              <a:solidFill>
                <a:schemeClr val="tx1"/>
              </a:solidFill>
              <a:latin typeface="+mj-lt"/>
              <a:ea typeface="ＭＳ Ｐゴシック" pitchFamily="-108" charset="-128"/>
              <a:sym typeface="Calibri" panose="020F0502020204030204" pitchFamily="34" charset="0"/>
            </a:endParaRPr>
          </a:p>
        </p:txBody>
      </p:sp>
      <p:sp>
        <p:nvSpPr>
          <p:cNvPr id="11" name="Oval 10">
            <a:extLst>
              <a:ext uri="{FF2B5EF4-FFF2-40B4-BE49-F238E27FC236}">
                <a16:creationId xmlns:a16="http://schemas.microsoft.com/office/drawing/2014/main" id="{CB642ACA-F7E9-428E-A9F0-6DB888CAE019}"/>
              </a:ext>
            </a:extLst>
          </p:cNvPr>
          <p:cNvSpPr/>
          <p:nvPr/>
        </p:nvSpPr>
        <p:spPr bwMode="gray">
          <a:xfrm>
            <a:off x="8908112" y="4652634"/>
            <a:ext cx="643890" cy="226695"/>
          </a:xfrm>
          <a:prstGeom prst="ellipse">
            <a:avLst/>
          </a:prstGeom>
          <a:solidFill>
            <a:srgbClr val="FFC000"/>
          </a:solidFill>
          <a:ln w="0">
            <a:noFill/>
            <a:prstDash val="solid"/>
            <a:miter lim="800000"/>
            <a:headEnd/>
            <a:tailEnd/>
          </a:ln>
          <a:effectLst/>
        </p:spPr>
        <p:txBody>
          <a:bodyPr wrap="none" lIns="0" tIns="0" rIns="0" bIns="0" rtlCol="0" anchor="ctr" anchorCtr="0">
            <a:noAutofit/>
          </a:bodyPr>
          <a:lstStyle/>
          <a:p>
            <a:pPr defTabSz="900113" eaLnBrk="1" hangingPunct="1">
              <a:spcBef>
                <a:spcPct val="0"/>
              </a:spcBef>
              <a:buSzTx/>
            </a:pPr>
            <a:r>
              <a:rPr lang="en-US" b="1" dirty="0">
                <a:solidFill>
                  <a:schemeClr val="tx1"/>
                </a:solidFill>
                <a:latin typeface="+mj-lt"/>
                <a:ea typeface="ＭＳ Ｐゴシック" pitchFamily="-108" charset="-128"/>
                <a:sym typeface="Calibri" panose="020F0502020204030204" pitchFamily="34" charset="0"/>
              </a:rPr>
              <a:t>0%</a:t>
            </a:r>
          </a:p>
        </p:txBody>
      </p:sp>
      <p:sp>
        <p:nvSpPr>
          <p:cNvPr id="12" name="Oval 11">
            <a:extLst>
              <a:ext uri="{FF2B5EF4-FFF2-40B4-BE49-F238E27FC236}">
                <a16:creationId xmlns:a16="http://schemas.microsoft.com/office/drawing/2014/main" id="{FD389B01-DEB0-4B09-9AE6-E1F8781D50E1}"/>
              </a:ext>
            </a:extLst>
          </p:cNvPr>
          <p:cNvSpPr/>
          <p:nvPr/>
        </p:nvSpPr>
        <p:spPr bwMode="gray">
          <a:xfrm>
            <a:off x="8908112" y="3495855"/>
            <a:ext cx="643890" cy="226695"/>
          </a:xfrm>
          <a:prstGeom prst="ellipse">
            <a:avLst/>
          </a:prstGeom>
          <a:solidFill>
            <a:srgbClr val="FFC000"/>
          </a:solidFill>
          <a:ln w="0">
            <a:noFill/>
            <a:prstDash val="solid"/>
            <a:miter lim="800000"/>
            <a:headEnd/>
            <a:tailEnd/>
          </a:ln>
          <a:effectLst/>
        </p:spPr>
        <p:txBody>
          <a:bodyPr wrap="none" lIns="0" tIns="0" rIns="0" bIns="0" rtlCol="0" anchor="ctr" anchorCtr="0">
            <a:noAutofit/>
          </a:bodyPr>
          <a:lstStyle/>
          <a:p>
            <a:pPr defTabSz="900113" eaLnBrk="1" hangingPunct="1">
              <a:spcBef>
                <a:spcPct val="0"/>
              </a:spcBef>
              <a:buSzTx/>
            </a:pPr>
            <a:r>
              <a:rPr lang="en-US" b="1" dirty="0">
                <a:solidFill>
                  <a:schemeClr val="tx1"/>
                </a:solidFill>
                <a:latin typeface="+mj-lt"/>
                <a:ea typeface="ＭＳ Ｐゴシック" pitchFamily="-108" charset="-128"/>
                <a:sym typeface="Calibri" panose="020F0502020204030204" pitchFamily="34" charset="0"/>
              </a:rPr>
              <a:t>-1%</a:t>
            </a:r>
          </a:p>
        </p:txBody>
      </p:sp>
      <p:sp>
        <p:nvSpPr>
          <p:cNvPr id="13" name="Oval 12">
            <a:extLst>
              <a:ext uri="{FF2B5EF4-FFF2-40B4-BE49-F238E27FC236}">
                <a16:creationId xmlns:a16="http://schemas.microsoft.com/office/drawing/2014/main" id="{E4C656F2-3300-43B0-9032-3B7AC895CADF}"/>
              </a:ext>
            </a:extLst>
          </p:cNvPr>
          <p:cNvSpPr/>
          <p:nvPr/>
        </p:nvSpPr>
        <p:spPr bwMode="gray">
          <a:xfrm>
            <a:off x="8908112" y="3049241"/>
            <a:ext cx="643890" cy="226695"/>
          </a:xfrm>
          <a:prstGeom prst="ellipse">
            <a:avLst/>
          </a:prstGeom>
          <a:solidFill>
            <a:srgbClr val="FFC000"/>
          </a:solidFill>
          <a:ln w="0">
            <a:noFill/>
            <a:prstDash val="solid"/>
            <a:miter lim="800000"/>
            <a:headEnd/>
            <a:tailEnd/>
          </a:ln>
          <a:effectLst/>
        </p:spPr>
        <p:txBody>
          <a:bodyPr wrap="none" lIns="0" tIns="0" rIns="0" bIns="0" rtlCol="0" anchor="ctr" anchorCtr="0">
            <a:noAutofit/>
          </a:bodyPr>
          <a:lstStyle/>
          <a:p>
            <a:pPr defTabSz="900113" eaLnBrk="1" hangingPunct="1">
              <a:spcBef>
                <a:spcPct val="0"/>
              </a:spcBef>
              <a:buSzTx/>
            </a:pPr>
            <a:r>
              <a:rPr lang="en-US" b="1" dirty="0">
                <a:solidFill>
                  <a:schemeClr val="tx1"/>
                </a:solidFill>
                <a:latin typeface="+mj-lt"/>
                <a:ea typeface="ＭＳ Ｐゴシック" pitchFamily="-108" charset="-128"/>
                <a:sym typeface="Calibri" panose="020F0502020204030204" pitchFamily="34" charset="0"/>
              </a:rPr>
              <a:t>0%</a:t>
            </a:r>
          </a:p>
        </p:txBody>
      </p:sp>
      <p:sp>
        <p:nvSpPr>
          <p:cNvPr id="14" name="Oval 13">
            <a:extLst>
              <a:ext uri="{FF2B5EF4-FFF2-40B4-BE49-F238E27FC236}">
                <a16:creationId xmlns:a16="http://schemas.microsoft.com/office/drawing/2014/main" id="{F16952B7-F99E-4CE4-9E48-29772DA5A6BF}"/>
              </a:ext>
            </a:extLst>
          </p:cNvPr>
          <p:cNvSpPr/>
          <p:nvPr/>
        </p:nvSpPr>
        <p:spPr bwMode="gray">
          <a:xfrm>
            <a:off x="8908112" y="2804237"/>
            <a:ext cx="643890" cy="226695"/>
          </a:xfrm>
          <a:prstGeom prst="ellipse">
            <a:avLst/>
          </a:prstGeom>
          <a:solidFill>
            <a:srgbClr val="FF0000"/>
          </a:solidFill>
          <a:ln w="0">
            <a:noFill/>
            <a:prstDash val="solid"/>
            <a:miter lim="800000"/>
            <a:headEnd/>
            <a:tailEnd/>
          </a:ln>
          <a:effectLst/>
        </p:spPr>
        <p:txBody>
          <a:bodyPr wrap="none" lIns="0" tIns="0" rIns="0" bIns="0" rtlCol="0" anchor="ctr" anchorCtr="0">
            <a:noAutofit/>
          </a:bodyPr>
          <a:lstStyle/>
          <a:p>
            <a:pPr defTabSz="900113" eaLnBrk="1" hangingPunct="1">
              <a:spcBef>
                <a:spcPct val="0"/>
              </a:spcBef>
              <a:buSzTx/>
            </a:pPr>
            <a:r>
              <a:rPr lang="en-US" b="1">
                <a:solidFill>
                  <a:schemeClr val="tx1"/>
                </a:solidFill>
                <a:latin typeface="+mj-lt"/>
                <a:ea typeface="ＭＳ Ｐゴシック" pitchFamily="-108" charset="-128"/>
                <a:sym typeface="Calibri" panose="020F0502020204030204" pitchFamily="34" charset="0"/>
              </a:rPr>
              <a:t>-3%</a:t>
            </a:r>
            <a:endParaRPr lang="en-US" b="1" dirty="0">
              <a:solidFill>
                <a:schemeClr val="tx1"/>
              </a:solidFill>
              <a:latin typeface="+mj-lt"/>
              <a:ea typeface="ＭＳ Ｐゴシック" pitchFamily="-108" charset="-128"/>
              <a:sym typeface="Calibri" panose="020F0502020204030204" pitchFamily="34" charset="0"/>
            </a:endParaRPr>
          </a:p>
        </p:txBody>
      </p:sp>
      <p:pic>
        <p:nvPicPr>
          <p:cNvPr id="15" name="Picture 14" descr="http://maps.google.com/mapfiles/kml/shapes/caution.png">
            <a:extLst>
              <a:ext uri="{FF2B5EF4-FFF2-40B4-BE49-F238E27FC236}">
                <a16:creationId xmlns:a16="http://schemas.microsoft.com/office/drawing/2014/main" id="{4D9DE9AB-B782-4533-A3D9-3387C96B0E24}"/>
              </a:ext>
            </a:extLst>
          </p:cNvPr>
          <p:cNvPicPr>
            <a:picLocks noChangeAspect="1" noChangeArrowheads="1"/>
          </p:cNvPicPr>
          <p:nvPr/>
        </p:nvPicPr>
        <p:blipFill>
          <a:blip r:embed="rId3" cstate="email"/>
          <a:srcRect/>
          <a:stretch>
            <a:fillRect/>
          </a:stretch>
        </p:blipFill>
        <p:spPr bwMode="auto">
          <a:xfrm>
            <a:off x="9418508" y="2870504"/>
            <a:ext cx="266988" cy="250587"/>
          </a:xfrm>
          <a:prstGeom prst="rect">
            <a:avLst/>
          </a:prstGeom>
          <a:noFill/>
        </p:spPr>
      </p:pic>
      <p:sp>
        <p:nvSpPr>
          <p:cNvPr id="16" name="Speech Bubble: Rectangle 15">
            <a:extLst>
              <a:ext uri="{FF2B5EF4-FFF2-40B4-BE49-F238E27FC236}">
                <a16:creationId xmlns:a16="http://schemas.microsoft.com/office/drawing/2014/main" id="{E0258824-A27D-4A34-9268-4BA6B46121DF}"/>
              </a:ext>
            </a:extLst>
          </p:cNvPr>
          <p:cNvSpPr/>
          <p:nvPr/>
        </p:nvSpPr>
        <p:spPr bwMode="gray">
          <a:xfrm>
            <a:off x="6703531" y="1620304"/>
            <a:ext cx="2714977" cy="483960"/>
          </a:xfrm>
          <a:prstGeom prst="wedgeRectCallout">
            <a:avLst>
              <a:gd name="adj1" fmla="val 21081"/>
              <a:gd name="adj2" fmla="val 94908"/>
            </a:avLst>
          </a:prstGeom>
          <a:solidFill>
            <a:srgbClr val="FFFF99"/>
          </a:solidFill>
          <a:ln w="12700">
            <a:noFill/>
            <a:prstDash val="solid"/>
            <a:miter lim="800000"/>
            <a:headEnd/>
            <a:tailEnd/>
          </a:ln>
          <a:effectLst/>
        </p:spPr>
        <p:txBody>
          <a:bodyPr wrap="square" lIns="108000" tIns="72000" rIns="108000" bIns="72000" rtlCol="0" anchor="ctr" anchorCtr="0">
            <a:spAutoFit/>
          </a:bodyPr>
          <a:lstStyle/>
          <a:p>
            <a:pPr algn="ctr" defTabSz="900113" eaLnBrk="1" hangingPunct="1">
              <a:spcBef>
                <a:spcPts val="0"/>
              </a:spcBef>
              <a:spcAft>
                <a:spcPts val="0"/>
              </a:spcAft>
              <a:buSzTx/>
            </a:pPr>
            <a:r>
              <a:rPr lang="en-US" sz="1100" b="1" dirty="0">
                <a:solidFill>
                  <a:schemeClr val="tx1"/>
                </a:solidFill>
                <a:latin typeface="+mj-lt"/>
                <a:ea typeface="ＭＳ Ｐゴシック" pitchFamily="-108" charset="-128"/>
                <a:sym typeface="Trebuchet MS" panose="020B0603020202020204" pitchFamily="34" charset="0"/>
              </a:rPr>
              <a:t>HV customers have declined in terms of both absolute and proportional numbers</a:t>
            </a:r>
          </a:p>
        </p:txBody>
      </p:sp>
      <p:pic>
        <p:nvPicPr>
          <p:cNvPr id="17" name="Picture 16" descr="http://maps.google.com/mapfiles/kml/shapes/caution.png">
            <a:extLst>
              <a:ext uri="{FF2B5EF4-FFF2-40B4-BE49-F238E27FC236}">
                <a16:creationId xmlns:a16="http://schemas.microsoft.com/office/drawing/2014/main" id="{3F8DDF8E-0CA4-4ED9-AF64-C79386CD3F82}"/>
              </a:ext>
            </a:extLst>
          </p:cNvPr>
          <p:cNvPicPr>
            <a:picLocks noChangeAspect="1" noChangeArrowheads="1"/>
          </p:cNvPicPr>
          <p:nvPr/>
        </p:nvPicPr>
        <p:blipFill>
          <a:blip r:embed="rId3" cstate="email"/>
          <a:srcRect/>
          <a:stretch>
            <a:fillRect/>
          </a:stretch>
        </p:blipFill>
        <p:spPr bwMode="auto">
          <a:xfrm>
            <a:off x="9418508" y="5757897"/>
            <a:ext cx="266988" cy="250587"/>
          </a:xfrm>
          <a:prstGeom prst="rect">
            <a:avLst/>
          </a:prstGeom>
          <a:noFill/>
        </p:spPr>
      </p:pic>
      <p:sp>
        <p:nvSpPr>
          <p:cNvPr id="18" name="TextBox 17">
            <a:extLst>
              <a:ext uri="{FF2B5EF4-FFF2-40B4-BE49-F238E27FC236}">
                <a16:creationId xmlns:a16="http://schemas.microsoft.com/office/drawing/2014/main" id="{AC067109-3B63-4926-81EA-61B4F8D7D89C}"/>
              </a:ext>
            </a:extLst>
          </p:cNvPr>
          <p:cNvSpPr txBox="1"/>
          <p:nvPr/>
        </p:nvSpPr>
        <p:spPr>
          <a:xfrm>
            <a:off x="304800" y="6409604"/>
            <a:ext cx="9296400" cy="123111"/>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grpSp>
        <p:nvGrpSpPr>
          <p:cNvPr id="19" name="Group 18">
            <a:extLst>
              <a:ext uri="{FF2B5EF4-FFF2-40B4-BE49-F238E27FC236}">
                <a16:creationId xmlns:a16="http://schemas.microsoft.com/office/drawing/2014/main" id="{81B9B5E0-FEE3-4718-891A-06CE8DA5634F}"/>
              </a:ext>
            </a:extLst>
          </p:cNvPr>
          <p:cNvGrpSpPr/>
          <p:nvPr/>
        </p:nvGrpSpPr>
        <p:grpSpPr>
          <a:xfrm>
            <a:off x="7254068" y="6544089"/>
            <a:ext cx="728904" cy="252000"/>
            <a:chOff x="7005593" y="6563968"/>
            <a:chExt cx="728904" cy="252000"/>
          </a:xfrm>
        </p:grpSpPr>
        <p:pic>
          <p:nvPicPr>
            <p:cNvPr id="20" name="Picture 7" descr="C:\Users\amorales\Downloads\IconShock SuperVista VideoProduction\png\play_256.png">
              <a:hlinkClick r:id="rId4" action="ppaction://hlinksldjump"/>
              <a:extLst>
                <a:ext uri="{FF2B5EF4-FFF2-40B4-BE49-F238E27FC236}">
                  <a16:creationId xmlns:a16="http://schemas.microsoft.com/office/drawing/2014/main" id="{CDE15819-E013-4639-88BA-913C0BCEDB96}"/>
                </a:ext>
              </a:extLst>
            </p:cNvPr>
            <p:cNvPicPr>
              <a:picLocks noChangeAspect="1" noChangeArrowheads="1"/>
            </p:cNvPicPr>
            <p:nvPr/>
          </p:nvPicPr>
          <p:blipFill>
            <a:blip r:embed="rId5">
              <a:duotone>
                <a:prstClr val="black"/>
                <a:srgbClr val="6693B1">
                  <a:tint val="45000"/>
                  <a:satMod val="400000"/>
                </a:srgbClr>
              </a:duotone>
              <a:extLst>
                <a:ext uri="{BEBA8EAE-BF5A-486C-A8C5-ECC9F3942E4B}">
                  <a14:imgProps xmlns:a14="http://schemas.microsoft.com/office/drawing/2010/main">
                    <a14:imgLayer r:embed="rId6">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21" name="TextBox 20">
              <a:extLst>
                <a:ext uri="{FF2B5EF4-FFF2-40B4-BE49-F238E27FC236}">
                  <a16:creationId xmlns:a16="http://schemas.microsoft.com/office/drawing/2014/main" id="{9FC16DCB-8540-487E-B322-C25D62B8F340}"/>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Tree>
    <p:extLst>
      <p:ext uri="{BB962C8B-B14F-4D97-AF65-F5344CB8AC3E}">
        <p14:creationId xmlns:p14="http://schemas.microsoft.com/office/powerpoint/2010/main" val="3859782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0D41-1272-4295-8CCD-391860D94310}"/>
              </a:ext>
            </a:extLst>
          </p:cNvPr>
          <p:cNvSpPr>
            <a:spLocks noGrp="1"/>
          </p:cNvSpPr>
          <p:nvPr>
            <p:ph type="title"/>
          </p:nvPr>
        </p:nvSpPr>
        <p:spPr/>
        <p:txBody>
          <a:bodyPr/>
          <a:lstStyle/>
          <a:p>
            <a:r>
              <a:rPr lang="en-US" dirty="0"/>
              <a:t>The % of high value customers went down by 25% in the next two months after the </a:t>
            </a:r>
            <a:r>
              <a:rPr lang="en-US" dirty="0" err="1"/>
              <a:t>maxy</a:t>
            </a:r>
            <a:r>
              <a:rPr lang="en-US" dirty="0"/>
              <a:t> revamp to stabilize during the last 6 months of the year</a:t>
            </a:r>
          </a:p>
        </p:txBody>
      </p:sp>
      <p:sp>
        <p:nvSpPr>
          <p:cNvPr id="3" name="TextBox 2">
            <a:extLst>
              <a:ext uri="{FF2B5EF4-FFF2-40B4-BE49-F238E27FC236}">
                <a16:creationId xmlns:a16="http://schemas.microsoft.com/office/drawing/2014/main" id="{E4D66129-8AAF-4BC6-928A-10ED8F717C93}"/>
              </a:ext>
            </a:extLst>
          </p:cNvPr>
          <p:cNvSpPr txBox="1"/>
          <p:nvPr/>
        </p:nvSpPr>
        <p:spPr>
          <a:xfrm>
            <a:off x="304800" y="6286494"/>
            <a:ext cx="9296400" cy="246221"/>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Note: Incoming revenue are not included, non-service revenue not included</a:t>
            </a:r>
          </a:p>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graphicFrame>
        <p:nvGraphicFramePr>
          <p:cNvPr id="4" name="Chart 3">
            <a:extLst>
              <a:ext uri="{FF2B5EF4-FFF2-40B4-BE49-F238E27FC236}">
                <a16:creationId xmlns:a16="http://schemas.microsoft.com/office/drawing/2014/main" id="{3C82CF40-F9AE-4F0A-BE25-7C0509E9F61B}"/>
              </a:ext>
            </a:extLst>
          </p:cNvPr>
          <p:cNvGraphicFramePr/>
          <p:nvPr>
            <p:extLst>
              <p:ext uri="{D42A27DB-BD31-4B8C-83A1-F6EECF244321}">
                <p14:modId xmlns:p14="http://schemas.microsoft.com/office/powerpoint/2010/main" val="2582594535"/>
              </p:ext>
            </p:extLst>
          </p:nvPr>
        </p:nvGraphicFramePr>
        <p:xfrm>
          <a:off x="518873" y="1665111"/>
          <a:ext cx="9082324" cy="3366961"/>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CC8D57E8-6A6E-4F8E-8473-80D3FFA11583}"/>
              </a:ext>
            </a:extLst>
          </p:cNvPr>
          <p:cNvSpPr txBox="1"/>
          <p:nvPr/>
        </p:nvSpPr>
        <p:spPr bwMode="gray">
          <a:xfrm>
            <a:off x="3184256" y="1394377"/>
            <a:ext cx="2108956" cy="184666"/>
          </a:xfrm>
          <a:prstGeom prst="rect">
            <a:avLst/>
          </a:prstGeom>
          <a:noFill/>
          <a:ln w="25400" algn="ctr">
            <a:noFill/>
            <a:miter lim="800000"/>
            <a:headEnd/>
            <a:tailEnd/>
          </a:ln>
        </p:spPr>
        <p:txBody>
          <a:bodyPr wrap="square" lIns="0" tIns="0" rIns="0" bIns="0" rtlCol="0" anchor="t">
            <a:spAutoFit/>
          </a:bodyPr>
          <a:lstStyle/>
          <a:p>
            <a:pPr algn="l">
              <a:spcBef>
                <a:spcPts val="600"/>
              </a:spcBef>
              <a:buSzPct val="100000"/>
            </a:pPr>
            <a:r>
              <a:rPr lang="en-US" b="1" dirty="0" err="1">
                <a:solidFill>
                  <a:srgbClr val="FF0000"/>
                </a:solidFill>
                <a:latin typeface="+mn-lt"/>
              </a:rPr>
              <a:t>Maxy</a:t>
            </a:r>
            <a:r>
              <a:rPr lang="en-US" b="1" dirty="0">
                <a:solidFill>
                  <a:srgbClr val="FF0000"/>
                </a:solidFill>
                <a:latin typeface="+mn-lt"/>
              </a:rPr>
              <a:t> revamp learning curve</a:t>
            </a:r>
          </a:p>
        </p:txBody>
      </p:sp>
      <p:sp>
        <p:nvSpPr>
          <p:cNvPr id="13" name="Text Box 9">
            <a:extLst>
              <a:ext uri="{FF2B5EF4-FFF2-40B4-BE49-F238E27FC236}">
                <a16:creationId xmlns:a16="http://schemas.microsoft.com/office/drawing/2014/main" id="{E8D6B93F-3A66-4CBA-B70E-D0F3ACDE9D9F}"/>
              </a:ext>
            </a:extLst>
          </p:cNvPr>
          <p:cNvSpPr txBox="1">
            <a:spLocks noChangeArrowheads="1"/>
          </p:cNvSpPr>
          <p:nvPr/>
        </p:nvSpPr>
        <p:spPr bwMode="gray">
          <a:xfrm>
            <a:off x="304119" y="1134964"/>
            <a:ext cx="5192383" cy="346249"/>
          </a:xfrm>
          <a:prstGeom prst="rect">
            <a:avLst/>
          </a:prstGeom>
          <a:noFill/>
          <a:ln w="25400" algn="ctr">
            <a:noFill/>
            <a:miter lim="800000"/>
            <a:headEnd/>
            <a:tailEnd/>
          </a:ln>
        </p:spPr>
        <p:txBody>
          <a:bodyPr wrap="none" lIns="0" tIns="0" rIns="0" bIns="0">
            <a:spAutoFit/>
          </a:bodyPr>
          <a:lstStyle/>
          <a:p>
            <a:pPr algn="l">
              <a:lnSpc>
                <a:spcPct val="90000"/>
              </a:lnSpc>
              <a:spcBef>
                <a:spcPct val="0"/>
              </a:spcBef>
              <a:buSzPct val="100000"/>
            </a:pPr>
            <a:r>
              <a:rPr lang="en-GB" sz="1500" b="1" dirty="0">
                <a:solidFill>
                  <a:srgbClr val="004B7D"/>
                </a:solidFill>
                <a:latin typeface="+mj-lt"/>
              </a:rPr>
              <a:t>Prepaid service revenue evolution and prepaid data consumption </a:t>
            </a:r>
          </a:p>
          <a:p>
            <a:pPr algn="l">
              <a:lnSpc>
                <a:spcPct val="90000"/>
              </a:lnSpc>
              <a:spcBef>
                <a:spcPct val="0"/>
              </a:spcBef>
              <a:buSzPct val="100000"/>
            </a:pPr>
            <a:r>
              <a:rPr lang="en-GB" sz="1000" dirty="0">
                <a:solidFill>
                  <a:srgbClr val="004B7D"/>
                </a:solidFill>
                <a:latin typeface="+mj-lt"/>
              </a:rPr>
              <a:t>(DA Billions, PB, normalised) </a:t>
            </a:r>
          </a:p>
        </p:txBody>
      </p:sp>
      <p:sp>
        <p:nvSpPr>
          <p:cNvPr id="18" name="Rectangle 17">
            <a:extLst>
              <a:ext uri="{FF2B5EF4-FFF2-40B4-BE49-F238E27FC236}">
                <a16:creationId xmlns:a16="http://schemas.microsoft.com/office/drawing/2014/main" id="{19B711AA-4A56-479A-AFA4-21E761DBF0B8}"/>
              </a:ext>
            </a:extLst>
          </p:cNvPr>
          <p:cNvSpPr/>
          <p:nvPr/>
        </p:nvSpPr>
        <p:spPr bwMode="gray">
          <a:xfrm>
            <a:off x="3184256" y="1665111"/>
            <a:ext cx="2108957" cy="1711455"/>
          </a:xfrm>
          <a:prstGeom prst="rect">
            <a:avLst/>
          </a:prstGeom>
          <a:solidFill>
            <a:srgbClr val="FF0000">
              <a:alpha val="10000"/>
            </a:srgbClr>
          </a:solidFill>
          <a:ln w="12700">
            <a:solidFill>
              <a:srgbClr val="FF0000"/>
            </a:solidFill>
            <a:prstDash val="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sp>
        <p:nvSpPr>
          <p:cNvPr id="21" name="Rectangle 20">
            <a:extLst>
              <a:ext uri="{FF2B5EF4-FFF2-40B4-BE49-F238E27FC236}">
                <a16:creationId xmlns:a16="http://schemas.microsoft.com/office/drawing/2014/main" id="{F25B71E6-290B-48E2-8144-4B89B238A062}"/>
              </a:ext>
            </a:extLst>
          </p:cNvPr>
          <p:cNvSpPr/>
          <p:nvPr/>
        </p:nvSpPr>
        <p:spPr bwMode="gray">
          <a:xfrm>
            <a:off x="5849639" y="1665111"/>
            <a:ext cx="3294361" cy="1711455"/>
          </a:xfrm>
          <a:prstGeom prst="rect">
            <a:avLst/>
          </a:prstGeom>
          <a:solidFill>
            <a:srgbClr val="FFC000">
              <a:alpha val="10000"/>
            </a:srgbClr>
          </a:solidFill>
          <a:ln w="12700">
            <a:solidFill>
              <a:srgbClr val="FFC000"/>
            </a:solidFill>
            <a:prstDash val="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sp>
        <p:nvSpPr>
          <p:cNvPr id="22" name="TextBox 21">
            <a:extLst>
              <a:ext uri="{FF2B5EF4-FFF2-40B4-BE49-F238E27FC236}">
                <a16:creationId xmlns:a16="http://schemas.microsoft.com/office/drawing/2014/main" id="{D213F5BE-1DB4-42BF-B870-4B6C0F421C0D}"/>
              </a:ext>
            </a:extLst>
          </p:cNvPr>
          <p:cNvSpPr txBox="1"/>
          <p:nvPr/>
        </p:nvSpPr>
        <p:spPr bwMode="gray">
          <a:xfrm>
            <a:off x="5851497" y="1394377"/>
            <a:ext cx="3535630" cy="184666"/>
          </a:xfrm>
          <a:prstGeom prst="rect">
            <a:avLst/>
          </a:prstGeom>
          <a:noFill/>
          <a:ln w="25400" algn="ctr">
            <a:noFill/>
            <a:miter lim="800000"/>
            <a:headEnd/>
            <a:tailEnd/>
          </a:ln>
        </p:spPr>
        <p:txBody>
          <a:bodyPr wrap="square" lIns="0" tIns="0" rIns="0" bIns="0" rtlCol="0" anchor="t">
            <a:spAutoFit/>
          </a:bodyPr>
          <a:lstStyle/>
          <a:p>
            <a:pPr algn="l">
              <a:spcBef>
                <a:spcPts val="600"/>
              </a:spcBef>
              <a:buSzPct val="100000"/>
            </a:pPr>
            <a:r>
              <a:rPr lang="en-US" b="1" dirty="0">
                <a:solidFill>
                  <a:srgbClr val="FF0000"/>
                </a:solidFill>
                <a:latin typeface="+mn-lt"/>
              </a:rPr>
              <a:t>Stabilization period after absorbing revamp impact</a:t>
            </a:r>
          </a:p>
        </p:txBody>
      </p:sp>
      <p:sp>
        <p:nvSpPr>
          <p:cNvPr id="23" name="Speech Bubble: Rectangle 22">
            <a:extLst>
              <a:ext uri="{FF2B5EF4-FFF2-40B4-BE49-F238E27FC236}">
                <a16:creationId xmlns:a16="http://schemas.microsoft.com/office/drawing/2014/main" id="{43FC2145-D899-4837-B069-6B88340BAF1B}"/>
              </a:ext>
            </a:extLst>
          </p:cNvPr>
          <p:cNvSpPr/>
          <p:nvPr/>
        </p:nvSpPr>
        <p:spPr bwMode="gray">
          <a:xfrm>
            <a:off x="1893191" y="5055164"/>
            <a:ext cx="3400021" cy="1208238"/>
          </a:xfrm>
          <a:prstGeom prst="wedgeRectCallout">
            <a:avLst>
              <a:gd name="adj1" fmla="val -9328"/>
              <a:gd name="adj2" fmla="val -55990"/>
            </a:avLst>
          </a:prstGeom>
          <a:solidFill>
            <a:srgbClr val="FF0000">
              <a:alpha val="50196"/>
            </a:srgbClr>
          </a:solidFill>
          <a:ln w="12700">
            <a:noFill/>
            <a:prstDash val="solid"/>
            <a:miter lim="800000"/>
            <a:headEnd/>
            <a:tailEnd/>
          </a:ln>
          <a:effectLst/>
        </p:spPr>
        <p:txBody>
          <a:bodyPr wrap="square" lIns="108000" tIns="72000" rIns="108000" bIns="72000" rtlCol="0" anchor="ctr" anchorCtr="0">
            <a:noAutofit/>
          </a:bodyPr>
          <a:lstStyle/>
          <a:p>
            <a:pPr algn="l" defTabSz="900113" eaLnBrk="1" hangingPunct="1">
              <a:spcBef>
                <a:spcPts val="0"/>
              </a:spcBef>
              <a:spcAft>
                <a:spcPts val="0"/>
              </a:spcAft>
              <a:buSzTx/>
            </a:pPr>
            <a:r>
              <a:rPr lang="en-US" b="1" dirty="0" err="1">
                <a:solidFill>
                  <a:schemeClr val="tx1"/>
                </a:solidFill>
                <a:latin typeface="+mj-lt"/>
                <a:ea typeface="ＭＳ Ｐゴシック" pitchFamily="-108" charset="-128"/>
                <a:sym typeface="Trebuchet MS" panose="020B0603020202020204" pitchFamily="34" charset="0"/>
              </a:rPr>
              <a:t>Maxy</a:t>
            </a:r>
            <a:r>
              <a:rPr lang="en-US" b="1" dirty="0">
                <a:solidFill>
                  <a:schemeClr val="tx1"/>
                </a:solidFill>
                <a:latin typeface="+mj-lt"/>
                <a:ea typeface="ＭＳ Ｐゴシック" pitchFamily="-108" charset="-128"/>
                <a:sym typeface="Trebuchet MS" panose="020B0603020202020204" pitchFamily="34" charset="0"/>
              </a:rPr>
              <a:t> offers revamp for new &amp; existing</a:t>
            </a:r>
          </a:p>
          <a:p>
            <a:pPr marL="171450" indent="-171450" algn="l" defTabSz="900113" eaLnBrk="1" hangingPunct="1">
              <a:spcBef>
                <a:spcPts val="0"/>
              </a:spcBef>
              <a:spcAft>
                <a:spcPts val="0"/>
              </a:spcAft>
              <a:buSzTx/>
              <a:buFontTx/>
              <a:buChar char="-"/>
            </a:pPr>
            <a:r>
              <a:rPr lang="en-US" dirty="0">
                <a:solidFill>
                  <a:schemeClr val="tx1"/>
                </a:solidFill>
                <a:latin typeface="+mj-lt"/>
                <a:ea typeface="ＭＳ Ｐゴシック" pitchFamily="-108" charset="-128"/>
                <a:sym typeface="Trebuchet MS" panose="020B0603020202020204" pitchFamily="34" charset="0"/>
              </a:rPr>
              <a:t>Revamp of </a:t>
            </a:r>
            <a:r>
              <a:rPr lang="en-US" dirty="0" err="1">
                <a:solidFill>
                  <a:schemeClr val="tx1"/>
                </a:solidFill>
                <a:latin typeface="+mj-lt"/>
                <a:ea typeface="ＭＳ Ｐゴシック" pitchFamily="-108" charset="-128"/>
                <a:sym typeface="Trebuchet MS" panose="020B0603020202020204" pitchFamily="34" charset="0"/>
              </a:rPr>
              <a:t>Maxy</a:t>
            </a:r>
            <a:r>
              <a:rPr lang="en-US" dirty="0">
                <a:solidFill>
                  <a:schemeClr val="tx1"/>
                </a:solidFill>
                <a:latin typeface="+mj-lt"/>
                <a:ea typeface="ＭＳ Ｐゴシック" pitchFamily="-108" charset="-128"/>
                <a:sym typeface="Trebuchet MS" panose="020B0603020202020204" pitchFamily="34" charset="0"/>
              </a:rPr>
              <a:t> and New Weekly 500</a:t>
            </a:r>
          </a:p>
          <a:p>
            <a:pPr marL="171450" indent="-171450" algn="l" defTabSz="900113" eaLnBrk="1" hangingPunct="1">
              <a:spcBef>
                <a:spcPts val="0"/>
              </a:spcBef>
              <a:spcAft>
                <a:spcPts val="0"/>
              </a:spcAft>
              <a:buSzTx/>
              <a:buFontTx/>
              <a:buChar char="-"/>
            </a:pPr>
            <a:r>
              <a:rPr lang="en-US" dirty="0">
                <a:solidFill>
                  <a:schemeClr val="tx1"/>
                </a:solidFill>
                <a:latin typeface="+mj-lt"/>
                <a:ea typeface="ＭＳ Ｐゴシック" pitchFamily="-108" charset="-128"/>
                <a:sym typeface="Trebuchet MS" panose="020B0603020202020204" pitchFamily="34" charset="0"/>
              </a:rPr>
              <a:t>Revamp </a:t>
            </a:r>
            <a:r>
              <a:rPr lang="en-US" dirty="0" err="1">
                <a:solidFill>
                  <a:schemeClr val="tx1"/>
                </a:solidFill>
                <a:latin typeface="+mj-lt"/>
                <a:ea typeface="ＭＳ Ｐゴシック" pitchFamily="-108" charset="-128"/>
                <a:sym typeface="Trebuchet MS" panose="020B0603020202020204" pitchFamily="34" charset="0"/>
              </a:rPr>
              <a:t>Maxy</a:t>
            </a:r>
            <a:r>
              <a:rPr lang="en-US" dirty="0">
                <a:solidFill>
                  <a:schemeClr val="tx1"/>
                </a:solidFill>
                <a:latin typeface="+mj-lt"/>
                <a:ea typeface="ＭＳ Ｐゴシック" pitchFamily="-108" charset="-128"/>
                <a:sym typeface="Trebuchet MS" panose="020B0603020202020204" pitchFamily="34" charset="0"/>
              </a:rPr>
              <a:t> internet from 2GB to 4GB + unlimited FB</a:t>
            </a:r>
          </a:p>
          <a:p>
            <a:pPr marL="171450" indent="-171450" algn="l" defTabSz="900113" eaLnBrk="1" hangingPunct="1">
              <a:spcBef>
                <a:spcPts val="0"/>
              </a:spcBef>
              <a:spcAft>
                <a:spcPts val="0"/>
              </a:spcAft>
              <a:buSzTx/>
              <a:buFontTx/>
              <a:buChar char="-"/>
            </a:pPr>
            <a:r>
              <a:rPr lang="en-US" dirty="0" err="1">
                <a:solidFill>
                  <a:schemeClr val="tx1"/>
                </a:solidFill>
                <a:latin typeface="+mj-lt"/>
                <a:ea typeface="ＭＳ Ｐゴシック" pitchFamily="-108" charset="-128"/>
                <a:sym typeface="Trebuchet MS" panose="020B0603020202020204" pitchFamily="34" charset="0"/>
              </a:rPr>
              <a:t>Maxy</a:t>
            </a:r>
            <a:r>
              <a:rPr lang="en-US" dirty="0">
                <a:solidFill>
                  <a:schemeClr val="tx1"/>
                </a:solidFill>
                <a:latin typeface="+mj-lt"/>
                <a:ea typeface="ＭＳ Ｐゴシック" pitchFamily="-108" charset="-128"/>
                <a:sym typeface="Trebuchet MS" panose="020B0603020202020204" pitchFamily="34" charset="0"/>
              </a:rPr>
              <a:t> </a:t>
            </a:r>
            <a:r>
              <a:rPr lang="en-US" dirty="0" err="1">
                <a:solidFill>
                  <a:schemeClr val="tx1"/>
                </a:solidFill>
                <a:latin typeface="+mj-lt"/>
                <a:ea typeface="ＭＳ Ｐゴシック" pitchFamily="-108" charset="-128"/>
                <a:sym typeface="Trebuchet MS" panose="020B0603020202020204" pitchFamily="34" charset="0"/>
              </a:rPr>
              <a:t>Hadra</a:t>
            </a:r>
            <a:r>
              <a:rPr lang="en-US" dirty="0">
                <a:solidFill>
                  <a:schemeClr val="tx1"/>
                </a:solidFill>
                <a:latin typeface="+mj-lt"/>
                <a:ea typeface="ＭＳ Ｐゴシック" pitchFamily="-108" charset="-128"/>
                <a:sym typeface="Trebuchet MS" panose="020B0603020202020204" pitchFamily="34" charset="0"/>
              </a:rPr>
              <a:t> now 24H unlimited onnet</a:t>
            </a:r>
          </a:p>
          <a:p>
            <a:pPr marL="171450" indent="-171450" algn="l" defTabSz="900113" eaLnBrk="1" hangingPunct="1">
              <a:spcBef>
                <a:spcPts val="0"/>
              </a:spcBef>
              <a:spcAft>
                <a:spcPts val="0"/>
              </a:spcAft>
              <a:buSzTx/>
              <a:buFontTx/>
              <a:buChar char="-"/>
            </a:pPr>
            <a:r>
              <a:rPr lang="en-US" dirty="0">
                <a:solidFill>
                  <a:schemeClr val="tx1"/>
                </a:solidFill>
                <a:latin typeface="+mj-lt"/>
                <a:ea typeface="ＭＳ Ｐゴシック" pitchFamily="-108" charset="-128"/>
                <a:sym typeface="Trebuchet MS" panose="020B0603020202020204" pitchFamily="34" charset="0"/>
              </a:rPr>
              <a:t>Super </a:t>
            </a:r>
            <a:r>
              <a:rPr lang="en-US" dirty="0" err="1">
                <a:solidFill>
                  <a:schemeClr val="tx1"/>
                </a:solidFill>
                <a:latin typeface="+mj-lt"/>
                <a:ea typeface="ＭＳ Ｐゴシック" pitchFamily="-108" charset="-128"/>
                <a:sym typeface="Trebuchet MS" panose="020B0603020202020204" pitchFamily="34" charset="0"/>
              </a:rPr>
              <a:t>Maxy</a:t>
            </a:r>
            <a:endParaRPr lang="en-US" dirty="0">
              <a:solidFill>
                <a:schemeClr val="tx1"/>
              </a:solidFill>
              <a:latin typeface="+mj-lt"/>
              <a:ea typeface="ＭＳ Ｐゴシック" pitchFamily="-108" charset="-128"/>
              <a:sym typeface="Trebuchet MS" panose="020B0603020202020204" pitchFamily="34" charset="0"/>
            </a:endParaRPr>
          </a:p>
        </p:txBody>
      </p:sp>
      <p:grpSp>
        <p:nvGrpSpPr>
          <p:cNvPr id="12" name="Group 11">
            <a:extLst>
              <a:ext uri="{FF2B5EF4-FFF2-40B4-BE49-F238E27FC236}">
                <a16:creationId xmlns:a16="http://schemas.microsoft.com/office/drawing/2014/main" id="{2326419D-B06F-41A0-A9DB-1EA32FA0960E}"/>
              </a:ext>
            </a:extLst>
          </p:cNvPr>
          <p:cNvGrpSpPr/>
          <p:nvPr/>
        </p:nvGrpSpPr>
        <p:grpSpPr>
          <a:xfrm>
            <a:off x="7254068" y="6544089"/>
            <a:ext cx="728904" cy="252000"/>
            <a:chOff x="7005593" y="6563968"/>
            <a:chExt cx="728904" cy="252000"/>
          </a:xfrm>
        </p:grpSpPr>
        <p:pic>
          <p:nvPicPr>
            <p:cNvPr id="14" name="Picture 7" descr="C:\Users\amorales\Downloads\IconShock SuperVista VideoProduction\png\play_256.png">
              <a:hlinkClick r:id="rId3" action="ppaction://hlinksldjump"/>
              <a:extLst>
                <a:ext uri="{FF2B5EF4-FFF2-40B4-BE49-F238E27FC236}">
                  <a16:creationId xmlns:a16="http://schemas.microsoft.com/office/drawing/2014/main" id="{A2762F30-DE4A-44AF-9A68-19E3FEE285D5}"/>
                </a:ext>
              </a:extLst>
            </p:cNvPr>
            <p:cNvPicPr>
              <a:picLocks noChangeAspect="1" noChangeArrowheads="1"/>
            </p:cNvPicPr>
            <p:nvPr/>
          </p:nvPicPr>
          <p:blipFill>
            <a:blip r:embed="rId4">
              <a:duotone>
                <a:prstClr val="black"/>
                <a:srgbClr val="6693B1">
                  <a:tint val="45000"/>
                  <a:satMod val="400000"/>
                </a:srgbClr>
              </a:duotone>
              <a:extLst>
                <a:ext uri="{BEBA8EAE-BF5A-486C-A8C5-ECC9F3942E4B}">
                  <a14:imgProps xmlns:a14="http://schemas.microsoft.com/office/drawing/2010/main">
                    <a14:imgLayer r:embed="rId5">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15" name="TextBox 14">
              <a:extLst>
                <a:ext uri="{FF2B5EF4-FFF2-40B4-BE49-F238E27FC236}">
                  <a16:creationId xmlns:a16="http://schemas.microsoft.com/office/drawing/2014/main" id="{1A5C3DCB-2E15-47D0-865D-C9FF7FC9AB15}"/>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Tree>
    <p:extLst>
      <p:ext uri="{BB962C8B-B14F-4D97-AF65-F5344CB8AC3E}">
        <p14:creationId xmlns:p14="http://schemas.microsoft.com/office/powerpoint/2010/main" val="3519703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30A04-A7C1-4F8C-97D4-F184E40377BA}"/>
              </a:ext>
            </a:extLst>
          </p:cNvPr>
          <p:cNvSpPr>
            <a:spLocks noGrp="1"/>
          </p:cNvSpPr>
          <p:nvPr>
            <p:ph type="title"/>
          </p:nvPr>
        </p:nvSpPr>
        <p:spPr/>
        <p:txBody>
          <a:bodyPr/>
          <a:lstStyle/>
          <a:p>
            <a:r>
              <a:rPr lang="en-US" dirty="0"/>
              <a:t>A great majority of the customers in the base in December 2017 have migrated to lower value segments or churned out, including GA</a:t>
            </a:r>
          </a:p>
        </p:txBody>
      </p:sp>
      <p:sp>
        <p:nvSpPr>
          <p:cNvPr id="3" name="Text Box 9">
            <a:extLst>
              <a:ext uri="{FF2B5EF4-FFF2-40B4-BE49-F238E27FC236}">
                <a16:creationId xmlns:a16="http://schemas.microsoft.com/office/drawing/2014/main" id="{210AF906-8870-48F0-A7CA-F3C7AF305EBC}"/>
              </a:ext>
            </a:extLst>
          </p:cNvPr>
          <p:cNvSpPr txBox="1">
            <a:spLocks noChangeArrowheads="1"/>
          </p:cNvSpPr>
          <p:nvPr/>
        </p:nvSpPr>
        <p:spPr bwMode="gray">
          <a:xfrm>
            <a:off x="506792" y="1038970"/>
            <a:ext cx="7938138" cy="193899"/>
          </a:xfrm>
          <a:prstGeom prst="rect">
            <a:avLst/>
          </a:prstGeom>
          <a:noFill/>
          <a:ln w="25400" algn="ctr">
            <a:noFill/>
            <a:miter lim="800000"/>
            <a:headEnd/>
            <a:tailEnd/>
          </a:ln>
          <a:extLst>
            <a:ext uri="{909E8E84-426E-40DD-AFC4-6F175D3DCCD1}">
              <a14:hiddenFill xmlns:a14="http://schemas.microsoft.com/office/drawing/2010/main">
                <a:pattFill>
                  <a:fgClr>
                    <a:srgbClr val="000000"/>
                  </a:fgClr>
                  <a:bgClr>
                    <a:srgbClr val="000000"/>
                  </a:bgClr>
                </a:pattFill>
              </a14:hiddenFill>
            </a:ext>
          </a:extLst>
        </p:spPr>
        <p:txBody>
          <a:bodyPr wrap="square" lIns="0" tIns="0" rIns="0" bIns="0">
            <a:spAutoFit/>
          </a:bodyPr>
          <a:lstStyle/>
          <a:p>
            <a:pPr algn="l">
              <a:lnSpc>
                <a:spcPct val="90000"/>
              </a:lnSpc>
              <a:spcBef>
                <a:spcPct val="0"/>
              </a:spcBef>
              <a:buSzPct val="100000"/>
            </a:pPr>
            <a:r>
              <a:rPr lang="en-GB" sz="1400" b="1" dirty="0">
                <a:solidFill>
                  <a:srgbClr val="004B7D"/>
                </a:solidFill>
                <a:latin typeface="+mj-lt"/>
              </a:rPr>
              <a:t>High Value customers migration matrix</a:t>
            </a:r>
            <a:endParaRPr lang="en-GB" sz="1000" dirty="0">
              <a:solidFill>
                <a:srgbClr val="004B7D"/>
              </a:solidFill>
              <a:latin typeface="+mj-lt"/>
            </a:endParaRPr>
          </a:p>
        </p:txBody>
      </p:sp>
      <p:sp>
        <p:nvSpPr>
          <p:cNvPr id="8" name="Rectangle 7">
            <a:extLst>
              <a:ext uri="{FF2B5EF4-FFF2-40B4-BE49-F238E27FC236}">
                <a16:creationId xmlns:a16="http://schemas.microsoft.com/office/drawing/2014/main" id="{435E95A6-EC78-4AAB-B0CC-91C8FBC2F449}"/>
              </a:ext>
            </a:extLst>
          </p:cNvPr>
          <p:cNvSpPr/>
          <p:nvPr/>
        </p:nvSpPr>
        <p:spPr bwMode="gray">
          <a:xfrm>
            <a:off x="2663687" y="3756504"/>
            <a:ext cx="2574235" cy="1451113"/>
          </a:xfrm>
          <a:prstGeom prst="rect">
            <a:avLst/>
          </a:prstGeom>
          <a:noFill/>
          <a:ln w="19050">
            <a:solidFill>
              <a:srgbClr val="FF0000"/>
            </a:solidFill>
            <a:prstDash val="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sp>
        <p:nvSpPr>
          <p:cNvPr id="10" name="TextBox 9">
            <a:extLst>
              <a:ext uri="{FF2B5EF4-FFF2-40B4-BE49-F238E27FC236}">
                <a16:creationId xmlns:a16="http://schemas.microsoft.com/office/drawing/2014/main" id="{BFED63F4-1305-4C13-997F-82F30EF11004}"/>
              </a:ext>
            </a:extLst>
          </p:cNvPr>
          <p:cNvSpPr txBox="1"/>
          <p:nvPr/>
        </p:nvSpPr>
        <p:spPr>
          <a:xfrm>
            <a:off x="304800" y="6409604"/>
            <a:ext cx="9296400" cy="123111"/>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graphicFrame>
        <p:nvGraphicFramePr>
          <p:cNvPr id="12" name="Table 11">
            <a:extLst>
              <a:ext uri="{FF2B5EF4-FFF2-40B4-BE49-F238E27FC236}">
                <a16:creationId xmlns:a16="http://schemas.microsoft.com/office/drawing/2014/main" id="{DFD6A131-3D23-407D-9AE8-27388AC1C88D}"/>
              </a:ext>
            </a:extLst>
          </p:cNvPr>
          <p:cNvGraphicFramePr>
            <a:graphicFrameLocks noGrp="1"/>
          </p:cNvGraphicFramePr>
          <p:nvPr>
            <p:extLst/>
          </p:nvPr>
        </p:nvGraphicFramePr>
        <p:xfrm>
          <a:off x="403760" y="1483598"/>
          <a:ext cx="9094414" cy="4225185"/>
        </p:xfrm>
        <a:graphic>
          <a:graphicData uri="http://schemas.openxmlformats.org/drawingml/2006/table">
            <a:tbl>
              <a:tblPr/>
              <a:tblGrid>
                <a:gridCol w="628207">
                  <a:extLst>
                    <a:ext uri="{9D8B030D-6E8A-4147-A177-3AD203B41FA5}">
                      <a16:colId xmlns:a16="http://schemas.microsoft.com/office/drawing/2014/main" val="20000"/>
                    </a:ext>
                  </a:extLst>
                </a:gridCol>
                <a:gridCol w="951378">
                  <a:extLst>
                    <a:ext uri="{9D8B030D-6E8A-4147-A177-3AD203B41FA5}">
                      <a16:colId xmlns:a16="http://schemas.microsoft.com/office/drawing/2014/main" val="20001"/>
                    </a:ext>
                  </a:extLst>
                </a:gridCol>
                <a:gridCol w="1073547">
                  <a:extLst>
                    <a:ext uri="{9D8B030D-6E8A-4147-A177-3AD203B41FA5}">
                      <a16:colId xmlns:a16="http://schemas.microsoft.com/office/drawing/2014/main" val="20002"/>
                    </a:ext>
                  </a:extLst>
                </a:gridCol>
                <a:gridCol w="1073547">
                  <a:extLst>
                    <a:ext uri="{9D8B030D-6E8A-4147-A177-3AD203B41FA5}">
                      <a16:colId xmlns:a16="http://schemas.microsoft.com/office/drawing/2014/main" val="20003"/>
                    </a:ext>
                  </a:extLst>
                </a:gridCol>
                <a:gridCol w="1073547">
                  <a:extLst>
                    <a:ext uri="{9D8B030D-6E8A-4147-A177-3AD203B41FA5}">
                      <a16:colId xmlns:a16="http://schemas.microsoft.com/office/drawing/2014/main" val="20004"/>
                    </a:ext>
                  </a:extLst>
                </a:gridCol>
                <a:gridCol w="1073547">
                  <a:extLst>
                    <a:ext uri="{9D8B030D-6E8A-4147-A177-3AD203B41FA5}">
                      <a16:colId xmlns:a16="http://schemas.microsoft.com/office/drawing/2014/main" val="20005"/>
                    </a:ext>
                  </a:extLst>
                </a:gridCol>
                <a:gridCol w="1073547">
                  <a:extLst>
                    <a:ext uri="{9D8B030D-6E8A-4147-A177-3AD203B41FA5}">
                      <a16:colId xmlns:a16="http://schemas.microsoft.com/office/drawing/2014/main" val="20006"/>
                    </a:ext>
                  </a:extLst>
                </a:gridCol>
                <a:gridCol w="1073547">
                  <a:extLst>
                    <a:ext uri="{9D8B030D-6E8A-4147-A177-3AD203B41FA5}">
                      <a16:colId xmlns:a16="http://schemas.microsoft.com/office/drawing/2014/main" val="3618969871"/>
                    </a:ext>
                  </a:extLst>
                </a:gridCol>
                <a:gridCol w="1073547">
                  <a:extLst>
                    <a:ext uri="{9D8B030D-6E8A-4147-A177-3AD203B41FA5}">
                      <a16:colId xmlns:a16="http://schemas.microsoft.com/office/drawing/2014/main" val="3269634189"/>
                    </a:ext>
                  </a:extLst>
                </a:gridCol>
              </a:tblGrid>
              <a:tr h="349833">
                <a:tc>
                  <a:txBody>
                    <a:bodyPr/>
                    <a:lstStyle/>
                    <a:p>
                      <a:pPr algn="l" fontAlgn="b"/>
                      <a:endParaRPr lang="en-GB" sz="1800" b="0" i="0" u="none" strike="noStrike" dirty="0">
                        <a:solidFill>
                          <a:srgbClr val="000000"/>
                        </a:solidFill>
                        <a:latin typeface="+mj-lt"/>
                      </a:endParaRPr>
                    </a:p>
                  </a:txBody>
                  <a:tcPr marL="0" marR="0" marT="0" marB="0" anchor="b">
                    <a:lnL>
                      <a:noFill/>
                    </a:lnL>
                    <a:lnR>
                      <a:noFill/>
                    </a:lnR>
                    <a:lnT>
                      <a:noFill/>
                    </a:lnT>
                    <a:lnB>
                      <a:noFill/>
                    </a:lnB>
                  </a:tcPr>
                </a:tc>
                <a:tc>
                  <a:txBody>
                    <a:bodyPr/>
                    <a:lstStyle/>
                    <a:p>
                      <a:pPr algn="ctr" fontAlgn="b"/>
                      <a:r>
                        <a:rPr lang="en-GB" sz="1800" b="0" i="0" u="none" strike="noStrike" dirty="0">
                          <a:solidFill>
                            <a:srgbClr val="000000"/>
                          </a:solidFill>
                          <a:latin typeface="+mj-lt"/>
                        </a:rPr>
                        <a:t> </a:t>
                      </a:r>
                    </a:p>
                  </a:txBody>
                  <a:tcPr marL="0" marR="0" marT="0" marB="0" anchor="b">
                    <a:lnL>
                      <a:noFill/>
                    </a:lnL>
                    <a:lnR w="12700" cap="flat" cmpd="sng" algn="ctr">
                      <a:solidFill>
                        <a:srgbClr val="919191"/>
                      </a:solidFill>
                      <a:prstDash val="solid"/>
                      <a:round/>
                      <a:headEnd type="none" w="med" len="med"/>
                      <a:tailEnd type="none" w="med" len="med"/>
                    </a:lnR>
                    <a:lnT>
                      <a:noFill/>
                    </a:lnT>
                    <a:lnB>
                      <a:noFill/>
                    </a:lnB>
                  </a:tcPr>
                </a:tc>
                <a:tc gridSpan="7">
                  <a:txBody>
                    <a:bodyPr/>
                    <a:lstStyle/>
                    <a:p>
                      <a:pPr algn="ctr" rtl="0" fontAlgn="ctr"/>
                      <a:r>
                        <a:rPr lang="en-GB" sz="1200" b="1" i="0" u="none" strike="noStrike" dirty="0">
                          <a:solidFill>
                            <a:srgbClr val="FFFFFF"/>
                          </a:solidFill>
                          <a:latin typeface="+mj-lt"/>
                        </a:rPr>
                        <a:t>December 2018</a:t>
                      </a:r>
                    </a:p>
                  </a:txBody>
                  <a:tcPr marL="36000" marR="36000" marT="36000" marB="3600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004B7D"/>
                    </a:solidFill>
                  </a:tcPr>
                </a:tc>
                <a:tc hMerge="1">
                  <a:txBody>
                    <a:bodyPr/>
                    <a:lstStyle/>
                    <a:p>
                      <a:endParaRPr lang="en-GB"/>
                    </a:p>
                  </a:txBody>
                  <a:tcPr/>
                </a:tc>
                <a:tc hMerge="1">
                  <a:txBody>
                    <a:bodyPr/>
                    <a:lstStyle/>
                    <a:p>
                      <a:endParaRPr lang="en-GB"/>
                    </a:p>
                  </a:txBody>
                  <a:tcPr/>
                </a:tc>
                <a:tc hMerge="1">
                  <a:txBody>
                    <a:bodyPr/>
                    <a:lstStyle/>
                    <a:p>
                      <a:pPr algn="ctr" rtl="0" fontAlgn="ctr"/>
                      <a:endParaRPr lang="en-GB" sz="1200" b="1" i="0" u="none" strike="noStrike" dirty="0">
                        <a:solidFill>
                          <a:srgbClr val="FFFFFF"/>
                        </a:solidFill>
                        <a:latin typeface="Trebuchet MS"/>
                      </a:endParaRPr>
                    </a:p>
                  </a:txBody>
                  <a:tcPr marL="36000" marR="36000" marT="36000" marB="3600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004B7D"/>
                    </a:solidFill>
                  </a:tcPr>
                </a:tc>
                <a:tc hMerge="1">
                  <a:txBody>
                    <a:bodyPr/>
                    <a:lstStyle/>
                    <a:p>
                      <a:endParaRPr lang="en-GB"/>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98104">
                <a:tc>
                  <a:txBody>
                    <a:bodyPr/>
                    <a:lstStyle/>
                    <a:p>
                      <a:pPr algn="l" fontAlgn="b"/>
                      <a:r>
                        <a:rPr lang="en-GB" sz="1800" b="0" i="0" u="none" strike="noStrike" dirty="0">
                          <a:solidFill>
                            <a:srgbClr val="000000"/>
                          </a:solidFill>
                          <a:latin typeface="+mj-lt"/>
                        </a:rPr>
                        <a:t> </a:t>
                      </a:r>
                    </a:p>
                  </a:txBody>
                  <a:tcPr marL="0" marR="0" marT="0" marB="0" anchor="b">
                    <a:lnL>
                      <a:noFill/>
                    </a:lnL>
                    <a:lnR>
                      <a:noFill/>
                    </a:lnR>
                    <a:lnT>
                      <a:noFill/>
                    </a:lnT>
                    <a:lnB w="12700" cap="flat" cmpd="sng" algn="ctr">
                      <a:solidFill>
                        <a:srgbClr val="919191"/>
                      </a:solidFill>
                      <a:prstDash val="solid"/>
                      <a:round/>
                      <a:headEnd type="none" w="med" len="med"/>
                      <a:tailEnd type="none" w="med" len="med"/>
                    </a:lnB>
                  </a:tcPr>
                </a:tc>
                <a:tc>
                  <a:txBody>
                    <a:bodyPr/>
                    <a:lstStyle/>
                    <a:p>
                      <a:pPr algn="ctr" fontAlgn="b"/>
                      <a:r>
                        <a:rPr lang="en-GB" sz="1800" b="0" i="0" u="none" strike="noStrike" dirty="0">
                          <a:solidFill>
                            <a:srgbClr val="000000"/>
                          </a:solidFill>
                          <a:latin typeface="+mj-lt"/>
                        </a:rPr>
                        <a:t> </a:t>
                      </a:r>
                    </a:p>
                  </a:txBody>
                  <a:tcPr marL="0" marR="0" marT="0" marB="0" anchor="b">
                    <a:lnL>
                      <a:noFill/>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tcPr>
                </a:tc>
                <a:tc>
                  <a:txBody>
                    <a:bodyPr/>
                    <a:lstStyle/>
                    <a:p>
                      <a:pPr algn="ctr" rtl="0" fontAlgn="b"/>
                      <a:r>
                        <a:rPr lang="en-GB" sz="1200" b="1" i="0" u="none" strike="noStrike" dirty="0">
                          <a:solidFill>
                            <a:srgbClr val="000000"/>
                          </a:solidFill>
                          <a:latin typeface="+mj-lt"/>
                        </a:rPr>
                        <a:t>High</a:t>
                      </a:r>
                    </a:p>
                  </a:txBody>
                  <a:tcPr marL="36000" marR="36000" marT="36000" marB="3600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rtl="0" fontAlgn="b"/>
                      <a:r>
                        <a:rPr lang="en-GB" sz="1200" b="1" i="0" u="none" strike="noStrike" dirty="0">
                          <a:solidFill>
                            <a:srgbClr val="000000"/>
                          </a:solidFill>
                          <a:latin typeface="+mj-lt"/>
                        </a:rPr>
                        <a:t>Medium</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rtl="0" fontAlgn="b"/>
                      <a:r>
                        <a:rPr lang="en-GB" sz="1200" b="1" i="0" u="none" strike="noStrike" dirty="0">
                          <a:solidFill>
                            <a:srgbClr val="000000"/>
                          </a:solidFill>
                          <a:latin typeface="+mj-lt"/>
                        </a:rPr>
                        <a:t>Low</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rtl="0" fontAlgn="b"/>
                      <a:r>
                        <a:rPr lang="en-GB" sz="1200" b="1" i="0" u="none" strike="noStrike" dirty="0">
                          <a:solidFill>
                            <a:srgbClr val="000000"/>
                          </a:solidFill>
                          <a:latin typeface="+mj-lt"/>
                        </a:rPr>
                        <a:t>Very Low</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rtl="0" fontAlgn="b"/>
                      <a:r>
                        <a:rPr lang="en-GB" sz="1200" b="1" i="0" u="none" strike="noStrike" dirty="0">
                          <a:solidFill>
                            <a:srgbClr val="000000"/>
                          </a:solidFill>
                          <a:latin typeface="+mj-lt"/>
                        </a:rPr>
                        <a:t>Zero</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rtl="0" fontAlgn="b"/>
                      <a:r>
                        <a:rPr lang="en-GB" sz="1200" b="1" i="0" u="none" strike="noStrike" dirty="0">
                          <a:solidFill>
                            <a:srgbClr val="000000"/>
                          </a:solidFill>
                          <a:latin typeface="+mj-lt"/>
                        </a:rPr>
                        <a:t>Churn</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rtl="0" fontAlgn="b"/>
                      <a:r>
                        <a:rPr lang="en-GB" sz="1200" b="1" i="0" u="none" strike="noStrike" dirty="0">
                          <a:solidFill>
                            <a:srgbClr val="000000"/>
                          </a:solidFill>
                          <a:latin typeface="+mj-lt"/>
                        </a:rPr>
                        <a:t>‘000 </a:t>
                      </a:r>
                      <a:r>
                        <a:rPr lang="en-GB" sz="1200" b="1" i="0" u="none" strike="noStrike" dirty="0" err="1">
                          <a:solidFill>
                            <a:srgbClr val="000000"/>
                          </a:solidFill>
                          <a:latin typeface="+mj-lt"/>
                        </a:rPr>
                        <a:t>cust</a:t>
                      </a:r>
                      <a:endParaRPr lang="en-GB" sz="1200" b="1" i="0" u="none" strike="noStrike" dirty="0">
                        <a:solidFill>
                          <a:srgbClr val="000000"/>
                        </a:solidFill>
                        <a:latin typeface="+mj-lt"/>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1"/>
                  </a:ext>
                </a:extLst>
              </a:tr>
              <a:tr h="298104">
                <a:tc rowSpan="12">
                  <a:txBody>
                    <a:bodyPr/>
                    <a:lstStyle/>
                    <a:p>
                      <a:pPr algn="ctr" rtl="0" fontAlgn="ctr"/>
                      <a:r>
                        <a:rPr lang="en-GB" sz="1200" b="1" i="0" u="none" strike="noStrike" dirty="0">
                          <a:solidFill>
                            <a:srgbClr val="FFFFFF"/>
                          </a:solidFill>
                          <a:latin typeface="+mj-lt"/>
                        </a:rPr>
                        <a:t>December 2017</a:t>
                      </a:r>
                    </a:p>
                  </a:txBody>
                  <a:tcPr marL="0" marR="0" marT="0" marB="0" vert="vert27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004B7D"/>
                    </a:solidFill>
                  </a:tcPr>
                </a:tc>
                <a:tc rowSpan="2">
                  <a:txBody>
                    <a:bodyPr/>
                    <a:lstStyle/>
                    <a:p>
                      <a:pPr algn="ctr" rtl="0" fontAlgn="b"/>
                      <a:r>
                        <a:rPr lang="en-GB" sz="1200" b="1" i="0" u="none" strike="noStrike" dirty="0">
                          <a:solidFill>
                            <a:srgbClr val="000000"/>
                          </a:solidFill>
                          <a:latin typeface="+mj-lt"/>
                        </a:rPr>
                        <a:t>High</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fontAlgn="b"/>
                      <a:r>
                        <a:rPr lang="en-US" sz="1400" b="1" i="0" u="none" strike="noStrike" kern="1200" dirty="0">
                          <a:solidFill>
                            <a:srgbClr val="000000"/>
                          </a:solidFill>
                          <a:effectLst/>
                          <a:latin typeface="+mj-lt"/>
                          <a:ea typeface="+mn-ea"/>
                          <a:cs typeface="+mn-cs"/>
                        </a:rPr>
                        <a:t>37%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EE082"/>
                    </a:solidFill>
                  </a:tcPr>
                </a:tc>
                <a:tc>
                  <a:txBody>
                    <a:bodyPr/>
                    <a:lstStyle/>
                    <a:p>
                      <a:pPr algn="ctr" fontAlgn="b"/>
                      <a:r>
                        <a:rPr lang="en-US" sz="1400" b="1" i="0" u="none" strike="noStrike" kern="1200" dirty="0">
                          <a:solidFill>
                            <a:srgbClr val="000000"/>
                          </a:solidFill>
                          <a:effectLst/>
                          <a:latin typeface="+mj-lt"/>
                          <a:ea typeface="+mn-ea"/>
                          <a:cs typeface="+mn-cs"/>
                        </a:rPr>
                        <a:t>24%</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CBE7B"/>
                    </a:solidFill>
                  </a:tcPr>
                </a:tc>
                <a:tc>
                  <a:txBody>
                    <a:bodyPr/>
                    <a:lstStyle/>
                    <a:p>
                      <a:pPr algn="ctr" fontAlgn="b"/>
                      <a:r>
                        <a:rPr lang="en-US" sz="1400" b="1" i="0" u="none" strike="noStrike" kern="1200" dirty="0">
                          <a:solidFill>
                            <a:srgbClr val="000000"/>
                          </a:solidFill>
                          <a:effectLst/>
                          <a:latin typeface="+mj-lt"/>
                          <a:ea typeface="+mn-ea"/>
                          <a:cs typeface="+mn-cs"/>
                        </a:rPr>
                        <a:t>10%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BA877"/>
                    </a:solidFill>
                  </a:tcPr>
                </a:tc>
                <a:tc>
                  <a:txBody>
                    <a:bodyPr/>
                    <a:lstStyle/>
                    <a:p>
                      <a:pPr algn="ctr" fontAlgn="b"/>
                      <a:r>
                        <a:rPr lang="en-US" sz="1400" b="1" i="0" u="none" strike="noStrike" kern="1200" dirty="0">
                          <a:solidFill>
                            <a:srgbClr val="000000"/>
                          </a:solidFill>
                          <a:effectLst/>
                          <a:latin typeface="+mj-lt"/>
                          <a:ea typeface="+mn-ea"/>
                          <a:cs typeface="+mn-cs"/>
                        </a:rPr>
                        <a:t>11%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9826F"/>
                    </a:solidFill>
                  </a:tcPr>
                </a:tc>
                <a:tc>
                  <a:txBody>
                    <a:bodyPr/>
                    <a:lstStyle/>
                    <a:p>
                      <a:pPr algn="ctr" fontAlgn="b"/>
                      <a:r>
                        <a:rPr lang="en-US" sz="1400" b="1" i="0" u="none" strike="noStrike" kern="1200" dirty="0">
                          <a:solidFill>
                            <a:srgbClr val="000000"/>
                          </a:solidFill>
                          <a:effectLst/>
                          <a:latin typeface="+mj-lt"/>
                          <a:ea typeface="+mn-ea"/>
                          <a:cs typeface="+mn-cs"/>
                        </a:rPr>
                        <a:t>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8696B"/>
                    </a:solidFill>
                  </a:tcPr>
                </a:tc>
                <a:tc>
                  <a:txBody>
                    <a:bodyPr/>
                    <a:lstStyle/>
                    <a:p>
                      <a:pPr algn="ctr" fontAlgn="b"/>
                      <a:r>
                        <a:rPr lang="en-US" sz="1400" b="1" i="0" u="none" strike="noStrike" kern="1200" dirty="0">
                          <a:solidFill>
                            <a:srgbClr val="000000"/>
                          </a:solidFill>
                          <a:effectLst/>
                          <a:latin typeface="+mj-lt"/>
                          <a:ea typeface="+mn-ea"/>
                          <a:cs typeface="+mn-cs"/>
                        </a:rPr>
                        <a:t>16%</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8696B"/>
                    </a:solidFill>
                  </a:tcPr>
                </a:tc>
                <a:tc rowSpan="2">
                  <a:txBody>
                    <a:bodyPr/>
                    <a:lstStyle/>
                    <a:p>
                      <a:pPr algn="ctr" fontAlgn="b"/>
                      <a:r>
                        <a:rPr lang="en-US" sz="1400" b="1" i="0" u="none" strike="noStrike" kern="1200" dirty="0">
                          <a:solidFill>
                            <a:srgbClr val="000000"/>
                          </a:solidFill>
                          <a:effectLst/>
                          <a:latin typeface="+mj-lt"/>
                          <a:ea typeface="+mn-ea"/>
                          <a:cs typeface="+mn-cs"/>
                        </a:rPr>
                        <a:t>798</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2"/>
                  </a:ext>
                </a:extLst>
              </a:tr>
              <a:tr h="298104">
                <a:tc vMerge="1">
                  <a:txBody>
                    <a:bodyPr/>
                    <a:lstStyle/>
                    <a:p>
                      <a:endParaRPr lang="en-GB"/>
                    </a:p>
                  </a:txBody>
                  <a:tcPr/>
                </a:tc>
                <a:tc vMerge="1">
                  <a:txBody>
                    <a:bodyPr/>
                    <a:lstStyle/>
                    <a:p>
                      <a:endParaRPr lang="en-GB"/>
                    </a:p>
                  </a:txBody>
                  <a:tcPr/>
                </a:tc>
                <a:tc>
                  <a:txBody>
                    <a:bodyPr/>
                    <a:lstStyle/>
                    <a:p>
                      <a:pPr algn="ctr" fontAlgn="b"/>
                      <a:r>
                        <a:rPr lang="en-US" sz="1400" b="0" i="0" u="none" strike="noStrike" dirty="0">
                          <a:solidFill>
                            <a:srgbClr val="000000"/>
                          </a:solidFill>
                          <a:effectLst/>
                          <a:latin typeface="+mj-lt"/>
                        </a:rPr>
                        <a:t>-12%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EE082"/>
                    </a:solidFill>
                  </a:tcPr>
                </a:tc>
                <a:tc>
                  <a:txBody>
                    <a:bodyPr/>
                    <a:lstStyle/>
                    <a:p>
                      <a:pPr algn="ctr" fontAlgn="b"/>
                      <a:r>
                        <a:rPr lang="en-US" sz="1400" b="0" i="0" u="none" strike="noStrike">
                          <a:solidFill>
                            <a:srgbClr val="000000"/>
                          </a:solidFill>
                          <a:effectLst/>
                          <a:latin typeface="+mj-lt"/>
                        </a:rPr>
                        <a:t>-50%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CBE7B"/>
                    </a:solidFill>
                  </a:tcPr>
                </a:tc>
                <a:tc>
                  <a:txBody>
                    <a:bodyPr/>
                    <a:lstStyle/>
                    <a:p>
                      <a:pPr algn="ctr" fontAlgn="b"/>
                      <a:r>
                        <a:rPr lang="en-US" sz="1400" b="0" i="0" u="none" strike="noStrike">
                          <a:solidFill>
                            <a:srgbClr val="000000"/>
                          </a:solidFill>
                          <a:effectLst/>
                          <a:latin typeface="+mj-lt"/>
                        </a:rPr>
                        <a:t>-80%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BA877"/>
                    </a:solidFill>
                  </a:tcPr>
                </a:tc>
                <a:tc>
                  <a:txBody>
                    <a:bodyPr/>
                    <a:lstStyle/>
                    <a:p>
                      <a:pPr algn="ctr" fontAlgn="b"/>
                      <a:r>
                        <a:rPr lang="en-US" sz="1400" b="0" i="0" u="none" strike="noStrike">
                          <a:solidFill>
                            <a:srgbClr val="000000"/>
                          </a:solidFill>
                          <a:effectLst/>
                          <a:latin typeface="+mj-lt"/>
                        </a:rPr>
                        <a:t>-97%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9826F"/>
                    </a:solidFill>
                  </a:tcPr>
                </a:tc>
                <a:tc>
                  <a:txBody>
                    <a:bodyPr/>
                    <a:lstStyle/>
                    <a:p>
                      <a:pPr algn="ctr" fontAlgn="b"/>
                      <a:r>
                        <a:rPr lang="en-US" sz="1400" b="0" i="0" u="none" strike="noStrike">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8696B"/>
                    </a:solidFill>
                  </a:tcPr>
                </a:tc>
                <a:tc>
                  <a:txBody>
                    <a:bodyPr/>
                    <a:lstStyle/>
                    <a:p>
                      <a:pPr algn="ctr" fontAlgn="b"/>
                      <a:r>
                        <a:rPr lang="en-US" sz="1400" b="0" i="0" u="none" strike="noStrike" dirty="0">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8696B"/>
                    </a:solidFill>
                  </a:tcPr>
                </a:tc>
                <a:tc vMerge="1">
                  <a:txBody>
                    <a:bodyPr/>
                    <a:lstStyle/>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3"/>
                  </a:ext>
                </a:extLst>
              </a:tr>
              <a:tr h="298104">
                <a:tc vMerge="1">
                  <a:txBody>
                    <a:bodyPr/>
                    <a:lstStyle/>
                    <a:p>
                      <a:endParaRPr lang="en-GB"/>
                    </a:p>
                  </a:txBody>
                  <a:tcPr/>
                </a:tc>
                <a:tc rowSpan="2">
                  <a:txBody>
                    <a:bodyPr/>
                    <a:lstStyle/>
                    <a:p>
                      <a:pPr algn="ctr" rtl="0" fontAlgn="b"/>
                      <a:r>
                        <a:rPr lang="en-GB" sz="1200" b="1" i="0" u="none" strike="noStrike" dirty="0">
                          <a:solidFill>
                            <a:srgbClr val="000000"/>
                          </a:solidFill>
                          <a:latin typeface="+mj-lt"/>
                        </a:rPr>
                        <a:t>Medium</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9%</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CEDD82"/>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32%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FEB84"/>
                    </a:solidFill>
                  </a:tcPr>
                </a:tc>
                <a:tc>
                  <a:txBody>
                    <a:bodyPr/>
                    <a:lstStyle/>
                    <a:p>
                      <a:pPr marL="0" algn="ctr" defTabSz="914400" rtl="0" eaLnBrk="1" fontAlgn="b" latinLnBrk="0" hangingPunct="1"/>
                      <a:r>
                        <a:rPr lang="en-US" sz="1400" b="1" i="0" u="none" strike="noStrike" kern="1200">
                          <a:solidFill>
                            <a:srgbClr val="000000"/>
                          </a:solidFill>
                          <a:effectLst/>
                          <a:latin typeface="+mj-lt"/>
                          <a:ea typeface="+mn-ea"/>
                          <a:cs typeface="+mn-cs"/>
                        </a:rPr>
                        <a:t>23%</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DD57F"/>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CBB7A"/>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3%</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BAC77"/>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BAC77"/>
                    </a:solidFill>
                  </a:tcPr>
                </a:tc>
                <a:tc rowSpan="2">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1,315</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4"/>
                  </a:ext>
                </a:extLst>
              </a:tr>
              <a:tr h="298104">
                <a:tc vMerge="1">
                  <a:txBody>
                    <a:bodyPr/>
                    <a:lstStyle/>
                    <a:p>
                      <a:endParaRPr lang="en-GB"/>
                    </a:p>
                  </a:txBody>
                  <a:tcPr/>
                </a:tc>
                <a:tc vMerge="1">
                  <a:txBody>
                    <a:bodyPr/>
                    <a:lstStyle/>
                    <a:p>
                      <a:endParaRPr lang="en-GB"/>
                    </a:p>
                  </a:txBody>
                  <a:tcPr/>
                </a:tc>
                <a:tc>
                  <a:txBody>
                    <a:bodyPr/>
                    <a:lstStyle/>
                    <a:p>
                      <a:pPr algn="ctr" fontAlgn="b"/>
                      <a:r>
                        <a:rPr lang="en-US" sz="1400" b="0" i="0" u="none" strike="noStrike">
                          <a:solidFill>
                            <a:srgbClr val="000000"/>
                          </a:solidFill>
                          <a:effectLst/>
                          <a:latin typeface="+mj-lt"/>
                        </a:rPr>
                        <a:t>61%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CEDD82"/>
                    </a:solidFill>
                  </a:tcPr>
                </a:tc>
                <a:tc>
                  <a:txBody>
                    <a:bodyPr/>
                    <a:lstStyle/>
                    <a:p>
                      <a:pPr algn="ctr" fontAlgn="b"/>
                      <a:r>
                        <a:rPr lang="en-US" sz="1400" b="0" i="0" u="none" strike="noStrike">
                          <a:solidFill>
                            <a:srgbClr val="000000"/>
                          </a:solidFill>
                          <a:effectLst/>
                          <a:latin typeface="+mj-lt"/>
                        </a:rPr>
                        <a:t>-6%</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FEB84"/>
                    </a:solidFill>
                  </a:tcPr>
                </a:tc>
                <a:tc>
                  <a:txBody>
                    <a:bodyPr/>
                    <a:lstStyle/>
                    <a:p>
                      <a:pPr algn="ctr" fontAlgn="b"/>
                      <a:r>
                        <a:rPr lang="en-US" sz="1400" b="0" i="0" u="none" strike="noStrike">
                          <a:solidFill>
                            <a:srgbClr val="000000"/>
                          </a:solidFill>
                          <a:effectLst/>
                          <a:latin typeface="+mj-lt"/>
                        </a:rPr>
                        <a:t>-52%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DD57F"/>
                    </a:solidFill>
                  </a:tcPr>
                </a:tc>
                <a:tc>
                  <a:txBody>
                    <a:bodyPr/>
                    <a:lstStyle/>
                    <a:p>
                      <a:pPr algn="ctr" fontAlgn="b"/>
                      <a:r>
                        <a:rPr lang="en-US" sz="1400" b="0" i="0" u="none" strike="noStrike">
                          <a:solidFill>
                            <a:srgbClr val="000000"/>
                          </a:solidFill>
                          <a:effectLst/>
                          <a:latin typeface="+mj-lt"/>
                        </a:rPr>
                        <a:t>-92%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CBB7A"/>
                    </a:solidFill>
                  </a:tcPr>
                </a:tc>
                <a:tc>
                  <a:txBody>
                    <a:bodyPr/>
                    <a:lstStyle/>
                    <a:p>
                      <a:pPr algn="ctr" fontAlgn="b"/>
                      <a:r>
                        <a:rPr lang="en-US" sz="1400" b="0" i="0" u="none" strike="noStrike">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BAC77"/>
                    </a:solidFill>
                  </a:tcPr>
                </a:tc>
                <a:tc>
                  <a:txBody>
                    <a:bodyPr/>
                    <a:lstStyle/>
                    <a:p>
                      <a:pPr algn="ctr" fontAlgn="b"/>
                      <a:r>
                        <a:rPr lang="en-US" sz="1400" b="0" i="0" u="none" strike="noStrike" dirty="0">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BAC77"/>
                    </a:solidFill>
                  </a:tcPr>
                </a:tc>
                <a:tc vMerge="1">
                  <a:txBody>
                    <a:bodyPr/>
                    <a:lstStyle/>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5"/>
                  </a:ext>
                </a:extLst>
              </a:tr>
              <a:tr h="298104">
                <a:tc vMerge="1">
                  <a:txBody>
                    <a:bodyPr/>
                    <a:lstStyle/>
                    <a:p>
                      <a:endParaRPr lang="en-GB"/>
                    </a:p>
                  </a:txBody>
                  <a:tcPr/>
                </a:tc>
                <a:tc rowSpan="2">
                  <a:txBody>
                    <a:bodyPr/>
                    <a:lstStyle/>
                    <a:p>
                      <a:pPr algn="ctr" rtl="0" fontAlgn="b"/>
                      <a:r>
                        <a:rPr lang="en-GB" sz="1200" b="1" i="0" u="none" strike="noStrike" dirty="0">
                          <a:solidFill>
                            <a:srgbClr val="000000"/>
                          </a:solidFill>
                          <a:latin typeface="+mj-lt"/>
                        </a:rPr>
                        <a:t>Low</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ADD480"/>
                    </a:solidFill>
                  </a:tcPr>
                </a:tc>
                <a:tc>
                  <a:txBody>
                    <a:bodyPr/>
                    <a:lstStyle/>
                    <a:p>
                      <a:pPr marL="0" algn="ctr" defTabSz="914400" rtl="0" eaLnBrk="1" fontAlgn="b" latinLnBrk="0" hangingPunct="1"/>
                      <a:r>
                        <a:rPr lang="en-US" sz="1400" b="1" i="0" u="none" strike="noStrike" kern="1200">
                          <a:solidFill>
                            <a:srgbClr val="000000"/>
                          </a:solidFill>
                          <a:effectLst/>
                          <a:latin typeface="+mj-lt"/>
                          <a:ea typeface="+mn-ea"/>
                          <a:cs typeface="+mn-cs"/>
                        </a:rPr>
                        <a:t>11%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E2E383"/>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32%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FEB84"/>
                    </a:solidFill>
                  </a:tcPr>
                </a:tc>
                <a:tc>
                  <a:txBody>
                    <a:bodyPr/>
                    <a:lstStyle/>
                    <a:p>
                      <a:pPr marL="0" algn="ctr" defTabSz="914400" rtl="0" eaLnBrk="1" fontAlgn="b" latinLnBrk="0" hangingPunct="1"/>
                      <a:r>
                        <a:rPr lang="en-US" sz="1400" b="1" i="0" u="none" strike="noStrike" kern="1200">
                          <a:solidFill>
                            <a:srgbClr val="000000"/>
                          </a:solidFill>
                          <a:effectLst/>
                          <a:latin typeface="+mj-lt"/>
                          <a:ea typeface="+mn-ea"/>
                          <a:cs typeface="+mn-cs"/>
                        </a:rPr>
                        <a:t>31%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DD680"/>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3%</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DC77D"/>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21%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DC77D"/>
                    </a:solidFill>
                  </a:tcPr>
                </a:tc>
                <a:tc rowSpan="2">
                  <a:txBody>
                    <a:bodyPr/>
                    <a:lstStyle/>
                    <a:p>
                      <a:pPr algn="ctr" rtl="0" fontAlgn="ctr"/>
                      <a:r>
                        <a:rPr lang="en-GB" sz="1400" b="1" i="0" u="none" strike="noStrike" dirty="0">
                          <a:solidFill>
                            <a:srgbClr val="000000"/>
                          </a:solidFill>
                          <a:effectLst/>
                          <a:latin typeface="+mj-lt"/>
                        </a:rPr>
                        <a:t>2,084</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6"/>
                  </a:ext>
                </a:extLst>
              </a:tr>
              <a:tr h="298104">
                <a:tc vMerge="1">
                  <a:txBody>
                    <a:bodyPr/>
                    <a:lstStyle/>
                    <a:p>
                      <a:endParaRPr lang="en-GB"/>
                    </a:p>
                  </a:txBody>
                  <a:tcPr/>
                </a:tc>
                <a:tc vMerge="1">
                  <a:txBody>
                    <a:bodyPr/>
                    <a:lstStyle/>
                    <a:p>
                      <a:endParaRPr lang="en-GB"/>
                    </a:p>
                  </a:txBody>
                  <a:tcPr/>
                </a:tc>
                <a:tc>
                  <a:txBody>
                    <a:bodyPr/>
                    <a:lstStyle/>
                    <a:p>
                      <a:pPr algn="ctr" fontAlgn="b"/>
                      <a:r>
                        <a:rPr lang="en-US" sz="1400" b="0" i="0" u="none" strike="noStrike">
                          <a:solidFill>
                            <a:srgbClr val="000000"/>
                          </a:solidFill>
                          <a:effectLst/>
                          <a:latin typeface="+mj-lt"/>
                        </a:rPr>
                        <a:t>257%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ADD480"/>
                    </a:solidFill>
                  </a:tcPr>
                </a:tc>
                <a:tc>
                  <a:txBody>
                    <a:bodyPr/>
                    <a:lstStyle/>
                    <a:p>
                      <a:pPr algn="ctr" fontAlgn="b"/>
                      <a:r>
                        <a:rPr lang="en-US" sz="1400" b="0" i="0" u="none" strike="noStrike">
                          <a:solidFill>
                            <a:srgbClr val="000000"/>
                          </a:solidFill>
                          <a:effectLst/>
                          <a:latin typeface="+mj-lt"/>
                        </a:rPr>
                        <a:t>74%</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E2E383"/>
                    </a:solidFill>
                  </a:tcPr>
                </a:tc>
                <a:tc>
                  <a:txBody>
                    <a:bodyPr/>
                    <a:lstStyle/>
                    <a:p>
                      <a:pPr algn="ctr" fontAlgn="b"/>
                      <a:r>
                        <a:rPr lang="en-US" sz="1400" b="0" i="0" u="none" strike="noStrike">
                          <a:solidFill>
                            <a:srgbClr val="000000"/>
                          </a:solidFill>
                          <a:effectLst/>
                          <a:latin typeface="+mj-lt"/>
                        </a:rPr>
                        <a:t>-4%</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FEB84"/>
                    </a:solidFill>
                  </a:tcPr>
                </a:tc>
                <a:tc>
                  <a:txBody>
                    <a:bodyPr/>
                    <a:lstStyle/>
                    <a:p>
                      <a:pPr algn="ctr" fontAlgn="b"/>
                      <a:r>
                        <a:rPr lang="en-US" sz="1400" b="0" i="0" u="none" strike="noStrike">
                          <a:solidFill>
                            <a:srgbClr val="000000"/>
                          </a:solidFill>
                          <a:effectLst/>
                          <a:latin typeface="+mj-lt"/>
                        </a:rPr>
                        <a:t>-76%</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DD680"/>
                    </a:solidFill>
                  </a:tcPr>
                </a:tc>
                <a:tc>
                  <a:txBody>
                    <a:bodyPr/>
                    <a:lstStyle/>
                    <a:p>
                      <a:pPr algn="ctr" fontAlgn="b"/>
                      <a:r>
                        <a:rPr lang="en-US" sz="1400" b="0" i="0" u="none" strike="noStrike">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DC77D"/>
                    </a:solidFill>
                  </a:tcPr>
                </a:tc>
                <a:tc>
                  <a:txBody>
                    <a:bodyPr/>
                    <a:lstStyle/>
                    <a:p>
                      <a:pPr algn="ctr" fontAlgn="b"/>
                      <a:r>
                        <a:rPr lang="en-US" sz="1400" b="0" i="0" u="none" strike="noStrike" dirty="0">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DC77D"/>
                    </a:solidFill>
                  </a:tcPr>
                </a:tc>
                <a:tc vMerge="1">
                  <a:txBody>
                    <a:bodyPr/>
                    <a:lstStyle/>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7"/>
                  </a:ext>
                </a:extLst>
              </a:tr>
              <a:tr h="298104">
                <a:tc vMerge="1">
                  <a:txBody>
                    <a:bodyPr/>
                    <a:lstStyle/>
                    <a:p>
                      <a:endParaRPr lang="en-GB"/>
                    </a:p>
                  </a:txBody>
                  <a:tcPr/>
                </a:tc>
                <a:tc rowSpan="2">
                  <a:txBody>
                    <a:bodyPr/>
                    <a:lstStyle/>
                    <a:p>
                      <a:pPr algn="ctr" rtl="0" fontAlgn="b"/>
                      <a:r>
                        <a:rPr lang="en-GB" sz="1200" b="1" i="0" u="none" strike="noStrike" dirty="0">
                          <a:solidFill>
                            <a:srgbClr val="000000"/>
                          </a:solidFill>
                          <a:latin typeface="+mj-lt"/>
                        </a:rPr>
                        <a:t>Very Low</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83C87D"/>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C1DA81"/>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E4E483"/>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46%</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FEB84"/>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EE683"/>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38%</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EE683"/>
                    </a:solidFill>
                  </a:tcPr>
                </a:tc>
                <a:tc rowSpan="2">
                  <a:txBody>
                    <a:bodyPr/>
                    <a:lstStyle/>
                    <a:p>
                      <a:pPr algn="ctr" rtl="0" fontAlgn="ctr"/>
                      <a:r>
                        <a:rPr lang="en-GB" sz="1400" b="1" i="0" u="none" strike="noStrike" dirty="0">
                          <a:solidFill>
                            <a:srgbClr val="000000"/>
                          </a:solidFill>
                          <a:effectLst/>
                          <a:latin typeface="+mj-lt"/>
                        </a:rPr>
                        <a:t>5,020</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8"/>
                  </a:ext>
                </a:extLst>
              </a:tr>
              <a:tr h="298104">
                <a:tc vMerge="1">
                  <a:txBody>
                    <a:bodyPr/>
                    <a:lstStyle/>
                    <a:p>
                      <a:endParaRPr lang="en-GB"/>
                    </a:p>
                  </a:txBody>
                  <a:tcPr/>
                </a:tc>
                <a:tc vMerge="1">
                  <a:txBody>
                    <a:bodyPr/>
                    <a:lstStyle/>
                    <a:p>
                      <a:endParaRPr lang="en-GB"/>
                    </a:p>
                  </a:txBody>
                  <a:tcPr/>
                </a:tc>
                <a:tc>
                  <a:txBody>
                    <a:bodyPr/>
                    <a:lstStyle/>
                    <a:p>
                      <a:pPr algn="ctr" fontAlgn="b"/>
                      <a:r>
                        <a:rPr lang="en-US" sz="1400" b="0" i="0" u="none" strike="noStrike">
                          <a:solidFill>
                            <a:srgbClr val="000000"/>
                          </a:solidFill>
                          <a:effectLst/>
                          <a:latin typeface="+mj-lt"/>
                        </a:rPr>
                        <a:t>1559%</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83C87D"/>
                    </a:solidFill>
                  </a:tcPr>
                </a:tc>
                <a:tc>
                  <a:txBody>
                    <a:bodyPr/>
                    <a:lstStyle/>
                    <a:p>
                      <a:pPr algn="ctr" fontAlgn="b"/>
                      <a:r>
                        <a:rPr lang="en-US" sz="1400" b="0" i="0" u="none" strike="noStrike">
                          <a:solidFill>
                            <a:srgbClr val="000000"/>
                          </a:solidFill>
                          <a:effectLst/>
                          <a:latin typeface="+mj-lt"/>
                        </a:rPr>
                        <a:t>619%</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C1DA81"/>
                    </a:solidFill>
                  </a:tcPr>
                </a:tc>
                <a:tc>
                  <a:txBody>
                    <a:bodyPr/>
                    <a:lstStyle/>
                    <a:p>
                      <a:pPr algn="ctr" fontAlgn="b"/>
                      <a:r>
                        <a:rPr lang="en-US" sz="1400" b="0" i="0" u="none" strike="noStrike">
                          <a:solidFill>
                            <a:srgbClr val="000000"/>
                          </a:solidFill>
                          <a:effectLst/>
                          <a:latin typeface="+mj-lt"/>
                        </a:rPr>
                        <a:t>182%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E4E483"/>
                    </a:solidFill>
                  </a:tcPr>
                </a:tc>
                <a:tc>
                  <a:txBody>
                    <a:bodyPr/>
                    <a:lstStyle/>
                    <a:p>
                      <a:pPr algn="ctr" fontAlgn="b"/>
                      <a:r>
                        <a:rPr lang="en-US" sz="1400" b="0" i="0" u="none" strike="noStrike">
                          <a:solidFill>
                            <a:srgbClr val="000000"/>
                          </a:solidFill>
                          <a:effectLst/>
                          <a:latin typeface="+mj-lt"/>
                        </a:rPr>
                        <a:t>-21%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FEB84"/>
                    </a:solidFill>
                  </a:tcPr>
                </a:tc>
                <a:tc>
                  <a:txBody>
                    <a:bodyPr/>
                    <a:lstStyle/>
                    <a:p>
                      <a:pPr algn="ctr" fontAlgn="b"/>
                      <a:r>
                        <a:rPr lang="en-US" sz="1400" b="0" i="0" u="none" strike="noStrike" dirty="0">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EE683"/>
                    </a:solidFill>
                  </a:tcPr>
                </a:tc>
                <a:tc>
                  <a:txBody>
                    <a:bodyPr/>
                    <a:lstStyle/>
                    <a:p>
                      <a:pPr algn="ctr" fontAlgn="b"/>
                      <a:r>
                        <a:rPr lang="en-US" sz="1400" b="0" i="0" u="none" strike="noStrike" dirty="0">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EE683"/>
                    </a:solidFill>
                  </a:tcPr>
                </a:tc>
                <a:tc vMerge="1">
                  <a:txBody>
                    <a:bodyPr/>
                    <a:lstStyle/>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09"/>
                  </a:ext>
                </a:extLst>
              </a:tr>
              <a:tr h="298104">
                <a:tc vMerge="1">
                  <a:txBody>
                    <a:bodyPr/>
                    <a:lstStyle/>
                    <a:p>
                      <a:endParaRPr lang="en-GB"/>
                    </a:p>
                  </a:txBody>
                  <a:tcPr/>
                </a:tc>
                <a:tc rowSpan="2">
                  <a:txBody>
                    <a:bodyPr/>
                    <a:lstStyle/>
                    <a:p>
                      <a:pPr algn="ctr" rtl="0" fontAlgn="b"/>
                      <a:r>
                        <a:rPr lang="en-GB" sz="1200" b="1" i="0" u="none" strike="noStrike" dirty="0">
                          <a:solidFill>
                            <a:srgbClr val="000000"/>
                          </a:solidFill>
                          <a:latin typeface="+mj-lt"/>
                        </a:rPr>
                        <a:t>Zero</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63BE7B"/>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ADD480"/>
                    </a:solidFill>
                  </a:tcPr>
                </a:tc>
                <a:tc>
                  <a:txBody>
                    <a:bodyPr/>
                    <a:lstStyle/>
                    <a:p>
                      <a:pPr marL="0" algn="ctr" defTabSz="914400" rtl="0" eaLnBrk="1" fontAlgn="b" latinLnBrk="0" hangingPunct="1"/>
                      <a:r>
                        <a:rPr lang="en-US" sz="1400" b="1" i="0" u="none" strike="noStrike" kern="1200">
                          <a:solidFill>
                            <a:srgbClr val="000000"/>
                          </a:solidFill>
                          <a:effectLst/>
                          <a:latin typeface="+mj-lt"/>
                          <a:ea typeface="+mn-ea"/>
                          <a:cs typeface="+mn-cs"/>
                        </a:rPr>
                        <a:t>2%</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D0DE82"/>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18%</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5E884"/>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15%</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EEB84"/>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64%</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a:noFill/>
                    </a:lnB>
                    <a:solidFill>
                      <a:srgbClr val="FEEB84"/>
                    </a:solidFill>
                  </a:tcPr>
                </a:tc>
                <a:tc rowSpan="2">
                  <a:txBody>
                    <a:bodyPr/>
                    <a:lstStyle/>
                    <a:p>
                      <a:pPr algn="ctr" rtl="0" fontAlgn="ctr"/>
                      <a:r>
                        <a:rPr lang="en-GB" sz="1400" b="1" i="0" u="none" strike="noStrike" dirty="0">
                          <a:solidFill>
                            <a:srgbClr val="000000"/>
                          </a:solidFill>
                          <a:effectLst/>
                          <a:latin typeface="+mj-lt"/>
                        </a:rPr>
                        <a:t>1,219</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10"/>
                  </a:ext>
                </a:extLst>
              </a:tr>
              <a:tr h="298104">
                <a:tc vMerge="1">
                  <a:txBody>
                    <a:bodyPr/>
                    <a:lstStyle/>
                    <a:p>
                      <a:endParaRPr lang="en-GB"/>
                    </a:p>
                  </a:txBody>
                  <a:tcPr/>
                </a:tc>
                <a:tc vMerge="1">
                  <a:txBody>
                    <a:bodyPr/>
                    <a:lstStyle/>
                    <a:p>
                      <a:pPr algn="ctr" rtl="0" fontAlgn="b"/>
                      <a:endParaRPr lang="en-GB" sz="1200" b="1" i="0" u="none" strike="noStrike" dirty="0">
                        <a:solidFill>
                          <a:srgbClr val="000000"/>
                        </a:solidFill>
                        <a:latin typeface="Trebuchet MS"/>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rtl="0" fontAlgn="ctr"/>
                      <a:r>
                        <a:rPr kumimoji="0" lang="en-GB" sz="1100" b="0" i="0" u="none" strike="noStrike" kern="1200" cap="none" spc="0" normalizeH="0" baseline="0" noProof="0" dirty="0">
                          <a:ln>
                            <a:noFill/>
                          </a:ln>
                          <a:solidFill>
                            <a:srgbClr val="000000"/>
                          </a:solidFill>
                          <a:effectLst/>
                          <a:uLnTx/>
                          <a:uFillTx/>
                          <a:latin typeface="+mj-lt"/>
                          <a:ea typeface="+mn-ea"/>
                          <a:cs typeface="+mn-cs"/>
                        </a:rPr>
                        <a:t>NA</a:t>
                      </a:r>
                      <a:endParaRPr lang="en-GB" sz="1100" b="0" i="0" u="none" strike="noStrike" dirty="0">
                        <a:solidFill>
                          <a:srgbClr val="000000"/>
                        </a:solidFill>
                        <a:effectLst/>
                        <a:latin typeface="+mj-lt"/>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63BE7B"/>
                    </a:solidFill>
                  </a:tcPr>
                </a:tc>
                <a:tc>
                  <a:txBody>
                    <a:bodyPr/>
                    <a:lstStyle/>
                    <a:p>
                      <a:pPr algn="ctr" rtl="0" fontAlgn="ctr"/>
                      <a:r>
                        <a:rPr kumimoji="0" lang="en-GB" sz="1100" b="0" i="0" u="none" strike="noStrike" kern="1200" cap="none" spc="0" normalizeH="0" baseline="0" noProof="0">
                          <a:ln>
                            <a:noFill/>
                          </a:ln>
                          <a:solidFill>
                            <a:srgbClr val="000000"/>
                          </a:solidFill>
                          <a:effectLst/>
                          <a:uLnTx/>
                          <a:uFillTx/>
                          <a:latin typeface="+mj-lt"/>
                          <a:ea typeface="+mn-ea"/>
                          <a:cs typeface="+mn-cs"/>
                        </a:rPr>
                        <a:t>NA</a:t>
                      </a:r>
                      <a:endParaRPr lang="en-GB" sz="1100" b="0" i="0" u="none" strike="noStrike" dirty="0">
                        <a:solidFill>
                          <a:srgbClr val="000000"/>
                        </a:solidFill>
                        <a:effectLst/>
                        <a:latin typeface="+mj-lt"/>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ADD480"/>
                    </a:solidFill>
                  </a:tcPr>
                </a:tc>
                <a:tc>
                  <a:txBody>
                    <a:bodyPr/>
                    <a:lstStyle/>
                    <a:p>
                      <a:pPr algn="ctr" rtl="0" fontAlgn="ctr"/>
                      <a:r>
                        <a:rPr kumimoji="0" lang="en-GB" sz="1100" b="0" i="0" u="none" strike="noStrike" kern="1200" cap="none" spc="0" normalizeH="0" baseline="0" noProof="0">
                          <a:ln>
                            <a:noFill/>
                          </a:ln>
                          <a:solidFill>
                            <a:srgbClr val="000000"/>
                          </a:solidFill>
                          <a:effectLst/>
                          <a:uLnTx/>
                          <a:uFillTx/>
                          <a:latin typeface="+mj-lt"/>
                          <a:ea typeface="+mn-ea"/>
                          <a:cs typeface="+mn-cs"/>
                        </a:rPr>
                        <a:t>NA</a:t>
                      </a:r>
                      <a:endParaRPr lang="en-GB" sz="1100" b="0" i="0" u="none" strike="noStrike" dirty="0">
                        <a:solidFill>
                          <a:srgbClr val="000000"/>
                        </a:solidFill>
                        <a:effectLst/>
                        <a:latin typeface="+mj-lt"/>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D0DE82"/>
                    </a:solidFill>
                  </a:tcPr>
                </a:tc>
                <a:tc>
                  <a:txBody>
                    <a:bodyPr/>
                    <a:lstStyle/>
                    <a:p>
                      <a:pPr algn="ctr" rtl="0" fontAlgn="ctr"/>
                      <a:r>
                        <a:rPr kumimoji="0" lang="en-GB" sz="1100" b="0" i="0" u="none" strike="noStrike" kern="1200" cap="none" spc="0" normalizeH="0" baseline="0" noProof="0">
                          <a:ln>
                            <a:noFill/>
                          </a:ln>
                          <a:solidFill>
                            <a:srgbClr val="000000"/>
                          </a:solidFill>
                          <a:effectLst/>
                          <a:uLnTx/>
                          <a:uFillTx/>
                          <a:latin typeface="+mj-lt"/>
                          <a:ea typeface="+mn-ea"/>
                          <a:cs typeface="+mn-cs"/>
                        </a:rPr>
                        <a:t>NA</a:t>
                      </a:r>
                      <a:endParaRPr lang="en-GB" sz="1100" b="0" i="0" u="none" strike="noStrike" dirty="0">
                        <a:solidFill>
                          <a:srgbClr val="000000"/>
                        </a:solidFill>
                        <a:effectLst/>
                        <a:latin typeface="+mj-lt"/>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5E884"/>
                    </a:solidFill>
                  </a:tcPr>
                </a:tc>
                <a:tc>
                  <a:txBody>
                    <a:bodyPr/>
                    <a:lstStyle/>
                    <a:p>
                      <a:pPr algn="ctr" rtl="0" fontAlgn="ctr"/>
                      <a:r>
                        <a:rPr kumimoji="0" lang="en-GB" sz="1100" b="0" i="0" u="none" strike="noStrike" kern="1200" cap="none" spc="0" normalizeH="0" baseline="0" noProof="0">
                          <a:ln>
                            <a:noFill/>
                          </a:ln>
                          <a:solidFill>
                            <a:srgbClr val="000000"/>
                          </a:solidFill>
                          <a:effectLst/>
                          <a:uLnTx/>
                          <a:uFillTx/>
                          <a:latin typeface="+mj-lt"/>
                          <a:ea typeface="+mn-ea"/>
                          <a:cs typeface="+mn-cs"/>
                        </a:rPr>
                        <a:t>NA</a:t>
                      </a:r>
                      <a:endParaRPr lang="en-GB" sz="1200" b="0" i="0" u="none" strike="noStrike" dirty="0">
                        <a:solidFill>
                          <a:srgbClr val="000000"/>
                        </a:solidFill>
                        <a:effectLst/>
                        <a:latin typeface="+mj-lt"/>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EEB84"/>
                    </a:solidFill>
                  </a:tcPr>
                </a:tc>
                <a:tc>
                  <a:txBody>
                    <a:bodyPr/>
                    <a:lstStyle/>
                    <a:p>
                      <a:pPr algn="ctr" rtl="0" fontAlgn="ctr"/>
                      <a:r>
                        <a:rPr kumimoji="0" lang="en-GB" sz="1100" b="0" i="0" u="none" strike="noStrike" kern="1200" cap="none" spc="0" normalizeH="0" baseline="0" noProof="0" dirty="0">
                          <a:ln>
                            <a:noFill/>
                          </a:ln>
                          <a:solidFill>
                            <a:srgbClr val="000000"/>
                          </a:solidFill>
                          <a:effectLst/>
                          <a:uLnTx/>
                          <a:uFillTx/>
                          <a:latin typeface="+mj-lt"/>
                          <a:ea typeface="+mn-ea"/>
                          <a:cs typeface="+mn-cs"/>
                        </a:rPr>
                        <a:t>NA</a:t>
                      </a:r>
                      <a:endParaRPr lang="en-GB" sz="1200" b="0" i="0" u="none" strike="noStrike" dirty="0">
                        <a:solidFill>
                          <a:srgbClr val="000000"/>
                        </a:solidFill>
                        <a:effectLst/>
                        <a:latin typeface="+mj-lt"/>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solidFill>
                      <a:srgbClr val="FEEB84"/>
                    </a:solidFill>
                  </a:tcPr>
                </a:tc>
                <a:tc vMerge="1">
                  <a:txBody>
                    <a:bodyPr/>
                    <a:lstStyle/>
                    <a:p>
                      <a:pPr algn="ctr" rtl="0" fontAlgn="ctr"/>
                      <a:endParaRPr lang="en-GB" sz="1200" b="0" i="0" u="none" strike="noStrike" dirty="0">
                        <a:solidFill>
                          <a:srgbClr val="000000"/>
                        </a:solidFill>
                        <a:effectLst/>
                        <a:latin typeface="Trebuchet MS" panose="020B0603020202020204" pitchFamily="34" charset="0"/>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a:noFill/>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10011"/>
                  </a:ext>
                </a:extLst>
              </a:tr>
              <a:tr h="298104">
                <a:tc vMerge="1">
                  <a:txBody>
                    <a:bodyPr/>
                    <a:lstStyle/>
                    <a:p>
                      <a:endParaRPr lang="en-US"/>
                    </a:p>
                  </a:txBody>
                  <a:tcPr/>
                </a:tc>
                <a:tc rowSpan="2">
                  <a:txBody>
                    <a:bodyPr/>
                    <a:lstStyle/>
                    <a:p>
                      <a:pPr algn="ctr" rtl="0" fontAlgn="b"/>
                      <a:r>
                        <a:rPr lang="en-GB" sz="1200" b="1" i="0" u="none" strike="noStrike" dirty="0">
                          <a:solidFill>
                            <a:srgbClr val="000000"/>
                          </a:solidFill>
                          <a:latin typeface="+mj-lt"/>
                        </a:rPr>
                        <a:t>GA</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a:t>
                      </a:r>
                    </a:p>
                  </a:txBody>
                  <a:tcPr marL="9525" marR="9525" marT="9525" marB="0" anchor="b">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noFill/>
                      <a:prstDash val="solid"/>
                      <a:round/>
                      <a:headEnd type="none" w="med" len="med"/>
                      <a:tailEnd type="none" w="med" len="med"/>
                    </a:lnB>
                    <a:solidFill>
                      <a:srgbClr val="63BE7B"/>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3%</a:t>
                      </a:r>
                    </a:p>
                  </a:txBody>
                  <a:tcPr marL="9525" marR="9525" marT="9525" marB="0" anchor="b">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noFill/>
                      <a:prstDash val="solid"/>
                      <a:round/>
                      <a:headEnd type="none" w="med" len="med"/>
                      <a:tailEnd type="none" w="med" len="med"/>
                    </a:lnB>
                    <a:solidFill>
                      <a:srgbClr val="ADD480"/>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4%</a:t>
                      </a:r>
                    </a:p>
                  </a:txBody>
                  <a:tcPr marL="9525" marR="9525" marT="9525" marB="0" anchor="b">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noFill/>
                      <a:prstDash val="solid"/>
                      <a:round/>
                      <a:headEnd type="none" w="med" len="med"/>
                      <a:tailEnd type="none" w="med" len="med"/>
                    </a:lnB>
                    <a:solidFill>
                      <a:srgbClr val="D0DE82"/>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18%</a:t>
                      </a:r>
                    </a:p>
                  </a:txBody>
                  <a:tcPr marL="9525" marR="9525" marT="9525" marB="0" anchor="b">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noFill/>
                      <a:prstDash val="solid"/>
                      <a:round/>
                      <a:headEnd type="none" w="med" len="med"/>
                      <a:tailEnd type="none" w="med" len="med"/>
                    </a:lnB>
                    <a:solidFill>
                      <a:srgbClr val="F5E884"/>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7%</a:t>
                      </a:r>
                    </a:p>
                  </a:txBody>
                  <a:tcPr marL="9525" marR="9525" marT="9525" marB="0" anchor="b">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noFill/>
                      <a:prstDash val="solid"/>
                      <a:round/>
                      <a:headEnd type="none" w="med" len="med"/>
                      <a:tailEnd type="none" w="med" len="med"/>
                    </a:lnB>
                    <a:solidFill>
                      <a:srgbClr val="FEEB84"/>
                    </a:solidFill>
                  </a:tcPr>
                </a:tc>
                <a:tc>
                  <a:txBody>
                    <a:bodyPr/>
                    <a:lstStyle/>
                    <a:p>
                      <a:pPr marL="0" algn="ctr" defTabSz="914400" rtl="0" eaLnBrk="1" fontAlgn="b" latinLnBrk="0" hangingPunct="1"/>
                      <a:r>
                        <a:rPr lang="en-US" sz="1400" b="1" i="0" u="none" strike="noStrike" kern="1200" dirty="0">
                          <a:solidFill>
                            <a:srgbClr val="000000"/>
                          </a:solidFill>
                          <a:effectLst/>
                          <a:latin typeface="+mj-lt"/>
                          <a:ea typeface="+mn-ea"/>
                          <a:cs typeface="+mn-cs"/>
                        </a:rPr>
                        <a:t>67%</a:t>
                      </a:r>
                    </a:p>
                  </a:txBody>
                  <a:tcPr marL="9525" marR="9525" marT="9525" marB="0" anchor="b">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noFill/>
                      <a:prstDash val="solid"/>
                      <a:round/>
                      <a:headEnd type="none" w="med" len="med"/>
                      <a:tailEnd type="none" w="med" len="med"/>
                    </a:lnB>
                    <a:solidFill>
                      <a:srgbClr val="FEEB84"/>
                    </a:solidFill>
                  </a:tcPr>
                </a:tc>
                <a:tc rowSpan="2">
                  <a:txBody>
                    <a:bodyPr/>
                    <a:lstStyle/>
                    <a:p>
                      <a:pPr marL="0" algn="ctr" defTabSz="914400" rtl="0" eaLnBrk="1" fontAlgn="ctr" latinLnBrk="0" hangingPunct="1"/>
                      <a:r>
                        <a:rPr lang="en-GB" sz="1400" b="1" i="0" u="none" strike="noStrike" kern="1200" dirty="0">
                          <a:solidFill>
                            <a:srgbClr val="000000"/>
                          </a:solidFill>
                          <a:effectLst/>
                          <a:latin typeface="+mj-lt"/>
                          <a:ea typeface="+mn-ea"/>
                          <a:cs typeface="+mn-cs"/>
                        </a:rPr>
                        <a:t>473</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3046346913"/>
                  </a:ext>
                </a:extLst>
              </a:tr>
              <a:tr h="298104">
                <a:tc vMerge="1">
                  <a:txBody>
                    <a:bodyPr/>
                    <a:lstStyle/>
                    <a:p>
                      <a:endParaRPr lang="en-US"/>
                    </a:p>
                  </a:txBody>
                  <a:tcPr/>
                </a:tc>
                <a:tc vMerge="1">
                  <a:txBody>
                    <a:bodyPr/>
                    <a:lstStyle/>
                    <a:p>
                      <a:pPr algn="ctr" rtl="0" fontAlgn="b"/>
                      <a:endParaRPr lang="en-GB" sz="1200" b="1" i="0" u="none" strike="noStrike" dirty="0">
                        <a:solidFill>
                          <a:srgbClr val="000000"/>
                        </a:solidFill>
                        <a:latin typeface="Trebuchet MS"/>
                      </a:endParaRP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rgbClr val="919191"/>
                      </a:solid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CCDAE5"/>
                    </a:solidFill>
                  </a:tcPr>
                </a:tc>
                <a:tc>
                  <a:txBody>
                    <a:bodyPr/>
                    <a:lstStyle/>
                    <a:p>
                      <a:pPr algn="ctr" fontAlgn="b"/>
                      <a:r>
                        <a:rPr lang="en-US" sz="1400" b="0" i="0" u="none" strike="noStrike" dirty="0">
                          <a:solidFill>
                            <a:srgbClr val="000000"/>
                          </a:solidFill>
                          <a:effectLst/>
                          <a:latin typeface="+mj-lt"/>
                        </a:rPr>
                        <a:t>216%</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63BE7B"/>
                    </a:solidFill>
                  </a:tcPr>
                </a:tc>
                <a:tc>
                  <a:txBody>
                    <a:bodyPr/>
                    <a:lstStyle/>
                    <a:p>
                      <a:pPr algn="ctr" fontAlgn="b"/>
                      <a:r>
                        <a:rPr lang="en-US" sz="1400" b="0" i="0" u="none" strike="noStrike">
                          <a:solidFill>
                            <a:srgbClr val="000000"/>
                          </a:solidFill>
                          <a:effectLst/>
                          <a:latin typeface="+mj-lt"/>
                        </a:rPr>
                        <a:t>117%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ADD480"/>
                    </a:solidFill>
                  </a:tcPr>
                </a:tc>
                <a:tc>
                  <a:txBody>
                    <a:bodyPr/>
                    <a:lstStyle/>
                    <a:p>
                      <a:pPr algn="ctr" fontAlgn="b"/>
                      <a:r>
                        <a:rPr lang="en-US" sz="1400" b="0" i="0" u="none" strike="noStrike">
                          <a:solidFill>
                            <a:srgbClr val="000000"/>
                          </a:solidFill>
                          <a:effectLst/>
                          <a:latin typeface="+mj-lt"/>
                        </a:rPr>
                        <a:t>38%</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D0DE82"/>
                    </a:solidFill>
                  </a:tcPr>
                </a:tc>
                <a:tc>
                  <a:txBody>
                    <a:bodyPr/>
                    <a:lstStyle/>
                    <a:p>
                      <a:pPr algn="ctr" fontAlgn="b"/>
                      <a:r>
                        <a:rPr lang="en-US" sz="1400" b="0" i="0" u="none" strike="noStrike">
                          <a:solidFill>
                            <a:srgbClr val="000000"/>
                          </a:solidFill>
                          <a:effectLst/>
                          <a:latin typeface="+mj-lt"/>
                        </a:rPr>
                        <a:t>-67%</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F5E884"/>
                    </a:solidFill>
                  </a:tcPr>
                </a:tc>
                <a:tc>
                  <a:txBody>
                    <a:bodyPr/>
                    <a:lstStyle/>
                    <a:p>
                      <a:pPr algn="ctr" fontAlgn="b"/>
                      <a:r>
                        <a:rPr lang="en-US" sz="1400" b="0" i="0" u="none" strike="noStrike" dirty="0">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FEEB84"/>
                    </a:solidFill>
                  </a:tcPr>
                </a:tc>
                <a:tc>
                  <a:txBody>
                    <a:bodyPr/>
                    <a:lstStyle/>
                    <a:p>
                      <a:pPr algn="ctr" fontAlgn="b"/>
                      <a:r>
                        <a:rPr lang="en-US" sz="1400" b="0" i="0" u="none" strike="noStrike" dirty="0">
                          <a:solidFill>
                            <a:srgbClr val="000000"/>
                          </a:solidFill>
                          <a:effectLst/>
                          <a:latin typeface="+mj-lt"/>
                        </a:rPr>
                        <a:t>-100%</a:t>
                      </a: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19191"/>
                      </a:solidFill>
                      <a:prstDash val="solid"/>
                      <a:round/>
                      <a:headEnd type="none" w="med" len="med"/>
                      <a:tailEnd type="none" w="med" len="med"/>
                    </a:lnB>
                    <a:solidFill>
                      <a:srgbClr val="FEEB84"/>
                    </a:solidFill>
                  </a:tcPr>
                </a:tc>
                <a:tc vMerge="1">
                  <a:txBody>
                    <a:bodyPr/>
                    <a:lstStyle/>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19191"/>
                      </a:solidFill>
                      <a:prstDash val="solid"/>
                      <a:round/>
                      <a:headEnd type="none" w="med" len="med"/>
                      <a:tailEnd type="none" w="med" len="med"/>
                    </a:lnB>
                    <a:noFill/>
                  </a:tcPr>
                </a:tc>
                <a:extLst>
                  <a:ext uri="{0D108BD9-81ED-4DB2-BD59-A6C34878D82A}">
                    <a16:rowId xmlns:a16="http://schemas.microsoft.com/office/drawing/2014/main" val="333222341"/>
                  </a:ext>
                </a:extLst>
              </a:tr>
            </a:tbl>
          </a:graphicData>
        </a:graphic>
      </p:graphicFrame>
      <p:graphicFrame>
        <p:nvGraphicFramePr>
          <p:cNvPr id="14" name="Table 13">
            <a:extLst>
              <a:ext uri="{FF2B5EF4-FFF2-40B4-BE49-F238E27FC236}">
                <a16:creationId xmlns:a16="http://schemas.microsoft.com/office/drawing/2014/main" id="{357A63B7-C3F1-4456-AC12-AFAECC1A9835}"/>
              </a:ext>
            </a:extLst>
          </p:cNvPr>
          <p:cNvGraphicFramePr>
            <a:graphicFrameLocks noGrp="1"/>
          </p:cNvGraphicFramePr>
          <p:nvPr>
            <p:extLst/>
          </p:nvPr>
        </p:nvGraphicFramePr>
        <p:xfrm>
          <a:off x="442397" y="1557465"/>
          <a:ext cx="1517953" cy="504330"/>
        </p:xfrm>
        <a:graphic>
          <a:graphicData uri="http://schemas.openxmlformats.org/drawingml/2006/table">
            <a:tbl>
              <a:tblPr>
                <a:tableStyleId>{2D5ABB26-0587-4C30-8999-92F81FD0307C}</a:tableStyleId>
              </a:tblPr>
              <a:tblGrid>
                <a:gridCol w="1517953">
                  <a:extLst>
                    <a:ext uri="{9D8B030D-6E8A-4147-A177-3AD203B41FA5}">
                      <a16:colId xmlns:a16="http://schemas.microsoft.com/office/drawing/2014/main" val="20000"/>
                    </a:ext>
                  </a:extLst>
                </a:gridCol>
              </a:tblGrid>
              <a:tr h="252165">
                <a:tc>
                  <a:txBody>
                    <a:bodyPr/>
                    <a:lstStyle/>
                    <a:p>
                      <a:pPr algn="ctr" fontAlgn="ctr"/>
                      <a:r>
                        <a:rPr lang="en-GB" sz="1000" b="1" i="0" u="none" strike="noStrike" baseline="0" noProof="0" dirty="0">
                          <a:solidFill>
                            <a:srgbClr val="000000"/>
                          </a:solidFill>
                          <a:effectLst/>
                          <a:latin typeface="+mj-lt"/>
                        </a:rPr>
                        <a:t>% of customers in Dec 17</a:t>
                      </a:r>
                      <a:endParaRPr lang="en-GB" sz="1000" b="1" i="0" u="none" strike="noStrike" noProof="0" dirty="0">
                        <a:solidFill>
                          <a:srgbClr val="000000"/>
                        </a:solidFill>
                        <a:effectLst/>
                        <a:latin typeface="+mj-lt"/>
                      </a:endParaRPr>
                    </a:p>
                  </a:txBody>
                  <a:tcPr marL="0" marR="0" marT="0" marB="0" anchor="ctr">
                    <a:lnL w="12700" cmpd="sng">
                      <a:solidFill>
                        <a:srgbClr val="919191"/>
                      </a:solidFill>
                      <a:prstDash val="solid"/>
                    </a:lnL>
                    <a:lnR w="12700" cmpd="sng">
                      <a:solidFill>
                        <a:srgbClr val="919191"/>
                      </a:solidFill>
                      <a:prstDash val="solid"/>
                    </a:lnR>
                    <a:lnT w="12700" cmpd="sng">
                      <a:solidFill>
                        <a:srgbClr val="919191"/>
                      </a:solidFill>
                      <a:prstDash val="soli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0"/>
                  </a:ext>
                </a:extLst>
              </a:tr>
              <a:tr h="252165">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GB" sz="800" b="0" i="0" u="none" strike="noStrike" kern="1200" noProof="0" dirty="0">
                          <a:solidFill>
                            <a:srgbClr val="000000"/>
                          </a:solidFill>
                          <a:effectLst/>
                          <a:latin typeface="+mj-lt"/>
                          <a:ea typeface="+mn-ea"/>
                          <a:cs typeface="+mn-cs"/>
                        </a:rPr>
                        <a:t>ARPU change</a:t>
                      </a:r>
                    </a:p>
                  </a:txBody>
                  <a:tcPr marL="0" marR="0" marT="0" marB="0" anchor="ctr">
                    <a:lnL w="12700" cap="flat" cmpd="sng" algn="ctr">
                      <a:solidFill>
                        <a:srgbClr val="919191"/>
                      </a:solidFill>
                      <a:prstDash val="solid"/>
                      <a:round/>
                      <a:headEnd type="none" w="med" len="med"/>
                      <a:tailEnd type="none" w="med" len="med"/>
                    </a:lnL>
                    <a:lnR w="12700" cap="flat" cmpd="sng" algn="ctr">
                      <a:solidFill>
                        <a:srgbClr val="91919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FEBD6505-9D61-464B-9191-DA99B914471F}"/>
              </a:ext>
            </a:extLst>
          </p:cNvPr>
          <p:cNvSpPr/>
          <p:nvPr/>
        </p:nvSpPr>
        <p:spPr bwMode="gray">
          <a:xfrm>
            <a:off x="7331765" y="4363998"/>
            <a:ext cx="1113165" cy="1804982"/>
          </a:xfrm>
          <a:prstGeom prst="rect">
            <a:avLst/>
          </a:prstGeom>
          <a:noFill/>
          <a:ln w="19050">
            <a:solidFill>
              <a:srgbClr val="FF0000"/>
            </a:solidFill>
            <a:prstDash val="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pic>
        <p:nvPicPr>
          <p:cNvPr id="15" name="Picture 14" descr="http://maps.google.com/mapfiles/kml/shapes/caution.png">
            <a:extLst>
              <a:ext uri="{FF2B5EF4-FFF2-40B4-BE49-F238E27FC236}">
                <a16:creationId xmlns:a16="http://schemas.microsoft.com/office/drawing/2014/main" id="{13AA6035-2A8E-46C0-9854-CA74A4185FCE}"/>
              </a:ext>
            </a:extLst>
          </p:cNvPr>
          <p:cNvPicPr>
            <a:picLocks noChangeAspect="1" noChangeArrowheads="1"/>
          </p:cNvPicPr>
          <p:nvPr/>
        </p:nvPicPr>
        <p:blipFill>
          <a:blip r:embed="rId2" cstate="email"/>
          <a:srcRect/>
          <a:stretch>
            <a:fillRect/>
          </a:stretch>
        </p:blipFill>
        <p:spPr bwMode="auto">
          <a:xfrm>
            <a:off x="7754853" y="5806504"/>
            <a:ext cx="266988" cy="250587"/>
          </a:xfrm>
          <a:prstGeom prst="rect">
            <a:avLst/>
          </a:prstGeom>
          <a:noFill/>
        </p:spPr>
      </p:pic>
      <p:sp>
        <p:nvSpPr>
          <p:cNvPr id="16" name="TextBox 15">
            <a:extLst>
              <a:ext uri="{FF2B5EF4-FFF2-40B4-BE49-F238E27FC236}">
                <a16:creationId xmlns:a16="http://schemas.microsoft.com/office/drawing/2014/main" id="{6F5B8842-B1A6-4220-9824-76C5BA965949}"/>
              </a:ext>
            </a:extLst>
          </p:cNvPr>
          <p:cNvSpPr txBox="1"/>
          <p:nvPr/>
        </p:nvSpPr>
        <p:spPr>
          <a:xfrm>
            <a:off x="8565965" y="5765907"/>
            <a:ext cx="1019001" cy="484748"/>
          </a:xfrm>
          <a:prstGeom prst="rect">
            <a:avLst/>
          </a:prstGeom>
          <a:noFill/>
        </p:spPr>
        <p:txBody>
          <a:bodyPr wrap="square" lIns="0" tIns="0" rIns="0" bIns="0" rtlCol="0">
            <a:spAutoFit/>
          </a:bodyPr>
          <a:lstStyle/>
          <a:p>
            <a:r>
              <a:rPr lang="en-US" sz="1050" i="1" dirty="0">
                <a:solidFill>
                  <a:srgbClr val="C00000"/>
                </a:solidFill>
                <a:latin typeface="+mj-lt"/>
              </a:rPr>
              <a:t>Alarming churn rate among GA and ZV customers</a:t>
            </a:r>
          </a:p>
        </p:txBody>
      </p:sp>
      <p:sp>
        <p:nvSpPr>
          <p:cNvPr id="11" name="Speech Bubble: Rectangle 10">
            <a:extLst>
              <a:ext uri="{FF2B5EF4-FFF2-40B4-BE49-F238E27FC236}">
                <a16:creationId xmlns:a16="http://schemas.microsoft.com/office/drawing/2014/main" id="{6A09465B-DD96-4436-A67F-AE7E52F25386}"/>
              </a:ext>
            </a:extLst>
          </p:cNvPr>
          <p:cNvSpPr/>
          <p:nvPr/>
        </p:nvSpPr>
        <p:spPr bwMode="gray">
          <a:xfrm>
            <a:off x="3608166" y="874274"/>
            <a:ext cx="2478362" cy="483960"/>
          </a:xfrm>
          <a:prstGeom prst="wedgeRectCallout">
            <a:avLst>
              <a:gd name="adj1" fmla="val -80947"/>
              <a:gd name="adj2" fmla="val 165179"/>
            </a:avLst>
          </a:prstGeom>
          <a:solidFill>
            <a:srgbClr val="FFFF99"/>
          </a:solidFill>
          <a:ln w="12700">
            <a:noFill/>
            <a:prstDash val="solid"/>
            <a:miter lim="800000"/>
            <a:headEnd/>
            <a:tailEnd/>
          </a:ln>
          <a:effectLst/>
        </p:spPr>
        <p:txBody>
          <a:bodyPr wrap="square" lIns="72000" tIns="72000" rIns="72000" bIns="72000" rtlCol="0" anchor="ctr" anchorCtr="0">
            <a:spAutoFit/>
          </a:bodyPr>
          <a:lstStyle/>
          <a:p>
            <a:pPr algn="ctr" defTabSz="900113" eaLnBrk="1" hangingPunct="1">
              <a:spcBef>
                <a:spcPts val="0"/>
              </a:spcBef>
              <a:spcAft>
                <a:spcPts val="0"/>
              </a:spcAft>
              <a:buSzTx/>
            </a:pPr>
            <a:r>
              <a:rPr lang="en-US" sz="1100" b="1" dirty="0">
                <a:solidFill>
                  <a:schemeClr val="tx1"/>
                </a:solidFill>
                <a:latin typeface="+mj-lt"/>
                <a:ea typeface="ＭＳ Ｐゴシック" pitchFamily="-108" charset="-128"/>
                <a:sym typeface="Trebuchet MS" panose="020B0603020202020204" pitchFamily="34" charset="0"/>
              </a:rPr>
              <a:t>Only 37% of HVC remained in the segment 1 year later</a:t>
            </a:r>
          </a:p>
        </p:txBody>
      </p:sp>
      <p:grpSp>
        <p:nvGrpSpPr>
          <p:cNvPr id="13" name="Group 12">
            <a:extLst>
              <a:ext uri="{FF2B5EF4-FFF2-40B4-BE49-F238E27FC236}">
                <a16:creationId xmlns:a16="http://schemas.microsoft.com/office/drawing/2014/main" id="{D2F5453B-D1F2-409E-ADE2-D25FEC33F55C}"/>
              </a:ext>
            </a:extLst>
          </p:cNvPr>
          <p:cNvGrpSpPr/>
          <p:nvPr/>
        </p:nvGrpSpPr>
        <p:grpSpPr>
          <a:xfrm>
            <a:off x="7254068" y="6544089"/>
            <a:ext cx="728904" cy="252000"/>
            <a:chOff x="7005593" y="6563968"/>
            <a:chExt cx="728904" cy="252000"/>
          </a:xfrm>
        </p:grpSpPr>
        <p:pic>
          <p:nvPicPr>
            <p:cNvPr id="17" name="Picture 7" descr="C:\Users\amorales\Downloads\IconShock SuperVista VideoProduction\png\play_256.png">
              <a:hlinkClick r:id="rId3" action="ppaction://hlinksldjump"/>
              <a:extLst>
                <a:ext uri="{FF2B5EF4-FFF2-40B4-BE49-F238E27FC236}">
                  <a16:creationId xmlns:a16="http://schemas.microsoft.com/office/drawing/2014/main" id="{6D145104-BCC7-4CB2-9DD7-0E2F757A15F4}"/>
                </a:ext>
              </a:extLst>
            </p:cNvPr>
            <p:cNvPicPr>
              <a:picLocks noChangeAspect="1" noChangeArrowheads="1"/>
            </p:cNvPicPr>
            <p:nvPr/>
          </p:nvPicPr>
          <p:blipFill>
            <a:blip r:embed="rId4">
              <a:duotone>
                <a:prstClr val="black"/>
                <a:srgbClr val="6693B1">
                  <a:tint val="45000"/>
                  <a:satMod val="400000"/>
                </a:srgbClr>
              </a:duotone>
              <a:extLst>
                <a:ext uri="{BEBA8EAE-BF5A-486C-A8C5-ECC9F3942E4B}">
                  <a14:imgProps xmlns:a14="http://schemas.microsoft.com/office/drawing/2010/main">
                    <a14:imgLayer r:embed="rId5">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18" name="TextBox 17">
              <a:extLst>
                <a:ext uri="{FF2B5EF4-FFF2-40B4-BE49-F238E27FC236}">
                  <a16:creationId xmlns:a16="http://schemas.microsoft.com/office/drawing/2014/main" id="{2DC159AD-6901-4CAC-B624-64246383A588}"/>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Tree>
    <p:extLst>
      <p:ext uri="{BB962C8B-B14F-4D97-AF65-F5344CB8AC3E}">
        <p14:creationId xmlns:p14="http://schemas.microsoft.com/office/powerpoint/2010/main" val="1022049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1B007-874A-4854-A3F6-C95A77041987}"/>
              </a:ext>
            </a:extLst>
          </p:cNvPr>
          <p:cNvSpPr>
            <a:spLocks noGrp="1"/>
          </p:cNvSpPr>
          <p:nvPr>
            <p:ph type="title"/>
          </p:nvPr>
        </p:nvSpPr>
        <p:spPr/>
        <p:txBody>
          <a:bodyPr/>
          <a:lstStyle/>
          <a:p>
            <a:r>
              <a:rPr lang="en-US" dirty="0"/>
              <a:t>In the high value front, whereas the battle for the HVC acquisition is almost even, nearly 43% of the value generated in December 2017 vanished as customers migrated to lower ARPU segments</a:t>
            </a:r>
          </a:p>
        </p:txBody>
      </p:sp>
      <p:sp>
        <p:nvSpPr>
          <p:cNvPr id="3" name="Text Box 9">
            <a:extLst>
              <a:ext uri="{FF2B5EF4-FFF2-40B4-BE49-F238E27FC236}">
                <a16:creationId xmlns:a16="http://schemas.microsoft.com/office/drawing/2014/main" id="{2015913A-F1F8-4A30-8AB5-B04CA88BA53C}"/>
              </a:ext>
            </a:extLst>
          </p:cNvPr>
          <p:cNvSpPr txBox="1">
            <a:spLocks noChangeArrowheads="1"/>
          </p:cNvSpPr>
          <p:nvPr/>
        </p:nvSpPr>
        <p:spPr bwMode="gray">
          <a:xfrm>
            <a:off x="312739" y="1126296"/>
            <a:ext cx="3092056" cy="332399"/>
          </a:xfrm>
          <a:prstGeom prst="rect">
            <a:avLst/>
          </a:prstGeom>
          <a:noFill/>
          <a:ln w="25400" algn="ctr">
            <a:noFill/>
            <a:miter lim="800000"/>
            <a:headEnd/>
            <a:tailEnd/>
          </a:ln>
        </p:spPr>
        <p:txBody>
          <a:bodyPr wrap="square" lIns="0" tIns="0" rIns="0" bIns="0">
            <a:spAutoFit/>
          </a:bodyPr>
          <a:lstStyle/>
          <a:p>
            <a:pPr algn="l">
              <a:lnSpc>
                <a:spcPct val="90000"/>
              </a:lnSpc>
              <a:spcBef>
                <a:spcPct val="0"/>
              </a:spcBef>
              <a:buSzPct val="100000"/>
            </a:pPr>
            <a:r>
              <a:rPr lang="en-GB" sz="1400" b="1" dirty="0">
                <a:solidFill>
                  <a:srgbClr val="004B7D"/>
                </a:solidFill>
                <a:latin typeface="+mj-lt"/>
              </a:rPr>
              <a:t>Source of HV revenue evolution</a:t>
            </a:r>
          </a:p>
          <a:p>
            <a:pPr algn="l">
              <a:lnSpc>
                <a:spcPct val="90000"/>
              </a:lnSpc>
              <a:spcBef>
                <a:spcPct val="0"/>
              </a:spcBef>
              <a:buSzPct val="100000"/>
            </a:pPr>
            <a:r>
              <a:rPr lang="en-GB" sz="1000" dirty="0">
                <a:solidFill>
                  <a:srgbClr val="004B7D"/>
                </a:solidFill>
                <a:latin typeface="+mj-lt"/>
              </a:rPr>
              <a:t>(DA m, Dec 2017 – Dec 2018)</a:t>
            </a:r>
          </a:p>
        </p:txBody>
      </p:sp>
      <p:graphicFrame>
        <p:nvGraphicFramePr>
          <p:cNvPr id="4" name="Chart 3">
            <a:extLst>
              <a:ext uri="{FF2B5EF4-FFF2-40B4-BE49-F238E27FC236}">
                <a16:creationId xmlns:a16="http://schemas.microsoft.com/office/drawing/2014/main" id="{D9E257D8-FF39-4CC2-B142-41ECF0BD20CD}"/>
              </a:ext>
            </a:extLst>
          </p:cNvPr>
          <p:cNvGraphicFramePr/>
          <p:nvPr>
            <p:extLst/>
          </p:nvPr>
        </p:nvGraphicFramePr>
        <p:xfrm>
          <a:off x="1371659" y="1782560"/>
          <a:ext cx="8235891" cy="3670406"/>
        </p:xfrm>
        <a:graphic>
          <a:graphicData uri="http://schemas.openxmlformats.org/drawingml/2006/chart">
            <c:chart xmlns:c="http://schemas.openxmlformats.org/drawingml/2006/chart" xmlns:r="http://schemas.openxmlformats.org/officeDocument/2006/relationships" r:id="rId2"/>
          </a:graphicData>
        </a:graphic>
      </p:graphicFrame>
      <p:sp>
        <p:nvSpPr>
          <p:cNvPr id="5" name="Oval 4">
            <a:extLst>
              <a:ext uri="{FF2B5EF4-FFF2-40B4-BE49-F238E27FC236}">
                <a16:creationId xmlns:a16="http://schemas.microsoft.com/office/drawing/2014/main" id="{85BBAAA9-C965-431A-9888-EF230F928328}"/>
              </a:ext>
            </a:extLst>
          </p:cNvPr>
          <p:cNvSpPr/>
          <p:nvPr/>
        </p:nvSpPr>
        <p:spPr bwMode="auto">
          <a:xfrm>
            <a:off x="2742543" y="4561439"/>
            <a:ext cx="504000" cy="250478"/>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-15%</a:t>
            </a:r>
          </a:p>
        </p:txBody>
      </p:sp>
      <p:sp>
        <p:nvSpPr>
          <p:cNvPr id="6" name="Oval 5">
            <a:extLst>
              <a:ext uri="{FF2B5EF4-FFF2-40B4-BE49-F238E27FC236}">
                <a16:creationId xmlns:a16="http://schemas.microsoft.com/office/drawing/2014/main" id="{5BF03BF3-388E-4211-B2FF-EA3420FDD438}"/>
              </a:ext>
            </a:extLst>
          </p:cNvPr>
          <p:cNvSpPr/>
          <p:nvPr/>
        </p:nvSpPr>
        <p:spPr bwMode="auto">
          <a:xfrm>
            <a:off x="5729940" y="4561439"/>
            <a:ext cx="504000" cy="250478"/>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-43%</a:t>
            </a:r>
          </a:p>
        </p:txBody>
      </p:sp>
      <p:sp>
        <p:nvSpPr>
          <p:cNvPr id="8" name="Oval 7">
            <a:extLst>
              <a:ext uri="{FF2B5EF4-FFF2-40B4-BE49-F238E27FC236}">
                <a16:creationId xmlns:a16="http://schemas.microsoft.com/office/drawing/2014/main" id="{1D9F70BC-51B2-4545-8672-81A8E44AF488}"/>
              </a:ext>
            </a:extLst>
          </p:cNvPr>
          <p:cNvSpPr/>
          <p:nvPr/>
        </p:nvSpPr>
        <p:spPr bwMode="auto">
          <a:xfrm>
            <a:off x="6725739" y="4561439"/>
            <a:ext cx="504000" cy="250478"/>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18%</a:t>
            </a:r>
          </a:p>
        </p:txBody>
      </p:sp>
      <p:sp>
        <p:nvSpPr>
          <p:cNvPr id="9" name="Oval 8">
            <a:extLst>
              <a:ext uri="{FF2B5EF4-FFF2-40B4-BE49-F238E27FC236}">
                <a16:creationId xmlns:a16="http://schemas.microsoft.com/office/drawing/2014/main" id="{A1DF6A2F-ED64-4867-9748-0C12EE963846}"/>
              </a:ext>
            </a:extLst>
          </p:cNvPr>
          <p:cNvSpPr/>
          <p:nvPr/>
        </p:nvSpPr>
        <p:spPr bwMode="auto">
          <a:xfrm>
            <a:off x="8717334" y="4548915"/>
            <a:ext cx="504000" cy="275526"/>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64%</a:t>
            </a:r>
          </a:p>
        </p:txBody>
      </p:sp>
      <p:sp>
        <p:nvSpPr>
          <p:cNvPr id="18" name="Oval 17">
            <a:extLst>
              <a:ext uri="{FF2B5EF4-FFF2-40B4-BE49-F238E27FC236}">
                <a16:creationId xmlns:a16="http://schemas.microsoft.com/office/drawing/2014/main" id="{48EBE9F9-B1F5-4194-B0F5-E7A250D115DD}"/>
              </a:ext>
            </a:extLst>
          </p:cNvPr>
          <p:cNvSpPr/>
          <p:nvPr/>
        </p:nvSpPr>
        <p:spPr bwMode="auto">
          <a:xfrm>
            <a:off x="3738342" y="4561439"/>
            <a:ext cx="504000" cy="250478"/>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14%</a:t>
            </a:r>
          </a:p>
        </p:txBody>
      </p:sp>
      <p:sp>
        <p:nvSpPr>
          <p:cNvPr id="21" name="Oval 20">
            <a:extLst>
              <a:ext uri="{FF2B5EF4-FFF2-40B4-BE49-F238E27FC236}">
                <a16:creationId xmlns:a16="http://schemas.microsoft.com/office/drawing/2014/main" id="{8FE8CA6B-DCCF-40BE-9401-DF7DA5C891D0}"/>
              </a:ext>
            </a:extLst>
          </p:cNvPr>
          <p:cNvSpPr/>
          <p:nvPr/>
        </p:nvSpPr>
        <p:spPr bwMode="auto">
          <a:xfrm>
            <a:off x="7721538" y="4561439"/>
            <a:ext cx="504000" cy="250478"/>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-5%</a:t>
            </a:r>
          </a:p>
        </p:txBody>
      </p:sp>
      <p:sp>
        <p:nvSpPr>
          <p:cNvPr id="22" name="Oval 21">
            <a:extLst>
              <a:ext uri="{FF2B5EF4-FFF2-40B4-BE49-F238E27FC236}">
                <a16:creationId xmlns:a16="http://schemas.microsoft.com/office/drawing/2014/main" id="{9B9F25FB-6BC8-4196-9271-FDD50EAAB7EC}"/>
              </a:ext>
            </a:extLst>
          </p:cNvPr>
          <p:cNvSpPr/>
          <p:nvPr/>
        </p:nvSpPr>
        <p:spPr bwMode="auto">
          <a:xfrm>
            <a:off x="1746744" y="4549159"/>
            <a:ext cx="504000" cy="275038"/>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100%</a:t>
            </a:r>
          </a:p>
        </p:txBody>
      </p:sp>
      <p:sp>
        <p:nvSpPr>
          <p:cNvPr id="23" name="Oval 22">
            <a:extLst>
              <a:ext uri="{FF2B5EF4-FFF2-40B4-BE49-F238E27FC236}">
                <a16:creationId xmlns:a16="http://schemas.microsoft.com/office/drawing/2014/main" id="{0CCB341E-AEE2-4C17-AD7B-07B9EFAADC27}"/>
              </a:ext>
            </a:extLst>
          </p:cNvPr>
          <p:cNvSpPr/>
          <p:nvPr/>
        </p:nvSpPr>
        <p:spPr bwMode="auto">
          <a:xfrm>
            <a:off x="4734141" y="4549159"/>
            <a:ext cx="504000" cy="275038"/>
          </a:xfrm>
          <a:prstGeom prst="ellipse">
            <a:avLst/>
          </a:prstGeom>
          <a:solidFill>
            <a:schemeClr val="bg2"/>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r>
              <a:rPr lang="en-GB" b="1" dirty="0">
                <a:solidFill>
                  <a:schemeClr val="bg1"/>
                </a:solidFill>
                <a:latin typeface="+mj-lt"/>
              </a:rPr>
              <a:t>99%</a:t>
            </a:r>
          </a:p>
        </p:txBody>
      </p:sp>
      <p:grpSp>
        <p:nvGrpSpPr>
          <p:cNvPr id="26" name="Group 25">
            <a:extLst>
              <a:ext uri="{FF2B5EF4-FFF2-40B4-BE49-F238E27FC236}">
                <a16:creationId xmlns:a16="http://schemas.microsoft.com/office/drawing/2014/main" id="{EEF03600-E36A-457A-9CBA-702EB7CBCEBC}"/>
              </a:ext>
            </a:extLst>
          </p:cNvPr>
          <p:cNvGrpSpPr/>
          <p:nvPr/>
        </p:nvGrpSpPr>
        <p:grpSpPr>
          <a:xfrm>
            <a:off x="1851863" y="1682492"/>
            <a:ext cx="7156569" cy="411351"/>
            <a:chOff x="2548494" y="1647299"/>
            <a:chExt cx="6474028" cy="369691"/>
          </a:xfrm>
        </p:grpSpPr>
        <p:sp>
          <p:nvSpPr>
            <p:cNvPr id="27" name="Rounded Rectangle 67">
              <a:extLst>
                <a:ext uri="{FF2B5EF4-FFF2-40B4-BE49-F238E27FC236}">
                  <a16:creationId xmlns:a16="http://schemas.microsoft.com/office/drawing/2014/main" id="{F9D1D397-7165-4DD8-9DC5-EE9FFA5BD765}"/>
                </a:ext>
              </a:extLst>
            </p:cNvPr>
            <p:cNvSpPr/>
            <p:nvPr/>
          </p:nvSpPr>
          <p:spPr bwMode="auto">
            <a:xfrm>
              <a:off x="2548494" y="1647299"/>
              <a:ext cx="2753485" cy="369691"/>
            </a:xfrm>
            <a:prstGeom prst="roundRect">
              <a:avLst/>
            </a:prstGeom>
            <a:solidFill>
              <a:schemeClr val="tx2"/>
            </a:solidFill>
            <a:ln w="12700" cap="flat" cmpd="sng" algn="ctr">
              <a:solidFill>
                <a:schemeClr val="bg2"/>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30000"/>
                </a:spcBef>
                <a:spcAft>
                  <a:spcPct val="0"/>
                </a:spcAft>
                <a:buClrTx/>
                <a:buSzPct val="110000"/>
                <a:buFontTx/>
                <a:buNone/>
                <a:tabLst/>
              </a:pPr>
              <a:r>
                <a:rPr kumimoji="0" lang="en-US" sz="1400" b="1" i="1" u="none" strike="noStrike" cap="none" normalizeH="0" baseline="0" dirty="0">
                  <a:ln>
                    <a:noFill/>
                  </a:ln>
                  <a:solidFill>
                    <a:schemeClr val="bg1"/>
                  </a:solidFill>
                  <a:effectLst/>
                  <a:latin typeface="+mj-lt"/>
                </a:rPr>
                <a:t>The battle for the HVC </a:t>
              </a:r>
            </a:p>
          </p:txBody>
        </p:sp>
        <p:sp>
          <p:nvSpPr>
            <p:cNvPr id="28" name="Rounded Rectangle 68">
              <a:extLst>
                <a:ext uri="{FF2B5EF4-FFF2-40B4-BE49-F238E27FC236}">
                  <a16:creationId xmlns:a16="http://schemas.microsoft.com/office/drawing/2014/main" id="{1B793B6E-6422-4013-B7A7-7CAC93C583F6}"/>
                </a:ext>
              </a:extLst>
            </p:cNvPr>
            <p:cNvSpPr/>
            <p:nvPr/>
          </p:nvSpPr>
          <p:spPr bwMode="auto">
            <a:xfrm>
              <a:off x="5405759" y="1647299"/>
              <a:ext cx="3616763" cy="369691"/>
            </a:xfrm>
            <a:prstGeom prst="roundRect">
              <a:avLst/>
            </a:prstGeom>
            <a:solidFill>
              <a:schemeClr val="tx2"/>
            </a:solidFill>
            <a:ln w="12700" cap="flat" cmpd="sng" algn="ctr">
              <a:solidFill>
                <a:schemeClr val="bg2"/>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30000"/>
                </a:spcBef>
                <a:spcAft>
                  <a:spcPct val="0"/>
                </a:spcAft>
                <a:buClrTx/>
                <a:buSzPct val="110000"/>
                <a:buFontTx/>
                <a:buNone/>
                <a:tabLst/>
              </a:pPr>
              <a:r>
                <a:rPr lang="en-US" sz="1400" b="1" i="1" dirty="0">
                  <a:solidFill>
                    <a:schemeClr val="bg1"/>
                  </a:solidFill>
                  <a:latin typeface="+mj-lt"/>
                </a:rPr>
                <a:t>The battle to preserve HVCs value</a:t>
              </a:r>
              <a:endParaRPr kumimoji="0" lang="en-US" sz="1400" b="1" i="1" u="none" strike="noStrike" cap="none" normalizeH="0" baseline="0" dirty="0">
                <a:ln>
                  <a:noFill/>
                </a:ln>
                <a:solidFill>
                  <a:schemeClr val="bg1"/>
                </a:solidFill>
                <a:effectLst/>
                <a:latin typeface="+mj-lt"/>
              </a:endParaRPr>
            </a:p>
          </p:txBody>
        </p:sp>
      </p:grpSp>
      <p:graphicFrame>
        <p:nvGraphicFramePr>
          <p:cNvPr id="29" name="Table 28">
            <a:extLst>
              <a:ext uri="{FF2B5EF4-FFF2-40B4-BE49-F238E27FC236}">
                <a16:creationId xmlns:a16="http://schemas.microsoft.com/office/drawing/2014/main" id="{A896760B-E02E-4FE8-8BB2-B0732EB89180}"/>
              </a:ext>
            </a:extLst>
          </p:cNvPr>
          <p:cNvGraphicFramePr>
            <a:graphicFrameLocks noGrp="1"/>
          </p:cNvGraphicFramePr>
          <p:nvPr>
            <p:extLst/>
          </p:nvPr>
        </p:nvGraphicFramePr>
        <p:xfrm>
          <a:off x="332509" y="5556786"/>
          <a:ext cx="9103040" cy="709386"/>
        </p:xfrm>
        <a:graphic>
          <a:graphicData uri="http://schemas.openxmlformats.org/drawingml/2006/table">
            <a:tbl>
              <a:tblPr firstRow="1" bandRow="1">
                <a:pattFill>
                  <a:fgClr>
                    <a:srgbClr val="F2F2F2"/>
                  </a:fgClr>
                  <a:bgClr>
                    <a:srgbClr val="F2F2F2"/>
                  </a:bgClr>
                </a:pattFill>
                <a:tableStyleId>{2D5ABB26-0587-4C30-8999-92F81FD0307C}</a:tableStyleId>
              </a:tblPr>
              <a:tblGrid>
                <a:gridCol w="1161440">
                  <a:extLst>
                    <a:ext uri="{9D8B030D-6E8A-4147-A177-3AD203B41FA5}">
                      <a16:colId xmlns:a16="http://schemas.microsoft.com/office/drawing/2014/main" val="1158938506"/>
                    </a:ext>
                  </a:extLst>
                </a:gridCol>
                <a:gridCol w="992700">
                  <a:extLst>
                    <a:ext uri="{9D8B030D-6E8A-4147-A177-3AD203B41FA5}">
                      <a16:colId xmlns:a16="http://schemas.microsoft.com/office/drawing/2014/main" val="3065919566"/>
                    </a:ext>
                  </a:extLst>
                </a:gridCol>
                <a:gridCol w="992700">
                  <a:extLst>
                    <a:ext uri="{9D8B030D-6E8A-4147-A177-3AD203B41FA5}">
                      <a16:colId xmlns:a16="http://schemas.microsoft.com/office/drawing/2014/main" val="966582178"/>
                    </a:ext>
                  </a:extLst>
                </a:gridCol>
                <a:gridCol w="992700">
                  <a:extLst>
                    <a:ext uri="{9D8B030D-6E8A-4147-A177-3AD203B41FA5}">
                      <a16:colId xmlns:a16="http://schemas.microsoft.com/office/drawing/2014/main" val="3179463711"/>
                    </a:ext>
                  </a:extLst>
                </a:gridCol>
                <a:gridCol w="992700">
                  <a:extLst>
                    <a:ext uri="{9D8B030D-6E8A-4147-A177-3AD203B41FA5}">
                      <a16:colId xmlns:a16="http://schemas.microsoft.com/office/drawing/2014/main" val="2192517283"/>
                    </a:ext>
                  </a:extLst>
                </a:gridCol>
                <a:gridCol w="992700">
                  <a:extLst>
                    <a:ext uri="{9D8B030D-6E8A-4147-A177-3AD203B41FA5}">
                      <a16:colId xmlns:a16="http://schemas.microsoft.com/office/drawing/2014/main" val="3565971511"/>
                    </a:ext>
                  </a:extLst>
                </a:gridCol>
                <a:gridCol w="992700">
                  <a:extLst>
                    <a:ext uri="{9D8B030D-6E8A-4147-A177-3AD203B41FA5}">
                      <a16:colId xmlns:a16="http://schemas.microsoft.com/office/drawing/2014/main" val="4259557895"/>
                    </a:ext>
                  </a:extLst>
                </a:gridCol>
                <a:gridCol w="992700">
                  <a:extLst>
                    <a:ext uri="{9D8B030D-6E8A-4147-A177-3AD203B41FA5}">
                      <a16:colId xmlns:a16="http://schemas.microsoft.com/office/drawing/2014/main" val="3796302272"/>
                    </a:ext>
                  </a:extLst>
                </a:gridCol>
                <a:gridCol w="992700">
                  <a:extLst>
                    <a:ext uri="{9D8B030D-6E8A-4147-A177-3AD203B41FA5}">
                      <a16:colId xmlns:a16="http://schemas.microsoft.com/office/drawing/2014/main" val="4051781472"/>
                    </a:ext>
                  </a:extLst>
                </a:gridCol>
              </a:tblGrid>
              <a:tr h="354693">
                <a:tc>
                  <a:txBody>
                    <a:bodyPr/>
                    <a:lstStyle/>
                    <a:p>
                      <a:r>
                        <a:rPr lang="en-US" sz="1200" b="1" dirty="0">
                          <a:solidFill>
                            <a:schemeClr val="bg1"/>
                          </a:solidFill>
                          <a:latin typeface="Calibri" panose="020F0502020204030204" pitchFamily="34" charset="0"/>
                          <a:sym typeface="Calibri" panose="020F0502020204030204" pitchFamily="34" charset="0"/>
                        </a:rPr>
                        <a:t>Customers </a:t>
                      </a:r>
                      <a:r>
                        <a:rPr lang="en-US" sz="1000" b="1" dirty="0">
                          <a:solidFill>
                            <a:schemeClr val="bg1"/>
                          </a:solidFill>
                          <a:latin typeface="Calibri" panose="020F0502020204030204" pitchFamily="34" charset="0"/>
                          <a:sym typeface="Calibri" panose="020F0502020204030204" pitchFamily="34" charset="0"/>
                        </a:rPr>
                        <a:t>(000)</a:t>
                      </a:r>
                      <a:endParaRPr lang="en-GB" sz="1100" b="0" dirty="0">
                        <a:solidFill>
                          <a:schemeClr val="bg1"/>
                        </a:solidFill>
                        <a:latin typeface="Calibri" panose="020F0502020204030204" pitchFamily="34" charset="0"/>
                        <a:sym typeface="Calibri" panose="020F0502020204030204" pitchFamily="34" charset="0"/>
                      </a:endParaRPr>
                    </a:p>
                  </a:txBody>
                  <a:tcPr anchor="ctr">
                    <a:lnL>
                      <a:noFill/>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798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125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120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792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378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172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294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586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9431544"/>
                  </a:ext>
                </a:extLst>
              </a:tr>
              <a:tr h="354693">
                <a:tc>
                  <a:txBody>
                    <a:bodyPr/>
                    <a:lstStyle/>
                    <a:p>
                      <a:r>
                        <a:rPr lang="en-GB" sz="1100" b="1" dirty="0">
                          <a:solidFill>
                            <a:schemeClr val="bg1"/>
                          </a:solidFill>
                          <a:latin typeface="Calibri" panose="020F0502020204030204" pitchFamily="34" charset="0"/>
                          <a:sym typeface="Calibri" panose="020F0502020204030204" pitchFamily="34" charset="0"/>
                        </a:rPr>
                        <a:t>ARPU (DA)</a:t>
                      </a:r>
                    </a:p>
                  </a:txBody>
                  <a:tcPr anchor="ctr">
                    <a:lnL>
                      <a:noFill/>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3,770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3,555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3,488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3,761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3,406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3,190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GB" sz="1200" b="1" dirty="0">
                        <a:solidFill>
                          <a:srgbClr val="000000"/>
                        </a:solidFill>
                        <a:latin typeface="Calibri" panose="020F0502020204030204" pitchFamily="34" charset="0"/>
                        <a:sym typeface="Calibri" panose="020F0502020204030204" pitchFamily="34" charset="0"/>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200" b="1" dirty="0">
                          <a:solidFill>
                            <a:srgbClr val="000000"/>
                          </a:solidFill>
                          <a:latin typeface="Calibri" panose="020F0502020204030204" pitchFamily="34" charset="0"/>
                          <a:sym typeface="Calibri" panose="020F0502020204030204" pitchFamily="34" charset="0"/>
                        </a:rPr>
                        <a:t>3,557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2373911"/>
                  </a:ext>
                </a:extLst>
              </a:tr>
            </a:tbl>
          </a:graphicData>
        </a:graphic>
      </p:graphicFrame>
      <p:sp>
        <p:nvSpPr>
          <p:cNvPr id="17" name="TextBox 16">
            <a:extLst>
              <a:ext uri="{FF2B5EF4-FFF2-40B4-BE49-F238E27FC236}">
                <a16:creationId xmlns:a16="http://schemas.microsoft.com/office/drawing/2014/main" id="{2E1B2EE4-9BC5-455F-9EBB-F5C832FC7F2B}"/>
              </a:ext>
            </a:extLst>
          </p:cNvPr>
          <p:cNvSpPr txBox="1"/>
          <p:nvPr/>
        </p:nvSpPr>
        <p:spPr>
          <a:xfrm>
            <a:off x="304800" y="6409604"/>
            <a:ext cx="9296400" cy="123111"/>
          </a:xfrm>
          <a:prstGeom prst="rect">
            <a:avLst/>
          </a:prstGeom>
          <a:noFill/>
          <a:ln>
            <a:noFill/>
            <a:prstDash val="solid"/>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a:solidFill>
                  <a:schemeClr val="tx1"/>
                </a:solidFill>
                <a:prstDash val="solid"/>
              </a14:hiddenLine>
            </a:ext>
          </a:extLst>
        </p:spPr>
        <p:txBody>
          <a:bodyPr vert="horz" wrap="square" lIns="0" tIns="0" rIns="0" bIns="0" rtlCol="0" anchor="b" anchorCtr="0">
            <a:spAutoFit/>
          </a:bodyPr>
          <a:lstStyle/>
          <a:p>
            <a:pPr algn="l">
              <a:spcBef>
                <a:spcPct val="0"/>
              </a:spcBef>
            </a:pPr>
            <a:r>
              <a:rPr lang="en-GB" sz="800" dirty="0">
                <a:solidFill>
                  <a:schemeClr val="tx1"/>
                </a:solidFill>
                <a:latin typeface="+mj-lt"/>
              </a:rPr>
              <a:t>Source: Delta Partners Datamart, OA commercial Datamart, OA DWH, Delta Partners analysis</a:t>
            </a:r>
            <a:endParaRPr lang="en-GB" sz="800" dirty="0">
              <a:solidFill>
                <a:schemeClr val="tx1"/>
              </a:solidFill>
              <a:latin typeface="+mj-lt"/>
              <a:sym typeface="Trebuchet MS" panose="020B0603020202020204" pitchFamily="34" charset="0"/>
            </a:endParaRPr>
          </a:p>
        </p:txBody>
      </p:sp>
      <p:pic>
        <p:nvPicPr>
          <p:cNvPr id="19" name="Picture 18" descr="http://maps.google.com/mapfiles/kml/shapes/caution.png">
            <a:extLst>
              <a:ext uri="{FF2B5EF4-FFF2-40B4-BE49-F238E27FC236}">
                <a16:creationId xmlns:a16="http://schemas.microsoft.com/office/drawing/2014/main" id="{B94D5DE8-9DFA-4180-8157-722732105AC2}"/>
              </a:ext>
            </a:extLst>
          </p:cNvPr>
          <p:cNvPicPr>
            <a:picLocks noChangeAspect="1" noChangeArrowheads="1"/>
          </p:cNvPicPr>
          <p:nvPr/>
        </p:nvPicPr>
        <p:blipFill>
          <a:blip r:embed="rId3" cstate="email"/>
          <a:srcRect/>
          <a:stretch>
            <a:fillRect/>
          </a:stretch>
        </p:blipFill>
        <p:spPr bwMode="auto">
          <a:xfrm>
            <a:off x="5867876" y="3524062"/>
            <a:ext cx="266988" cy="250587"/>
          </a:xfrm>
          <a:prstGeom prst="rect">
            <a:avLst/>
          </a:prstGeom>
          <a:noFill/>
        </p:spPr>
      </p:pic>
      <p:sp>
        <p:nvSpPr>
          <p:cNvPr id="20" name="TextBox 19">
            <a:extLst>
              <a:ext uri="{FF2B5EF4-FFF2-40B4-BE49-F238E27FC236}">
                <a16:creationId xmlns:a16="http://schemas.microsoft.com/office/drawing/2014/main" id="{7D49F3A6-FC0F-4EF7-8CD4-84785B2D4773}"/>
              </a:ext>
            </a:extLst>
          </p:cNvPr>
          <p:cNvSpPr txBox="1"/>
          <p:nvPr/>
        </p:nvSpPr>
        <p:spPr>
          <a:xfrm>
            <a:off x="2646801" y="3345300"/>
            <a:ext cx="759656" cy="646331"/>
          </a:xfrm>
          <a:prstGeom prst="rect">
            <a:avLst/>
          </a:prstGeom>
          <a:noFill/>
        </p:spPr>
        <p:txBody>
          <a:bodyPr wrap="square" lIns="0" tIns="0" rIns="0" bIns="0" rtlCol="0">
            <a:spAutoFit/>
          </a:bodyPr>
          <a:lstStyle/>
          <a:p>
            <a:r>
              <a:rPr lang="en-US" sz="1050" i="1" dirty="0">
                <a:solidFill>
                  <a:srgbClr val="C00000"/>
                </a:solidFill>
                <a:latin typeface="+mj-lt"/>
              </a:rPr>
              <a:t>Slightly negative Battle for HVC</a:t>
            </a:r>
          </a:p>
        </p:txBody>
      </p:sp>
      <p:sp>
        <p:nvSpPr>
          <p:cNvPr id="24" name="Rectangle 23">
            <a:extLst>
              <a:ext uri="{FF2B5EF4-FFF2-40B4-BE49-F238E27FC236}">
                <a16:creationId xmlns:a16="http://schemas.microsoft.com/office/drawing/2014/main" id="{B5C3662F-8FA9-46AA-972D-747451360C86}"/>
              </a:ext>
            </a:extLst>
          </p:cNvPr>
          <p:cNvSpPr/>
          <p:nvPr/>
        </p:nvSpPr>
        <p:spPr bwMode="gray">
          <a:xfrm>
            <a:off x="2458654" y="2195877"/>
            <a:ext cx="1135950" cy="4153408"/>
          </a:xfrm>
          <a:prstGeom prst="rect">
            <a:avLst/>
          </a:prstGeom>
          <a:noFill/>
          <a:ln w="12700">
            <a:solidFill>
              <a:srgbClr val="FF0000"/>
            </a:solidFill>
            <a:prstDash val="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sp>
        <p:nvSpPr>
          <p:cNvPr id="25" name="TextBox 24">
            <a:extLst>
              <a:ext uri="{FF2B5EF4-FFF2-40B4-BE49-F238E27FC236}">
                <a16:creationId xmlns:a16="http://schemas.microsoft.com/office/drawing/2014/main" id="{F11B186F-A99E-4838-A8F4-BB693EE27262}"/>
              </a:ext>
            </a:extLst>
          </p:cNvPr>
          <p:cNvSpPr txBox="1"/>
          <p:nvPr/>
        </p:nvSpPr>
        <p:spPr>
          <a:xfrm>
            <a:off x="5621542" y="3811288"/>
            <a:ext cx="759656" cy="484748"/>
          </a:xfrm>
          <a:prstGeom prst="rect">
            <a:avLst/>
          </a:prstGeom>
          <a:noFill/>
        </p:spPr>
        <p:txBody>
          <a:bodyPr wrap="square" lIns="0" tIns="0" rIns="0" bIns="0" rtlCol="0">
            <a:spAutoFit/>
          </a:bodyPr>
          <a:lstStyle/>
          <a:p>
            <a:r>
              <a:rPr lang="en-US" sz="1050" i="1" dirty="0">
                <a:solidFill>
                  <a:srgbClr val="C00000"/>
                </a:solidFill>
                <a:latin typeface="+mj-lt"/>
              </a:rPr>
              <a:t>Alarming loss of value in HV segment</a:t>
            </a:r>
          </a:p>
        </p:txBody>
      </p:sp>
      <p:sp>
        <p:nvSpPr>
          <p:cNvPr id="30" name="Rectangle 29">
            <a:extLst>
              <a:ext uri="{FF2B5EF4-FFF2-40B4-BE49-F238E27FC236}">
                <a16:creationId xmlns:a16="http://schemas.microsoft.com/office/drawing/2014/main" id="{96044FCE-A408-40E5-AF18-0F102CE0C2DC}"/>
              </a:ext>
            </a:extLst>
          </p:cNvPr>
          <p:cNvSpPr/>
          <p:nvPr/>
        </p:nvSpPr>
        <p:spPr bwMode="gray">
          <a:xfrm>
            <a:off x="5433395" y="2195877"/>
            <a:ext cx="1135950" cy="4153408"/>
          </a:xfrm>
          <a:prstGeom prst="rect">
            <a:avLst/>
          </a:prstGeom>
          <a:noFill/>
          <a:ln w="12700">
            <a:solidFill>
              <a:srgbClr val="FF0000"/>
            </a:solidFill>
            <a:prstDash val="dash"/>
            <a:miter lim="800000"/>
            <a:headEnd/>
            <a:tailEnd/>
          </a:ln>
          <a:effectLst/>
        </p:spPr>
        <p:txBody>
          <a:bodyPr wrap="square" lIns="108000" tIns="72000" rIns="108000" bIns="72000" rtlCol="0" anchor="ctr" anchorCtr="0">
            <a:noAutofit/>
          </a:bodyPr>
          <a:lstStyle/>
          <a:p>
            <a:pPr algn="ctr" defTabSz="900113" eaLnBrk="1" hangingPunct="1">
              <a:spcBef>
                <a:spcPts val="0"/>
              </a:spcBef>
              <a:spcAft>
                <a:spcPts val="0"/>
              </a:spcAft>
              <a:buSzTx/>
            </a:pPr>
            <a:endParaRPr lang="en-US" sz="1500" b="1" dirty="0">
              <a:solidFill>
                <a:srgbClr val="FFFFFF"/>
              </a:solidFill>
              <a:latin typeface="+mj-lt"/>
              <a:ea typeface="ＭＳ Ｐゴシック" pitchFamily="-108" charset="-128"/>
              <a:sym typeface="Trebuchet MS" panose="020B0603020202020204" pitchFamily="34" charset="0"/>
            </a:endParaRPr>
          </a:p>
        </p:txBody>
      </p:sp>
      <p:pic>
        <p:nvPicPr>
          <p:cNvPr id="31" name="Picture 30" descr="http://maps.google.com/mapfiles/kml/shapes/caution.png">
            <a:extLst>
              <a:ext uri="{FF2B5EF4-FFF2-40B4-BE49-F238E27FC236}">
                <a16:creationId xmlns:a16="http://schemas.microsoft.com/office/drawing/2014/main" id="{68F959FA-261B-4A93-AA4E-D9B8A10E3983}"/>
              </a:ext>
            </a:extLst>
          </p:cNvPr>
          <p:cNvPicPr>
            <a:picLocks noChangeAspect="1" noChangeArrowheads="1"/>
          </p:cNvPicPr>
          <p:nvPr/>
        </p:nvPicPr>
        <p:blipFill>
          <a:blip r:embed="rId3" cstate="email"/>
          <a:srcRect/>
          <a:stretch>
            <a:fillRect/>
          </a:stretch>
        </p:blipFill>
        <p:spPr bwMode="auto">
          <a:xfrm>
            <a:off x="2893135" y="3011600"/>
            <a:ext cx="266988" cy="250587"/>
          </a:xfrm>
          <a:prstGeom prst="rect">
            <a:avLst/>
          </a:prstGeom>
          <a:noFill/>
        </p:spPr>
      </p:pic>
      <p:grpSp>
        <p:nvGrpSpPr>
          <p:cNvPr id="32" name="Group 31">
            <a:extLst>
              <a:ext uri="{FF2B5EF4-FFF2-40B4-BE49-F238E27FC236}">
                <a16:creationId xmlns:a16="http://schemas.microsoft.com/office/drawing/2014/main" id="{7A5D78BF-8123-4392-B4AB-BAFBF109D166}"/>
              </a:ext>
            </a:extLst>
          </p:cNvPr>
          <p:cNvGrpSpPr/>
          <p:nvPr/>
        </p:nvGrpSpPr>
        <p:grpSpPr>
          <a:xfrm>
            <a:off x="7254068" y="6544089"/>
            <a:ext cx="728904" cy="252000"/>
            <a:chOff x="7005593" y="6563968"/>
            <a:chExt cx="728904" cy="252000"/>
          </a:xfrm>
        </p:grpSpPr>
        <p:pic>
          <p:nvPicPr>
            <p:cNvPr id="33" name="Picture 7" descr="C:\Users\amorales\Downloads\IconShock SuperVista VideoProduction\png\play_256.png">
              <a:hlinkClick r:id="rId4" action="ppaction://hlinksldjump"/>
              <a:extLst>
                <a:ext uri="{FF2B5EF4-FFF2-40B4-BE49-F238E27FC236}">
                  <a16:creationId xmlns:a16="http://schemas.microsoft.com/office/drawing/2014/main" id="{555B4139-EC26-499C-914F-8F93B9D6DE86}"/>
                </a:ext>
              </a:extLst>
            </p:cNvPr>
            <p:cNvPicPr>
              <a:picLocks noChangeAspect="1" noChangeArrowheads="1"/>
            </p:cNvPicPr>
            <p:nvPr/>
          </p:nvPicPr>
          <p:blipFill>
            <a:blip r:embed="rId5">
              <a:duotone>
                <a:prstClr val="black"/>
                <a:srgbClr val="6693B1">
                  <a:tint val="45000"/>
                  <a:satMod val="400000"/>
                </a:srgbClr>
              </a:duotone>
              <a:extLst>
                <a:ext uri="{BEBA8EAE-BF5A-486C-A8C5-ECC9F3942E4B}">
                  <a14:imgProps xmlns:a14="http://schemas.microsoft.com/office/drawing/2010/main">
                    <a14:imgLayer r:embed="rId6">
                      <a14:imgEffect>
                        <a14:saturation sat="400000"/>
                      </a14:imgEffect>
                    </a14:imgLayer>
                  </a14:imgProps>
                </a:ext>
              </a:extLst>
            </a:blip>
            <a:srcRect/>
            <a:stretch>
              <a:fillRect/>
            </a:stretch>
          </p:blipFill>
          <p:spPr bwMode="auto">
            <a:xfrm>
              <a:off x="7482497" y="6563968"/>
              <a:ext cx="252000" cy="252000"/>
            </a:xfrm>
            <a:prstGeom prst="rect">
              <a:avLst/>
            </a:prstGeom>
            <a:noFill/>
          </p:spPr>
        </p:pic>
        <p:sp>
          <p:nvSpPr>
            <p:cNvPr id="34" name="TextBox 33">
              <a:extLst>
                <a:ext uri="{FF2B5EF4-FFF2-40B4-BE49-F238E27FC236}">
                  <a16:creationId xmlns:a16="http://schemas.microsoft.com/office/drawing/2014/main" id="{8F4AB385-7ECD-4C4E-83EE-1A0671F34245}"/>
                </a:ext>
              </a:extLst>
            </p:cNvPr>
            <p:cNvSpPr txBox="1"/>
            <p:nvPr/>
          </p:nvSpPr>
          <p:spPr>
            <a:xfrm>
              <a:off x="7005593" y="6589299"/>
              <a:ext cx="447238" cy="161583"/>
            </a:xfrm>
            <a:prstGeom prst="rect">
              <a:avLst/>
            </a:prstGeom>
            <a:noFill/>
          </p:spPr>
          <p:txBody>
            <a:bodyPr wrap="none" lIns="0" tIns="0" rIns="0" bIns="0" rtlCol="0">
              <a:spAutoFit/>
            </a:bodyPr>
            <a:lstStyle/>
            <a:p>
              <a:pPr marL="0" marR="0" lvl="0" indent="0" algn="r" defTabSz="8089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Calibri"/>
                  <a:ea typeface="+mn-ea"/>
                  <a:cs typeface="+mn-cs"/>
                </a:rPr>
                <a:t>Go back</a:t>
              </a:r>
            </a:p>
          </p:txBody>
        </p:sp>
      </p:grpSp>
    </p:spTree>
    <p:extLst>
      <p:ext uri="{BB962C8B-B14F-4D97-AF65-F5344CB8AC3E}">
        <p14:creationId xmlns:p14="http://schemas.microsoft.com/office/powerpoint/2010/main" val="106320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6449076"/>
      </p:ext>
    </p:extLst>
  </p:cSld>
  <p:clrMapOvr>
    <a:masterClrMapping/>
  </p:clrMapOvr>
</p:sld>
</file>

<file path=ppt/theme/theme1.xml><?xml version="1.0" encoding="utf-8"?>
<a:theme xmlns:a="http://schemas.openxmlformats.org/drawingml/2006/main" name="Delta Partners 2017">
  <a:themeElements>
    <a:clrScheme name="Delta Partners NEW">
      <a:dk1>
        <a:srgbClr val="000000"/>
      </a:dk1>
      <a:lt1>
        <a:srgbClr val="FFFFFF"/>
      </a:lt1>
      <a:dk2>
        <a:srgbClr val="00568A"/>
      </a:dk2>
      <a:lt2>
        <a:srgbClr val="919191"/>
      </a:lt2>
      <a:accent1>
        <a:srgbClr val="00568A"/>
      </a:accent1>
      <a:accent2>
        <a:srgbClr val="A5D5DE"/>
      </a:accent2>
      <a:accent3>
        <a:srgbClr val="5EB4C4"/>
      </a:accent3>
      <a:accent4>
        <a:srgbClr val="DBEEF2"/>
      </a:accent4>
      <a:accent5>
        <a:srgbClr val="3F89BB"/>
      </a:accent5>
      <a:accent6>
        <a:srgbClr val="A3C7E0"/>
      </a:accent6>
      <a:hlink>
        <a:srgbClr val="004B7D"/>
      </a:hlink>
      <a:folHlink>
        <a:srgbClr val="A5D5DE"/>
      </a:folHlink>
    </a:clrScheme>
    <a:fontScheme name="CalibriDelta">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tx2"/>
        </a:solidFill>
        <a:ln w="12700">
          <a:noFill/>
          <a:prstDash val="solid"/>
          <a:miter lim="800000"/>
          <a:headEnd/>
          <a:tailEnd/>
        </a:ln>
        <a:effectLst/>
      </a:spPr>
      <a:bodyPr wrap="square" lIns="108000" tIns="72000" rIns="108000" bIns="72000" anchor="ctr" anchorCtr="0">
        <a:noAutofit/>
      </a:bodyPr>
      <a:lstStyle>
        <a:defPPr defTabSz="900113" eaLnBrk="1" hangingPunct="1">
          <a:spcBef>
            <a:spcPts val="0"/>
          </a:spcBef>
          <a:spcAft>
            <a:spcPts val="0"/>
          </a:spcAft>
          <a:buSzTx/>
          <a:defRPr sz="1500" b="1" dirty="0">
            <a:solidFill>
              <a:srgbClr val="FFFFFF"/>
            </a:solidFill>
            <a:latin typeface="+mj-lt"/>
            <a:ea typeface="ＭＳ Ｐゴシック" pitchFamily="-108" charset="-128"/>
            <a:sym typeface="Trebuchet MS" panose="020B0603020202020204" pitchFamily="34" charset="0"/>
          </a:defRPr>
        </a:defPPr>
      </a:lstStyle>
    </a:spDef>
    <a:lnDef>
      <a:spPr bwMode="auto">
        <a:noFill/>
        <a:ln w="3175">
          <a:solidFill>
            <a:srgbClr val="004B7D"/>
          </a:solidFill>
          <a:round/>
          <a:headEnd/>
          <a:tailEnd/>
        </a:ln>
      </a:spPr>
      <a:bodyPr/>
      <a:lstStyle/>
    </a:lnDef>
    <a:txDef>
      <a:spPr bwMode="gray">
        <a:noFill/>
        <a:ln w="25400" algn="ctr">
          <a:noFill/>
          <a:miter lim="800000"/>
          <a:headEnd/>
          <a:tailEnd/>
        </a:ln>
      </a:spPr>
      <a:bodyPr wrap="square" lIns="0" tIns="0" rIns="0" bIns="0" rtlCol="0" anchor="t">
        <a:spAutoFit/>
      </a:bodyPr>
      <a:lstStyle>
        <a:defPPr marL="180975" indent="-180975" algn="l">
          <a:spcBef>
            <a:spcPts val="600"/>
          </a:spcBef>
          <a:buSzPct val="100000"/>
          <a:buFont typeface="Arial" panose="020B0604020202020204" pitchFamily="34" charset="0"/>
          <a:buChar char="•"/>
          <a:defRPr sz="1600" dirty="0">
            <a:solidFill>
              <a:schemeClr val="tx1"/>
            </a:solidFill>
            <a:latin typeface="+mn-lt"/>
          </a:defRPr>
        </a:defPPr>
      </a:lstStyle>
    </a:txDef>
  </a:objectDefaults>
  <a:extraClrSchemeLst>
    <a:extraClrScheme>
      <a:clrScheme name="Delta Partners Template 1">
        <a:dk1>
          <a:srgbClr val="000000"/>
        </a:dk1>
        <a:lt1>
          <a:srgbClr val="FFFFFF"/>
        </a:lt1>
        <a:dk2>
          <a:srgbClr val="004B7D"/>
        </a:dk2>
        <a:lt2>
          <a:srgbClr val="919191"/>
        </a:lt2>
        <a:accent1>
          <a:srgbClr val="CCDAE5"/>
        </a:accent1>
        <a:accent2>
          <a:srgbClr val="99B7CB"/>
        </a:accent2>
        <a:accent3>
          <a:srgbClr val="FFFFFF"/>
        </a:accent3>
        <a:accent4>
          <a:srgbClr val="000000"/>
        </a:accent4>
        <a:accent5>
          <a:srgbClr val="E2EAF0"/>
        </a:accent5>
        <a:accent6>
          <a:srgbClr val="8AA6B8"/>
        </a:accent6>
        <a:hlink>
          <a:srgbClr val="6693B1"/>
        </a:hlink>
        <a:folHlink>
          <a:srgbClr val="A5D5D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elta Partners Template 2018" id="{0F545F25-618D-4B6E-8AB8-79D078D55A16}" vid="{3716F099-8EEB-44E4-AF02-59D6762DFE0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7CEE784EFEE4942BBC1B003082E34E2" ma:contentTypeVersion="1" ma:contentTypeDescription="Create a new document." ma:contentTypeScope="" ma:versionID="21b96c53e04713083a0ee111792d14cf">
  <xsd:schema xmlns:xsd="http://www.w3.org/2001/XMLSchema" xmlns:p="http://schemas.microsoft.com/office/2006/metadata/properties" xmlns:ns2="d3e094b2-fd39-4b6b-bedc-d9946e131a0e" targetNamespace="http://schemas.microsoft.com/office/2006/metadata/properties" ma:root="true" ma:fieldsID="e1f2ff74f16161d4baccc8121c2b28e3" ns2:_="">
    <xsd:import namespace="d3e094b2-fd39-4b6b-bedc-d9946e131a0e"/>
    <xsd:element name="properties">
      <xsd:complexType>
        <xsd:sequence>
          <xsd:element name="documentManagement">
            <xsd:complexType>
              <xsd:all>
                <xsd:element ref="ns2:Name_x0020_Of_x0020_document" minOccurs="0"/>
              </xsd:all>
            </xsd:complexType>
          </xsd:element>
        </xsd:sequence>
      </xsd:complexType>
    </xsd:element>
  </xsd:schema>
  <xsd:schema xmlns:xsd="http://www.w3.org/2001/XMLSchema" xmlns:dms="http://schemas.microsoft.com/office/2006/documentManagement/types" targetNamespace="d3e094b2-fd39-4b6b-bedc-d9946e131a0e" elementFormDefault="qualified">
    <xsd:import namespace="http://schemas.microsoft.com/office/2006/documentManagement/types"/>
    <xsd:element name="Name_x0020_Of_x0020_document" ma:index="8" nillable="true" ma:displayName="Name Of document" ma:internalName="Name_x0020_Of_x0020_docum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Name_x0020_Of_x0020_document xmlns="d3e094b2-fd39-4b6b-bedc-d9946e131a0e" xsi:nil="true"/>
  </documentManagement>
</p:properties>
</file>

<file path=customXml/itemProps1.xml><?xml version="1.0" encoding="utf-8"?>
<ds:datastoreItem xmlns:ds="http://schemas.openxmlformats.org/officeDocument/2006/customXml" ds:itemID="{7D45F609-1844-4085-B581-DC4DEA8F906E}">
  <ds:schemaRefs>
    <ds:schemaRef ds:uri="http://schemas.microsoft.com/sharepoint/v3/contenttype/forms"/>
  </ds:schemaRefs>
</ds:datastoreItem>
</file>

<file path=customXml/itemProps2.xml><?xml version="1.0" encoding="utf-8"?>
<ds:datastoreItem xmlns:ds="http://schemas.openxmlformats.org/officeDocument/2006/customXml" ds:itemID="{29FF9346-4081-443C-B510-356DC3048A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e094b2-fd39-4b6b-bedc-d9946e131a0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493FB1EE-E344-4A75-AE38-DBFD45EF0855}">
  <ds:schemaRefs>
    <ds:schemaRef ds:uri="http://www.w3.org/XML/1998/namespace"/>
    <ds:schemaRef ds:uri="http://purl.org/dc/dcmitype/"/>
    <ds:schemaRef ds:uri="d3e094b2-fd39-4b6b-bedc-d9946e131a0e"/>
    <ds:schemaRef ds:uri="http://schemas.openxmlformats.org/package/2006/metadata/core-properties"/>
    <ds:schemaRef ds:uri="http://schemas.microsoft.com/office/2006/documentManagement/types"/>
    <ds:schemaRef ds:uri="http://schemas.microsoft.com/office/2006/metadata/propertie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Delta Partners Template 2018</Template>
  <TotalTime>8648</TotalTime>
  <Words>1163</Words>
  <Application>Microsoft Office PowerPoint</Application>
  <PresentationFormat>A4 Paper (210x297 mm)</PresentationFormat>
  <Paragraphs>314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ＭＳ Ｐゴシック</vt:lpstr>
      <vt:lpstr>Calibri</vt:lpstr>
      <vt:lpstr>Trebuchet MS</vt:lpstr>
      <vt:lpstr>Delta Partners 2017</vt:lpstr>
      <vt:lpstr>PowerPoint Presentation</vt:lpstr>
      <vt:lpstr>Prepaid service revenues have suffered a 16% erosion (1.15 Bn DA) during the period of analysis</vt:lpstr>
      <vt:lpstr>Sources of revenue decline can be observed from multiple angles</vt:lpstr>
      <vt:lpstr>OA customer base has been segmented into 5 segments each presents different characteristics in terms of ARPU, data usage and churn</vt:lpstr>
      <vt:lpstr>The revenue cannibalization in High Value segment lead the value destruction in prepaid revenues</vt:lpstr>
      <vt:lpstr>HV customer base deteriorated the most in the past 12 months, while the number of zero-revenue users has grown the most</vt:lpstr>
      <vt:lpstr>The % of high value customers went down by 25% in the next two months after the maxy revamp to stabilize during the last 6 months of the year</vt:lpstr>
      <vt:lpstr>A great majority of the customers in the base in December 2017 have migrated to lower value segments or churned out, including GA</vt:lpstr>
      <vt:lpstr>In the high value front, whereas the battle for the HVC acquisition is almost even, nearly 43% of the value generated in December 2017 vanished as customers migrated to lower ARPU segments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Carlos Vidal</dc:creator>
  <cp:lastModifiedBy>Pietro Cantarelli</cp:lastModifiedBy>
  <cp:revision>454</cp:revision>
  <cp:lastPrinted>2017-01-25T14:25:44Z</cp:lastPrinted>
  <dcterms:created xsi:type="dcterms:W3CDTF">2019-02-08T07:56:01Z</dcterms:created>
  <dcterms:modified xsi:type="dcterms:W3CDTF">2019-03-15T08:23:41Z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0x010100D7CEE784EFEE4942BBC1B003082E34E2</vt:lpwstr>
  </property>
</Properties>
</file>