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94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0" y="914400"/>
            <a:ext cx="2194560" cy="2194560"/>
          </a:xfrm>
          <a:prstGeom prst="rect">
            <a:avLst/>
          </a:prstGeom>
          <a:solidFill>
            <a:srgbClr val="2C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794760" y="100584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Ooredoo Falcon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CCCC"/>
                </a:solidFill>
              </a:rPr>
              <a:t>AI-Powered FTTH Market Intelligence &amp; Expansion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5074920"/>
            <a:ext cx="2743200" cy="4572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Ooredoo Oman  ·  Muscat  · 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Business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CCCCCC"/>
                </a:solidFill>
              </a:rPr>
              <a:t>◆  Rapid urbanization in Muscat creates surging demand for high-speed broadband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CCCCCC"/>
                </a:solidFill>
              </a:rPr>
              <a:t>◆  Manual FTTH planning is slow, costly, and error-prone — weeks per zone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CCCCCC"/>
                </a:solidFill>
              </a:rPr>
              <a:t>◆  Competitive pressure from Omantel (40%) and Awasr (30%) erodes Ooredoo market share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CCCCCC"/>
                </a:solidFill>
              </a:rPr>
              <a:t>◆  Coverage gap analysis relies on outdated surveys with no real-time intelligence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CCCCCC"/>
                </a:solidFill>
              </a:rPr>
              <a:t>◆  Revenue opportunities are missed due to lack of data-driven zone prioritization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Why FTTH Matters for Ooredoo Oman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CCCCCC"/>
                </a:solidFill>
              </a:rPr>
              <a:t>◆  FTTH delivers 100x faster speeds vs. legacy DSL — unmatched customer experience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CCCCCC"/>
                </a:solidFill>
              </a:rPr>
              <a:t>◆  Oman Vision 2040 mandates nationwide high-speed connectivity for smart cities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CCCCCC"/>
                </a:solidFill>
              </a:rPr>
              <a:t>◆  FTTH customers generate 3x higher ARPU than mobile-only subscribers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CCCCCC"/>
                </a:solidFill>
              </a:rPr>
              <a:t>◆  Fiber infrastructure lasts 20+ years — lowest total cost of ownership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CCCCCC"/>
                </a:solidFill>
              </a:rPr>
              <a:t>◆  350,000+ homes in Muscat represent a massive untapped revenue opportunity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CCCCCC"/>
                </a:solidFill>
              </a:rPr>
              <a:t>◆  First-mover advantage in underserved zones creates durable competitive moats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Current Manual Planning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4114800" cy="36576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Old Way — Manual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✗  Field surveys (2-3 weeks per zone)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✗  Manual data entry and spreadsheets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✗  No competitive intelligence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✗  Intuition-based decisions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✗  Slow ROI analysis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✗  No satellite or aerial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20700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Falcon Way — AI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6002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✓  Satellite + AI analysis (hours, not weeks)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✓  Automated scoring dashboard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✓  Real-time competitor mapping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✓  Data-driven zone prioritization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✓  Instant ROI and investment calc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✓  YOLOv8 computer vision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Introducing Ooredoo Falcon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An end-to-end AI platform combining satellite intelligence, computer vision, and large language models to transform Ooredoo FTTH expansion decisions.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859536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5681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🔬  Computer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95681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YOLOv8 detects buildings, vehicles &amp; infrastructure from satellite/aerial images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06040"/>
            <a:ext cx="859536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4261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📊  Market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64261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AI-scored zone rankings with investment, ROI, and competitive gap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91840"/>
            <a:ext cx="859536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2841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🤖  LLM Business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32841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AI-generated executive briefs, marketing strategies &amp; deployment recommendations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859536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0142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📋  Automated 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014215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One-click PowerPoint presentations, CSV exports &amp; executive summaries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Platform Architecture — 8-Step Intelligence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914400" cy="402336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881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069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Interactive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08813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Define target area on Muscat city 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72767"/>
            <a:ext cx="914400" cy="402336"/>
          </a:xfrm>
          <a:prstGeom prst="rect">
            <a:avLst/>
          </a:prstGeom>
          <a:solidFill>
            <a:srgbClr val="B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09343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59105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Zone Area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609343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Select specific zones for deep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93975"/>
            <a:ext cx="914400" cy="402336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130551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11226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Satellite Image 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30551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Aerial images via satellite tile provider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15183"/>
            <a:ext cx="914400" cy="402336"/>
          </a:xfrm>
          <a:prstGeom prst="rect">
            <a:avLst/>
          </a:prstGeom>
          <a:solidFill>
            <a:srgbClr val="B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651759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63347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Computer Vision (YOLOv8)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51759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Detect buildings, vehicles &amp; land 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36391"/>
            <a:ext cx="914400" cy="402336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172967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154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Market Potential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172967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Buildings × households × share = subscribers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657599"/>
            <a:ext cx="914400" cy="402336"/>
          </a:xfrm>
          <a:prstGeom prst="rect">
            <a:avLst/>
          </a:prstGeom>
          <a:solidFill>
            <a:srgbClr val="B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694175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67588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LLM Business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694175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AI executive insights &amp; risk assessment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78807"/>
            <a:ext cx="914400" cy="402336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215383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19709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Marketing Strategy Gen.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215383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AI go-to-market plan per zone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700016"/>
            <a:ext cx="914400" cy="402336"/>
          </a:xfrm>
          <a:prstGeom prst="rect">
            <a:avLst/>
          </a:prstGeom>
          <a:solidFill>
            <a:srgbClr val="B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736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71830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Executive Report &amp; 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73659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PowerPoint + CSV + executive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Step 1: Satellite Image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10A0A"/>
                </a:solidFill>
              </a:rPr>
              <a:t>Aerial Intelligence — Capturing Ground Truth from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412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CCCCCC"/>
                </a:solidFill>
              </a:rPr>
              <a:t>◆  Satellite tile imagery acquired for each target zone across Muscat Governorate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CCCCC"/>
                </a:solidFill>
              </a:rPr>
              <a:t>◆  Multiple zoom levels (16–18) to capture both building-level and street-level detail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CCCCC"/>
                </a:solidFill>
              </a:rPr>
              <a:t>◆  OpenStreetMap tiles provide baseline reference; real satellite data via provider API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CCCCC"/>
                </a:solidFill>
              </a:rPr>
              <a:t>◆  Image pre-processing: contrast enhancement, cloud masking, tile stitching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CCCCC"/>
                </a:solidFill>
              </a:rPr>
              <a:t>◆  4x upscaling applied for aerial screenshots to improve small-object detection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CCCCCC"/>
                </a:solidFill>
              </a:rPr>
              <a:t>◆  Typical image size: 1024×1024 px covering 250m × 250m real-world area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Step 2: YOLOv8 AI Object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CCCCC"/>
                </a:solidFill>
              </a:rPr>
              <a:t>What the model detects from aerial imagery: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850392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1907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🏠  Buildings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373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Rooftops, residential blocks — FTTH candidate units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850392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0487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🚗  Vehicles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231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Cars, trucks — traffic density &amp; economic activity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850392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9067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🛣️  Roads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089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Street network topology — fiber route planning backbone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850392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7647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🌳  Land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94759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Vegetation, open land — distinguishes deployable from non-deployable areas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Model: YOLOv8n (custom fine-tuned on FTTH aerial dataset)  |  Confidence threshold: 0.20–0.35  |  Detection latency: &lt; 2 sec/image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Step 3: Building Classification &amp; Density Scoring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503920" cy="59436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Residential Villas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298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Single-family dwellings — 3–5 households/unit — standard FTTH drop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38528"/>
            <a:ext cx="850392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Apartment Blocks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04825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Multi-dwelling units — 8–24 households/unit — highest FTTH ROI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88336"/>
            <a:ext cx="8503920" cy="59436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7977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Commercial Buildings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9806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SME offices &amp; retail — premium ARPU, SLA-grade FTTH 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38144"/>
            <a:ext cx="850392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2958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Mixed-use Complexes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478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Retail + residential — bundled FTTH + business service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634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Density Scoring Formula: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Priority Score = (Vehicle Density × 0.40) + (Coverage Gap × 0.35) + (Population Density × 0.25)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4: Market Potential Estimation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10A0A"/>
                </a:solidFill>
              </a:rPr>
              <a:t>Core Formula: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Buildings Detected  ×  Households per Building (3.5)  ×  Market Share (20%)  =  Subscribers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8503920" cy="4572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377440"/>
            <a:ext cx="205740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10A0A"/>
                </a:solidFill>
              </a:rPr>
              <a:t>350,000+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632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Total Muscat Homes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290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Full addressable market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2377440"/>
            <a:ext cx="205740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46888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10A0A"/>
                </a:solidFill>
              </a:rPr>
              <a:t>70,000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0632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Ooredoo Target (20%)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4290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At current market share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377440"/>
            <a:ext cx="205740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246888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10A0A"/>
                </a:solidFill>
              </a:rPr>
              <a:t>5.5 OMR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0632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ARPU /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34290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Revenue per subscriber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2377440"/>
            <a:ext cx="205740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2468880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10A0A"/>
                </a:solidFill>
              </a:rPr>
              <a:t>42%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0632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FTTH Uptake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4290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Conversion assumption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2336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</a:rPr>
              <a:t>◆  Each zone scored independently using population census + building detection data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</a:rPr>
              <a:t>◆  Unserved market (10%) identified as priority greenfield — no competitive overlap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</a:rPr>
              <a:t>◆  ROI calculated: Investment ÷ (Annual Revenue) = Payback years per zone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Oman FTTH Market Share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AAAA"/>
                </a:solidFill>
              </a:rPr>
              <a:t>Market Share Visual: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310128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94176" y="1188720"/>
            <a:ext cx="2478024" cy="41148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0488" y="1188720"/>
            <a:ext cx="1645920" cy="41148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54696" y="1188720"/>
            <a:ext cx="813816" cy="4114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411480" cy="56692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39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Omantel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148839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Dominant incumbent — legacy DSL converting to fiber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79191"/>
            <a:ext cx="411480" cy="566928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24911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67919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Awasr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953511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Aggressive pricing — fastest growing challenger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83863"/>
            <a:ext cx="411480" cy="566928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9583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48386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Ooredoo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758183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Strong brand, mobile bundle advantage, expansion upside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88536"/>
            <a:ext cx="411480" cy="56692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34255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288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Others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562855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Unserved greenfield — addressable by first-mover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166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</a:rPr>
              <a:t>Source: Ooredoo Falcon AI Market Analysis — Muscat, Oman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Market Opportunity — Muscat FTTH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50392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5272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</a:rPr>
              <a:t>350,000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24358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Total Homes in Muscat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51790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Full addressable market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56816"/>
            <a:ext cx="850392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20824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065A82"/>
                </a:solidFill>
              </a:rPr>
              <a:t>140,000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Omantel Homes (40%)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28600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Largest single operator share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24912"/>
            <a:ext cx="850392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00A651"/>
                </a:solidFill>
              </a:rPr>
              <a:t>105,000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77977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Awasr Homes (30%)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05409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Growing challenger footprint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93008"/>
            <a:ext cx="850392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557015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E10A0A"/>
                </a:solidFill>
              </a:rPr>
              <a:t>70,000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54787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Ooredoo Homes (20%)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822191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Current Ooredoo subscriber 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61104"/>
            <a:ext cx="8503920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32511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FFA500"/>
                </a:solidFill>
              </a:rPr>
              <a:t>35,000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31596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Unserved Others (10%)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59028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Greenfield — first-mover wins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5: AI Business Intelligence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Large Language Model (LLM) analysis generates executive-grade insights per zone: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85039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2821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📍  Area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7373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Zone demographics, location, infrastructure characteristics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58568"/>
            <a:ext cx="85039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4086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⚔️  Competitive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3500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Per-zone market share, gaps vs Omantel &amp; Awasr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71216"/>
            <a:ext cx="85039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535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💪  Key Strengths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96265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Density signals, coverage gap, first-mover indicators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83864"/>
            <a:ext cx="85039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📋  Investment 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57530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Tier-based advice: immediate / 6-month / Phase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96512"/>
            <a:ext cx="85039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788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💰  Revenue Forecast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1879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3-year projection at 8% CAGR per zone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09160"/>
            <a:ext cx="85039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9145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📣  Marketing 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800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Channel mix, campaign message, customer segments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120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Supports OpenAI GPT-4 &amp; Anthropic Claude via environment variable keys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Step 6: AI Marketing Strategy Generator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8503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161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📱  SMS Campaigns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25296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Targeted bulk SMS to existing Ooredoo mobile subscribers in zone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09928"/>
            <a:ext cx="8503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💻  Digital Marketing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9222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Geo-fenced Google/Meta ads optimized for Muscat FTTH intent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76856"/>
            <a:ext cx="8503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500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🚪  Door-to-Door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5915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Residential canvassing in high-density residential blocks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43784"/>
            <a:ext cx="8503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1693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🤝  Sales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2608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Dedicated field agents assigned per zone based on priority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0A0A"/>
                </a:solidFill>
              </a:rPr>
              <a:t>Recommended FTTH Packages: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26974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7763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611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10A0A"/>
                </a:solidFill>
              </a:rPr>
              <a:t>10 Mbps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7 OMR/mo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931920"/>
            <a:ext cx="26974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397763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Home Plus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2611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10A0A"/>
                </a:solidFill>
              </a:rPr>
              <a:t>50 Mbps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572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12 OMR/mo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931920"/>
            <a:ext cx="269748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79" y="397763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Premium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9" y="42611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10A0A"/>
                </a:solidFill>
              </a:rPr>
              <a:t>100 Mbps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79" y="4572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18 OMR/mo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Operational Benefits by Stakeholder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85039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📣  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29844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Identify high-value zones for targeted FTTH campaigns; geo-fenced digital ads powered by AI priority scores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84248"/>
            <a:ext cx="85039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939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⚙️ 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093976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Prioritize fiber rollout with AI-scored deployment maps; optimize cabinet placement &amp; reduce infrastructure waste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79776"/>
            <a:ext cx="85039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8950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💼 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889504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Equip field teams with zone-level intelligence; convert door-to-door campaigns with data-driven targeting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75304"/>
            <a:ext cx="85039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8503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📈 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685032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5-year revenue forecasts &amp; ROI analysis; executive summaries exportable in one click for board reporting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70832"/>
            <a:ext cx="85039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🌐  Network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480560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AI-recommended OLT/splitter placement; satellite-derived fiber route optimization across Muscat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Measurable Business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56032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10A0A"/>
                </a:solidFill>
              </a:rPr>
              <a:t>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93391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Faster FTTH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860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From 2-3 weeks to hours per zone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280160"/>
            <a:ext cx="256032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38988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10A0A"/>
                </a:solidFill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79" y="1993391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Cost 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79" y="22860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Fewer wasted field surveys &amp; manual hours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280160"/>
            <a:ext cx="256032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38988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10A0A"/>
                </a:solidFill>
              </a:rPr>
              <a:t>3×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993391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Campaign Conversion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2860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AI-targeted vs. blanket marketing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256032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1868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10A0A"/>
                </a:solidFill>
              </a:rP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822191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Better ROI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1148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Investment directed to highest-score zones first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3108960"/>
            <a:ext cx="256032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321868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10A0A"/>
                </a:solidFill>
              </a:rPr>
              <a:t>Real-time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79" y="3822191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Zone Prioritization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79" y="41148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Live competitive and coverage intelligence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3108960"/>
            <a:ext cx="256032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321868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10A0A"/>
                </a:solidFill>
              </a:rPr>
              <a:t>↑ FTTH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3822191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Penetration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41148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Data-driven targeting lifts subscriber conversion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Future Roadmap — Ooredoo Falcon 3.0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371600" cy="4572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1615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1795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Real-time 5G Coverage Heatmaps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070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Live network KPI overlays on zone 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1371600" cy="4572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1051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739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Automated Permit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8013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API to Muscat Municipality approval workflow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31720"/>
            <a:ext cx="1371600" cy="4572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4048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6829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Drone Imagery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395727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Own-fleet UAV data replaces satellite tiles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79"/>
            <a:ext cx="1371600" cy="4572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99923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9626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Predictive Churn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990087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ML identifies at-risk FTTH subscribers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20439"/>
            <a:ext cx="1371600" cy="4572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593591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557015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Multi-city Expansion Module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584447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Extend platform to Salalah, Nizwa, Sohar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114800"/>
            <a:ext cx="1371600" cy="4572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18795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1513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AR Field Technician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1788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AR overlay showing fiber routes in real-world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709160"/>
            <a:ext cx="1371600" cy="4572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78231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Q4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7457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Enterprise API &amp; White-label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7731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License Falcon Intelligence to other telcos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890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77639" y="45720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Empowering Smarter FTTH Expansion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2468880"/>
            <a:ext cx="3657600" cy="54864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7863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CCCC"/>
                </a:solidFill>
              </a:rPr>
              <a:t>"Ooredoo Falcon empowers Ooredoo Oman to make faster, smarter, and AI-driven FTTH expansion decisions by combining geospatial intelligence, computer vision, large language models, and marketing automation into a single enterprise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709160"/>
            <a:ext cx="8503920" cy="45720"/>
          </a:xfrm>
          <a:prstGeom prst="rect">
            <a:avLst/>
          </a:prstGeom>
          <a:solidFill>
            <a:srgbClr val="E1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Ooredoo Oman  ·  2026  |  AI-Powered FTTH Intelligence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