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5943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8900"/>
          </a:xfrm>
          <a:prstGeom prst="rect">
            <a:avLst/>
          </a:prstGeom>
          <a:solidFill>
            <a:srgbClr val="E1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474720" y="914400"/>
            <a:ext cx="2194560" cy="2194560"/>
          </a:xfrm>
          <a:prstGeom prst="rect">
            <a:avLst/>
          </a:prstGeom>
          <a:solidFill>
            <a:srgbClr val="2C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794760" y="1005840"/>
            <a:ext cx="1554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0" i="0">
                <a:solidFill>
                  <a:srgbClr val="FFFFFF"/>
                </a:solidFill>
              </a:rPr>
              <a:t>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9184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</a:rPr>
              <a:t>Ooredoo Falcon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9768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CCCCC"/>
                </a:solidFill>
              </a:rPr>
              <a:t>AI-Powered FTTH Market Intelligence &amp; Expansion Platform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5074920"/>
            <a:ext cx="2743200" cy="45720"/>
          </a:xfrm>
          <a:prstGeom prst="rect">
            <a:avLst/>
          </a:prstGeom>
          <a:solidFill>
            <a:srgbClr val="E1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2120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AAAAA"/>
                </a:solidFill>
              </a:rPr>
              <a:t>Ooredoo Oman  ·  Muscat  ·  2026  |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8900"/>
          </a:xfrm>
          <a:prstGeom prst="rect">
            <a:avLst/>
          </a:prstGeom>
          <a:solidFill>
            <a:srgbClr val="E1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Business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412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CCCCCC"/>
                </a:solidFill>
              </a:rPr>
              <a:t>◆  Rapid urbanization in Muscat creates surging demand for high-speed broadband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CCCCCC"/>
                </a:solidFill>
              </a:rPr>
              <a:t>◆  Manual FTTH planning is slow, costly, and error-prone — weeks per zone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CCCCCC"/>
                </a:solidFill>
              </a:rPr>
              <a:t>◆  Competitive pressure from Omantel (40%) and Awasr (30%) erodes Ooredoo market share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CCCCCC"/>
                </a:solidFill>
              </a:rPr>
              <a:t>◆  Coverage gap analysis relies on outdated surveys with no real-time intelligence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CCCCCC"/>
                </a:solidFill>
              </a:rPr>
              <a:t>◆  Revenue opportunities are missed due to lack of data-driven zone prioritization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8900"/>
          </a:xfrm>
          <a:prstGeom prst="rect">
            <a:avLst/>
          </a:prstGeom>
          <a:solidFill>
            <a:srgbClr val="E1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Why FTTH Matters for Ooredoo Oman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412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CCCCCC"/>
                </a:solidFill>
              </a:rPr>
              <a:t>◆  FTTH delivers 100x faster speeds vs. legacy DSL — unmatched customer experience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CCCCCC"/>
                </a:solidFill>
              </a:rPr>
              <a:t>◆  Oman Vision 2040 mandates nationwide high-speed connectivity for smart cities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CCCCCC"/>
                </a:solidFill>
              </a:rPr>
              <a:t>◆  FTTH customers generate 3x higher ARPU than mobile-only subscribers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CCCCCC"/>
                </a:solidFill>
              </a:rPr>
              <a:t>◆  Fiber infrastructure lasts 20+ years — lowest total cost of ownership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CCCCCC"/>
                </a:solidFill>
              </a:rPr>
              <a:t>◆  350,000+ homes in Muscat represent a massive untapped revenue opportunity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CCCCCC"/>
                </a:solidFill>
              </a:rPr>
              <a:t>◆  First-mover advantage in underserved zones creates durable competitive moats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8900"/>
          </a:xfrm>
          <a:prstGeom prst="rect">
            <a:avLst/>
          </a:prstGeom>
          <a:solidFill>
            <a:srgbClr val="E1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Current Manual Planning Process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4114800" cy="365760"/>
          </a:xfrm>
          <a:prstGeom prst="rect">
            <a:avLst/>
          </a:prstGeom>
          <a:solidFill>
            <a:srgbClr val="E1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07008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Old Way — Manual Planning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0020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CCCC"/>
                </a:solidFill>
              </a:rPr>
              <a:t>✗  Field surveys (2-3 weeks per zone)</a:t>
            </a:r>
          </a:p>
          <a:p>
            <a:pPr algn="l"/>
            <a:r>
              <a:rPr sz="1500" b="0">
                <a:solidFill>
                  <a:srgbClr val="CCCCCC"/>
                </a:solidFill>
              </a:rPr>
              <a:t>✗  Manual data entry and spreadsheets</a:t>
            </a:r>
          </a:p>
          <a:p>
            <a:pPr algn="l"/>
            <a:r>
              <a:rPr sz="1500" b="0">
                <a:solidFill>
                  <a:srgbClr val="CCCCCC"/>
                </a:solidFill>
              </a:rPr>
              <a:t>✗  No competitive intelligence</a:t>
            </a:r>
          </a:p>
          <a:p>
            <a:pPr algn="l"/>
            <a:r>
              <a:rPr sz="1500" b="0">
                <a:solidFill>
                  <a:srgbClr val="CCCCCC"/>
                </a:solidFill>
              </a:rPr>
              <a:t>✗  Intuition-based decisions</a:t>
            </a:r>
          </a:p>
          <a:p>
            <a:pPr algn="l"/>
            <a:r>
              <a:rPr sz="1500" b="0">
                <a:solidFill>
                  <a:srgbClr val="CCCCCC"/>
                </a:solidFill>
              </a:rPr>
              <a:t>✗  Slow ROI analysis</a:t>
            </a:r>
          </a:p>
          <a:p>
            <a:pPr algn="l"/>
            <a:r>
              <a:rPr sz="1500" b="0">
                <a:solidFill>
                  <a:srgbClr val="CCCCCC"/>
                </a:solidFill>
              </a:rPr>
              <a:t>✗  No satellite or aerial insights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0" y="1188720"/>
            <a:ext cx="4114800" cy="365760"/>
          </a:xfrm>
          <a:prstGeom prst="rect">
            <a:avLst/>
          </a:prstGeom>
          <a:solidFill>
            <a:srgbClr val="E1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1207008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Falcon Way — AI Intelligence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60020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CCCCC"/>
                </a:solidFill>
              </a:rPr>
              <a:t>✓  Satellite + AI analysis (hours, not weeks)</a:t>
            </a:r>
          </a:p>
          <a:p>
            <a:pPr algn="l"/>
            <a:r>
              <a:rPr sz="1500" b="0">
                <a:solidFill>
                  <a:srgbClr val="CCCCCC"/>
                </a:solidFill>
              </a:rPr>
              <a:t>✓  Automated scoring dashboard</a:t>
            </a:r>
          </a:p>
          <a:p>
            <a:pPr algn="l"/>
            <a:r>
              <a:rPr sz="1500" b="0">
                <a:solidFill>
                  <a:srgbClr val="CCCCCC"/>
                </a:solidFill>
              </a:rPr>
              <a:t>✓  Real-time competitor mapping</a:t>
            </a:r>
          </a:p>
          <a:p>
            <a:pPr algn="l"/>
            <a:r>
              <a:rPr sz="1500" b="0">
                <a:solidFill>
                  <a:srgbClr val="CCCCCC"/>
                </a:solidFill>
              </a:rPr>
              <a:t>✓  Data-driven zone prioritization</a:t>
            </a:r>
          </a:p>
          <a:p>
            <a:pPr algn="l"/>
            <a:r>
              <a:rPr sz="1500" b="0">
                <a:solidFill>
                  <a:srgbClr val="CCCCCC"/>
                </a:solidFill>
              </a:rPr>
              <a:t>✓  Instant ROI and investment calc</a:t>
            </a:r>
          </a:p>
          <a:p>
            <a:pPr algn="l"/>
            <a:r>
              <a:rPr sz="1500" b="0">
                <a:solidFill>
                  <a:srgbClr val="CCCCCC"/>
                </a:solidFill>
              </a:rPr>
              <a:t>✓  YOLOv8 computer vision detection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8900"/>
          </a:xfrm>
          <a:prstGeom prst="rect">
            <a:avLst/>
          </a:prstGeom>
          <a:solidFill>
            <a:srgbClr val="E1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Introducing Ooredoo Falcon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CCCC"/>
                </a:solidFill>
              </a:rPr>
              <a:t>An end-to-end AI platform combining satellite intelligence, computer vision, and large language models to transform Ooredoo FTTH expansion decisions.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920240"/>
            <a:ext cx="8595360" cy="502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956816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🔬  Computer Vision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1956816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YOLOv8 detects buildings, vehicles &amp; infrastructure from satellite/aerial images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606040"/>
            <a:ext cx="8595360" cy="502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642616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📊  Market Intelligence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2642616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AI-scored zone rankings with investment, ROI, and competitive gap analysis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291840"/>
            <a:ext cx="8595360" cy="502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328416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🤖  LLM Business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3328416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AI-generated executive briefs, marketing strategies &amp; deployment recommendations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977639"/>
            <a:ext cx="8595360" cy="502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014215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📋  Automated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4014215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One-click PowerPoint presentations, CSV exports &amp; executive summaries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8900"/>
          </a:xfrm>
          <a:prstGeom prst="rect">
            <a:avLst/>
          </a:prstGeom>
          <a:solidFill>
            <a:srgbClr val="E1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Platform Architecture — 8-Step Intelligence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914400" cy="402336"/>
          </a:xfrm>
          <a:prstGeom prst="rect">
            <a:avLst/>
          </a:prstGeom>
          <a:solidFill>
            <a:srgbClr val="E1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88136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0698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Interactive 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088136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Define target area on Muscat city map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572767"/>
            <a:ext cx="914400" cy="402336"/>
          </a:xfrm>
          <a:prstGeom prst="rect">
            <a:avLst/>
          </a:prstGeom>
          <a:solidFill>
            <a:srgbClr val="B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609343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591055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Zone Area Selection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1609343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Select specific zones for deep analysis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093975"/>
            <a:ext cx="914400" cy="402336"/>
          </a:xfrm>
          <a:prstGeom prst="rect">
            <a:avLst/>
          </a:prstGeom>
          <a:solidFill>
            <a:srgbClr val="E1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2130551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112263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Satellite Image Capture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130551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Aerial images via satellite tile provider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615183"/>
            <a:ext cx="914400" cy="402336"/>
          </a:xfrm>
          <a:prstGeom prst="rect">
            <a:avLst/>
          </a:prstGeom>
          <a:solidFill>
            <a:srgbClr val="B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2651759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2633471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Computer Vision (YOLOv8)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2651759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Detect buildings, vehicles &amp; land use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136391"/>
            <a:ext cx="914400" cy="402336"/>
          </a:xfrm>
          <a:prstGeom prst="rect">
            <a:avLst/>
          </a:prstGeom>
          <a:solidFill>
            <a:srgbClr val="E1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172967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315467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Market Potential Engine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172967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Buildings × households × share = subscribers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657599"/>
            <a:ext cx="914400" cy="402336"/>
          </a:xfrm>
          <a:prstGeom prst="rect">
            <a:avLst/>
          </a:prstGeom>
          <a:solidFill>
            <a:srgbClr val="B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3694175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3675887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LLM Business Analysis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3694175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AI executive insights &amp; risk assessment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178807"/>
            <a:ext cx="914400" cy="402336"/>
          </a:xfrm>
          <a:prstGeom prst="rect">
            <a:avLst/>
          </a:prstGeom>
          <a:solidFill>
            <a:srgbClr val="E1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4215383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4197095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Marketing Strategy Gen.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4215383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AI go-to-market plan per zone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700016"/>
            <a:ext cx="914400" cy="402336"/>
          </a:xfrm>
          <a:prstGeom prst="rect">
            <a:avLst/>
          </a:prstGeom>
          <a:solidFill>
            <a:srgbClr val="B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4736592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17320" y="4718303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Executive Report &amp; Export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4736592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PowerPoint + CSV + executive summary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8900"/>
          </a:xfrm>
          <a:prstGeom prst="rect">
            <a:avLst/>
          </a:prstGeom>
          <a:solidFill>
            <a:srgbClr val="E1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Step 1: Satellite Image Collection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10A0A"/>
                </a:solidFill>
              </a:rPr>
              <a:t>Aerial Intelligence — Capturing Ground Truth from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8412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CCCCCC"/>
                </a:solidFill>
              </a:rPr>
              <a:t>◆  Satellite tile imagery acquired for each target zone across Muscat Governorate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CCCCCC"/>
                </a:solidFill>
              </a:rPr>
              <a:t>◆  Multiple zoom levels (16–18) to capture both building-level and street-level detail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CCCCCC"/>
                </a:solidFill>
              </a:rPr>
              <a:t>◆  OpenStreetMap tiles provide baseline reference; real satellite data via provider API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CCCCCC"/>
                </a:solidFill>
              </a:rPr>
              <a:t>◆  Image pre-processing: contrast enhancement, cloud masking, tile stitching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CCCCCC"/>
                </a:solidFill>
              </a:rPr>
              <a:t>◆  4x upscaling applied for aerial screenshots to improve small-object detection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CCCCCC"/>
                </a:solidFill>
              </a:rPr>
              <a:t>◆  Typical image size: 1024×1024 px covering 250m × 250m real-world area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8900"/>
          </a:xfrm>
          <a:prstGeom prst="rect">
            <a:avLst/>
          </a:prstGeom>
          <a:solidFill>
            <a:srgbClr val="E1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Step 2: YOLOv8 AI Object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CCCCCC"/>
                </a:solidFill>
              </a:rPr>
              <a:t>What the model detects from aerial imagery: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645920"/>
            <a:ext cx="8503920" cy="548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719072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🏠  Buildings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737360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Rooftops, residential blocks — FTTH candidate units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331720"/>
            <a:ext cx="8503920" cy="548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404872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🚗  Vehicles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423160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Cars, trucks — traffic density &amp; economic activity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017520"/>
            <a:ext cx="8503920" cy="548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090672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🛣️  Roads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3108960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Street network topology — fiber route planning backbone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703320"/>
            <a:ext cx="8503920" cy="548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776472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🌳  Land 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94759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Vegetation, open land — distinguishes deployable from non-deployable areas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02920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88888"/>
                </a:solidFill>
              </a:rPr>
              <a:t>Model: YOLOv8n (custom fine-tuned on FTTH aerial dataset)  |  Confidence threshold: 0.20–0.35  |  Detection latency: &lt; 2 sec/image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8900"/>
          </a:xfrm>
          <a:prstGeom prst="rect">
            <a:avLst/>
          </a:prstGeom>
          <a:solidFill>
            <a:srgbClr val="E1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Step 3: Building Classification &amp; Density Scoring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8503920" cy="594360"/>
          </a:xfrm>
          <a:prstGeom prst="rect">
            <a:avLst/>
          </a:prstGeom>
          <a:solidFill>
            <a:srgbClr val="E1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Residential Villas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298448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Single-family dwellings — 3–5 households/unit — standard FTTH drop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938528"/>
            <a:ext cx="8503920" cy="594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29968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Apartment Blocks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048256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Multi-dwelling units — 8–24 households/unit — highest FTTH ROI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688336"/>
            <a:ext cx="8503920" cy="594360"/>
          </a:xfrm>
          <a:prstGeom prst="rect">
            <a:avLst/>
          </a:prstGeom>
          <a:solidFill>
            <a:srgbClr val="E1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779776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Commercial Buildings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798064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SME offices &amp; retail — premium ARPU, SLA-grade FTTH required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438144"/>
            <a:ext cx="8503920" cy="594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529584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Mixed-use Complexes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54787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Retail + residential — bundled FTTH + business service opportunity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66344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Density Scoring Formula: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02920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Priority Score = (Vehicle Density × 0.40) + (Coverage Gap × 0.35) + (Population Density × 0.25)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8900"/>
          </a:xfrm>
          <a:prstGeom prst="rect">
            <a:avLst/>
          </a:prstGeom>
          <a:solidFill>
            <a:srgbClr val="E1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Step 4: Market Potential Estimation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10A0A"/>
                </a:solidFill>
              </a:rPr>
              <a:t>Core Formula: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Buildings Detected  ×  Households per Building (3.5)  ×  Market Share (20%)  =  Subscribers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194560"/>
            <a:ext cx="8503920" cy="45720"/>
          </a:xfrm>
          <a:prstGeom prst="rect">
            <a:avLst/>
          </a:prstGeom>
          <a:solidFill>
            <a:srgbClr val="E1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377440"/>
            <a:ext cx="2057400" cy="1463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468880"/>
            <a:ext cx="18745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E10A0A"/>
                </a:solidFill>
              </a:rPr>
              <a:t>350,000+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63240"/>
            <a:ext cx="1965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Total Muscat Homes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2900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AAAAA"/>
                </a:solidFill>
              </a:rPr>
              <a:t>Full addressable market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14600" y="2377440"/>
            <a:ext cx="2057400" cy="1463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06040" y="2468880"/>
            <a:ext cx="18745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E10A0A"/>
                </a:solidFill>
              </a:rPr>
              <a:t>70,000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3063240"/>
            <a:ext cx="1965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Ooredoo Target (20%)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342900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AAAAA"/>
                </a:solidFill>
              </a:rPr>
              <a:t>At current market share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3440" y="2377440"/>
            <a:ext cx="2057400" cy="1463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79" y="2468880"/>
            <a:ext cx="18745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E10A0A"/>
                </a:solidFill>
              </a:rPr>
              <a:t>5.5 OMR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59" y="3063240"/>
            <a:ext cx="1965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ARPU / Month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59" y="342900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AAAAA"/>
                </a:solidFill>
              </a:rPr>
              <a:t>Revenue per subscriber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12280" y="2377440"/>
            <a:ext cx="2057400" cy="1463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03720" y="2468880"/>
            <a:ext cx="18745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E10A0A"/>
                </a:solidFill>
              </a:rPr>
              <a:t>42%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3063240"/>
            <a:ext cx="1965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FTTH Uptake 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342900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AAAAA"/>
                </a:solidFill>
              </a:rPr>
              <a:t>Conversion assumption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023360"/>
            <a:ext cx="8412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CCCCCC"/>
                </a:solidFill>
              </a:rPr>
              <a:t>◆  Each zone scored independently using population census + building detection data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CCCCCC"/>
                </a:solidFill>
              </a:rPr>
              <a:t>◆  Unserved market (10%) identified as priority greenfield — no competitive overlap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CCCCCC"/>
                </a:solidFill>
              </a:rPr>
              <a:t>◆  ROI calculated: Investment ÷ (Annual Revenue) = Payback years per zone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8900"/>
          </a:xfrm>
          <a:prstGeom prst="rect">
            <a:avLst/>
          </a:prstGeom>
          <a:solidFill>
            <a:srgbClr val="E1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Oman FTTH Market Share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AAAAA"/>
                </a:solidFill>
              </a:rPr>
              <a:t>Market Share Visual: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3310128" cy="41148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94176" y="1188720"/>
            <a:ext cx="2478024" cy="411480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190488" y="1188720"/>
            <a:ext cx="1645920" cy="411480"/>
          </a:xfrm>
          <a:prstGeom prst="rect">
            <a:avLst/>
          </a:prstGeom>
          <a:solidFill>
            <a:srgbClr val="E1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854696" y="1188720"/>
            <a:ext cx="813816" cy="41148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74519"/>
            <a:ext cx="411480" cy="56692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20239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40%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187451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Omantel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2148839"/>
            <a:ext cx="6675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Dominant incumbent — legacy DSL converting to fiber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679191"/>
            <a:ext cx="411480" cy="566928"/>
          </a:xfrm>
          <a:prstGeom prst="rect">
            <a:avLst/>
          </a:prstGeom>
          <a:solidFill>
            <a:srgbClr val="00A6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724911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2679191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Awasr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2953511"/>
            <a:ext cx="6675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Aggressive pricing — fastest growing challenger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483863"/>
            <a:ext cx="411480" cy="566928"/>
          </a:xfrm>
          <a:prstGeom prst="rect">
            <a:avLst/>
          </a:prstGeom>
          <a:solidFill>
            <a:srgbClr val="E1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29583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20%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3483863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Ooredoo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3758183"/>
            <a:ext cx="6675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Strong brand, mobile bundle advantage, expansion upside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288536"/>
            <a:ext cx="411480" cy="566928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334255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10%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428853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Others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4562855"/>
            <a:ext cx="6675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Unserved greenfield — addressable by first-mover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516636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66666"/>
                </a:solidFill>
              </a:rPr>
              <a:t>Source: Ooredoo Falcon AI Market Analysis — Muscat, Oman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8900"/>
          </a:xfrm>
          <a:prstGeom prst="rect">
            <a:avLst/>
          </a:prstGeom>
          <a:solidFill>
            <a:srgbClr val="E1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Market Opportunity — Muscat FTTH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8503920" cy="62179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52728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400" b="1" i="0">
                <a:solidFill>
                  <a:srgbClr val="FFFFFF"/>
                </a:solidFill>
              </a:rPr>
              <a:t>350,000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1720" y="1243584"/>
            <a:ext cx="3840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Total Homes in Muscat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31720" y="1517904"/>
            <a:ext cx="6217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AA"/>
                </a:solidFill>
              </a:rPr>
              <a:t>Full addressable market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56816"/>
            <a:ext cx="8503920" cy="62179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020824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400" b="1" i="0">
                <a:solidFill>
                  <a:srgbClr val="065A82"/>
                </a:solidFill>
              </a:rPr>
              <a:t>140,000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011680"/>
            <a:ext cx="3840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Omantel Homes (40%)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2286000"/>
            <a:ext cx="6217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AA"/>
                </a:solidFill>
              </a:rPr>
              <a:t>Largest single operator share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724912"/>
            <a:ext cx="8503920" cy="62179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78892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400" b="1" i="0">
                <a:solidFill>
                  <a:srgbClr val="00A651"/>
                </a:solidFill>
              </a:rPr>
              <a:t>105,000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2779776"/>
            <a:ext cx="3840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Awasr Homes (30%)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3054096"/>
            <a:ext cx="6217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AA"/>
                </a:solidFill>
              </a:rPr>
              <a:t>Growing challenger footprint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493008"/>
            <a:ext cx="8503920" cy="62179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557015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400" b="1" i="0">
                <a:solidFill>
                  <a:srgbClr val="E10A0A"/>
                </a:solidFill>
              </a:rPr>
              <a:t>70,000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3547872"/>
            <a:ext cx="3840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Ooredoo Homes (20%)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3822191"/>
            <a:ext cx="6217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AA"/>
                </a:solidFill>
              </a:rPr>
              <a:t>Current Ooredoo subscriber base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261104"/>
            <a:ext cx="8503920" cy="62179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325112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400" b="1" i="0">
                <a:solidFill>
                  <a:srgbClr val="FFA500"/>
                </a:solidFill>
              </a:rPr>
              <a:t>35,000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31720" y="4315968"/>
            <a:ext cx="3840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Unserved Others (10%)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31720" y="4590288"/>
            <a:ext cx="6217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AA"/>
                </a:solidFill>
              </a:rPr>
              <a:t>Greenfield — first-mover wins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8900"/>
          </a:xfrm>
          <a:prstGeom prst="rect">
            <a:avLst/>
          </a:prstGeom>
          <a:solidFill>
            <a:srgbClr val="E1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Step 5: AI Business Intelligence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CCCC"/>
                </a:solidFill>
              </a:rPr>
              <a:t>Large Language Model (LLM) analysis generates executive-grade insights per zone: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645920"/>
            <a:ext cx="8503920" cy="502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728216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📍  Area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7373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Zone demographics, location, infrastructure characteristics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258568"/>
            <a:ext cx="8503920" cy="502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340864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⚔️  Competitive Assessment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35000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Per-zone market share, gaps vs Omantel &amp; Awasr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871216"/>
            <a:ext cx="8503920" cy="502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953512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💪  Key Strengths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9626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Density signals, coverage gap, first-mover indicators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483864"/>
            <a:ext cx="8503920" cy="502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56616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📋  Investment Recommendation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357530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Tier-based advice: immediate / 6-month / Phase 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096512"/>
            <a:ext cx="8503920" cy="502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178808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💰  Revenue Forecast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418795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3-year projection at 8% CAGR per zone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709160"/>
            <a:ext cx="8503920" cy="502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791456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📣  Marketing Opportunities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48006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Channel mix, campaign message, customer segments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21208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88888"/>
                </a:solidFill>
              </a:rPr>
              <a:t>Supports OpenAI GPT-4 &amp; Anthropic Claude via environment variable keys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8900"/>
          </a:xfrm>
          <a:prstGeom prst="rect">
            <a:avLst/>
          </a:prstGeom>
          <a:solidFill>
            <a:srgbClr val="E1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Step 6: AI Marketing Strategy Generator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43000"/>
            <a:ext cx="8503920" cy="457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16152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📱  SMS Campaigns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225296"/>
            <a:ext cx="5577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Targeted bulk SMS to existing Ooredoo mobile subscribers in zone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709928"/>
            <a:ext cx="8503920" cy="457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💻  Digital Marketing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1792224"/>
            <a:ext cx="5577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Geo-fenced Google/Meta ads optimized for Muscat FTTH intent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276856"/>
            <a:ext cx="8503920" cy="457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350008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🚪  Door-to-Door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59152"/>
            <a:ext cx="5577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Residential canvassing in high-density residential blocks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843784"/>
            <a:ext cx="8503920" cy="457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916936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🤝  Sales Teams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926080"/>
            <a:ext cx="5577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Dedicated field agents assigned per zone based on priority score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520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10A0A"/>
                </a:solidFill>
              </a:rPr>
              <a:t>Recommended FTTH Packages: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931920"/>
            <a:ext cx="269748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977639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Starter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261104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10A0A"/>
                </a:solidFill>
              </a:rPr>
              <a:t>10 Mbps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572000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CCCC"/>
                </a:solidFill>
              </a:rPr>
              <a:t>7 OMR/mo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3931920"/>
            <a:ext cx="269748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91840" y="3977639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Home Plus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4261104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10A0A"/>
                </a:solidFill>
              </a:rPr>
              <a:t>50 Mbps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4572000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CCCC"/>
                </a:solidFill>
              </a:rPr>
              <a:t>12 OMR/mo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3931920"/>
            <a:ext cx="269748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26479" y="3977639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Premium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79" y="4261104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10A0A"/>
                </a:solidFill>
              </a:rPr>
              <a:t>100 Mbps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79" y="4572000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CCCC"/>
                </a:solidFill>
              </a:rPr>
              <a:t>18 OMR/mo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8900"/>
          </a:xfrm>
          <a:prstGeom prst="rect">
            <a:avLst/>
          </a:prstGeom>
          <a:solidFill>
            <a:srgbClr val="E1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Operational Benefits by Stakeholder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8503920" cy="65836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98448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📣  Marketing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298448"/>
            <a:ext cx="5852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Identify high-value zones for targeted FTTH campaigns; geo-fenced digital ads powered by AI priority scores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984248"/>
            <a:ext cx="8503920" cy="65836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93976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⚙️  Operations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093976"/>
            <a:ext cx="5852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Prioritize fiber rollout with AI-scored deployment maps; optimize cabinet placement &amp; reduce infrastructure waste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779776"/>
            <a:ext cx="8503920" cy="65836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889504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💼  Sales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2889504"/>
            <a:ext cx="5852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Equip field teams with zone-level intelligence; convert door-to-door campaigns with data-driven targeting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575304"/>
            <a:ext cx="8503920" cy="65836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685032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📈  Management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3685032"/>
            <a:ext cx="5852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5-year revenue forecasts &amp; ROI analysis; executive summaries exportable in one click for board reporting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370832"/>
            <a:ext cx="8503920" cy="65836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48056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🌐  Network Planning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4480560"/>
            <a:ext cx="5852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AI-recommended OLT/splitter placement; satellite-derived fiber route optimization across Muscat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8900"/>
          </a:xfrm>
          <a:prstGeom prst="rect">
            <a:avLst/>
          </a:prstGeom>
          <a:solidFill>
            <a:srgbClr val="E1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Measurable Business Impact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280160"/>
            <a:ext cx="2560320" cy="15544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89888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E10A0A"/>
                </a:solidFill>
              </a:rPr>
              <a:t>80%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993391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Faster FTTH Planning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28600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AAAAA"/>
                </a:solidFill>
              </a:rPr>
              <a:t>From 2-3 weeks to hours per zone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0" y="1280160"/>
            <a:ext cx="2560320" cy="15544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1389888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E10A0A"/>
                </a:solidFill>
              </a:rPr>
              <a:t>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79" y="1993391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Cost Reduction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79" y="228600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AAAAA"/>
                </a:solidFill>
              </a:rPr>
              <a:t>Fewer wasted field surveys &amp; manual hours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0" y="1280160"/>
            <a:ext cx="2560320" cy="15544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0" y="1389888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E10A0A"/>
                </a:solidFill>
              </a:rPr>
              <a:t>3×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80" y="1993391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Campaign Conversion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7880" y="228600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AAAAA"/>
                </a:solidFill>
              </a:rPr>
              <a:t>AI-targeted vs. blanket marketing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108960"/>
            <a:ext cx="2560320" cy="15544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218688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E10A0A"/>
                </a:solidFill>
              </a:rPr>
              <a:t>25%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3822191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Better ROI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411480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AAAAA"/>
                </a:solidFill>
              </a:rPr>
              <a:t>Investment directed to highest-score zones first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08960" y="3108960"/>
            <a:ext cx="2560320" cy="15544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0" y="3218688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E10A0A"/>
                </a:solidFill>
              </a:rPr>
              <a:t>Real-time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54679" y="3822191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Zone Prioritization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54679" y="411480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AAAAA"/>
                </a:solidFill>
              </a:rPr>
              <a:t>Live competitive and coverage intelligence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52160" y="3108960"/>
            <a:ext cx="2560320" cy="15544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0" y="3218688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E10A0A"/>
                </a:solidFill>
              </a:rPr>
              <a:t>↑ FTTH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97880" y="3822191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Penetration Rate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7880" y="411480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AAAAA"/>
                </a:solidFill>
              </a:rPr>
              <a:t>Data-driven targeting lifts subscriber conversion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8900"/>
          </a:xfrm>
          <a:prstGeom prst="rect">
            <a:avLst/>
          </a:prstGeom>
          <a:solidFill>
            <a:srgbClr val="E1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Future Roadmap — Ooredoo Falcon 3.0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43000"/>
            <a:ext cx="1371600" cy="457200"/>
          </a:xfrm>
          <a:prstGeom prst="rect">
            <a:avLst/>
          </a:prstGeom>
          <a:solidFill>
            <a:srgbClr val="E1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216152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Q1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179576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Real-time 5G Coverage Heatmaps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120700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Live network KPI overlays on zone map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737360"/>
            <a:ext cx="1371600" cy="457200"/>
          </a:xfrm>
          <a:prstGeom prst="rect">
            <a:avLst/>
          </a:prstGeom>
          <a:solidFill>
            <a:srgbClr val="E1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810512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Q1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773936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Automated Permit Integration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18013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API to Muscat Municipality approval workflow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331720"/>
            <a:ext cx="1371600" cy="457200"/>
          </a:xfrm>
          <a:prstGeom prst="rect">
            <a:avLst/>
          </a:prstGeom>
          <a:solidFill>
            <a:srgbClr val="E1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2404872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Q2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2368296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Drone Imagery Pipeline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2395727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Own-fleet UAV data replaces satellite tiles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926079"/>
            <a:ext cx="1371600" cy="457200"/>
          </a:xfrm>
          <a:prstGeom prst="rect">
            <a:avLst/>
          </a:prstGeom>
          <a:solidFill>
            <a:srgbClr val="E1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2999232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Q2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2962656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Predictive Churn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2990087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ML identifies at-risk FTTH subscribers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520439"/>
            <a:ext cx="1371600" cy="457200"/>
          </a:xfrm>
          <a:prstGeom prst="rect">
            <a:avLst/>
          </a:prstGeom>
          <a:solidFill>
            <a:srgbClr val="E1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593591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Q3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3557015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Multi-city Expansion Module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3584447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Extend platform to Salalah, Nizwa, Sohar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114800"/>
            <a:ext cx="1371600" cy="457200"/>
          </a:xfrm>
          <a:prstGeom prst="rect">
            <a:avLst/>
          </a:prstGeom>
          <a:solidFill>
            <a:srgbClr val="E1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4187952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Q3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4151376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AR Field Technician App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417880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AR overlay showing fiber routes in real-world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709160"/>
            <a:ext cx="1371600" cy="457200"/>
          </a:xfrm>
          <a:prstGeom prst="rect">
            <a:avLst/>
          </a:prstGeom>
          <a:solidFill>
            <a:srgbClr val="E1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4782312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Q4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20240" y="4745736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Enterprise API &amp; White-label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0" y="47731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License Falcon Intelligence to other telcos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8900"/>
          </a:xfrm>
          <a:prstGeom prst="rect">
            <a:avLst/>
          </a:prstGeom>
          <a:solidFill>
            <a:srgbClr val="E1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77639" y="457200"/>
            <a:ext cx="1188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 i="0">
                <a:solidFill>
                  <a:srgbClr val="FFFFFF"/>
                </a:solidFill>
              </a:rPr>
              <a:t>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7863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Empowering Smarter FTTH Expansion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2468880"/>
            <a:ext cx="3657600" cy="54864"/>
          </a:xfrm>
          <a:prstGeom prst="rect">
            <a:avLst/>
          </a:prstGeom>
          <a:solidFill>
            <a:srgbClr val="E1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7863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CCCCCC"/>
                </a:solidFill>
              </a:rPr>
              <a:t>"Ooredoo Falcon empowers Ooredoo Oman to make faster, smarter, and AI-driven FTTH expansion decisions by combining geospatial intelligence, computer vision, large language models, and marketing automation into a single enterprise platform.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4709160"/>
            <a:ext cx="8503920" cy="45720"/>
          </a:xfrm>
          <a:prstGeom prst="rect">
            <a:avLst/>
          </a:prstGeom>
          <a:solidFill>
            <a:srgbClr val="E1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8463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88888"/>
                </a:solidFill>
              </a:rPr>
              <a:t>Ooredoo Oman  ·  2026  |  AI-Powered FTTH Intelligence  | 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