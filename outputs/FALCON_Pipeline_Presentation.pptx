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77472" y="0"/>
            <a:ext cx="411480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0" i="0">
                <a:solidFill>
                  <a:srgbClr val="111111"/>
                </a:solidFill>
              </a:rPr>
              <a:t>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02C39A"/>
                </a:solidFill>
              </a:rPr>
              <a:t>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ML Pipeline — End-to-End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06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2C39A"/>
                </a:solidFill>
              </a:rPr>
              <a:t>From Data Annotation to AI-Powered FTTH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11640312" cy="1905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383280"/>
            <a:ext cx="169164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4290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📸 Data Collection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3383280"/>
            <a:ext cx="169164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6312" y="34290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🏷️ Annotation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383280"/>
            <a:ext cx="169164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34290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🧠 YOLOv8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383280"/>
            <a:ext cx="169164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62472" y="34290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🛰️ Aerial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3383280"/>
            <a:ext cx="169164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34290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 Intelligence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3383280"/>
            <a:ext cx="169164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28632" y="34290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🚀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72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Waheb Telecom  ·  Muscat, Oman  · 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5577840"/>
            <a:ext cx="3383280" cy="7315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560527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ML PIPELINE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857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Pipeline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228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Complete ML workflow — 15 steps from raw images to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384048" cy="4754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61288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143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Data Collection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990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Google Earth Pro screenshots, GPS coords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01368"/>
            <a:ext cx="384048" cy="4754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819656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8013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Data Annotation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0574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YOLO format, bounding boxes, LabelImg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59736"/>
            <a:ext cx="384048" cy="4754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478024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4597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Dataset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YAML config, train/val/test split, aug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118104"/>
            <a:ext cx="384048" cy="4754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136392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118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YOLOv8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37413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COCO pretrained, transfer learning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76472"/>
            <a:ext cx="384048" cy="4754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794760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7764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Aerial Detection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03250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Why standard YOLO fails on satellite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434840"/>
            <a:ext cx="384048" cy="4754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453128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434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FALCON Aerial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69087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4× upscale + sliding window + IoU-NMS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093208"/>
            <a:ext cx="384048" cy="4754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111496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0932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Detection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349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test.png — Muscat real coordinates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751576"/>
            <a:ext cx="384048" cy="4754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5769864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751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Zone Scoring Algorithm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60076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40% vehicles + 35% gap + 25% pop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1143000"/>
            <a:ext cx="384048" cy="4754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1161288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1143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Telecom Simulation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0528" y="13990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5G / FTTH / mobile KPIs per zone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1801368"/>
            <a:ext cx="384048" cy="4754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40" y="1819656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18013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Competitor Intelligence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0528" y="20574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RAMI vs Don vs Waheb market share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2459736"/>
            <a:ext cx="384048" cy="4754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2478024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0528" y="24597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ML Insights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052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K-Means, forecasting, S-curve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3118104"/>
            <a:ext cx="384048" cy="4754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3136392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0528" y="3118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Streamlit Dashboard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10528" y="337413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6-tab interactive interface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3776472"/>
            <a:ext cx="384048" cy="4754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3794760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0528" y="37764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FastAPI Backend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10528" y="403250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12 REST endpoints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4434840"/>
            <a:ext cx="384048" cy="4754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35040" y="4453128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0528" y="4434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Docker Deployment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10528" y="469087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Containerised production stack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5040" y="5093208"/>
            <a:ext cx="384048" cy="4754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35040" y="5111496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0528" y="50932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Business Case &amp; ROI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10528" y="5349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Revenue projections &amp; roadmap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1051560"/>
            <a:ext cx="11640312" cy="1905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9262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315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Aerial imagery acquisition from Google Earth Pro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502920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34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📡  Source: Google Earth 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High-resolution satellite &amp; aerial tiles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Zoom level 18–20 for vehicle-visible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Time-of-day stamping (peak vs. off-peak)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GPS coordinate metadata in filename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Screenshot format: PNG, ~1280×720 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Covers 15 target zones in Muscat, Oman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86200"/>
            <a:ext cx="11640312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📍  Target Coordinates — Muscat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3484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5A82"/>
                </a:solidFill>
              </a:rPr>
              <a:t>📌  Al Khuwair:  23.593° N, 58.401°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64024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5A82"/>
                </a:solidFill>
              </a:rPr>
              <a:t>📌  Bausher:     23.578° N, 58.371° 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9320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5A82"/>
                </a:solidFill>
              </a:rPr>
              <a:t>📌  Muttrah:     23.617° N, 58.593° 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2239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5A82"/>
                </a:solidFill>
              </a:rPr>
              <a:t>📌  Ghubrah:     23.606° N, 58.407° E</a:t>
            </a:r>
          </a:p>
        </p:txBody>
      </p:sp>
      <p:pic>
        <p:nvPicPr>
          <p:cNvPr id="25" name="Picture 24" descr="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6309360" cy="34747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577840" y="4709160"/>
            <a:ext cx="6309360" cy="1508760"/>
          </a:xfrm>
          <a:prstGeom prst="rect">
            <a:avLst/>
          </a:prstGeom>
          <a:solidFill>
            <a:srgbClr val="1A1A2E"/>
          </a:solidFill>
          <a:ln w="9525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4773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📋  Image Metadata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507492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Filename: test.png  |  Size: 1273 × 538 px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5340096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Lat: 23.5933° N  |  Lon: 58.4017° 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560527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Zone: Al Khuwair (Commercial)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58704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Time: Peak hour (estimated 9:00 AM)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5577840"/>
            <a:ext cx="2011680" cy="960120"/>
          </a:xfrm>
          <a:prstGeom prst="rect">
            <a:avLst/>
          </a:prstGeom>
          <a:solidFill>
            <a:srgbClr val="16213E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559612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2C39A"/>
                </a:solidFill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6080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Zones
Covered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80" y="5577840"/>
            <a:ext cx="2011680" cy="960120"/>
          </a:xfrm>
          <a:prstGeom prst="rect">
            <a:avLst/>
          </a:prstGeom>
          <a:solidFill>
            <a:srgbClr val="16213E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80" y="559612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2C39A"/>
                </a:solidFill>
              </a:rPr>
              <a:t>443+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80" y="6080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Vehicles
Detected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75520" y="5577840"/>
            <a:ext cx="2011680" cy="960120"/>
          </a:xfrm>
          <a:prstGeom prst="rect">
            <a:avLst/>
          </a:prstGeom>
          <a:solidFill>
            <a:srgbClr val="16213E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559612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2C39A"/>
                </a:solidFill>
              </a:rPr>
              <a:t>1273px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6080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Image
Width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9262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Annotation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315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Labelling vehicles in YOLO bounding-box format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Annotation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08760"/>
            <a:ext cx="38404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6362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LabelImg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Open-source YOLO labelling GUI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1720"/>
            <a:ext cx="38404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8658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CVAT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Browser-based team annotation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54680"/>
            <a:ext cx="38404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0954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7E14"/>
                </a:solidFill>
              </a:rPr>
              <a:t>Roboflow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20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Cloud platform + augmentation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60520"/>
            <a:ext cx="11640312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297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YOLO Label Format (.txt)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663440"/>
            <a:ext cx="411480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4754880"/>
            <a:ext cx="389534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2C39A"/>
                </a:solidFill>
              </a:rPr>
              <a:t># &lt;class_id&gt; &lt;x_center&gt; &lt;y_center&gt; &lt;width&gt; &lt;height&gt;</a:t>
            </a:r>
          </a:p>
          <a:p>
            <a:r>
              <a:rPr sz="1100">
                <a:solidFill>
                  <a:srgbClr val="02C39A"/>
                </a:solidFill>
              </a:rPr>
              <a:t>2  0.4521  0.3187  0.0412  0.0623   # car</a:t>
            </a:r>
          </a:p>
          <a:p>
            <a:r>
              <a:rPr sz="1100">
                <a:solidFill>
                  <a:srgbClr val="02C39A"/>
                </a:solidFill>
              </a:rPr>
              <a:t>7  0.7834  0.5500  0.0680  0.0850   # truck</a:t>
            </a:r>
          </a:p>
          <a:p>
            <a:r>
              <a:rPr sz="1100">
                <a:solidFill>
                  <a:srgbClr val="02C39A"/>
                </a:solidFill>
              </a:rPr>
              <a:t>2  0.2190  0.4410  0.0385  0.0601   # car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Vehicle Class Mapping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508760"/>
            <a:ext cx="32918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15544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Class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1810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🚗 Car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286000"/>
            <a:ext cx="32918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D8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23317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8ABF"/>
                </a:solidFill>
              </a:rPr>
              <a:t>Class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🏍️ Motorcycle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063240"/>
            <a:ext cx="32918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3108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7E14"/>
                </a:solidFill>
              </a:rPr>
              <a:t>Class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3364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🚌 Bus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840480"/>
            <a:ext cx="32918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38862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4545"/>
                </a:solidFill>
              </a:rPr>
              <a:t>Class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142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🚛 Truck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Annotation Best Practices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▸  Tight boxes — do not include road surface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▸  Occluded vehicles → annotate visible portion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▸  Minimum 50% visibility to annotate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6035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▸  Night / shadow images → skip or separate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▸  Consistency check: ≥2 annotators per image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1097280"/>
            <a:ext cx="2926080" cy="5212080"/>
          </a:xfrm>
          <a:prstGeom prst="rect">
            <a:avLst/>
          </a:prstGeom>
          <a:solidFill>
            <a:srgbClr val="1A1A2E"/>
          </a:solidFill>
          <a:ln w="9525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98280" y="1234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📊  Dataset Stats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1691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</a:rPr>
              <a:t>2,400+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0" y="17282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Total images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22219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</a:rPr>
              <a:t>18,700+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22585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Annotations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27523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</a:rPr>
              <a:t>78%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27889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Cars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32826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</a:rPr>
              <a:t>11%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33192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Trucks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38130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</a:rPr>
              <a:t>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20" y="38496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Buses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8280" y="4343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</a:rPr>
              <a:t>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2720" y="437997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Motorcycles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4873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</a:rPr>
              <a:t>640px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2720" y="49103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Crop size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98280" y="5404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</a:rPr>
              <a:t>80/10/10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32720" y="54406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Train/Val/Test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9262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315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YAML config, splits, and augmentation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📁  Dataset Directory 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08760"/>
            <a:ext cx="5029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600200"/>
            <a:ext cx="4809744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2C39A"/>
                </a:solidFill>
              </a:rPr>
              <a:t>dataset/</a:t>
            </a:r>
          </a:p>
          <a:p>
            <a:r>
              <a:rPr sz="1000">
                <a:solidFill>
                  <a:srgbClr val="02C39A"/>
                </a:solidFill>
              </a:rPr>
              <a:t>├── data.yaml            # class names + paths</a:t>
            </a:r>
          </a:p>
          <a:p>
            <a:r>
              <a:rPr sz="1000">
                <a:solidFill>
                  <a:srgbClr val="02C39A"/>
                </a:solidFill>
              </a:rPr>
              <a:t>├── train/</a:t>
            </a:r>
          </a:p>
          <a:p>
            <a:r>
              <a:rPr sz="1000">
                <a:solidFill>
                  <a:srgbClr val="02C39A"/>
                </a:solidFill>
              </a:rPr>
              <a:t>│   ├── images/  (1920 images)</a:t>
            </a:r>
          </a:p>
          <a:p>
            <a:r>
              <a:rPr sz="1000">
                <a:solidFill>
                  <a:srgbClr val="02C39A"/>
                </a:solidFill>
              </a:rPr>
              <a:t>│   └── labels/  (1920 .txt files)</a:t>
            </a:r>
          </a:p>
          <a:p>
            <a:r>
              <a:rPr sz="1000">
                <a:solidFill>
                  <a:srgbClr val="02C39A"/>
                </a:solidFill>
              </a:rPr>
              <a:t>├── val/</a:t>
            </a:r>
          </a:p>
          <a:p>
            <a:r>
              <a:rPr sz="1000">
                <a:solidFill>
                  <a:srgbClr val="02C39A"/>
                </a:solidFill>
              </a:rPr>
              <a:t>│   ├── images/  (240 images)</a:t>
            </a:r>
          </a:p>
          <a:p>
            <a:r>
              <a:rPr sz="1000">
                <a:solidFill>
                  <a:srgbClr val="02C39A"/>
                </a:solidFill>
              </a:rPr>
              <a:t>│   └── labels/  (240 .txt files)</a:t>
            </a:r>
          </a:p>
          <a:p>
            <a:r>
              <a:rPr sz="1000">
                <a:solidFill>
                  <a:srgbClr val="02C39A"/>
                </a:solidFill>
              </a:rPr>
              <a:t>└── test/</a:t>
            </a:r>
          </a:p>
          <a:p>
            <a:r>
              <a:rPr sz="1000">
                <a:solidFill>
                  <a:srgbClr val="02C39A"/>
                </a:solidFill>
              </a:rPr>
              <a:t>    ├── images/  (240 images)</a:t>
            </a:r>
          </a:p>
          <a:p>
            <a:r>
              <a:rPr sz="1000">
                <a:solidFill>
                  <a:srgbClr val="02C39A"/>
                </a:solidFill>
              </a:rPr>
              <a:t>    └── labels/  (240 .txt files)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📄  data.yaml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343400"/>
            <a:ext cx="502920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4434840"/>
            <a:ext cx="4809744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2C39A"/>
                </a:solidFill>
              </a:rPr>
              <a:t>path: ./dataset</a:t>
            </a:r>
          </a:p>
          <a:p>
            <a:r>
              <a:rPr sz="1000">
                <a:solidFill>
                  <a:srgbClr val="02C39A"/>
                </a:solidFill>
              </a:rPr>
              <a:t>train: train/images</a:t>
            </a:r>
          </a:p>
          <a:p>
            <a:r>
              <a:rPr sz="1000">
                <a:solidFill>
                  <a:srgbClr val="02C39A"/>
                </a:solidFill>
              </a:rPr>
              <a:t>val:   val/images</a:t>
            </a:r>
          </a:p>
          <a:p>
            <a:r>
              <a:rPr sz="1000">
                <a:solidFill>
                  <a:srgbClr val="02C39A"/>
                </a:solidFill>
              </a:rPr>
              <a:t>test:  test/images</a:t>
            </a:r>
          </a:p>
          <a:p>
            <a:r>
              <a:rPr sz="1000">
                <a:solidFill>
                  <a:srgbClr val="02C39A"/>
                </a:solidFill>
              </a:rPr>
              <a:t/>
            </a:r>
          </a:p>
          <a:p>
            <a:r>
              <a:rPr sz="1000">
                <a:solidFill>
                  <a:srgbClr val="02C39A"/>
                </a:solidFill>
              </a:rPr>
              <a:t>nc: 4   # number of classes</a:t>
            </a:r>
          </a:p>
          <a:p>
            <a:r>
              <a:rPr sz="1000">
                <a:solidFill>
                  <a:srgbClr val="02C39A"/>
                </a:solidFill>
              </a:rPr>
              <a:t>names: [car, motorcycle, bus, truck]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097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🔄  Augmentation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1508760"/>
            <a:ext cx="6309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154533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🔀 Mosaic (4-image)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155448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Combines 4 images into one — boosts small-object recall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075688"/>
            <a:ext cx="6309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211226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↔️ Random Flip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12140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Horizontal + vertical flipping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2642616"/>
            <a:ext cx="6309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6791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🔆 HSV Jitter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268833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Hue ±1.5%, Sat ±70%, Val ±40%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3209544"/>
            <a:ext cx="6309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32461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📐 Random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325526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0.5× – 1.5× zoom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3776472"/>
            <a:ext cx="6309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3813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✂️ Random Crop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8221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640×640 crop from 1280 image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4343400"/>
            <a:ext cx="6309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43799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🌫️ Copy-Paste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438912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Paste object instances to new scenes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4910328"/>
            <a:ext cx="6309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0" y="49469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🌙 Night Simulation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495604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Brightness reduction + noise injection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55321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⚙️  Pre-processing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589788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Resize to 640×640 (letterbox)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615391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Normalise pixels 0–1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640994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BGR→RGB channel order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666597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Batch size 16, mixed precision fp16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9262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YOLOv8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315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COCO pretrained weights + transfer learning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" y="1188720"/>
            <a:ext cx="1920240" cy="1188720"/>
          </a:xfrm>
          <a:prstGeom prst="rect">
            <a:avLst/>
          </a:prstGeom>
          <a:solidFill>
            <a:srgbClr val="1A1A2E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" y="11887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Input
640×640×3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5476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39796" y="1188720"/>
            <a:ext cx="1920240" cy="1188720"/>
          </a:xfrm>
          <a:prstGeom prst="rect">
            <a:avLst/>
          </a:prstGeom>
          <a:solidFill>
            <a:srgbClr val="065A82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9796" y="11887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Backbone
CSPDarknet53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0036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4356" y="1188720"/>
            <a:ext cx="1920240" cy="1188720"/>
          </a:xfrm>
          <a:prstGeom prst="rect">
            <a:avLst/>
          </a:prstGeom>
          <a:solidFill>
            <a:srgbClr val="019A79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4356" y="11887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Neck
PAFPN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4596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28916" y="1188720"/>
            <a:ext cx="1920240" cy="1188720"/>
          </a:xfrm>
          <a:prstGeom prst="rect">
            <a:avLst/>
          </a:prstGeom>
          <a:solidFill>
            <a:srgbClr val="02C39A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28916" y="11887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Head
Decoupled
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9156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23476" y="1188720"/>
            <a:ext cx="1920240" cy="1188720"/>
          </a:xfrm>
          <a:prstGeom prst="rect">
            <a:avLst/>
          </a:prstGeom>
          <a:solidFill>
            <a:srgbClr val="28A745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3476" y="11887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Output
4 classes
BBoxes + Conf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14600"/>
            <a:ext cx="11640312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Transfer Learning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Start from yolov8n.pt (COCO 80-class weights)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Freeze backbone for first 10 epochs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Unfreeze all layers for remaining 40 epochs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Learning rate: 0.01 → 0.0001 cosine schedule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Fine-tune on vehicle classes only (4 classes)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Early stopping: patience=15 on mAP@50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Training Configuration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3063240"/>
            <a:ext cx="411480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87568" y="3154680"/>
            <a:ext cx="3895344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2C39A"/>
                </a:solidFill>
              </a:rPr>
              <a:t>from ultralytics import YOLO</a:t>
            </a:r>
          </a:p>
          <a:p>
            <a:r>
              <a:rPr sz="1000">
                <a:solidFill>
                  <a:srgbClr val="02C39A"/>
                </a:solidFill>
              </a:rPr>
              <a:t/>
            </a:r>
          </a:p>
          <a:p>
            <a:r>
              <a:rPr sz="1000">
                <a:solidFill>
                  <a:srgbClr val="02C39A"/>
                </a:solidFill>
              </a:rPr>
              <a:t>model = YOLO('yolov8n.pt')</a:t>
            </a:r>
          </a:p>
          <a:p>
            <a:r>
              <a:rPr sz="1000">
                <a:solidFill>
                  <a:srgbClr val="02C39A"/>
                </a:solidFill>
              </a:rPr>
              <a:t>model.train(</a:t>
            </a:r>
          </a:p>
          <a:p>
            <a:r>
              <a:rPr sz="1000">
                <a:solidFill>
                  <a:srgbClr val="02C39A"/>
                </a:solidFill>
              </a:rPr>
              <a:t>    data   = 'data.yaml',</a:t>
            </a:r>
          </a:p>
          <a:p>
            <a:r>
              <a:rPr sz="1000">
                <a:solidFill>
                  <a:srgbClr val="02C39A"/>
                </a:solidFill>
              </a:rPr>
              <a:t>    epochs = 50,</a:t>
            </a:r>
          </a:p>
          <a:p>
            <a:r>
              <a:rPr sz="1000">
                <a:solidFill>
                  <a:srgbClr val="02C39A"/>
                </a:solidFill>
              </a:rPr>
              <a:t>    imgsz  = 640,</a:t>
            </a:r>
          </a:p>
          <a:p>
            <a:r>
              <a:rPr sz="1000">
                <a:solidFill>
                  <a:srgbClr val="02C39A"/>
                </a:solidFill>
              </a:rPr>
              <a:t>    batch  = 16,</a:t>
            </a:r>
          </a:p>
          <a:p>
            <a:r>
              <a:rPr sz="1000">
                <a:solidFill>
                  <a:srgbClr val="02C39A"/>
                </a:solidFill>
              </a:rPr>
              <a:t>    device = 'cuda',</a:t>
            </a:r>
          </a:p>
          <a:p>
            <a:r>
              <a:rPr sz="1000">
                <a:solidFill>
                  <a:srgbClr val="02C39A"/>
                </a:solidFill>
              </a:rPr>
              <a:t>    half   = True,</a:t>
            </a:r>
          </a:p>
          <a:p>
            <a:r>
              <a:rPr sz="1000">
                <a:solidFill>
                  <a:srgbClr val="02C39A"/>
                </a:solidFill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651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Evaluation 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30632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mAP@50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063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81.4%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35753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mAP@50-95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35753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58.7%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40873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Precision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4087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A745"/>
                </a:solidFill>
              </a:rPr>
              <a:t>83.2%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45994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Recall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459943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7E14"/>
                </a:solidFill>
              </a:rPr>
              <a:t>79.6%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51114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Speed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511149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AAAA"/>
                </a:solidFill>
              </a:rPr>
              <a:t>6 ms/img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715000"/>
            <a:ext cx="11640312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833872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YOLOv8 Model Variants (FALCON uses 'n' — fastest for real-time demo)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6144768"/>
            <a:ext cx="2743200" cy="429768"/>
          </a:xfrm>
          <a:prstGeom prst="rect">
            <a:avLst/>
          </a:prstGeom>
          <a:solidFill>
            <a:srgbClr val="1A1A2E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181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 (nano)  |  3.2M params  |  6ms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6144768"/>
            <a:ext cx="2743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83280" y="6181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s (small)  |  11.2M  |  9ms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6144768"/>
            <a:ext cx="2743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6181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m (medium)  |  25.9M  |  20ms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6144768"/>
            <a:ext cx="2743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6181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l (large)  |  43.7M  |  35ms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9262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Aerial Detection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315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Why standard YOLOv8 fails on satellite / Google Earth imagery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11640312" cy="86868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7043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⚠️  Problem: Standard YOLO returns 0 detections on Google Earth screenshots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03120"/>
            <a:ext cx="3749039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103120"/>
            <a:ext cx="457200" cy="228600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103120"/>
            <a:ext cx="45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4545"/>
                </a:solidFill>
              </a:rPr>
              <a:t>Vehicles too 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724912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Google Earth @ zoom 18 → vehicles are only 5–8 px wide.
COCO training used 30–300px vehicles. Far below detection threshold.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103120"/>
            <a:ext cx="3749039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2103120"/>
            <a:ext cx="457200" cy="228600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2103120"/>
            <a:ext cx="45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4545"/>
                </a:solidFill>
              </a:rPr>
              <a:t>Wrong perspective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724912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COCO images are side-on photographs.
Aerial images are top-down — shapes look completely different.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103120"/>
            <a:ext cx="3749039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2103120"/>
            <a:ext cx="457200" cy="228600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2103120"/>
            <a:ext cx="45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4545"/>
                </a:solidFill>
              </a:rPr>
              <a:t>Low contrast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724912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Aerial imagery has flat tonality.
Vehicles blend with road surface at native resolution.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572000"/>
            <a:ext cx="11640312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709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Scale Comparison: COCO training vs. Google Earth screenshot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120640"/>
            <a:ext cx="3657600" cy="1325880"/>
          </a:xfrm>
          <a:prstGeom prst="rect">
            <a:avLst/>
          </a:prstGeom>
          <a:solidFill>
            <a:srgbClr val="1A1A2E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1755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COCO Dataset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5229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Side-on photo  |  Vehicle: 80–350px wide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7790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Confidence: 0.82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5120640"/>
            <a:ext cx="365760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51755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4545"/>
                </a:solidFill>
              </a:rPr>
              <a:t>Google Earth
Native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55229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Top-down, zoom 18  |  Vehicle: 5–8px wide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7790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545"/>
                </a:solidFill>
              </a:rPr>
              <a:t>Confidence: 0.00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80" y="5120640"/>
            <a:ext cx="3657600" cy="1325880"/>
          </a:xfrm>
          <a:prstGeom prst="rect">
            <a:avLst/>
          </a:prstGeom>
          <a:solidFill>
            <a:srgbClr val="F8F9FA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51755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A745"/>
                </a:solidFill>
              </a:rPr>
              <a:t>FALCON 4× Upscale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55229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Top-down, enhanced  |  Vehicle: 20–32px wide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7790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Confidence: 0.12+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9262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FALCON Aerial Detection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315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4× upscale + sliding window tiling + IoU-NMS deduplication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143000"/>
            <a:ext cx="155448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1430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INPUT
Image
1273×538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6002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9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47672" y="1143000"/>
            <a:ext cx="1554480" cy="1371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3392" y="11430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ENHANCE
Contrast ×1.3
Sharpness ×1.5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16002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9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1143000"/>
            <a:ext cx="1554480" cy="1371600"/>
          </a:xfrm>
          <a:prstGeom prst="rect">
            <a:avLst/>
          </a:prstGeom>
          <a:solidFill>
            <a:srgbClr val="0D8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12464" y="11430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UPSCALE
4× LANCZOS
5092×2152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16002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9A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85816" y="1143000"/>
            <a:ext cx="1554480" cy="1371600"/>
          </a:xfrm>
          <a:prstGeom prst="rect">
            <a:avLst/>
          </a:prstGeom>
          <a:solidFill>
            <a:srgbClr val="019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1536" y="11430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TILE
640×640
step=480px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16002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9A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04888" y="1143000"/>
            <a:ext cx="1554480" cy="1371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11430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YOLO
conf=0.08
per tile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8" y="16002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9A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1143000"/>
            <a:ext cx="1554480" cy="137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11430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NMS
IoU=0.40
de-dup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16002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9A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43032" y="1143000"/>
            <a:ext cx="1554480" cy="13716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88752" y="11430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OUTPUT
Boxes in
orig coords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2743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Core Algorithm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154680"/>
            <a:ext cx="5943600" cy="3291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3246120"/>
            <a:ext cx="5724144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2C39A"/>
                </a:solidFill>
              </a:rPr>
              <a:t># 1. Upscale + enhance</a:t>
            </a:r>
          </a:p>
          <a:p>
            <a:r>
              <a:rPr sz="1000">
                <a:solidFill>
                  <a:srgbClr val="02C39A"/>
                </a:solidFill>
              </a:rPr>
              <a:t>img_up = img.resize((W*4, H*4), LANCZOS)</a:t>
            </a:r>
          </a:p>
          <a:p>
            <a:r>
              <a:rPr sz="1000">
                <a:solidFill>
                  <a:srgbClr val="02C39A"/>
                </a:solidFill>
              </a:rPr>
              <a:t>img_up = Contrast(img_up).enhance(1.3)</a:t>
            </a:r>
          </a:p>
          <a:p>
            <a:r>
              <a:rPr sz="1000">
                <a:solidFill>
                  <a:srgbClr val="02C39A"/>
                </a:solidFill>
              </a:rPr>
              <a:t>img_up = Sharpness(img_up).enhance(1.5)</a:t>
            </a:r>
          </a:p>
          <a:p>
            <a:r>
              <a:rPr sz="1000">
                <a:solidFill>
                  <a:srgbClr val="02C39A"/>
                </a:solidFill>
              </a:rPr>
              <a:t/>
            </a:r>
          </a:p>
          <a:p>
            <a:r>
              <a:rPr sz="1000">
                <a:solidFill>
                  <a:srgbClr val="02C39A"/>
                </a:solidFill>
              </a:rPr>
              <a:t># 2. Sliding window tiling</a:t>
            </a:r>
          </a:p>
          <a:p>
            <a:r>
              <a:rPr sz="1000">
                <a:solidFill>
                  <a:srgbClr val="02C39A"/>
                </a:solidFill>
              </a:rPr>
              <a:t>for row in range(rows):  # 640px tiles, step=480</a:t>
            </a:r>
          </a:p>
          <a:p>
            <a:r>
              <a:rPr sz="1000">
                <a:solidFill>
                  <a:srgbClr val="02C39A"/>
                </a:solidFill>
              </a:rPr>
              <a:t>    for col in range(cols):</a:t>
            </a:r>
          </a:p>
          <a:p>
            <a:r>
              <a:rPr sz="1000">
                <a:solidFill>
                  <a:srgbClr val="02C39A"/>
                </a:solidFill>
              </a:rPr>
              <a:t>        patch = img_up[y:y+640, x:x+640]</a:t>
            </a:r>
          </a:p>
          <a:p>
            <a:r>
              <a:rPr sz="1000">
                <a:solidFill>
                  <a:srgbClr val="02C39A"/>
                </a:solidFill>
              </a:rPr>
              <a:t>        results = yolo(patch, conf=0.08)</a:t>
            </a:r>
          </a:p>
          <a:p>
            <a:r>
              <a:rPr sz="1000">
                <a:solidFill>
                  <a:srgbClr val="02C39A"/>
                </a:solidFill>
              </a:rPr>
              <a:t>        # Map back to original coords (/scale)</a:t>
            </a:r>
          </a:p>
          <a:p>
            <a:r>
              <a:rPr sz="1000">
                <a:solidFill>
                  <a:srgbClr val="02C39A"/>
                </a:solidFill>
              </a:rPr>
              <a:t>        raw_boxes += map_coords(results, x, y, scale=4)</a:t>
            </a:r>
          </a:p>
          <a:p>
            <a:r>
              <a:rPr sz="1000">
                <a:solidFill>
                  <a:srgbClr val="02C39A"/>
                </a:solidFill>
              </a:rPr>
              <a:t/>
            </a:r>
          </a:p>
          <a:p>
            <a:r>
              <a:rPr sz="1000">
                <a:solidFill>
                  <a:srgbClr val="02C39A"/>
                </a:solidFill>
              </a:rPr>
              <a:t># 3. IoU-NMS deduplication</a:t>
            </a:r>
          </a:p>
          <a:p>
            <a:r>
              <a:rPr sz="1000">
                <a:solidFill>
                  <a:srgbClr val="02C39A"/>
                </a:solidFill>
              </a:rPr>
              <a:t>kept = nms(raw_boxes, iou_thresh=0.40)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743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Key Parameters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154680"/>
            <a:ext cx="54864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31912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9952" y="31912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0032" y="31912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3547872"/>
            <a:ext cx="5486400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36027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_AERIAL_SCALE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59952" y="360273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0032" y="360273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Upscale factor (vehicles: 5px → 20px)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931920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39867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_AERIAL_TILE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59952" y="398678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640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00032" y="398678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Tile size (matches YOLO input)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4315968"/>
            <a:ext cx="5486400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65392" y="43708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_AERIAL_STEP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59952" y="437083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480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00032" y="43708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Step = 75% tile overlap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4700016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65392" y="47548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_AERIAL_CONF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59952" y="47548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0.08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0032" y="47548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Low threshold for small vehicles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92240" y="5084064"/>
            <a:ext cx="5486400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65392" y="51389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_AERIAL_NMS_IOU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59952" y="51389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0.40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00032" y="51389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Duplicate suppression threshold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92240" y="5468112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65392" y="55229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_AERIAL_CONTRAST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59952" y="55229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1.3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00032" y="55229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Pre-processing contrast boost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92240" y="5852160"/>
            <a:ext cx="5486400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65392" y="590702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_AERIAL_SHARP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59952" y="590702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1.5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00032" y="59070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Pre-processing sharpness boost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9262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Detection Results — test.png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315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Muscat, Oman  ·  23.5933°N, 58.4017°E  ·  Al Khuwair Commercial Zone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pic>
        <p:nvPicPr>
          <p:cNvPr id="11" name="Picture 10" descr="test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36576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29600" y="1097280"/>
            <a:ext cx="3657600" cy="5212080"/>
          </a:xfrm>
          <a:prstGeom prst="rect">
            <a:avLst/>
          </a:prstGeom>
          <a:solidFill>
            <a:srgbClr val="1A1A2E"/>
          </a:solidFill>
          <a:ln w="9525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🚗  Detection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664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700784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Raw detections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939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130552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After IoU-NMS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5237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56032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Cars detected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9535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990088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Truck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419856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Bus detected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813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0.08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849624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Min confidence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242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0.71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279392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Max confidence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6725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4×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70916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Upscale applied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51023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5138928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Tiles processed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5532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6ms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5568696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Inference / tile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892040"/>
            <a:ext cx="7772400" cy="960120"/>
          </a:xfrm>
          <a:prstGeom prst="rect">
            <a:avLst/>
          </a:prstGeom>
          <a:solidFill>
            <a:srgbClr val="16213E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01091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Pipeline: Aerial mode  |  Scale=4×  |  Tile=640px  |  Step=480px  |  Conf=0.08  |  NMS IoU=0.40  |  Source: yolo_aerial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34924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✅  FALCON aerial pipeline successfully detects vehicles invisible to standard YOLOv8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9262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Zone Scoring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315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Multi-factor priority score — vehicles, coverage gap, population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11548872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34440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2C39A"/>
                </a:solidFill>
              </a:rPr>
              <a:t>Priority Score  =  0.40 × vehicle_density_score  +  0.35 × coverage_gap_score  +  0.25 × population_score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40280"/>
            <a:ext cx="3749039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240280"/>
            <a:ext cx="3749039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26771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331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Vehicle Density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907792"/>
            <a:ext cx="34747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YOLOv8 count per km² → normalised 0–100
High traffic = high FTTH demand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2240280"/>
            <a:ext cx="3749039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2240280"/>
            <a:ext cx="3749039" cy="59436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26771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35%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331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Coverage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907792"/>
            <a:ext cx="34747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100% − current FTTH coverage %
Unserved = highest growth potential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2240280"/>
            <a:ext cx="3749039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80" y="2240280"/>
            <a:ext cx="3749039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26771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331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Population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907792"/>
            <a:ext cx="34747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Zone population density
More residents = more subscribers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526280"/>
            <a:ext cx="11640312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Top Priority Zones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074920"/>
            <a:ext cx="86868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51114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Zone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7872" y="51114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51114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Priority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51114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Vehicles/km²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422392"/>
            <a:ext cx="8686800" cy="24688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" y="54406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47872" y="54406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02352" y="54406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7E14"/>
                </a:solidFill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54406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5A82"/>
                </a:solidFill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678424"/>
            <a:ext cx="8686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569671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569671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02352" y="569671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7E14"/>
                </a:solidFill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1152" y="569671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5A82"/>
                </a:solidFill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934456"/>
            <a:ext cx="8686800" cy="24688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" y="59527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47872" y="59527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02352" y="59527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7E14"/>
                </a:solidFill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31152" y="59527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5A82"/>
                </a:solidFill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6190488"/>
            <a:ext cx="8686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" y="620877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47872" y="620877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02352" y="620877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7E14"/>
                </a:solidFill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31152" y="620877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5A82"/>
                </a:solidFill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6446520"/>
            <a:ext cx="8686800" cy="24688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646480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47872" y="646480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02352" y="646480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7E14"/>
                </a:solidFill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31152" y="646480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5A82"/>
                </a:solidFill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0" y="4663440"/>
            <a:ext cx="2743200" cy="1920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81160" y="4773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7E14"/>
                </a:solidFill>
              </a:rPr>
              <a:t>💰  ROI Formula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81160" y="5102352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2C39A"/>
                </a:solidFill>
              </a:rPr>
              <a:t>new_subs = households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81160" y="53035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  × uptake_rate (42%)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81160" y="550468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  × gap_pct / 100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81160" y="570585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annual_rev = new_subs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81160" y="590702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  × ARPU (5.5 OMR/mo)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81160" y="6108192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  × 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81160" y="630936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ROI years = CAPEX / rev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9262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Telecom Market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315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Per-zone KPI simulation: 5G / FTTH / mobile subscribers, ARPU, 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281863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170432"/>
            <a:ext cx="2672334" cy="578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</a:rPr>
              <a:t>284K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728216"/>
            <a:ext cx="2672334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</a:rPr>
              <a:t>Total Subscribers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4398" y="1097280"/>
            <a:ext cx="281863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7550" y="1170432"/>
            <a:ext cx="2672334" cy="578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5A82"/>
                </a:solidFill>
              </a:rPr>
              <a:t>5.5 OMR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7550" y="1728216"/>
            <a:ext cx="2672334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</a:rPr>
              <a:t>Avg ARPU/mo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6" y="1097280"/>
            <a:ext cx="281863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7628" y="1170432"/>
            <a:ext cx="2672334" cy="578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D7E14"/>
                </a:solidFill>
              </a:rPr>
              <a:t>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7628" y="1728216"/>
            <a:ext cx="2672334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</a:rPr>
              <a:t>FTTH Coverage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4554" y="1097280"/>
            <a:ext cx="281863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7706" y="1170432"/>
            <a:ext cx="2672334" cy="578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4545"/>
                </a:solidFill>
              </a:rPr>
              <a:t>105K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7706" y="1728216"/>
            <a:ext cx="2672334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</a:rPr>
              <a:t>Unserved Homes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2331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Simulated KPIs per Zone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788920"/>
            <a:ext cx="3749039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788920"/>
            <a:ext cx="3749039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8254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📱 Mobile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2004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2G/3G/4G subscribers
Penetration rate
Avg revenue/sub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2788920"/>
            <a:ext cx="3749039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2788920"/>
            <a:ext cx="3749039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28254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🌐 FTTH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2004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Current subscribers
Coverage pct
Revenue contribution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2788920"/>
            <a:ext cx="3749039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80" y="2788920"/>
            <a:ext cx="3749039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8254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5G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2004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Coverage threshold 80%
Subscriber forecast
Premium ARPU ×1.4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206240"/>
            <a:ext cx="3749039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206240"/>
            <a:ext cx="3749039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2428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💼 ARPU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6177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Residential ARPU
Commercial ARPU ×1.5
Blended ARPU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4206240"/>
            <a:ext cx="3749039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51960" y="4206240"/>
            <a:ext cx="3749039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43400" y="42428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📊 Traffic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46177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Monthly GB/sub
Peak hour factor
35% YoY growth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83880" y="4206240"/>
            <a:ext cx="3749039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83880" y="4206240"/>
            <a:ext cx="3749039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42428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🏆 Market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46177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Waheb share
Rami (Omantel)
Don (Ooredoo)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2331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Simulation code (app/telecom_simulator.py)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3920" y="2743200"/>
            <a:ext cx="347472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13648" y="2834640"/>
            <a:ext cx="3255264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2C39A"/>
                </a:solidFill>
              </a:rPr>
              <a:t>sim = TelecomSimulator(zones)</a:t>
            </a:r>
          </a:p>
          <a:p>
            <a:r>
              <a:rPr sz="1000">
                <a:solidFill>
                  <a:srgbClr val="02C39A"/>
                </a:solidFill>
              </a:rPr>
              <a:t>profile = sim.simulate_zone(zone)</a:t>
            </a:r>
          </a:p>
          <a:p>
            <a:r>
              <a:rPr sz="1000">
                <a:solidFill>
                  <a:srgbClr val="02C39A"/>
                </a:solidFill>
              </a:rPr>
              <a:t/>
            </a:r>
          </a:p>
          <a:p>
            <a:r>
              <a:rPr sz="1000">
                <a:solidFill>
                  <a:srgbClr val="02C39A"/>
                </a:solidFill>
              </a:rPr>
              <a:t># ZoneTelecomProfile fields:</a:t>
            </a:r>
          </a:p>
          <a:p>
            <a:r>
              <a:rPr sz="1000">
                <a:solidFill>
                  <a:srgbClr val="02C39A"/>
                </a:solidFill>
              </a:rPr>
              <a:t>profile.ftth_subscribers</a:t>
            </a:r>
          </a:p>
          <a:p>
            <a:r>
              <a:rPr sz="1000">
                <a:solidFill>
                  <a:srgbClr val="02C39A"/>
                </a:solidFill>
              </a:rPr>
              <a:t>profile.mobile_subscribers</a:t>
            </a:r>
          </a:p>
          <a:p>
            <a:r>
              <a:rPr sz="1000">
                <a:solidFill>
                  <a:srgbClr val="02C39A"/>
                </a:solidFill>
              </a:rPr>
              <a:t>profile.revenue_omr</a:t>
            </a:r>
          </a:p>
          <a:p>
            <a:r>
              <a:rPr sz="1000">
                <a:solidFill>
                  <a:srgbClr val="02C39A"/>
                </a:solidFill>
              </a:rPr>
              <a:t>profile.traffic_tb_month</a:t>
            </a:r>
          </a:p>
          <a:p>
            <a:r>
              <a:rPr sz="1000">
                <a:solidFill>
                  <a:srgbClr val="02C39A"/>
                </a:solidFill>
              </a:rPr>
              <a:t>profile.market_share_pct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9262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Competitor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315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Waheb vs RAMI (Omantel) vs Don (Ooredoo) — market gap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Market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5544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4545"/>
                </a:solidFill>
              </a:rPr>
              <a:t>RAMI (Omantel)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28800"/>
            <a:ext cx="1440180" cy="31181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0220" y="1828800"/>
            <a:ext cx="2674620" cy="31181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828800"/>
            <a:ext cx="502920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545"/>
                </a:solidFill>
              </a:rP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1031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Market leader, legacy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2860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Don (Ooredoo)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560320"/>
            <a:ext cx="1028700" cy="31181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48740" y="2560320"/>
            <a:ext cx="3086100" cy="31181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2560320"/>
            <a:ext cx="502920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8346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Strong mobile-first 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017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Waheb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291840"/>
            <a:ext cx="411480" cy="31181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291840"/>
            <a:ext cx="3703320" cy="31181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3291840"/>
            <a:ext cx="502920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5661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AI-first, FTTH focus — FALCON 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3749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AAAA"/>
                </a:solidFill>
              </a:rPr>
              <a:t>Others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023360"/>
            <a:ext cx="1234440" cy="31181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54480" y="4023360"/>
            <a:ext cx="2880360" cy="31181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44568" y="4023360"/>
            <a:ext cx="502920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AAAA"/>
                </a:solidFill>
              </a:rPr>
              <a:t>30%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2976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Fragmented smaller ISPs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617720"/>
            <a:ext cx="11640312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Coverage Gap by Zone (Top 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120640"/>
            <a:ext cx="612648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" y="51572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Zone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66544" y="51572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Waheb Cov.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63824" y="51572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RAMI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61104" y="51572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58384" y="51572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Waheb Gap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440680"/>
            <a:ext cx="6126480" cy="2103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" y="54589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Al Khuwair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66544" y="54589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80%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63824" y="54589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55%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61104" y="54589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70%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58384" y="54589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545"/>
                </a:solidFill>
              </a:rPr>
              <a:t>20%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669280"/>
            <a:ext cx="6126480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904" y="56875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Bausher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66544" y="56875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75%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63824" y="56875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40%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61104" y="56875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65%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58384" y="56875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545"/>
                </a:solidFill>
              </a:rPr>
              <a:t>25%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897880"/>
            <a:ext cx="6126480" cy="2103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4904" y="5916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Wadi Kabir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66544" y="5916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65%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63824" y="5916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30%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61104" y="5916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55%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58384" y="5916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545"/>
                </a:solidFill>
              </a:rPr>
              <a:t>35%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126480"/>
            <a:ext cx="6126480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4904" y="61447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Ghubrah 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66544" y="61447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70%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63824" y="61447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25%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61104" y="61447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60%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58384" y="61447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545"/>
                </a:solidFill>
              </a:rPr>
              <a:t>30%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6355080"/>
            <a:ext cx="6126480" cy="2103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4904" y="63733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Ruwi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66544" y="63733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85%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63824" y="63733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60%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61104" y="63733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75%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58384" y="63733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545"/>
                </a:solidFill>
              </a:rPr>
              <a:t>15%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0" y="1097280"/>
            <a:ext cx="5303520" cy="5212080"/>
          </a:xfrm>
          <a:prstGeom prst="rect">
            <a:avLst/>
          </a:prstGeom>
          <a:solidFill>
            <a:srgbClr val="1A1A2E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2084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🎯  FALCON Opportunity Analysis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2084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105,000 homes currently unserved by any FTTH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2084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Waheb has 10% share vs 35% (RAMI) target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20840" y="2697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RAMI &amp; Don have &lt;55% FTTH in 8 of 15 zones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2084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Commercial zones (Al Khuwair, Bausher) are highest ROI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20840" y="3703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FALCON identifies top 3 zones = 42% of total gap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20840" y="4206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Capture 5% market share → +5,250 new subscribers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20840" y="4709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Annual revenue uplift: +OMR 346,500 (@ARPU 5.5)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20840" y="5212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Payback period: 3.2 years (avg zone CAPEX 1.1M OMR)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83680" y="5806440"/>
            <a:ext cx="530352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20840" y="5852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→  FALCON targets the 35% uncaptured market gap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9262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ML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315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K-Means clustering · Revenue forecasting · S-curve market share · Demand scoring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3749039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170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🔵  K-Means Clustering (k=3)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572768"/>
            <a:ext cx="137160" cy="43891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5910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High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Score &gt; 75  ·  4 zones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212848"/>
            <a:ext cx="137160" cy="43891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311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D7E14"/>
                </a:solidFill>
              </a:rPr>
              <a:t>Moderate Potential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4688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Score 50–75  ·  7 zones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852928"/>
            <a:ext cx="137160" cy="43891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87121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AAAA"/>
                </a:solidFill>
              </a:rPr>
              <a:t>Low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089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Score &lt; 50  ·  4 zones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1089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Features: vehicle density, coverage gap,
population density, commercial ratio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1097280"/>
            <a:ext cx="4114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11704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📈  Revenue Forecast (5-Year)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558729"/>
            <a:ext cx="594360" cy="43135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357561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C39A"/>
                </a:solidFill>
              </a:rPr>
              <a:t>0.42M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026664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Y1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66360" y="2363591"/>
            <a:ext cx="594360" cy="62649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2162423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C39A"/>
                </a:solidFill>
              </a:rPr>
              <a:t>0.61M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3026664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Y2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97880" y="2127371"/>
            <a:ext cx="594360" cy="8627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97880" y="1926203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C39A"/>
                </a:solidFill>
              </a:rPr>
              <a:t>0.84M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3026664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Y3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0" y="1870610"/>
            <a:ext cx="594360" cy="1119477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166944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C39A"/>
                </a:solidFill>
              </a:rPr>
              <a:t>1.09M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026664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Y4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20" y="1572768"/>
            <a:ext cx="594360" cy="1417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0920" y="1371600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C39A"/>
                </a:solidFill>
              </a:rPr>
              <a:t>1.38M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3026664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Y5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32735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OMR (Millions)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1097280"/>
            <a:ext cx="34747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9640" y="1170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📉  Market Share S-Curve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50224" y="2493264"/>
            <a:ext cx="731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9640" y="230124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2C39A"/>
                </a:solidFill>
              </a:rPr>
              <a:t>10%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3063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04604" y="2298192"/>
            <a:ext cx="731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04020" y="210616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2C39A"/>
                </a:solidFill>
              </a:rPr>
              <a:t>14%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58300" y="3063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2027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58984" y="2054352"/>
            <a:ext cx="731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0" y="18623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2C39A"/>
                </a:solidFill>
              </a:rPr>
              <a:t>19%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12680" y="3063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2028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13364" y="1810512"/>
            <a:ext cx="731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12780" y="161848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2C39A"/>
                </a:solidFill>
              </a:rPr>
              <a:t>24%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67060" y="3063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2029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67744" y="1615440"/>
            <a:ext cx="731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567160" y="142341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2C39A"/>
                </a:solidFill>
              </a:rPr>
              <a:t>28%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521440" y="3063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2030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749039"/>
            <a:ext cx="11640312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🎯  Demand Score Prediction (No YOLO required)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4251960"/>
            <a:ext cx="3657600" cy="8046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427939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2C39A"/>
                </a:solidFill>
              </a:rPr>
              <a:t>35%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80160" y="43068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Population Density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5720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residents/km²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97680" y="4251960"/>
            <a:ext cx="3657600" cy="8046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120" y="427939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2C39A"/>
                </a:solidFill>
              </a:rPr>
              <a:t>40%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66360" y="43068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Coverage Gap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66360" y="45720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% unserved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83880" y="4251960"/>
            <a:ext cx="3657600" cy="8046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75320" y="427939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2C39A"/>
                </a:solidFill>
              </a:rPr>
              <a:t>25%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0" y="43068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Commercial Ratio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0" y="45720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commercial units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5166360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</a:rPr>
              <a:t>→  predict_demand_score() generates zone scores without needing real YOLO detections — useful for areas without imagery coverage.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9262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Streamlit Dashboard — 6 Tabs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315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Interactive intelligence interface · run: streamlit run app/dashboard.py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3770376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143000"/>
            <a:ext cx="3770376" cy="4754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216152"/>
            <a:ext cx="3550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🗺️  Zone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691640"/>
            <a:ext cx="355092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Folium interactive map
6 toggle layers
Click zone → profile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54424" y="1143000"/>
            <a:ext cx="3770376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54424" y="1143000"/>
            <a:ext cx="3770376" cy="4754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4152" y="1216152"/>
            <a:ext cx="3550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🔍  Vehicle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4152" y="1691640"/>
            <a:ext cx="355092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Upload image or test.png
Aerial/standard mode
Annotated 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4528" y="1143000"/>
            <a:ext cx="3770376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34528" y="1143000"/>
            <a:ext cx="3770376" cy="47548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4256" y="1216152"/>
            <a:ext cx="3550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 Zone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4256" y="1691640"/>
            <a:ext cx="355092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Radar charts per zone
Scoring breakdown
Export CSV/PPTX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182111"/>
            <a:ext cx="3770376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182111"/>
            <a:ext cx="3770376" cy="47548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255263"/>
            <a:ext cx="3550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📡  Telecom Sim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730751"/>
            <a:ext cx="355092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KPI tables &amp; charts
Subscriber forecasts
Competitor heatmap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54424" y="3182111"/>
            <a:ext cx="3770376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54424" y="3182111"/>
            <a:ext cx="3770376" cy="47548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64152" y="3255263"/>
            <a:ext cx="3550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💰  Business 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4152" y="3730751"/>
            <a:ext cx="355092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ROI calculator
Revenue projections
Capex vs payback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34528" y="3182111"/>
            <a:ext cx="3770376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E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34528" y="3182111"/>
            <a:ext cx="3770376" cy="475488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44256" y="3255263"/>
            <a:ext cx="3550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🤖  AI Insights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4256" y="3730751"/>
            <a:ext cx="355092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K-Means clusters
S-curve projections
Demand scoring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6263640"/>
            <a:ext cx="11640312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28192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▶  streamlit run app/dashboard.py  —  or—  docker compose up  →  http://localhost:8501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9262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FastAPI REST Backend — 12 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315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Production-grade API · uvicorn · Pydantic · CORSMiddleware · port 8000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86868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1338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11338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11338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444752"/>
            <a:ext cx="8686800" cy="37490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444752"/>
            <a:ext cx="822960" cy="37490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4996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15087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5087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Service health check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837944"/>
            <a:ext cx="86868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1837944"/>
            <a:ext cx="822960" cy="37490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18928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19019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/zones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190195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List all 15 zones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231136"/>
            <a:ext cx="8686800" cy="37490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231136"/>
            <a:ext cx="822960" cy="37490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2860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2951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/zones/{id}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29514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Single zone profile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24328"/>
            <a:ext cx="86868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2624328"/>
            <a:ext cx="822960" cy="37490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26791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26883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/zones/{id}/forecast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8833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5-year revenue forecast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017520"/>
            <a:ext cx="8686800" cy="37490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3017520"/>
            <a:ext cx="822960" cy="37490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07238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30815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/zones/{id}/telecom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308152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Telecom KPIs for zone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410712"/>
            <a:ext cx="86868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3410712"/>
            <a:ext cx="822960" cy="374904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34655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34747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/market/summary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34747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Overall market stats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803904"/>
            <a:ext cx="8686800" cy="37490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3803904"/>
            <a:ext cx="822960" cy="374904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38587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38679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/market/telecom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38679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All zones telecom data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197096"/>
            <a:ext cx="86868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4320" y="4197096"/>
            <a:ext cx="822960" cy="374904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4251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" y="426110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/market/clusters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0" y="426110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K-Means cluster labels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590288"/>
            <a:ext cx="8686800" cy="37490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4590288"/>
            <a:ext cx="822960" cy="374904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46451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720" y="46542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/market/share-projection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46320" y="465429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5-year market share S-curve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983480"/>
            <a:ext cx="86868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4320" y="4983480"/>
            <a:ext cx="822960" cy="374904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50383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88720" y="50474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/detect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46320" y="504748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Upload image → vehicle detections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376672"/>
            <a:ext cx="8686800" cy="37490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74320" y="5376672"/>
            <a:ext cx="822960" cy="3749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543153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88720" y="54406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/report/csv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46320" y="54406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Download CSV report (streaming)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769864"/>
            <a:ext cx="86868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74320" y="5769864"/>
            <a:ext cx="822960" cy="3749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58247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88720" y="58338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/report/summary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5833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JSON summary for top zones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Sample API call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00" y="1508760"/>
            <a:ext cx="283464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53728" y="1600200"/>
            <a:ext cx="2615184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2C39A"/>
                </a:solidFill>
              </a:rPr>
              <a:t>import httpx</a:t>
            </a:r>
          </a:p>
          <a:p>
            <a:r>
              <a:rPr sz="900">
                <a:solidFill>
                  <a:srgbClr val="02C39A"/>
                </a:solidFill>
              </a:rPr>
              <a:t/>
            </a:r>
          </a:p>
          <a:p>
            <a:r>
              <a:rPr sz="900">
                <a:solidFill>
                  <a:srgbClr val="02C39A"/>
                </a:solidFill>
              </a:rPr>
              <a:t># Get zone profile</a:t>
            </a:r>
          </a:p>
          <a:p>
            <a:r>
              <a:rPr sz="900">
                <a:solidFill>
                  <a:srgbClr val="02C39A"/>
                </a:solidFill>
              </a:rPr>
              <a:t>r = httpx.get(</a:t>
            </a:r>
          </a:p>
          <a:p>
            <a:r>
              <a:rPr sz="900">
                <a:solidFill>
                  <a:srgbClr val="02C39A"/>
                </a:solidFill>
              </a:rPr>
              <a:t>  'http://localhost:8000</a:t>
            </a:r>
          </a:p>
          <a:p>
            <a:r>
              <a:rPr sz="900">
                <a:solidFill>
                  <a:srgbClr val="02C39A"/>
                </a:solidFill>
              </a:rPr>
              <a:t>   /zones/al_khuwair'</a:t>
            </a:r>
          </a:p>
          <a:p>
            <a:r>
              <a:rPr sz="900">
                <a:solidFill>
                  <a:srgbClr val="02C39A"/>
                </a:solidFill>
              </a:rPr>
              <a:t>)</a:t>
            </a:r>
          </a:p>
          <a:p>
            <a:r>
              <a:rPr sz="900">
                <a:solidFill>
                  <a:srgbClr val="02C39A"/>
                </a:solidFill>
              </a:rPr>
              <a:t>zone = r.json()</a:t>
            </a:r>
          </a:p>
          <a:p>
            <a:r>
              <a:rPr sz="900">
                <a:solidFill>
                  <a:srgbClr val="02C39A"/>
                </a:solidFill>
              </a:rPr>
              <a:t/>
            </a:r>
          </a:p>
          <a:p>
            <a:r>
              <a:rPr sz="900">
                <a:solidFill>
                  <a:srgbClr val="02C39A"/>
                </a:solidFill>
              </a:rPr>
              <a:t># Upload image for detection</a:t>
            </a:r>
          </a:p>
          <a:p>
            <a:r>
              <a:rPr sz="900">
                <a:solidFill>
                  <a:srgbClr val="02C39A"/>
                </a:solidFill>
              </a:rPr>
              <a:t>files = {'file': open(</a:t>
            </a:r>
          </a:p>
          <a:p>
            <a:r>
              <a:rPr sz="900">
                <a:solidFill>
                  <a:srgbClr val="02C39A"/>
                </a:solidFill>
              </a:rPr>
              <a:t>  'test.png', 'rb')}</a:t>
            </a:r>
          </a:p>
          <a:p>
            <a:r>
              <a:rPr sz="900">
                <a:solidFill>
                  <a:srgbClr val="02C39A"/>
                </a:solidFill>
              </a:rPr>
              <a:t>r = httpx.post(</a:t>
            </a:r>
          </a:p>
          <a:p>
            <a:r>
              <a:rPr sz="900">
                <a:solidFill>
                  <a:srgbClr val="02C39A"/>
                </a:solidFill>
              </a:rPr>
              <a:t>  '.../detect', files=files)</a:t>
            </a:r>
          </a:p>
          <a:p>
            <a:r>
              <a:rPr sz="900">
                <a:solidFill>
                  <a:srgbClr val="02C39A"/>
                </a:solidFill>
              </a:rPr>
              <a:t>boxes = r.json()['boxes']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6236208"/>
            <a:ext cx="86868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6281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FastAPI 0.111+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86000" y="6281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Pydantic v2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40480" y="6281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uvicorn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20640" y="6281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httpx (async)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75120" y="6281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CORS 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98079" y="6281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OpenAPI docs: /docs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9262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Docker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315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Production containerisation · docker compose up · two services · port 8501 + 8000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docker-compose.yml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08760"/>
            <a:ext cx="5486400" cy="3840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600200"/>
            <a:ext cx="5266944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2C39A"/>
                </a:solidFill>
              </a:rPr>
              <a:t>x-falcon-common: &amp;common</a:t>
            </a:r>
          </a:p>
          <a:p>
            <a:r>
              <a:rPr sz="1000">
                <a:solidFill>
                  <a:srgbClr val="02C39A"/>
                </a:solidFill>
              </a:rPr>
              <a:t>  build: .</a:t>
            </a:r>
          </a:p>
          <a:p>
            <a:r>
              <a:rPr sz="1000">
                <a:solidFill>
                  <a:srgbClr val="02C39A"/>
                </a:solidFill>
              </a:rPr>
              <a:t>  env_file: .env</a:t>
            </a:r>
          </a:p>
          <a:p>
            <a:r>
              <a:rPr sz="1000">
                <a:solidFill>
                  <a:srgbClr val="02C39A"/>
                </a:solidFill>
              </a:rPr>
              <a:t>  volumes: [./data:/app/data]</a:t>
            </a:r>
          </a:p>
          <a:p>
            <a:r>
              <a:rPr sz="1000">
                <a:solidFill>
                  <a:srgbClr val="02C39A"/>
                </a:solidFill>
              </a:rPr>
              <a:t/>
            </a:r>
          </a:p>
          <a:p>
            <a:r>
              <a:rPr sz="1000">
                <a:solidFill>
                  <a:srgbClr val="02C39A"/>
                </a:solidFill>
              </a:rPr>
              <a:t>services:</a:t>
            </a:r>
          </a:p>
          <a:p>
            <a:r>
              <a:rPr sz="1000">
                <a:solidFill>
                  <a:srgbClr val="02C39A"/>
                </a:solidFill>
              </a:rPr>
              <a:t>  falcon-dashboard:</a:t>
            </a:r>
          </a:p>
          <a:p>
            <a:r>
              <a:rPr sz="1000">
                <a:solidFill>
                  <a:srgbClr val="02C39A"/>
                </a:solidFill>
              </a:rPr>
              <a:t>    &lt;&lt;: *common</a:t>
            </a:r>
          </a:p>
          <a:p>
            <a:r>
              <a:rPr sz="1000">
                <a:solidFill>
                  <a:srgbClr val="02C39A"/>
                </a:solidFill>
              </a:rPr>
              <a:t>    command: streamlit run app/dashboard.py</a:t>
            </a:r>
          </a:p>
          <a:p>
            <a:r>
              <a:rPr sz="1000">
                <a:solidFill>
                  <a:srgbClr val="02C39A"/>
                </a:solidFill>
              </a:rPr>
              <a:t>    ports: ['8501:8501']</a:t>
            </a:r>
          </a:p>
          <a:p>
            <a:r>
              <a:rPr sz="1000">
                <a:solidFill>
                  <a:srgbClr val="02C39A"/>
                </a:solidFill>
              </a:rPr>
              <a:t/>
            </a:r>
          </a:p>
          <a:p>
            <a:r>
              <a:rPr sz="1000">
                <a:solidFill>
                  <a:srgbClr val="02C39A"/>
                </a:solidFill>
              </a:rPr>
              <a:t>  falcon-api:</a:t>
            </a:r>
          </a:p>
          <a:p>
            <a:r>
              <a:rPr sz="1000">
                <a:solidFill>
                  <a:srgbClr val="02C39A"/>
                </a:solidFill>
              </a:rPr>
              <a:t>    &lt;&lt;: *common</a:t>
            </a:r>
          </a:p>
          <a:p>
            <a:r>
              <a:rPr sz="1000">
                <a:solidFill>
                  <a:srgbClr val="02C39A"/>
                </a:solidFill>
              </a:rPr>
              <a:t>    command: uvicorn api.main:app</a:t>
            </a:r>
          </a:p>
          <a:p>
            <a:r>
              <a:rPr sz="1000">
                <a:solidFill>
                  <a:srgbClr val="02C39A"/>
                </a:solidFill>
              </a:rPr>
              <a:t>             --host 0.0.0.0 --port 8000</a:t>
            </a:r>
          </a:p>
          <a:p>
            <a:r>
              <a:rPr sz="1000">
                <a:solidFill>
                  <a:srgbClr val="02C39A"/>
                </a:solidFill>
              </a:rPr>
              <a:t>             --workers 2</a:t>
            </a:r>
          </a:p>
          <a:p>
            <a:r>
              <a:rPr sz="1000">
                <a:solidFill>
                  <a:srgbClr val="02C39A"/>
                </a:solidFill>
              </a:rPr>
              <a:t>    ports: ['8000:8000']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0972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Dockerfile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508760"/>
            <a:ext cx="5852160" cy="3840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1600200"/>
            <a:ext cx="5632704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2C39A"/>
                </a:solidFill>
              </a:rPr>
              <a:t>FROM python:3.11-slim</a:t>
            </a:r>
          </a:p>
          <a:p>
            <a:r>
              <a:rPr sz="1000">
                <a:solidFill>
                  <a:srgbClr val="02C39A"/>
                </a:solidFill>
              </a:rPr>
              <a:t/>
            </a:r>
          </a:p>
          <a:p>
            <a:r>
              <a:rPr sz="1000">
                <a:solidFill>
                  <a:srgbClr val="02C39A"/>
                </a:solidFill>
              </a:rPr>
              <a:t># System libraries for OpenCV / GL</a:t>
            </a:r>
          </a:p>
          <a:p>
            <a:r>
              <a:rPr sz="1000">
                <a:solidFill>
                  <a:srgbClr val="02C39A"/>
                </a:solidFill>
              </a:rPr>
              <a:t>RUN apt-get update &amp;&amp; apt-get install -y \</a:t>
            </a:r>
          </a:p>
          <a:p>
            <a:r>
              <a:rPr sz="1000">
                <a:solidFill>
                  <a:srgbClr val="02C39A"/>
                </a:solidFill>
              </a:rPr>
              <a:t>    libgl1-mesa-glx libglib2.0-0</a:t>
            </a:r>
          </a:p>
          <a:p>
            <a:r>
              <a:rPr sz="1000">
                <a:solidFill>
                  <a:srgbClr val="02C39A"/>
                </a:solidFill>
              </a:rPr>
              <a:t/>
            </a:r>
          </a:p>
          <a:p>
            <a:r>
              <a:rPr sz="1000">
                <a:solidFill>
                  <a:srgbClr val="02C39A"/>
                </a:solidFill>
              </a:rPr>
              <a:t>WORKDIR /app</a:t>
            </a:r>
          </a:p>
          <a:p>
            <a:r>
              <a:rPr sz="1000">
                <a:solidFill>
                  <a:srgbClr val="02C39A"/>
                </a:solidFill>
              </a:rPr>
              <a:t>COPY requirements.txt .</a:t>
            </a:r>
          </a:p>
          <a:p>
            <a:r>
              <a:rPr sz="1000">
                <a:solidFill>
                  <a:srgbClr val="02C39A"/>
                </a:solidFill>
              </a:rPr>
              <a:t>RUN pip install -r requirements.txt</a:t>
            </a:r>
          </a:p>
          <a:p>
            <a:r>
              <a:rPr sz="1000">
                <a:solidFill>
                  <a:srgbClr val="02C39A"/>
                </a:solidFill>
              </a:rPr>
              <a:t/>
            </a:r>
          </a:p>
          <a:p>
            <a:r>
              <a:rPr sz="1000">
                <a:solidFill>
                  <a:srgbClr val="02C39A"/>
                </a:solidFill>
              </a:rPr>
              <a:t># Pre-download YOLO weights</a:t>
            </a:r>
          </a:p>
          <a:p>
            <a:r>
              <a:rPr sz="1000">
                <a:solidFill>
                  <a:srgbClr val="02C39A"/>
                </a:solidFill>
              </a:rPr>
              <a:t>RUN python -c "from ultralytics import YOLO;</a:t>
            </a:r>
          </a:p>
          <a:p>
            <a:r>
              <a:rPr sz="1000">
                <a:solidFill>
                  <a:srgbClr val="02C39A"/>
                </a:solidFill>
              </a:rPr>
              <a:t>               YOLO('yolov8n.pt')"</a:t>
            </a:r>
          </a:p>
          <a:p>
            <a:r>
              <a:rPr sz="1000">
                <a:solidFill>
                  <a:srgbClr val="02C39A"/>
                </a:solidFill>
              </a:rPr>
              <a:t/>
            </a:r>
          </a:p>
          <a:p>
            <a:r>
              <a:rPr sz="1000">
                <a:solidFill>
                  <a:srgbClr val="02C39A"/>
                </a:solidFill>
              </a:rPr>
              <a:t>COPY . .</a:t>
            </a:r>
          </a:p>
          <a:p>
            <a:r>
              <a:rPr sz="1000">
                <a:solidFill>
                  <a:srgbClr val="02C39A"/>
                </a:solidFill>
              </a:rPr>
              <a:t>CMD ["python", "run.py"]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477256"/>
            <a:ext cx="11640312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5577840"/>
            <a:ext cx="22860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6235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2C39A"/>
                </a:solidFill>
              </a:rPr>
              <a:t>cp .env.example .env  &amp;&amp;  nano .env   # configure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15768" y="5577840"/>
            <a:ext cx="22860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2928" y="56235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2C39A"/>
                </a:solidFill>
              </a:rPr>
              <a:t>docker compose build                   # build images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11496" y="5577840"/>
            <a:ext cx="22860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8656" y="56235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2C39A"/>
                </a:solidFill>
              </a:rPr>
              <a:t>docker compose up -d                   # start services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7224" y="5577840"/>
            <a:ext cx="22860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44384" y="56235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2C39A"/>
                </a:solidFill>
              </a:rPr>
              <a:t>open http://localhost:8501             # Streamlit UI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02952" y="5577840"/>
            <a:ext cx="22860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0112" y="56235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2C39A"/>
                </a:solidFill>
              </a:rPr>
              <a:t>open http://localhost:8000/docs        # FastAPI swagger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9262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Business Case &amp;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315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FALCON value proposition for Waheb Telecom — Muscat FTTH expansion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2818638" cy="100584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170432"/>
            <a:ext cx="2672334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4545"/>
                </a:solidFill>
              </a:rPr>
              <a:t>105,000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700784"/>
            <a:ext cx="2672334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</a:rPr>
              <a:t>Unserved Homes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4398" y="1097280"/>
            <a:ext cx="2818638" cy="100584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7550" y="1170432"/>
            <a:ext cx="2672334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</a:rPr>
              <a:t>+18%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7550" y="1700784"/>
            <a:ext cx="2672334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</a:rPr>
              <a:t>Market Share 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6" y="1097280"/>
            <a:ext cx="2818638" cy="100584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7628" y="1170432"/>
            <a:ext cx="2672334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D7E14"/>
                </a:solidFill>
              </a:rPr>
              <a:t>3.2 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7628" y="1700784"/>
            <a:ext cx="2672334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</a:rPr>
              <a:t>Avg Payback Period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4554" y="1097280"/>
            <a:ext cx="2818638" cy="100584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7706" y="1170432"/>
            <a:ext cx="2672334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8A745"/>
                </a:solidFill>
              </a:rPr>
              <a:t>1.38M OMR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7706" y="1700784"/>
            <a:ext cx="2672334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</a:rPr>
              <a:t>Year-5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2331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Zone Investment ROI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743200"/>
            <a:ext cx="758952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" y="277977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Zone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9424" y="277977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CAPEX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12464" y="277977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Annual Rev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277977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Payback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277977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Priority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090672"/>
            <a:ext cx="758952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314553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Al Khuwair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9424" y="314553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OMR 1.2M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12464" y="314553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C39A"/>
                </a:solidFill>
              </a:rPr>
              <a:t>OMR 420K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6944" y="314553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7E14"/>
                </a:solidFill>
              </a:rPr>
              <a:t>2.9 yr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38544" y="314553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A745"/>
                </a:solidFill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456432"/>
            <a:ext cx="7589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4" y="351129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Bausher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9424" y="351129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OMR 0.9M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64" y="351129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C39A"/>
                </a:solidFill>
              </a:rPr>
              <a:t>OMR 310K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66944" y="351129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7E14"/>
                </a:solidFill>
              </a:rPr>
              <a:t>2.9 yr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38544" y="351129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A745"/>
                </a:solidFill>
              </a:rPr>
              <a:t>High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822192"/>
            <a:ext cx="758952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904" y="387705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Wadi Kabir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9424" y="387705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OMR 1.4M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12464" y="387705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C39A"/>
                </a:solidFill>
              </a:rPr>
              <a:t>OMR 380K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66944" y="387705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7E14"/>
                </a:solidFill>
              </a:rPr>
              <a:t>3.7 yr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38544" y="387705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7E14"/>
                </a:solidFill>
              </a:rPr>
              <a:t>Medium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187952"/>
            <a:ext cx="7589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" y="42428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Ghubrah 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49424" y="42428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OMR 0.8M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12464" y="42428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C39A"/>
                </a:solidFill>
              </a:rPr>
              <a:t>OMR 210K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66944" y="42428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7E14"/>
                </a:solidFill>
              </a:rPr>
              <a:t>3.8 yr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38544" y="42428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7E14"/>
                </a:solidFill>
              </a:rPr>
              <a:t>Medium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553712"/>
            <a:ext cx="758952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4904" y="460857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Ruwi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49424" y="460857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OMR 1.1M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12464" y="460857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C39A"/>
                </a:solidFill>
              </a:rPr>
              <a:t>OMR 270K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66944" y="460857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7E14"/>
                </a:solidFill>
              </a:rPr>
              <a:t>4.1 yr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38544" y="460857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4545"/>
                </a:solidFill>
              </a:rPr>
              <a:t>Low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38160" y="2331720"/>
            <a:ext cx="3749039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75320" y="24505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🦅  FALCON Value-Add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28803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AI-identified top 3 zones = 42% of total opportunity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32644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YOLOv8 aerial detection — no ground survey needed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75320" y="36484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5-year revenue forecast in &lt;1s per zone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75320" y="40325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Competitive gap map vs RAMI &amp; Don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44165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Reduces planning cycle from 6 months to 1 day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75320" y="4800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ROI calculator with live adjustable parameters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75320" y="51846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Docker-deployable — on-premise or cloud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75320" y="55686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REST API for integration with existing BSS/OSS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6080760"/>
            <a:ext cx="11640312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1264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FALCON accelerates Waheb's FTTH expansion decisions — turning weeks of manual analysis into real-time AI intelligence at zone granularity.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857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 —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228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From demo to production — FALCON v2.0 enhancement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ML Pipeline  ·  YOLOv8 Vehicle Detection + FTTH Intelligence  ·  Waheb Telecom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2818638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2818638" cy="7772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24712"/>
            <a:ext cx="26357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1
Q2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90472"/>
            <a:ext cx="26357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93392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Real satellite imagery API (Mapbox / Planet)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560320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Custom YOLOv8 fine-tuning on Oman aerial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127248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PostgreSQL/PostGIS zone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694176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User authentication (JWT)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84398" y="1097280"/>
            <a:ext cx="2818638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84398" y="1097280"/>
            <a:ext cx="2818638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5838" y="1124712"/>
            <a:ext cx="26357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2
Q3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5838" y="1490472"/>
            <a:ext cx="26357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Scale-Up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4126" y="1993392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Real FTTH subscriber data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4126" y="2560320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Live network KPI feed from 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4126" y="3127248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Multi-city support (Sohar, Sur, Salalah)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4126" y="3694176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Automated zone re-scoring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6" y="1097280"/>
            <a:ext cx="2818638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4476" y="1097280"/>
            <a:ext cx="2818638" cy="77724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5916" y="1124712"/>
            <a:ext cx="26357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3
Q4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5916" y="1490472"/>
            <a:ext cx="26357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4204" y="1993392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Deep learning demand prediction (LSTM)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4204" y="2560320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Churn risk scoring per zone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4204" y="3127248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NLP parsing of Oman TRAI filings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4204" y="3694176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Executive mobile app (React Native)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4554" y="1097280"/>
            <a:ext cx="2818638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04554" y="1097280"/>
            <a:ext cx="2818638" cy="7772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5994" y="1124712"/>
            <a:ext cx="26357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4
2027+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5994" y="1490472"/>
            <a:ext cx="26357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4282" y="1993392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Real-time vehicle density stream (RTSP CCTV)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4282" y="2560320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Kubernetes autoscaling 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4282" y="3127248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Integration with CRM &amp; billing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694176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Export to PowerBI / Tableau connectors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6400800"/>
            <a:ext cx="1164031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428232"/>
            <a:ext cx="1127455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</a:rPr>
              <a:t>Current state: FALCON demo — full simulation, YOLOv8 aerial, Streamlit + FastAPI + Docker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77472" y="0"/>
            <a:ext cx="411480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0" i="0">
                <a:solidFill>
                  <a:srgbClr val="111111"/>
                </a:solidFill>
              </a:rPr>
              <a:t>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02C39A"/>
                </a:solidFill>
              </a:rPr>
              <a:t>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End-to-End ML Pipeline —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23160"/>
            <a:ext cx="11640312" cy="1905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1691640" cy="1234440"/>
          </a:xfrm>
          <a:prstGeom prst="rect">
            <a:avLst/>
          </a:prstGeom>
          <a:solidFill>
            <a:srgbClr val="16213E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11111"/>
                </a:solidFill>
              </a:rPr>
              <a:t>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C39A"/>
                </a:solidFill>
              </a:rPr>
              <a:t>2,400+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0215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Annotated images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743200"/>
            <a:ext cx="1691640" cy="1234440"/>
          </a:xfrm>
          <a:prstGeom prst="rect">
            <a:avLst/>
          </a:prstGeom>
          <a:solidFill>
            <a:srgbClr val="16213E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788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11111"/>
                </a:solidFill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1546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C39A"/>
                </a:solidFill>
              </a:rPr>
              <a:t>YOLOv8n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50215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Transfer-learned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743200"/>
            <a:ext cx="1691640" cy="1234440"/>
          </a:xfrm>
          <a:prstGeom prst="rect">
            <a:avLst/>
          </a:prstGeom>
          <a:solidFill>
            <a:srgbClr val="16213E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2788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11111"/>
                </a:solidFill>
              </a:rPr>
              <a:t>🛰️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1546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C39A"/>
                </a:solidFill>
              </a:rPr>
              <a:t>4× Upscale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50215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Aerial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743200"/>
            <a:ext cx="1691640" cy="1234440"/>
          </a:xfrm>
          <a:prstGeom prst="rect">
            <a:avLst/>
          </a:prstGeom>
          <a:solidFill>
            <a:srgbClr val="16213E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788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11111"/>
                </a:solidFill>
              </a:rPr>
              <a:t>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1546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C39A"/>
                </a:solidFill>
              </a:rPr>
              <a:t>10 vehicles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50215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Detected in test.png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2743200"/>
            <a:ext cx="1691640" cy="1234440"/>
          </a:xfrm>
          <a:prstGeom prst="rect">
            <a:avLst/>
          </a:prstGeom>
          <a:solidFill>
            <a:srgbClr val="16213E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788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11111"/>
                </a:solidFill>
              </a:rPr>
              <a:t>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1546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C39A"/>
                </a:solidFill>
              </a:rPr>
              <a:t>15 zones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50215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Muscat scored &amp; ranked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2743200"/>
            <a:ext cx="1691640" cy="1234440"/>
          </a:xfrm>
          <a:prstGeom prst="rect">
            <a:avLst/>
          </a:prstGeom>
          <a:solidFill>
            <a:srgbClr val="16213E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2788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11111"/>
                </a:solidFill>
              </a:rPr>
              <a:t>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1546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C39A"/>
                </a:solidFill>
              </a:rPr>
              <a:t>+18%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50215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Market share target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160520"/>
            <a:ext cx="11640312" cy="1905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29768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Stack: Python 3.11  ·  YOLOv8  ·  Streamlit  ·  FastAPI  ·  Folium  ·  scikit-learn  ·  Docker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7091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Waheb Telecom  ·  Muscat, Oman  ·  2026  ·  phd.abdelouaheb@gmail.com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5303520"/>
            <a:ext cx="5760720" cy="7772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0" y="5321808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Thank You — Questions Welcome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2C39A"/>
                </a:solidFill>
              </a:rPr>
              <a:t>FALCON: Flavia AI Coverage &amp; Location Opportunity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