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75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175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175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3175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175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3175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3175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3175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693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693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93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93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93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93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93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693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0561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0561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0561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0561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0561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0561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0561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0561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74289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74289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74289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74289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74289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74289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574289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74289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4297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4297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4297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4297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44297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4297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4297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4297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1165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31165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1165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1165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1165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1165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31165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1165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80329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80329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80329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80329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80329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180329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180329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180329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49009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049009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9009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49009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049009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49009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049009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49009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91769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91769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1769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91769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91769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91769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91769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1769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86369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86369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86369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786369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786369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786369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86369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786369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65505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505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65505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65505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65505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65505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65505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65505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52373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2373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52373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52373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52373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52373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2373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52373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392409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392409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392409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392409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392409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392409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392409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392409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261090" y="-317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261090" y="83693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261090" y="170561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261090" y="257428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261090" y="344297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261090" y="4311650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261090" y="518032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261090" y="6049009"/>
            <a:ext cx="63500" cy="63500"/>
          </a:xfrm>
          <a:prstGeom prst="ellipse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6032" y="73152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Computer Vision Pipeline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82912" y="12801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E5BB"/>
                </a:solidFill>
              </a:rPr>
              <a:t>FALCON  |  Computer Vision Module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6032" y="7315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8AA"/>
                </a:solidFill>
              </a:rPr>
              <a:t>From raw satellite imagery to ranked demand intelligence -- step by step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" y="6601968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8AA"/>
                </a:solidFill>
              </a:rPr>
              <a:t>FALCON  |  YOLOv8  |  Ultralytics  |  Waheb Telecom  |  Muscat, Oman  |  2026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731752" y="660196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5BB"/>
                </a:solidFill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8600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28600" y="1115568"/>
            <a:ext cx="1680972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01168" y="1088136"/>
            <a:ext cx="1735836" cy="2523744"/>
          </a:xfrm>
          <a:prstGeom prst="rect">
            <a:avLst/>
          </a:prstGeom>
          <a:solidFill>
            <a:srgbClr val="07243F"/>
          </a:solidFill>
          <a:ln w="508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8600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28600" y="1115568"/>
            <a:ext cx="1680972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94766" y="1243584"/>
            <a:ext cx="548640" cy="548640"/>
          </a:xfrm>
          <a:prstGeom prst="ellipse">
            <a:avLst/>
          </a:prstGeom>
          <a:solidFill>
            <a:srgbClr val="1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49630" y="1298448"/>
            <a:ext cx="438912" cy="438912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49630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8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E90FF"/>
                </a:solidFill>
              </a:rPr>
              <a:t>ACQUIRE</a:t>
            </a:r>
          </a:p>
        </p:txBody>
      </p:sp>
      <p:sp>
        <p:nvSpPr>
          <p:cNvPr id="133" name="Oval 132"/>
          <p:cNvSpPr/>
          <p:nvPr/>
        </p:nvSpPr>
        <p:spPr>
          <a:xfrm>
            <a:off x="342392" y="2308352"/>
            <a:ext cx="101600" cy="1016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84632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640x640 px</a:t>
            </a:r>
          </a:p>
        </p:txBody>
      </p:sp>
      <p:sp>
        <p:nvSpPr>
          <p:cNvPr id="135" name="Oval 134"/>
          <p:cNvSpPr/>
          <p:nvPr/>
        </p:nvSpPr>
        <p:spPr>
          <a:xfrm>
            <a:off x="342392" y="2637536"/>
            <a:ext cx="101600" cy="1016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4632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PNG / JPG</a:t>
            </a:r>
          </a:p>
        </p:txBody>
      </p:sp>
      <p:sp>
        <p:nvSpPr>
          <p:cNvPr id="137" name="Oval 136"/>
          <p:cNvSpPr/>
          <p:nvPr/>
        </p:nvSpPr>
        <p:spPr>
          <a:xfrm>
            <a:off x="342392" y="2966720"/>
            <a:ext cx="101600" cy="1016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4632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Synthetic or OSM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29184" y="3236976"/>
            <a:ext cx="1479804" cy="256032"/>
          </a:xfrm>
          <a:prstGeom prst="rect">
            <a:avLst/>
          </a:prstGeom>
          <a:solidFill>
            <a:srgbClr val="1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9184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PIL.Image</a:t>
            </a:r>
          </a:p>
        </p:txBody>
      </p:sp>
      <p:sp>
        <p:nvSpPr>
          <p:cNvPr id="141" name="Can 140"/>
          <p:cNvSpPr/>
          <p:nvPr/>
        </p:nvSpPr>
        <p:spPr>
          <a:xfrm>
            <a:off x="1946148" y="2231136"/>
            <a:ext cx="256032" cy="237744"/>
          </a:xfrm>
          <a:prstGeom prst="can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238756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238756" y="1115568"/>
            <a:ext cx="1680972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211324" y="1088136"/>
            <a:ext cx="1735836" cy="2523744"/>
          </a:xfrm>
          <a:prstGeom prst="rect">
            <a:avLst/>
          </a:prstGeom>
          <a:solidFill>
            <a:srgbClr val="00392E"/>
          </a:solidFill>
          <a:ln w="508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238756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238756" y="1115568"/>
            <a:ext cx="1680972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804922" y="1243584"/>
            <a:ext cx="548640" cy="548640"/>
          </a:xfrm>
          <a:prstGeom prst="ellipse">
            <a:avLst/>
          </a:prstGeom>
          <a:solidFill>
            <a:srgbClr val="00B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859786" y="1298448"/>
            <a:ext cx="438912" cy="438912"/>
          </a:xfrm>
          <a:prstGeom prst="ellipse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59786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02764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E5BB"/>
                </a:solidFill>
              </a:rPr>
              <a:t>PREPROCESS</a:t>
            </a:r>
          </a:p>
        </p:txBody>
      </p:sp>
      <p:sp>
        <p:nvSpPr>
          <p:cNvPr id="151" name="Oval 150"/>
          <p:cNvSpPr/>
          <p:nvPr/>
        </p:nvSpPr>
        <p:spPr>
          <a:xfrm>
            <a:off x="2352548" y="2308352"/>
            <a:ext cx="101600" cy="101600"/>
          </a:xfrm>
          <a:prstGeom prst="ellipse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494788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4x Upscale</a:t>
            </a:r>
          </a:p>
        </p:txBody>
      </p:sp>
      <p:sp>
        <p:nvSpPr>
          <p:cNvPr id="153" name="Oval 152"/>
          <p:cNvSpPr/>
          <p:nvPr/>
        </p:nvSpPr>
        <p:spPr>
          <a:xfrm>
            <a:off x="2352548" y="2637536"/>
            <a:ext cx="101600" cy="101600"/>
          </a:xfrm>
          <a:prstGeom prst="ellipse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494788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Contrast x1.3</a:t>
            </a:r>
          </a:p>
        </p:txBody>
      </p:sp>
      <p:sp>
        <p:nvSpPr>
          <p:cNvPr id="155" name="Oval 154"/>
          <p:cNvSpPr/>
          <p:nvPr/>
        </p:nvSpPr>
        <p:spPr>
          <a:xfrm>
            <a:off x="2352548" y="2966720"/>
            <a:ext cx="101600" cy="101600"/>
          </a:xfrm>
          <a:prstGeom prst="ellipse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494788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Sharpness x1.5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339340" y="3236976"/>
            <a:ext cx="1479804" cy="256032"/>
          </a:xfrm>
          <a:prstGeom prst="rect">
            <a:avLst/>
          </a:prstGeom>
          <a:solidFill>
            <a:srgbClr val="00B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339340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PIL.ImageEnhance</a:t>
            </a:r>
          </a:p>
        </p:txBody>
      </p:sp>
      <p:sp>
        <p:nvSpPr>
          <p:cNvPr id="159" name="Can 158"/>
          <p:cNvSpPr/>
          <p:nvPr/>
        </p:nvSpPr>
        <p:spPr>
          <a:xfrm>
            <a:off x="3956304" y="2231136"/>
            <a:ext cx="256032" cy="237744"/>
          </a:xfrm>
          <a:prstGeom prst="can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248912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248912" y="1115568"/>
            <a:ext cx="1680972" cy="5943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221480" y="1088136"/>
            <a:ext cx="1735836" cy="2523744"/>
          </a:xfrm>
          <a:prstGeom prst="rect">
            <a:avLst/>
          </a:prstGeom>
          <a:solidFill>
            <a:srgbClr val="3F2000"/>
          </a:solidFill>
          <a:ln w="508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248912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248912" y="1115568"/>
            <a:ext cx="1680972" cy="5943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815078" y="1243584"/>
            <a:ext cx="548640" cy="548640"/>
          </a:xfrm>
          <a:prstGeom prst="ellipse">
            <a:avLst/>
          </a:prstGeom>
          <a:solidFill>
            <a:srgbClr val="C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869942" y="1298448"/>
            <a:ext cx="438912" cy="438912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869942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312920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8000"/>
                </a:solidFill>
              </a:rPr>
              <a:t>TILE</a:t>
            </a:r>
          </a:p>
        </p:txBody>
      </p:sp>
      <p:sp>
        <p:nvSpPr>
          <p:cNvPr id="169" name="Oval 168"/>
          <p:cNvSpPr/>
          <p:nvPr/>
        </p:nvSpPr>
        <p:spPr>
          <a:xfrm>
            <a:off x="4362704" y="2308352"/>
            <a:ext cx="101600" cy="10160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04944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640x640 windows</a:t>
            </a:r>
          </a:p>
        </p:txBody>
      </p:sp>
      <p:sp>
        <p:nvSpPr>
          <p:cNvPr id="171" name="Oval 170"/>
          <p:cNvSpPr/>
          <p:nvPr/>
        </p:nvSpPr>
        <p:spPr>
          <a:xfrm>
            <a:off x="4362704" y="2637536"/>
            <a:ext cx="101600" cy="10160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04944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Step: 480px</a:t>
            </a:r>
          </a:p>
        </p:txBody>
      </p:sp>
      <p:sp>
        <p:nvSpPr>
          <p:cNvPr id="173" name="Oval 172"/>
          <p:cNvSpPr/>
          <p:nvPr/>
        </p:nvSpPr>
        <p:spPr>
          <a:xfrm>
            <a:off x="4362704" y="2966720"/>
            <a:ext cx="101600" cy="101600"/>
          </a:xfrm>
          <a:prstGeom prst="ellipse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04944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75% overlap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349496" y="3236976"/>
            <a:ext cx="1479804" cy="256032"/>
          </a:xfrm>
          <a:prstGeom prst="rect">
            <a:avLst/>
          </a:prstGeom>
          <a:solidFill>
            <a:srgbClr val="C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349496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NumPy slicing</a:t>
            </a:r>
          </a:p>
        </p:txBody>
      </p:sp>
      <p:sp>
        <p:nvSpPr>
          <p:cNvPr id="177" name="Can 176"/>
          <p:cNvSpPr/>
          <p:nvPr/>
        </p:nvSpPr>
        <p:spPr>
          <a:xfrm>
            <a:off x="5966460" y="2231136"/>
            <a:ext cx="256032" cy="237744"/>
          </a:xfrm>
          <a:prstGeom prst="can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259068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259068" y="1115568"/>
            <a:ext cx="1680972" cy="59436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231636" y="1088136"/>
            <a:ext cx="1735836" cy="2523744"/>
          </a:xfrm>
          <a:prstGeom prst="rect">
            <a:avLst/>
          </a:prstGeom>
          <a:solidFill>
            <a:srgbClr val="3F3400"/>
          </a:solidFill>
          <a:ln w="508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259068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259068" y="1115568"/>
            <a:ext cx="1680972" cy="59436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825234" y="1243584"/>
            <a:ext cx="548640" cy="548640"/>
          </a:xfrm>
          <a:prstGeom prst="ellipse">
            <a:avLst/>
          </a:prstGeom>
          <a:solidFill>
            <a:srgbClr val="CC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880098" y="1298448"/>
            <a:ext cx="438912" cy="438912"/>
          </a:xfrm>
          <a:prstGeom prst="ellipse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880098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121F"/>
                </a:solidFill>
              </a:rPr>
              <a:t>04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323076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D000"/>
                </a:solidFill>
              </a:rPr>
              <a:t>INFER</a:t>
            </a:r>
          </a:p>
        </p:txBody>
      </p:sp>
      <p:sp>
        <p:nvSpPr>
          <p:cNvPr id="187" name="Oval 186"/>
          <p:cNvSpPr/>
          <p:nvPr/>
        </p:nvSpPr>
        <p:spPr>
          <a:xfrm>
            <a:off x="6372860" y="2308352"/>
            <a:ext cx="101600" cy="101600"/>
          </a:xfrm>
          <a:prstGeom prst="ellipse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515100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YOLOv8-nano</a:t>
            </a:r>
          </a:p>
        </p:txBody>
      </p:sp>
      <p:sp>
        <p:nvSpPr>
          <p:cNvPr id="189" name="Oval 188"/>
          <p:cNvSpPr/>
          <p:nvPr/>
        </p:nvSpPr>
        <p:spPr>
          <a:xfrm>
            <a:off x="6372860" y="2637536"/>
            <a:ext cx="101600" cy="101600"/>
          </a:xfrm>
          <a:prstGeom prst="ellipse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515100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conf &gt;= 0.08</a:t>
            </a:r>
          </a:p>
        </p:txBody>
      </p:sp>
      <p:sp>
        <p:nvSpPr>
          <p:cNvPr id="191" name="Oval 190"/>
          <p:cNvSpPr/>
          <p:nvPr/>
        </p:nvSpPr>
        <p:spPr>
          <a:xfrm>
            <a:off x="6372860" y="2966720"/>
            <a:ext cx="101600" cy="101600"/>
          </a:xfrm>
          <a:prstGeom prst="ellipse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515100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per-tile detection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359652" y="3236976"/>
            <a:ext cx="1479804" cy="256032"/>
          </a:xfrm>
          <a:prstGeom prst="rect">
            <a:avLst/>
          </a:prstGeom>
          <a:solidFill>
            <a:srgbClr val="CC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359652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9121F"/>
                </a:solidFill>
              </a:rPr>
              <a:t>Ultralytics</a:t>
            </a:r>
          </a:p>
        </p:txBody>
      </p:sp>
      <p:sp>
        <p:nvSpPr>
          <p:cNvPr id="195" name="Can 194"/>
          <p:cNvSpPr/>
          <p:nvPr/>
        </p:nvSpPr>
        <p:spPr>
          <a:xfrm>
            <a:off x="7976616" y="2231136"/>
            <a:ext cx="256032" cy="237744"/>
          </a:xfrm>
          <a:prstGeom prst="can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269224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269224" y="1115568"/>
            <a:ext cx="1680972" cy="59436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241792" y="1088136"/>
            <a:ext cx="1735836" cy="2523744"/>
          </a:xfrm>
          <a:prstGeom prst="rect">
            <a:avLst/>
          </a:prstGeom>
          <a:solidFill>
            <a:srgbClr val="3F1115"/>
          </a:solidFill>
          <a:ln w="5080">
            <a:solidFill>
              <a:srgbClr val="F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269224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F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269224" y="1115568"/>
            <a:ext cx="1680972" cy="59436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8835390" y="1243584"/>
            <a:ext cx="548640" cy="54864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8890254" y="1298448"/>
            <a:ext cx="438912" cy="438912"/>
          </a:xfrm>
          <a:prstGeom prst="ellipse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890254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333232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4555"/>
                </a:solidFill>
              </a:rPr>
              <a:t>NMS FILTER</a:t>
            </a:r>
          </a:p>
        </p:txBody>
      </p:sp>
      <p:sp>
        <p:nvSpPr>
          <p:cNvPr id="205" name="Oval 204"/>
          <p:cNvSpPr/>
          <p:nvPr/>
        </p:nvSpPr>
        <p:spPr>
          <a:xfrm>
            <a:off x="8383016" y="2308352"/>
            <a:ext cx="101600" cy="101600"/>
          </a:xfrm>
          <a:prstGeom prst="ellipse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525256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IoU &lt;= 0.40</a:t>
            </a:r>
          </a:p>
        </p:txBody>
      </p:sp>
      <p:sp>
        <p:nvSpPr>
          <p:cNvPr id="207" name="Oval 206"/>
          <p:cNvSpPr/>
          <p:nvPr/>
        </p:nvSpPr>
        <p:spPr>
          <a:xfrm>
            <a:off x="8383016" y="2637536"/>
            <a:ext cx="101600" cy="101600"/>
          </a:xfrm>
          <a:prstGeom prst="ellipse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525256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Sort by conf</a:t>
            </a:r>
          </a:p>
        </p:txBody>
      </p:sp>
      <p:sp>
        <p:nvSpPr>
          <p:cNvPr id="209" name="Oval 208"/>
          <p:cNvSpPr/>
          <p:nvPr/>
        </p:nvSpPr>
        <p:spPr>
          <a:xfrm>
            <a:off x="8383016" y="2966720"/>
            <a:ext cx="101600" cy="101600"/>
          </a:xfrm>
          <a:prstGeom prst="ellipse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525256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Dedup bboxes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69808" y="3236976"/>
            <a:ext cx="1479804" cy="256032"/>
          </a:xfrm>
          <a:prstGeom prst="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69808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Custom IoU-NMS</a:t>
            </a:r>
          </a:p>
        </p:txBody>
      </p:sp>
      <p:sp>
        <p:nvSpPr>
          <p:cNvPr id="213" name="Can 212"/>
          <p:cNvSpPr/>
          <p:nvPr/>
        </p:nvSpPr>
        <p:spPr>
          <a:xfrm>
            <a:off x="9986772" y="2231136"/>
            <a:ext cx="256032" cy="237744"/>
          </a:xfrm>
          <a:prstGeom prst="can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279380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00E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279380" y="1115568"/>
            <a:ext cx="1680972" cy="59436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251948" y="1088136"/>
            <a:ext cx="1735836" cy="2523744"/>
          </a:xfrm>
          <a:prstGeom prst="rect">
            <a:avLst/>
          </a:prstGeom>
          <a:solidFill>
            <a:srgbClr val="00381C"/>
          </a:solidFill>
          <a:ln w="5080">
            <a:solidFill>
              <a:srgbClr val="00E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279380" y="1115568"/>
            <a:ext cx="1680972" cy="2468880"/>
          </a:xfrm>
          <a:prstGeom prst="rect">
            <a:avLst/>
          </a:prstGeom>
          <a:solidFill>
            <a:srgbClr val="111F35"/>
          </a:solidFill>
          <a:ln w="15240">
            <a:solidFill>
              <a:srgbClr val="00E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279380" y="1115568"/>
            <a:ext cx="1680972" cy="59436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845546" y="1243584"/>
            <a:ext cx="548640" cy="548640"/>
          </a:xfrm>
          <a:prstGeom prst="ellipse">
            <a:avLst/>
          </a:prstGeom>
          <a:solidFill>
            <a:srgbClr val="00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900410" y="1298448"/>
            <a:ext cx="438912" cy="438912"/>
          </a:xfrm>
          <a:prstGeom prst="ellipse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900410" y="1353312"/>
            <a:ext cx="438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343388" y="1865376"/>
            <a:ext cx="15529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E070"/>
                </a:solidFill>
              </a:rPr>
              <a:t>OUTPUT</a:t>
            </a:r>
          </a:p>
        </p:txBody>
      </p:sp>
      <p:sp>
        <p:nvSpPr>
          <p:cNvPr id="223" name="Oval 222"/>
          <p:cNvSpPr/>
          <p:nvPr/>
        </p:nvSpPr>
        <p:spPr>
          <a:xfrm>
            <a:off x="10393172" y="2308352"/>
            <a:ext cx="101600" cy="101600"/>
          </a:xfrm>
          <a:prstGeom prst="ellipse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535412" y="2249424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vehicle_count</a:t>
            </a:r>
          </a:p>
        </p:txBody>
      </p:sp>
      <p:sp>
        <p:nvSpPr>
          <p:cNvPr id="225" name="Oval 224"/>
          <p:cNvSpPr/>
          <p:nvPr/>
        </p:nvSpPr>
        <p:spPr>
          <a:xfrm>
            <a:off x="10393172" y="2637536"/>
            <a:ext cx="101600" cy="101600"/>
          </a:xfrm>
          <a:prstGeom prst="ellipse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535412" y="2578608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bboxes list</a:t>
            </a:r>
          </a:p>
        </p:txBody>
      </p:sp>
      <p:sp>
        <p:nvSpPr>
          <p:cNvPr id="227" name="Oval 226"/>
          <p:cNvSpPr/>
          <p:nvPr/>
        </p:nvSpPr>
        <p:spPr>
          <a:xfrm>
            <a:off x="10393172" y="2966720"/>
            <a:ext cx="101600" cy="101600"/>
          </a:xfrm>
          <a:prstGeom prst="ellipse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0535412" y="2907792"/>
            <a:ext cx="13517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conf scores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379964" y="3236976"/>
            <a:ext cx="1479804" cy="256032"/>
          </a:xfrm>
          <a:prstGeom prst="rect">
            <a:avLst/>
          </a:prstGeom>
          <a:solidFill>
            <a:srgbClr val="00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379964" y="3246120"/>
            <a:ext cx="14798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DetectionResult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28600" y="3767328"/>
            <a:ext cx="3703320" cy="2770632"/>
          </a:xfrm>
          <a:prstGeom prst="rect">
            <a:avLst/>
          </a:prstGeom>
          <a:solidFill>
            <a:srgbClr val="182B48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28600" y="3767328"/>
            <a:ext cx="3703320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20040" y="387705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STANDARD MODE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84048" y="4224528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Single-pass inference on full image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84048" y="4443984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Input:   640 x 640 px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84048" y="466344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Conf threshold:   0.25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84048" y="488289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90FF"/>
                </a:solidFill>
              </a:rPr>
              <a:t>Best for:   synthetic / demo imagery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84048" y="510235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070"/>
                </a:solidFill>
              </a:rPr>
              <a:t>Speed:   &lt;50 ms / image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160520" y="3767328"/>
            <a:ext cx="4709160" cy="2770632"/>
          </a:xfrm>
          <a:prstGeom prst="rect">
            <a:avLst/>
          </a:prstGeom>
          <a:solidFill>
            <a:srgbClr val="182B48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160520" y="3767328"/>
            <a:ext cx="4709160" cy="5943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251960" y="3877056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000"/>
                </a:solidFill>
              </a:rPr>
              <a:t>AERIAL MODE  (Real Satellite)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251960" y="4224528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4x LANCZOS upscale before tiling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251960" y="4443984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Tile size:   640 x 640 px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251960" y="466344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Overlap:    75%  (step = 480 px)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251960" y="488289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000"/>
                </a:solidFill>
              </a:rPr>
              <a:t>Conf threshold:   0.08  (low)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251960" y="5102352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IoU-NMS:   0.40  deduplication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251960" y="5321808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000"/>
                </a:solidFill>
              </a:rPr>
              <a:t>Best for:   Google Earth / Maxar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251960" y="5541264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E070"/>
                </a:solidFill>
              </a:rPr>
              <a:t>Speed:   ~1-2 s / 5000x5000 tile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034272" y="3767328"/>
            <a:ext cx="2798064" cy="2770632"/>
          </a:xfrm>
          <a:prstGeom prst="rect">
            <a:avLst/>
          </a:prstGeom>
          <a:solidFill>
            <a:srgbClr val="182B48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034272" y="3767328"/>
            <a:ext cx="2798064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107424" y="38404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E5BB"/>
                </a:solidFill>
              </a:rPr>
              <a:t>YOLO DETECTION OUTPUT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144000" y="4078224"/>
            <a:ext cx="2578608" cy="2350008"/>
          </a:xfrm>
          <a:prstGeom prst="rect">
            <a:avLst/>
          </a:prstGeom>
          <a:solidFill>
            <a:srgbClr val="B8A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144000" y="5057363"/>
            <a:ext cx="2578608" cy="1097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144000" y="5057363"/>
            <a:ext cx="2578608" cy="16459"/>
          </a:xfrm>
          <a:prstGeom prst="rect">
            <a:avLst/>
          </a:prstGeom>
          <a:solidFill>
            <a:srgbClr val="6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144000" y="5150632"/>
            <a:ext cx="2578608" cy="16459"/>
          </a:xfrm>
          <a:prstGeom prst="rect">
            <a:avLst/>
          </a:prstGeom>
          <a:solidFill>
            <a:srgbClr val="6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495300" y="4078224"/>
            <a:ext cx="82296" cy="235000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495300" y="4078224"/>
            <a:ext cx="12801" cy="2350008"/>
          </a:xfrm>
          <a:prstGeom prst="rect">
            <a:avLst/>
          </a:prstGeom>
          <a:solidFill>
            <a:srgbClr val="6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564795" y="4078224"/>
            <a:ext cx="12801" cy="2350008"/>
          </a:xfrm>
          <a:prstGeom prst="rect">
            <a:avLst/>
          </a:prstGeom>
          <a:solidFill>
            <a:srgbClr val="606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198864" y="4151376"/>
            <a:ext cx="256032" cy="347472"/>
          </a:xfrm>
          <a:prstGeom prst="rect">
            <a:avLst/>
          </a:prstGeom>
          <a:solidFill>
            <a:srgbClr val="88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454896" y="4165092"/>
            <a:ext cx="16459" cy="347472"/>
          </a:xfrm>
          <a:prstGeom prst="rect">
            <a:avLst/>
          </a:prstGeom>
          <a:solidFill>
            <a:srgbClr val="6A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212580" y="4498848"/>
            <a:ext cx="256032" cy="16459"/>
          </a:xfrm>
          <a:prstGeom prst="rect">
            <a:avLst/>
          </a:prstGeom>
          <a:solidFill>
            <a:srgbClr val="6A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509760" y="4133088"/>
            <a:ext cx="164592" cy="292608"/>
          </a:xfrm>
          <a:prstGeom prst="rect">
            <a:avLst/>
          </a:prstGeom>
          <a:solidFill>
            <a:srgbClr val="7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674352" y="4146804"/>
            <a:ext cx="16459" cy="292608"/>
          </a:xfrm>
          <a:prstGeom prst="rect">
            <a:avLst/>
          </a:prstGeom>
          <a:solidFill>
            <a:srgbClr val="52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523476" y="4425696"/>
            <a:ext cx="164592" cy="16459"/>
          </a:xfrm>
          <a:prstGeom prst="rect">
            <a:avLst/>
          </a:prstGeom>
          <a:solidFill>
            <a:srgbClr val="52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198864" y="4700016"/>
            <a:ext cx="292608" cy="310896"/>
          </a:xfrm>
          <a:prstGeom prst="rect">
            <a:avLst/>
          </a:prstGeom>
          <a:solidFill>
            <a:srgbClr val="9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491472" y="4713732"/>
            <a:ext cx="16459" cy="310896"/>
          </a:xfrm>
          <a:prstGeom prst="rect">
            <a:avLst/>
          </a:prstGeom>
          <a:solidFill>
            <a:srgbClr val="7C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212580" y="5010912"/>
            <a:ext cx="292608" cy="16459"/>
          </a:xfrm>
          <a:prstGeom prst="rect">
            <a:avLst/>
          </a:prstGeom>
          <a:solidFill>
            <a:srgbClr val="7C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9216" y="4151376"/>
            <a:ext cx="237744" cy="237744"/>
          </a:xfrm>
          <a:prstGeom prst="rect">
            <a:avLst/>
          </a:prstGeom>
          <a:solidFill>
            <a:srgbClr val="706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966960" y="4165092"/>
            <a:ext cx="16459" cy="237744"/>
          </a:xfrm>
          <a:prstGeom prst="rect">
            <a:avLst/>
          </a:prstGeom>
          <a:solidFill>
            <a:srgbClr val="52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42932" y="4389120"/>
            <a:ext cx="237744" cy="16459"/>
          </a:xfrm>
          <a:prstGeom prst="rect">
            <a:avLst/>
          </a:prstGeom>
          <a:solidFill>
            <a:srgbClr val="52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65792" y="4663440"/>
            <a:ext cx="201168" cy="310896"/>
          </a:xfrm>
          <a:prstGeom prst="rect">
            <a:avLst/>
          </a:prstGeom>
          <a:solidFill>
            <a:srgbClr val="888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966960" y="4677156"/>
            <a:ext cx="16459" cy="310896"/>
          </a:xfrm>
          <a:prstGeom prst="rect">
            <a:avLst/>
          </a:prstGeom>
          <a:solidFill>
            <a:srgbClr val="6A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779508" y="4974336"/>
            <a:ext cx="201168" cy="16459"/>
          </a:xfrm>
          <a:prstGeom prst="rect">
            <a:avLst/>
          </a:prstGeom>
          <a:solidFill>
            <a:srgbClr val="6A6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509760" y="4718304"/>
            <a:ext cx="146304" cy="256032"/>
          </a:xfrm>
          <a:prstGeom prst="rect">
            <a:avLst/>
          </a:prstGeom>
          <a:solidFill>
            <a:srgbClr val="9A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656064" y="4732020"/>
            <a:ext cx="16459" cy="256032"/>
          </a:xfrm>
          <a:prstGeom prst="rect">
            <a:avLst/>
          </a:prstGeom>
          <a:solidFill>
            <a:srgbClr val="7C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523476" y="4974336"/>
            <a:ext cx="146304" cy="16459"/>
          </a:xfrm>
          <a:prstGeom prst="rect">
            <a:avLst/>
          </a:prstGeom>
          <a:solidFill>
            <a:srgbClr val="7C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262872" y="5052791"/>
            <a:ext cx="82296" cy="41148"/>
          </a:xfrm>
          <a:prstGeom prst="rect">
            <a:avLst/>
          </a:prstGeom>
          <a:solidFill>
            <a:srgbClr val="E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400032" y="5139659"/>
            <a:ext cx="82296" cy="4114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28048" y="5052791"/>
            <a:ext cx="82296" cy="41148"/>
          </a:xfrm>
          <a:prstGeom prst="rect">
            <a:avLst/>
          </a:prstGeom>
          <a:solidFill>
            <a:srgbClr val="306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591312" y="4553712"/>
            <a:ext cx="41148" cy="82296"/>
          </a:xfrm>
          <a:prstGeom prst="rect">
            <a:avLst/>
          </a:prstGeom>
          <a:solidFill>
            <a:srgbClr val="2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445008" y="4700016"/>
            <a:ext cx="41148" cy="82296"/>
          </a:xfrm>
          <a:prstGeom prst="rect">
            <a:avLst/>
          </a:prstGeom>
          <a:solidFill>
            <a:srgbClr val="E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246413" y="5036332"/>
            <a:ext cx="115214" cy="74066"/>
          </a:xfrm>
          <a:prstGeom prst="rect">
            <a:avLst/>
          </a:prstGeom>
          <a:noFill/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383573" y="5123200"/>
            <a:ext cx="115214" cy="74066"/>
          </a:xfrm>
          <a:prstGeom prst="rect">
            <a:avLst/>
          </a:prstGeom>
          <a:noFill/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511589" y="5036332"/>
            <a:ext cx="115214" cy="74066"/>
          </a:xfrm>
          <a:prstGeom prst="rect">
            <a:avLst/>
          </a:prstGeom>
          <a:noFill/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574853" y="4537253"/>
            <a:ext cx="74066" cy="115214"/>
          </a:xfrm>
          <a:prstGeom prst="rect">
            <a:avLst/>
          </a:prstGeom>
          <a:noFill/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428549" y="4683557"/>
            <a:ext cx="74066" cy="115214"/>
          </a:xfrm>
          <a:prstGeom prst="rect">
            <a:avLst/>
          </a:prstGeom>
          <a:noFill/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246413" y="4944892"/>
            <a:ext cx="256032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9255557" y="4954036"/>
            <a:ext cx="23774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9121F"/>
                </a:solidFill>
              </a:rPr>
              <a:t>car 0.81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9383573" y="5031760"/>
            <a:ext cx="256032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392717" y="5040904"/>
            <a:ext cx="23774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9121F"/>
                </a:solidFill>
              </a:rPr>
              <a:t>car 0.86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9511589" y="4944892"/>
            <a:ext cx="256032" cy="9144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9520733" y="4954036"/>
            <a:ext cx="237744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9121F"/>
                </a:solidFill>
              </a:rPr>
              <a:t>car 0.91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144000" y="4078224"/>
            <a:ext cx="2578608" cy="2350008"/>
          </a:xfrm>
          <a:prstGeom prst="rect">
            <a:avLst/>
          </a:prstGeom>
          <a:noFill/>
          <a:ln w="1905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4224528" y="63185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98AA"/>
                </a:solidFill>
              </a:rPr>
              <a:t>DETECTED CLASSES :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687568" y="6300216"/>
            <a:ext cx="1241755" cy="23774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5733288" y="6327648"/>
            <a:ext cx="11503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9121F"/>
                </a:solidFill>
              </a:rPr>
              <a:t>car  [COCO:2]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020763" y="6300216"/>
            <a:ext cx="1399031" cy="23774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7066483" y="6327648"/>
            <a:ext cx="13075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truck  [COCO:7]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8511234" y="6300216"/>
            <a:ext cx="1241755" cy="23774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8556954" y="6327648"/>
            <a:ext cx="11503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9121F"/>
                </a:solidFill>
              </a:rPr>
              <a:t>bus  [COCO:5]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9844429" y="6300216"/>
            <a:ext cx="1792223" cy="237744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9890149" y="6327648"/>
            <a:ext cx="170078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motorcycle  [COCO:3]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1728092" y="6300216"/>
            <a:ext cx="1634947" cy="23774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1773812" y="6327648"/>
            <a:ext cx="15435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9121F"/>
                </a:solidFill>
              </a:rPr>
              <a:t>building  [custom]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801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801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801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801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801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801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801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801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669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669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669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669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6669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6669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6669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6669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3537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3537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3537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537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3537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3537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3537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537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04057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04057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04057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04057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04057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04057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004057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04057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72737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72737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72737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72737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72737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72737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872737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72737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4141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4141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4141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4141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4141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4141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4141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4141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10097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10097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10097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10097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10097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10097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610097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610097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78777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78777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78777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78777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78777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78777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78777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78777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34745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34745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4745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34745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4745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4745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4745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34745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21613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1613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1613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1613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21613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1613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1613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21613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08481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08481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08481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08481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8481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08481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08481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08481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95349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95349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95349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95349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5349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95349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95349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95349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82217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82217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82217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82217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82217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82217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82217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82217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690858" y="3980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690858" y="126669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690858" y="213537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690858" y="300405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690858" y="387273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690858" y="4741418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690858" y="561009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690858" y="6478777"/>
            <a:ext cx="63500" cy="63500"/>
          </a:xfrm>
          <a:prstGeom prst="ellipse">
            <a:avLst/>
          </a:prstGeom>
          <a:solidFill>
            <a:srgbClr val="1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56032" y="73152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YOLOv8 Architecture &amp; Intelligent Scoring Engine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82912" y="12801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E5BB"/>
                </a:solidFill>
              </a:rPr>
              <a:t>FALCON  |  Computer Vision Module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6032" y="73152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8AA"/>
                </a:solidFill>
              </a:rPr>
              <a:t>Model specs, training dataset, class map, and how detections translate into business intelligence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4320" y="6601968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8AA"/>
                </a:solidFill>
              </a:rPr>
              <a:t>FALCON  |  YOLOv8  |  Ultralytics  |  Waheb Telecom  |  Muscat, Oman  |  2026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731752" y="660196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5BB"/>
                </a:solidFill>
              </a:rPr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1168" y="1115568"/>
            <a:ext cx="3822191" cy="5394960"/>
          </a:xfrm>
          <a:prstGeom prst="rect">
            <a:avLst/>
          </a:prstGeom>
          <a:solidFill>
            <a:srgbClr val="111F35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01168" y="1115568"/>
            <a:ext cx="3822191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10896" y="1207008"/>
            <a:ext cx="3602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</a:rPr>
              <a:t>MODEL &amp; DATASET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0896" y="1554480"/>
            <a:ext cx="3602735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10896" y="1664208"/>
            <a:ext cx="3602735" cy="804672"/>
          </a:xfrm>
          <a:prstGeom prst="rect">
            <a:avLst/>
          </a:prstGeom>
          <a:solidFill>
            <a:srgbClr val="182B48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02336" y="1700784"/>
            <a:ext cx="3419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YOLOv8-nano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2336" y="1975104"/>
            <a:ext cx="341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3.2M params  |  8.7 GFLOPs  |  &lt;50ms latency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2336" y="2157983"/>
            <a:ext cx="3419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8AA"/>
                </a:solidFill>
              </a:rPr>
              <a:t>Backbone: CSPDarknet  |  Neck: PAN-FPN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0896" y="2596896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98AA"/>
                </a:solidFill>
              </a:rPr>
              <a:t>WEIGHTS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10896" y="2898648"/>
            <a:ext cx="3602735" cy="457200"/>
          </a:xfrm>
          <a:prstGeom prst="rect">
            <a:avLst/>
          </a:prstGeom>
          <a:solidFill>
            <a:srgbClr val="182B48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0896" y="2898648"/>
            <a:ext cx="54864" cy="4572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8912" y="2935224"/>
            <a:ext cx="3364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BB"/>
                </a:solidFill>
              </a:rPr>
              <a:t>COCO pre-trained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38912" y="3127248"/>
            <a:ext cx="3364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yolov8n.pt  |  80 classes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10896" y="3429000"/>
            <a:ext cx="3602735" cy="457200"/>
          </a:xfrm>
          <a:prstGeom prst="rect">
            <a:avLst/>
          </a:prstGeom>
          <a:solidFill>
            <a:srgbClr val="182B48"/>
          </a:solidFill>
          <a:ln w="1270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10896" y="3429000"/>
            <a:ext cx="54864" cy="4572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38912" y="3465576"/>
            <a:ext cx="33649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000"/>
                </a:solidFill>
              </a:rPr>
              <a:t>Custom FTTH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38912" y="3657600"/>
            <a:ext cx="3364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ftth_best.pt  |  2 classes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0896" y="404164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98AA"/>
                </a:solidFill>
              </a:rPr>
              <a:t>TRAINING DATASET  (Roboflow)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0896" y="4352544"/>
            <a:ext cx="3602735" cy="237744"/>
          </a:xfrm>
          <a:prstGeom prst="rect">
            <a:avLst/>
          </a:prstGeom>
          <a:solidFill>
            <a:srgbClr val="1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65760" y="4389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000"/>
                </a:solidFill>
              </a:rPr>
              <a:t>Split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36192" y="4389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000"/>
                </a:solidFill>
              </a:rPr>
              <a:t>Images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06624" y="43891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000"/>
                </a:solidFill>
              </a:rPr>
              <a:t>Labels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0896" y="4608576"/>
            <a:ext cx="3602735" cy="237744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5760" y="46451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36192" y="46451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06624" y="46451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10896" y="4864607"/>
            <a:ext cx="3602735" cy="237744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5760" y="490118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Valid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36192" y="490118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06624" y="490118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0896" y="5120640"/>
            <a:ext cx="3602735" cy="237744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760" y="51572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36192" y="51572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706624" y="515721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0896" y="5431536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98AA"/>
                </a:solidFill>
              </a:rPr>
              <a:t>CLASS MAP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10896" y="5724144"/>
            <a:ext cx="274320" cy="23774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10896" y="575157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9121F"/>
                </a:solidFill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8368" y="57607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00"/>
                </a:solidFill>
              </a:rPr>
              <a:t>building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408176" y="5760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(custom FTTH model)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10896" y="6035040"/>
            <a:ext cx="274320" cy="23774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10896" y="60624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9121F"/>
                </a:solidFill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58368" y="60716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FF"/>
                </a:solidFill>
              </a:rPr>
              <a:t>car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08176" y="60716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(COCO class 2)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10896" y="6099048"/>
            <a:ext cx="3602735" cy="329184"/>
          </a:xfrm>
          <a:prstGeom prst="rect">
            <a:avLst/>
          </a:prstGeom>
          <a:solidFill>
            <a:srgbClr val="1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65760" y="6117336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Fine-tune:  100 epochs  |  Batch 16  |  Img 640  |  AdamW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206240" y="1115568"/>
            <a:ext cx="4919472" cy="5394960"/>
          </a:xfrm>
          <a:prstGeom prst="rect">
            <a:avLst/>
          </a:prstGeom>
          <a:solidFill>
            <a:srgbClr val="111F35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206240" y="1115568"/>
            <a:ext cx="4919472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334256" y="12070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</a:rPr>
              <a:t>INTELLIGENT SCORING ENGINE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334256" y="1554480"/>
            <a:ext cx="4663440" cy="18288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334256" y="16276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 Score  =  0.40 x Vehicle Density   +   0.35 x Coverage Gap   +   0.25 x Population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334256" y="2121408"/>
            <a:ext cx="4663440" cy="1097280"/>
          </a:xfrm>
          <a:prstGeom prst="rect">
            <a:avLst/>
          </a:prstGeom>
          <a:solidFill>
            <a:srgbClr val="182B48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334256" y="2121408"/>
            <a:ext cx="4663440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334256" y="2180844"/>
            <a:ext cx="822960" cy="978408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334256" y="232257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9121F"/>
                </a:solidFill>
              </a:rPr>
              <a:t>40%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334256" y="27614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9121F"/>
                </a:solidFill>
              </a:rPr>
              <a:t>weight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66944" y="221284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B"/>
                </a:solidFill>
              </a:rPr>
              <a:t>Vehicle Density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266944" y="2523744"/>
            <a:ext cx="3547872" cy="109728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266944" y="2523744"/>
            <a:ext cx="1419148" cy="109728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266944" y="2688336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vehicle_count / area_km2  /  50  (capped at 1.0)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66944" y="2889504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Primary demand signal from YOLO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334256" y="3328416"/>
            <a:ext cx="4663440" cy="1097280"/>
          </a:xfrm>
          <a:prstGeom prst="rect">
            <a:avLst/>
          </a:prstGeom>
          <a:solidFill>
            <a:srgbClr val="182B48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334256" y="3328416"/>
            <a:ext cx="4663440" cy="5943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334256" y="3387852"/>
            <a:ext cx="822960" cy="9784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334256" y="35295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34256" y="39684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266944" y="3419856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Coverage Gap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266944" y="3730752"/>
            <a:ext cx="3547872" cy="109728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266944" y="3730752"/>
            <a:ext cx="1241755" cy="10972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266944" y="3895344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(100 - ftth_coverage_pct) / 100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266944" y="4096512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Untapped market opportunity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334256" y="4535424"/>
            <a:ext cx="4663440" cy="1097280"/>
          </a:xfrm>
          <a:prstGeom prst="rect">
            <a:avLst/>
          </a:prstGeom>
          <a:solidFill>
            <a:srgbClr val="182B48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334256" y="4535424"/>
            <a:ext cx="4663440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334256" y="4594860"/>
            <a:ext cx="822960" cy="9784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334256" y="47365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334256" y="51755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266944" y="462686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</a:rPr>
              <a:t>Population Score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266944" y="4937760"/>
            <a:ext cx="3547872" cy="109728"/>
          </a:xfrm>
          <a:prstGeom prst="rect">
            <a:avLst/>
          </a:prstGeom>
          <a:solidFill>
            <a:srgbClr val="09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66944" y="4937760"/>
            <a:ext cx="886968" cy="10972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266944" y="5102352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population / 100,000  (capped at 1.0)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266944" y="5303520"/>
            <a:ext cx="3529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Total addressable household pool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334256" y="57607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98AA"/>
                </a:solidFill>
              </a:rPr>
              <a:t>PRIORITY TIERS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334256" y="6071616"/>
            <a:ext cx="1508760" cy="548640"/>
          </a:xfrm>
          <a:prstGeom prst="rect">
            <a:avLst/>
          </a:prstGeom>
          <a:solidFill>
            <a:srgbClr val="182B48"/>
          </a:solidFill>
          <a:ln w="15240">
            <a:solidFill>
              <a:srgbClr val="00E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334256" y="6071616"/>
            <a:ext cx="1508760" cy="91440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389120" y="61996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070"/>
                </a:solidFill>
              </a:rPr>
              <a:t>HIGH PRIORITY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389120" y="636422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Score &gt;= 68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389120" y="6510528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98AA"/>
                </a:solidFill>
              </a:rPr>
              <a:t>Deploy now  |  ROI &lt; 24 mo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943600" y="6071616"/>
            <a:ext cx="1508760" cy="548640"/>
          </a:xfrm>
          <a:prstGeom prst="rect">
            <a:avLst/>
          </a:prstGeom>
          <a:solidFill>
            <a:srgbClr val="182B48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943600" y="6071616"/>
            <a:ext cx="1508760" cy="9144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998464" y="61996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000"/>
                </a:solidFill>
              </a:rPr>
              <a:t>MEDIUM PRIORITY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998464" y="636422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Score 40-68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998464" y="6510528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98AA"/>
                </a:solidFill>
              </a:rPr>
              <a:t>Pipeline  |  Monitor quarterly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552944" y="6071616"/>
            <a:ext cx="1508760" cy="548640"/>
          </a:xfrm>
          <a:prstGeom prst="rect">
            <a:avLst/>
          </a:prstGeom>
          <a:solidFill>
            <a:srgbClr val="182B48"/>
          </a:solidFill>
          <a:ln w="15240">
            <a:solidFill>
              <a:srgbClr val="F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552944" y="6071616"/>
            <a:ext cx="1508760" cy="91440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607808" y="61996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4555"/>
                </a:solidFill>
              </a:rPr>
              <a:t>LOW PRIORITY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07808" y="636422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Score &lt; 40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607808" y="6510528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98AA"/>
                </a:solidFill>
              </a:rPr>
              <a:t>Watch list  |  Competitor-heavy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308592" y="1115568"/>
            <a:ext cx="2724912" cy="5394960"/>
          </a:xfrm>
          <a:prstGeom prst="rect">
            <a:avLst/>
          </a:prstGeom>
          <a:solidFill>
            <a:srgbClr val="111F35"/>
          </a:solidFill>
          <a:ln w="1524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308592" y="1115568"/>
            <a:ext cx="2724912" cy="59436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418320" y="1207008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55FF"/>
                </a:solidFill>
              </a:rPr>
              <a:t>DATA FLOW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418320" y="1554480"/>
            <a:ext cx="2505456" cy="18288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18320" y="2002536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18320" y="2002536"/>
            <a:ext cx="2505456" cy="594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18320" y="2061972"/>
            <a:ext cx="54864" cy="4343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9546336" y="2057400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</a:rPr>
              <a:t>Aerial Image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546336" y="2276856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[/api/v1/detect]</a:t>
            </a:r>
          </a:p>
        </p:txBody>
      </p:sp>
      <p:sp>
        <p:nvSpPr>
          <p:cNvPr id="229" name="Down Arrow 228"/>
          <p:cNvSpPr/>
          <p:nvPr/>
        </p:nvSpPr>
        <p:spPr>
          <a:xfrm>
            <a:off x="10579608" y="2510028"/>
            <a:ext cx="182880" cy="82296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18320" y="2606040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18320" y="2606040"/>
            <a:ext cx="2505456" cy="59436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18320" y="2665476"/>
            <a:ext cx="54864" cy="43434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546336" y="2660904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BB"/>
                </a:solidFill>
              </a:rPr>
              <a:t>YOLO Inference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546336" y="2880360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VehicleDetector</a:t>
            </a:r>
          </a:p>
        </p:txBody>
      </p:sp>
      <p:sp>
        <p:nvSpPr>
          <p:cNvPr id="235" name="Down Arrow 234"/>
          <p:cNvSpPr/>
          <p:nvPr/>
        </p:nvSpPr>
        <p:spPr>
          <a:xfrm>
            <a:off x="10579608" y="3113532"/>
            <a:ext cx="182880" cy="82296"/>
          </a:xfrm>
          <a:prstGeom prst="downArrow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18320" y="3209544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FF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418320" y="3209544"/>
            <a:ext cx="2505456" cy="5943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418320" y="3268980"/>
            <a:ext cx="54864" cy="43434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546336" y="3264408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000"/>
                </a:solidFill>
              </a:rPr>
              <a:t>vehicle_count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546336" y="3483864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per km2</a:t>
            </a:r>
          </a:p>
        </p:txBody>
      </p:sp>
      <p:sp>
        <p:nvSpPr>
          <p:cNvPr id="241" name="Down Arrow 240"/>
          <p:cNvSpPr/>
          <p:nvPr/>
        </p:nvSpPr>
        <p:spPr>
          <a:xfrm>
            <a:off x="10579608" y="3717036"/>
            <a:ext cx="182880" cy="82296"/>
          </a:xfrm>
          <a:prstGeom prst="downArrow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418320" y="3813048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418320" y="3813048"/>
            <a:ext cx="2505456" cy="59436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418320" y="3872484"/>
            <a:ext cx="54864" cy="4343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546336" y="3867912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00"/>
                </a:solidFill>
              </a:rPr>
              <a:t>ZoneScorer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546336" y="4087368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priority_score</a:t>
            </a:r>
          </a:p>
        </p:txBody>
      </p:sp>
      <p:sp>
        <p:nvSpPr>
          <p:cNvPr id="247" name="Down Arrow 246"/>
          <p:cNvSpPr/>
          <p:nvPr/>
        </p:nvSpPr>
        <p:spPr>
          <a:xfrm>
            <a:off x="10579608" y="4320540"/>
            <a:ext cx="182880" cy="82296"/>
          </a:xfrm>
          <a:prstGeom prst="downArrow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418320" y="4416552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00E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418320" y="4416552"/>
            <a:ext cx="2505456" cy="59436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418320" y="4475988"/>
            <a:ext cx="54864" cy="434340"/>
          </a:xfrm>
          <a:prstGeom prst="rect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546336" y="4471416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70"/>
                </a:solidFill>
              </a:rPr>
              <a:t>Tier Assignment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546336" y="4690872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High / Med / Low</a:t>
            </a:r>
          </a:p>
        </p:txBody>
      </p:sp>
      <p:sp>
        <p:nvSpPr>
          <p:cNvPr id="253" name="Down Arrow 252"/>
          <p:cNvSpPr/>
          <p:nvPr/>
        </p:nvSpPr>
        <p:spPr>
          <a:xfrm>
            <a:off x="10579608" y="4924044"/>
            <a:ext cx="182880" cy="82296"/>
          </a:xfrm>
          <a:prstGeom prst="downArrow">
            <a:avLst/>
          </a:prstGeom>
          <a:solidFill>
            <a:srgbClr val="00E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418320" y="5020056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FF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418320" y="5020056"/>
            <a:ext cx="2505456" cy="59436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418320" y="5079492"/>
            <a:ext cx="54864" cy="434340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546336" y="5074920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55"/>
                </a:solidFill>
              </a:rPr>
              <a:t>Revenue Estimate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546336" y="5294376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OMR / year</a:t>
            </a:r>
          </a:p>
        </p:txBody>
      </p:sp>
      <p:sp>
        <p:nvSpPr>
          <p:cNvPr id="259" name="Down Arrow 258"/>
          <p:cNvSpPr/>
          <p:nvPr/>
        </p:nvSpPr>
        <p:spPr>
          <a:xfrm>
            <a:off x="10579608" y="5527548"/>
            <a:ext cx="182880" cy="82296"/>
          </a:xfrm>
          <a:prstGeom prst="downArrow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418320" y="5623560"/>
            <a:ext cx="2505456" cy="493776"/>
          </a:xfrm>
          <a:prstGeom prst="rect">
            <a:avLst/>
          </a:prstGeom>
          <a:solidFill>
            <a:srgbClr val="182B48"/>
          </a:solidFill>
          <a:ln w="1524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418320" y="5623560"/>
            <a:ext cx="2505456" cy="59436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418320" y="5682996"/>
            <a:ext cx="54864" cy="434340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546336" y="5678424"/>
            <a:ext cx="23225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55FF"/>
                </a:solidFill>
              </a:rPr>
              <a:t>REST API + Dashboard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546336" y="5897880"/>
            <a:ext cx="23225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98AA"/>
                </a:solidFill>
              </a:rPr>
              <a:t>Streamlit +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