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11111"/>
                </a:solidFill>
              </a:rPr>
              <a:t>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02C39A"/>
                </a:solidFill>
              </a:rPr>
              <a:t>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Flavia AI Coverage &amp; Location Opportunity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C39A"/>
                </a:solidFill>
              </a:rPr>
              <a:t>AI-Powered Telecom Competitive Intelligence for Waheb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11640312" cy="1905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🚗  443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Vehicles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📍 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Muscat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🏠  105K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Unserved Homes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11640312" cy="1905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Muscat City FTTH Expansion Planner  ·  Waheb Telecom  · 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5669280"/>
            <a:ext cx="3200400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56875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COMPETITION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411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44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Market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58191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Waheb holds only 10% of the Muscat FTTH market — 3rd 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1430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143000"/>
            <a:ext cx="411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344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FALCON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AI platform: YOLOv8 vehicle detection + competitive 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12848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212848"/>
            <a:ext cx="411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4140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25856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Technology &amp;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6517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Python · YOLOv8 · Streamlit · Folium · Pandas · Plotly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212848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2212848"/>
            <a:ext cx="411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4140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5856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Market &amp; Competitive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517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Waheb vs RAMI vs Don — layer-by-layer network 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82696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282696"/>
            <a:ext cx="411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48386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32841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Business Case &amp;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72160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105,000 unserved homes · 13-month payback on expansion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3282696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3282696"/>
            <a:ext cx="411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348386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32841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Live Dashboard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2160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5-tab Streamlit dashboard · Standalone competitive map 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46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Total slides: 17   |   Estimated demo time: 8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2C39A"/>
                </a:solidFill>
              </a:rPr>
              <a:t>Waheb is losing the Muscat FTTH race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606040" cy="2194560"/>
          </a:xfrm>
          <a:prstGeom prst="rect">
            <a:avLst/>
          </a:prstGeom>
          <a:solidFill>
            <a:srgbClr val="252542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606040" cy="41148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63624"/>
            <a:ext cx="2386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3rd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984248"/>
            <a:ext cx="23865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Waheb holds only 10% market share.
RAMI leads at 35%, Don at 25%.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508760"/>
            <a:ext cx="2606040" cy="2194560"/>
          </a:xfrm>
          <a:prstGeom prst="rect">
            <a:avLst/>
          </a:prstGeom>
          <a:solidFill>
            <a:srgbClr val="252542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1508760"/>
            <a:ext cx="2606040" cy="41148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63624"/>
            <a:ext cx="2386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84248"/>
            <a:ext cx="23865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systematic tool to identify WHERE
to deploy next cabinets.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1508760"/>
            <a:ext cx="2606040" cy="2194560"/>
          </a:xfrm>
          <a:prstGeom prst="rect">
            <a:avLst/>
          </a:prstGeom>
          <a:solidFill>
            <a:srgbClr val="252542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4184" y="1508760"/>
            <a:ext cx="2606040" cy="41148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563624"/>
            <a:ext cx="2386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Blind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984248"/>
            <a:ext cx="23865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Infrastructure spending decisions
based on intuition, not AI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1508760"/>
            <a:ext cx="2606040" cy="2194560"/>
          </a:xfrm>
          <a:prstGeom prst="rect">
            <a:avLst/>
          </a:prstGeom>
          <a:solidFill>
            <a:srgbClr val="252542"/>
          </a:solidFill>
          <a:ln w="1905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6256" y="1508760"/>
            <a:ext cx="2606040" cy="41148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1563624"/>
            <a:ext cx="2386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30% Untapped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1984248"/>
            <a:ext cx="23865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105,000 Muscat homes still unserved —
but Waheb isn't reaching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FD700"/>
                </a:solidFill>
              </a:rPr>
              <a:t>Without FALCON, Waheb has no competitive radar.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11640312" cy="1905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Every month of inaction = RAMI &amp; Don capture more of those 105,000 homes.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Solution: FALCON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AI-Powered FTTH Competitive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4031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FALCON turns aerial vehicle density + competitive network data into actionable FTTH deployment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21031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🚗  AI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YOLOv8 detects vehicles in
areal imagery → demand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201168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2011680"/>
            <a:ext cx="21031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📊  Zone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6060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Weighted formula: 40% density
+ 35% gap + 25% population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9744" y="201168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9744" y="2011680"/>
            <a:ext cx="21031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🗺️  Competitive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26060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Live Folium map: Waheb, RAMI, Don
networks + opportunity zones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201168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77456" y="2011680"/>
            <a:ext cx="21031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8896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💼  Business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26060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ROI calculator, revenue forecast
&amp; executive report export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45168" y="201168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45168" y="2011680"/>
            <a:ext cx="21031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36608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⚔️  Competitive Intel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26060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Gap table: URGENT / EXPAND /
DEFEND action per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1663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One command:   python scripts/build_demo.py   → Full dashboard live in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100% open-source Python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1031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103120" cy="5943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61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YOLOv8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ultralytics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488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Real-time object detection.
Detects cars, trucks, buses
from aerial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188720"/>
            <a:ext cx="21031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88720"/>
            <a:ext cx="2103120" cy="5943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1261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1488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Interactive 5-tab dashboard.
Real-time sliders, charts
&amp; map integration.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9744" y="1188720"/>
            <a:ext cx="21031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7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9744" y="1188720"/>
            <a:ext cx="2103120" cy="594360"/>
          </a:xfrm>
          <a:prstGeom prst="rect">
            <a:avLst/>
          </a:prstGeom>
          <a:solidFill>
            <a:srgbClr val="77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1261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Folium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folium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21488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Interactive Leaflet.js map.
6 toggle layers, coverage
circles, popups.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77456" y="1188720"/>
            <a:ext cx="21031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77456" y="1188720"/>
            <a:ext cx="210312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8896" y="1261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Pandas
+ Plotly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pandas / plotly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21488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Data manipulation,
ranking tables, bar/scatter
&amp; revenue charts.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45168" y="1188720"/>
            <a:ext cx="21031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6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45168" y="1188720"/>
            <a:ext cx="2103120" cy="594360"/>
          </a:xfrm>
          <a:prstGeom prst="rect">
            <a:avLst/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6608" y="1261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Pillow
+ NumPy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8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PIL / numpy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2148840"/>
            <a:ext cx="1920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Synthetic 640×640 aerial
image generation with
realistic road geometry.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663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All Python · No proprietary tools · Reproducible with seed=42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 &amp;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057400" cy="3108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404872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8132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
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11680"/>
            <a:ext cx="1874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zones.json
15 Muscat zones
with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2" y="1005840"/>
            <a:ext cx="2057400" cy="3108960"/>
          </a:xfrm>
          <a:prstGeom prst="rect">
            <a:avLst/>
          </a:prstGeom>
          <a:solidFill>
            <a:srgbClr val="02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404872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097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48132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Synthetic
Imagery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011680"/>
            <a:ext cx="1874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PIL image
generator
640×640 aerial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8304" y="1005840"/>
            <a:ext cx="2057400" cy="3108960"/>
          </a:xfrm>
          <a:prstGeom prst="rect">
            <a:avLst/>
          </a:prstGeom>
          <a:solidFill>
            <a:srgbClr val="01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404872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097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148132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
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2011680"/>
            <a:ext cx="1874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YOLOv8-n
vehicle
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0296" y="1005840"/>
            <a:ext cx="2057400" cy="3108960"/>
          </a:xfrm>
          <a:prstGeom prst="rect">
            <a:avLst/>
          </a:prstGeom>
          <a:solidFill>
            <a:srgbClr val="016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2404872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1097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148132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Zone
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2011680"/>
            <a:ext cx="1874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Priority scorer
40/35/25%
weighted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2288" y="1005840"/>
            <a:ext cx="2057400" cy="3108960"/>
          </a:xfrm>
          <a:prstGeom prst="rect">
            <a:avLst/>
          </a:prstGeom>
          <a:solidFill>
            <a:srgbClr val="01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1097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148132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Dashboard
&amp;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2011680"/>
            <a:ext cx="1874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Folium map
Streamlit tabs
HTML 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15968"/>
            <a:ext cx="11640312" cy="13716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OUTPUTS: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731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falcon_competitive_map.html  (1.2 MB standalone)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731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FALCON_Report.csv  (15 zones × 14 columns)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8464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FALCON_Executive_Summary.txt  (boardroom ready)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8464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Streamlit Dashboard  http://localhost:8501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Market Analysis — Muscat FTTH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Total addressable market: 350,000 homes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1154887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1063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4927" y="1234440"/>
            <a:ext cx="4042105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0647" y="1417320"/>
            <a:ext cx="395066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7032" y="1234440"/>
            <a:ext cx="2887218" cy="68580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2752" y="1417320"/>
            <a:ext cx="27957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4250" y="1234440"/>
            <a:ext cx="3464661" cy="685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970" y="1417320"/>
            <a:ext cx="337322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29968"/>
            <a:ext cx="16459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Waheb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029968"/>
            <a:ext cx="164592" cy="16459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6816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RAMI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029968"/>
            <a:ext cx="164592" cy="164592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Don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029968"/>
            <a:ext cx="164592" cy="16459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Unserved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77440"/>
            <a:ext cx="2606040" cy="15544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450592"/>
            <a:ext cx="2459736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3310128"/>
            <a:ext cx="2459736" cy="5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Waheb Share
(our company)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377440"/>
            <a:ext cx="2606040" cy="15544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2112" y="2450592"/>
            <a:ext cx="2459736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</a:rPr>
              <a:t>35%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3310128"/>
            <a:ext cx="2459736" cy="5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RAMI Share
(market leader)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2377440"/>
            <a:ext cx="2606040" cy="15544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71032" y="2450592"/>
            <a:ext cx="2459736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4545"/>
                </a:solidFill>
              </a:rP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1032" y="3310128"/>
            <a:ext cx="2459736" cy="5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Don Share
(2nd place)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377440"/>
            <a:ext cx="2606040" cy="15544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2450592"/>
            <a:ext cx="2459736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700"/>
                </a:solidFill>
              </a:rPr>
              <a:t>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3310128"/>
            <a:ext cx="2459736" cy="5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Unserved
(105K homes)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160520"/>
            <a:ext cx="11548872" cy="1508760"/>
          </a:xfrm>
          <a:prstGeom prst="rect">
            <a:avLst/>
          </a:prstGeom>
          <a:solidFill>
            <a:srgbClr val="E8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1772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Waheb is 25 percentage points behind RAMI — but 105,000 homes are still unserved.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5604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If Waheb captures just 8% more of the unserved pool → additional 775,000 OMR/year.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94376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RAMI is weak in Al Seeb, Al Amerat, Bowsher Hills — prime expansion zones for Waheb.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Competitive Network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02920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64592" cy="1188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🟢 Waheb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45 cabinets | 12 exchanges
Coverage circles 800m (cab) / 3km (exch)
→ Clustered in Al Khuwair, Ghubra, Qurum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502920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16459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🔵 RAMI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95 cabinets | 28 exchanges
Dominant in Ruwi, Wattayah, Darsait
→ 35% market share, high-density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02920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164592" cy="118872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30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545"/>
                </a:solidFill>
              </a:rPr>
              <a:t>🔴 Don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9651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70 cabinets | 18 exchanges
Strong in Shatti, Azaiba, Al Khuwair South
→ Growing aggressively in coastal belt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83480"/>
            <a:ext cx="502920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983480"/>
            <a:ext cx="1645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56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⭐ Opportunity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2239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Gold polygons: low competitor density
Al Seeb City, Al Amerat, Sidab
→ Where Waheb should deploy next</a:t>
            </a:r>
          </a:p>
        </p:txBody>
      </p:sp>
      <p:pic>
        <p:nvPicPr>
          <p:cNvPr id="22" name="Picture 21" descr="Z03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4114800" cy="411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0" y="5166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Sample: Zone 03 — Qurum Heights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Opens standalone in any browser — no server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40680"/>
            <a:ext cx="5029200" cy="685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4864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 assets on map:  45 + 95 + 70 = 210 cabinets  |  12 + 28 + 18 = 58 exchanges  |  890 home connections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Vehicle 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YOLOv8 — demand estimation from aerial imagery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1.  Synthetic 640×640 aerial image generated per zone (PIL)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47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2.  Road grid, buildings, parking lots rendered realistically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865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3.  Vehicles placed at seeded random positions on roads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2549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4.  YOLOv8-n model detects vehicles (COCO classes 2/3/5/7)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644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5.  Detection count → vehicle density → zone demand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11640312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Detection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2423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28853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443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43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Total vehicles 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251960"/>
            <a:ext cx="2423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428853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343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Zones analyzed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46320"/>
            <a:ext cx="2423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488289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937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Avg vehicles/zone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846320"/>
            <a:ext cx="2423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232" y="488289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yolov8n.pt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937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Model (6 MB, fast)</a:t>
            </a:r>
          </a:p>
        </p:txBody>
      </p:sp>
      <p:pic>
        <p:nvPicPr>
          <p:cNvPr id="29" name="Picture 28" descr="Z01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6035040" cy="49834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806440" y="6035040"/>
            <a:ext cx="6035040" cy="2011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605332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Zone Z01: Ruwi CBD — YOLOv8 detections (green boxes)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Zone Priority Scoring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AI-computed expansion priority for each Muscat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1154887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Priority Score  =  40% × Vehicle Density  +  35% × FTTH Coverage Gap  +  25% × Population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7393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2C39A"/>
                </a:solidFill>
              </a:rPr>
              <a:t>Score range: 0 – 100  |  Tiers: High (≥68)  /  Medium (≥40)  /  Low (&lt;40)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Top Priority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334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Al Seeb 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688336"/>
            <a:ext cx="2205944" cy="274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4944" y="2633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53.6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0906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Al Amerat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145536"/>
            <a:ext cx="2073036" cy="274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2036" y="30906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50.4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5478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Bausher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602736"/>
            <a:ext cx="1834377" cy="274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3377" y="35478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44.6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0050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Ruwi CBD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4059936"/>
            <a:ext cx="1743029" cy="274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2029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42.4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4622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Bowsher Hills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517136"/>
            <a:ext cx="1728216" cy="274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44622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42.0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9194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Mutrah 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4974336"/>
            <a:ext cx="1647977" cy="274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6977" y="4919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40.0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3766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Wadi Kabir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5431536"/>
            <a:ext cx="1608063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7063" y="53766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39.1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8338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Ghubra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5888736"/>
            <a:ext cx="1550045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9045" y="58338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37.7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Tier Summary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743200"/>
            <a:ext cx="3657600" cy="10972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2816352"/>
            <a:ext cx="3511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4545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401568"/>
            <a:ext cx="35112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High Priority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977640"/>
            <a:ext cx="3657600" cy="10972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4050792"/>
            <a:ext cx="3511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D7E14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636008"/>
            <a:ext cx="35112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Medium Priority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5212080"/>
            <a:ext cx="3657600" cy="109728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5285232"/>
            <a:ext cx="3511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5870448"/>
            <a:ext cx="35112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Low Priority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Streamlit Dashboard — 5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python run.py --demo   →   http://localhost:8501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148840" cy="3749039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4884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264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938528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🗺️ 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23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Interactive Folium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0449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Waheb/RAMI/Don network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6674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Coverage circles + opportunity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288536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Zone priority score markers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371600"/>
            <a:ext cx="2148840" cy="3749039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371600"/>
            <a:ext cx="2148840" cy="502920"/>
          </a:xfrm>
          <a:prstGeom prst="rect">
            <a:avLst/>
          </a:prstGeom>
          <a:solidFill>
            <a:srgbClr val="22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4264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938528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88FF"/>
                </a:solidFill>
              </a:rPr>
              <a:t>📊  Rankings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423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All 15 zones sorted by AI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30449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Top-3 hero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366674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Pie chart: tier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4288536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Downloadable ranked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371600"/>
            <a:ext cx="2148840" cy="3749039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0" y="1371600"/>
            <a:ext cx="2148840" cy="5029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14264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Tab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1938528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🔍 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423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30 aerial images with bbox overlays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0449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Vehicle count per zone 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66674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Upload your own image → YOLOv8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4288536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Detection stats panel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1371600"/>
            <a:ext cx="2148840" cy="3749039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80" y="1371600"/>
            <a:ext cx="2148840" cy="502920"/>
          </a:xfrm>
          <a:prstGeom prst="rect">
            <a:avLst/>
          </a:prstGeom>
          <a:solidFill>
            <a:srgbClr val="E8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2" y="14264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Tab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2" y="1938528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545"/>
                </a:solidFill>
              </a:rPr>
              <a:t>💼  Business 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2423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Priority vs coverage gap scatter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30449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Investment needed per 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366674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5-year revenue curves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9208" y="4288536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Full ROI business case 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1371600"/>
            <a:ext cx="2148840" cy="3749039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1371600"/>
            <a:ext cx="214884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2" y="14264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Tab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1938528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⚔️  Competitive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2423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Market share KPI 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30449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Zone-by-zone stacked bar chart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366674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URGENT/EXPAND/DEFEND gap 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4288536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Revenue calculator slider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⚔️  Competitive Intelligence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Real-time market positioning &amp; gap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606040" cy="128016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16152"/>
            <a:ext cx="24597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911096"/>
            <a:ext cx="245973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Waheb Share
Target: 25% by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143000"/>
            <a:ext cx="2606040" cy="128016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216152"/>
            <a:ext cx="24597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911096"/>
            <a:ext cx="245973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RAMI Share
Dominant competitor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2606040" cy="128016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1032" y="1216152"/>
            <a:ext cx="24597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4545"/>
                </a:solidFill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1911096"/>
            <a:ext cx="245973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Don Share
Growing: Seeb/Azaiba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143000"/>
            <a:ext cx="2606040" cy="128016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9952" y="1216152"/>
            <a:ext cx="24597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700"/>
                </a:solidFill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911096"/>
            <a:ext cx="2459736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Unserved
~105,000 homes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5176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651760"/>
            <a:ext cx="228600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7432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Stacked Bar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127248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Market share by zone — top 10 by population.
Waheb (green) | RAMI (blue) | Don (red) | Unserved (gray)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265176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7880" y="2651760"/>
            <a:ext cx="228600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7432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Opportunity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127248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Horizontal bar: zones ranked by Waheb expansion
potential = (competitor weakness − Waheb presence)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70248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270248"/>
            <a:ext cx="228600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361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Competitive Gap 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745736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Per-zone action flags:
URGENT — No Waheb  |  EXPAND — Low  |  DEFEND — 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4270248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4270248"/>
            <a:ext cx="228600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4361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Revenue Calculator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4745736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Slider: 10% → 40% target share
→ Homes, cabinets, OMR investment, payback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Priority Zone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URGENT / EXPAND / DEFEND — where to act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74320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18872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097280"/>
            <a:ext cx="109728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11887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Waheb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097280"/>
            <a:ext cx="109728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4" y="11887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097280"/>
            <a:ext cx="109728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11887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576072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18872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17904"/>
            <a:ext cx="274320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6093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Ruwi CBD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517904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2384" y="16093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517904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4" y="16093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517904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16093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517904"/>
            <a:ext cx="576072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60934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</a:rPr>
              <a:t>URGENT — No Waheb presence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3852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0299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Mutrah 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193852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72384" y="20299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193852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9664" y="20299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193852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6944" y="20299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938528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202996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</a:rPr>
              <a:t>URGENT — No Waheb presence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359152"/>
            <a:ext cx="274320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4505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Al Wuttayyah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359152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72384" y="24505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2359152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9664" y="24505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2359152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66944" y="24505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359152"/>
            <a:ext cx="576072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245059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</a:rPr>
              <a:t>URGENT — No Waheb presence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77977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287121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Wadi Kabir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2779776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72384" y="28712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779776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9664" y="28712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2779776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66944" y="28712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2779776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4224" y="287121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</a:rPr>
              <a:t>URGENT — No Waheb presence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200400"/>
            <a:ext cx="274320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329184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Sidab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3200400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72384" y="329184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3200400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4" y="329184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3200400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66944" y="329184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3200400"/>
            <a:ext cx="576072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64224" y="329184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545"/>
                </a:solidFill>
              </a:rPr>
              <a:t>URGENT — No Waheb presence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62102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" y="37124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Qurum Heights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362102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72384" y="371246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0" y="362102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9664" y="371246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362102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66944" y="371246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3621024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64224" y="371246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DEFEND — Hold position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041648"/>
            <a:ext cx="274320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41330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Al Khuwair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4041648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72384" y="41330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0" y="4041648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69664" y="41330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4041648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66944" y="41330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4041648"/>
            <a:ext cx="576072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64224" y="413308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DEFEND — Hold position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462272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9184" y="45537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Madinat Sultan Qaboos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17520" y="446227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72384" y="455371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0" y="446227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9664" y="455371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12080" y="446227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66944" y="455371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4462272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64224" y="455371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DEFEND — Hold position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882896"/>
            <a:ext cx="274320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9184" y="497433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Shatti Al Qurum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17520" y="4882896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72384" y="497433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0" y="4882896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69664" y="497433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12080" y="4882896"/>
            <a:ext cx="109728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66944" y="497433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4882896"/>
            <a:ext cx="576072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64224" y="49743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DEFEND — Hold position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5303520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9184" y="539496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Al Azaiba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17520" y="530352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072384" y="53949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14800" y="530352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69664" y="53949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12080" y="530352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266944" y="53949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09360" y="5303520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64224" y="539496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DEFEND — Hold position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56235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2C39A"/>
                </a:solidFill>
              </a:rPr>
              <a:t>Top opportunity zones: Al Seeb City, Al Amerat, Sidab  —  deploy here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Revenue Opportunity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2C39A"/>
                </a:solidFill>
              </a:rPr>
              <a:t>Scenario: Waheb grows from 10% → 18% by deploying 186 new cabinets in opportunity 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103120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28,000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Additional
homes connected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508760"/>
            <a:ext cx="2103120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645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CCFF"/>
                </a:solidFill>
              </a:rPr>
              <a:t>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23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New cabinets
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508760"/>
            <a:ext cx="2103120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645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4545"/>
                </a:solidFill>
              </a:rPr>
              <a:t>4,650,000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23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Investment
required (OMR)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508760"/>
            <a:ext cx="2103120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645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700"/>
                </a:solidFill>
              </a:rPr>
              <a:t>776,160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423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Additional annual
revenue (OMR)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508760"/>
            <a:ext cx="2103120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645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D7E14"/>
                </a:solidFill>
              </a:rPr>
              <a:t>71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423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Investment
payback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576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5-Year Cumulative Revenue Projection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14800"/>
            <a:ext cx="100584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 1: 776,160 OMR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98848"/>
            <a:ext cx="201168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98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 2: 1,552,320 OMR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82896"/>
            <a:ext cx="301752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8828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 3: 2,328,480 OMR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66944"/>
            <a:ext cx="402336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266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 4: 3,104,640 OMR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50992"/>
            <a:ext cx="502920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650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 5: 3,880,800 OMR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657600"/>
            <a:ext cx="5303520" cy="23774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749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Key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1605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1% market share gain ≈ 700,000 OMR/yr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5720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30 cabinets → 71-month payback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9834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ROI = 776,160 / 4,650,000 = 17%/yr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Al Seeb + Al Amerat = highest revenue potential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Case &amp; ROI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C39A"/>
                </a:solidFill>
              </a:rPr>
              <a:t>🦅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Why Waheb should invest in FALCON-guided expansion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606040" cy="137160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16152"/>
            <a:ext cx="2459736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5,459,357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965960"/>
            <a:ext cx="24597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Total investment
for full 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143000"/>
            <a:ext cx="2606040" cy="137160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216152"/>
            <a:ext cx="2459736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4545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965960"/>
            <a:ext cx="24597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High-priority
zones investment (OMR)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2606040" cy="137160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1032" y="1216152"/>
            <a:ext cx="2459736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D7E14"/>
                </a:solidFill>
              </a:rPr>
              <a:t>0.0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1965960"/>
            <a:ext cx="24597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Average ROI
payback (high zones)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143000"/>
            <a:ext cx="2606040" cy="1371600"/>
          </a:xfrm>
          <a:prstGeom prst="rect">
            <a:avLst/>
          </a:prstGeom>
          <a:solidFill>
            <a:srgbClr val="E9ECE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9952" y="1216152"/>
            <a:ext cx="2459736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965960"/>
            <a:ext cx="24597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</a:rPr>
              <a:t>High-priority
zones identified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743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What FALCON Enables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15468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Replace intuition with AI-backed deployment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59359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Identify white-space zones before RAMI/Don enter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325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Quantify exact cabinet count + investment per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47141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Monitor competitor expansion in real-time (update data)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91032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 Board-level reporting with one-click CSV + summary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Top 5 Zones by Priority 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54680"/>
            <a:ext cx="21945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1821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3154680"/>
            <a:ext cx="7315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3182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3154680"/>
            <a:ext cx="12801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182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Inv. (OMR)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3154680"/>
            <a:ext cx="8229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3182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493008"/>
            <a:ext cx="2194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Al Seeb 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3493008"/>
            <a:ext cx="731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3566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7E14"/>
                </a:solidFill>
              </a:rPr>
              <a:t>53.6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93008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3566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773,760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3493008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5276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5.7y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913632"/>
            <a:ext cx="21945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9867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Al Amerat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3913632"/>
            <a:ext cx="73152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39867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7E14"/>
                </a:solidFill>
              </a:rPr>
              <a:t>50.4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3913632"/>
            <a:ext cx="12801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39867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1,033,600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0" y="3913632"/>
            <a:ext cx="8229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52760" y="3986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13.8y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334256"/>
            <a:ext cx="2194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Bausher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334256"/>
            <a:ext cx="731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44074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7E14"/>
                </a:solidFill>
              </a:rPr>
              <a:t>44.6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433425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44074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498,000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7040" y="4334256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52760" y="44074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4.7y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754880"/>
            <a:ext cx="21945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48280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Ruwi CBD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4754880"/>
            <a:ext cx="73152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4828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7E14"/>
                </a:solidFill>
              </a:rPr>
              <a:t>42.4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4754880"/>
            <a:ext cx="12801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72600" y="4828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158,080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07040" y="4754880"/>
            <a:ext cx="822960" cy="402336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52760" y="4828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0.9y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5175504"/>
            <a:ext cx="2194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52486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Bowsher Hills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95360" y="5175504"/>
            <a:ext cx="731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41080" y="52486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7E14"/>
                </a:solidFill>
              </a:rPr>
              <a:t>42.0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26880" y="5175504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72600" y="52486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628,560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07040" y="5175504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52760" y="52486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9.9y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01968"/>
            <a:ext cx="1182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FALCON  ·  Flavia AI Coverage &amp; Location Opportunity Network  ·  Waheb Telecom  ·  Muscat, Oman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474720" cy="457200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474720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1
Now — 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FALCON v1.0 — Done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48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YOLOv8 synthetic aerial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8072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15-zone scoring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4655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5-tab Streamlit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1239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Waheb / RAMI / Don network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7823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CSV + executive summary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474720" cy="457200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097280"/>
            <a:ext cx="3474720" cy="914400"/>
          </a:xfrm>
          <a:prstGeom prst="rect">
            <a:avLst/>
          </a:prstGeom>
          <a:solidFill>
            <a:srgbClr val="22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430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2
Q3 — Q4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Real Data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148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Connect to real satellite imagery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8072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Live YOLOv8 inference on real aerials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4655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CRM integration — subscriber 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1239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Automated weekly competitive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7823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REST API for BI tool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097280"/>
            <a:ext cx="3474720" cy="457200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097280"/>
            <a:ext cx="34747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1430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3
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AI Intelligence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2148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Predictive demand forecasting (LSTM)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28072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Network deployment optimizer (OR)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4655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Real-time RAMI/Don expansion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1239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Mobile app for field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7823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▸  Automated cabinet placement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111111"/>
                </a:solidFill>
              </a:rPr>
              <a:t>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2C39A"/>
                </a:solidFill>
              </a:rPr>
              <a:t>FALCON DEMO IS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Waheb vs RAMI vs Don — Full Competitive Map is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11640312" cy="1905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▸  Zones Analysed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40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▸  Vehicles 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97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▸  Waheb Market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154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10%  →  target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▸  Unserved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11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105,000 homes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690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▸  Expansion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69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~13-month payback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17720"/>
            <a:ext cx="11640312" cy="1905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4754880"/>
            <a:ext cx="89611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480060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</a:rPr>
              <a:t>python scripts/build_demo.py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4068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</a:rPr>
              <a:t>Dashboard: http://localhost:8501     Map: outputs/falcon_competitive_map.html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179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66"/>
                </a:solidFill>
              </a:rPr>
              <a:t>FALCON v1.0  ·  Muscat FTTH Competitive Intelligence  ·  Waheb Telecom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