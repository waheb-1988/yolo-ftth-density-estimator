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100">
                <a:solidFill>
                  <a:srgbClr val="444F5A"/>
                </a:solidFill>
              </a:rPr>
              <a:t>Current Market Share — Muscat FTTH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A6EB5"/>
              </a:solidFill>
            </c:spPr>
          </c:dPt>
          <c:dPt>
            <c:idx val="1"/>
            <c:spPr>
              <a:solidFill>
                <a:srgbClr val="E83A3A"/>
              </a:solidFill>
            </c:spPr>
          </c:dPt>
          <c:dPt>
            <c:idx val="2"/>
            <c:spPr>
              <a:solidFill>
                <a:srgbClr val="FD7E14"/>
              </a:solidFill>
            </c:spPr>
          </c:dPt>
          <c:dPt>
            <c:idx val="3"/>
            <c:spPr>
              <a:solidFill>
                <a:srgbClr val="28A745"/>
              </a:solidFill>
            </c:spPr>
          </c:dPt>
          <c:cat>
            <c:strRef>
              <c:f>Sheet1!$A$2:$A$5</c:f>
              <c:strCache>
                <c:ptCount val="4"/>
                <c:pt idx="0">
                  <c:v>Waheb</c:v>
                </c:pt>
                <c:pt idx="1">
                  <c:v>RAMI</c:v>
                </c:pt>
                <c:pt idx="2">
                  <c:v>Don</c:v>
                </c:pt>
                <c:pt idx="3">
                  <c:v>Unserved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35</c:v>
                </c:pt>
                <c:pt idx="2">
                  <c:v>25</c:v>
                </c:pt>
                <c:pt idx="3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48472" y="0"/>
            <a:ext cx="36576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88552" y="91440"/>
            <a:ext cx="2560320" cy="2560320"/>
          </a:xfrm>
          <a:prstGeom prst="ellipse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51592" y="2377440"/>
            <a:ext cx="1645920" cy="1645920"/>
          </a:xfrm>
          <a:prstGeom prst="ellipse">
            <a:avLst/>
          </a:prstGeom>
          <a:solidFill>
            <a:srgbClr val="005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48472" y="4389120"/>
            <a:ext cx="1280160" cy="1280160"/>
          </a:xfrm>
          <a:prstGeom prst="ellipse">
            <a:avLst/>
          </a:prstGeom>
          <a:solidFill>
            <a:srgbClr val="0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0C9A7"/>
                </a:solidFill>
              </a:rPr>
              <a:t>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A7"/>
                </a:solidFill>
              </a:rPr>
              <a:t>FALCON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A5B2"/>
                </a:solidFill>
              </a:rPr>
              <a:t>AI Coverage &amp; Location Opportunity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Turning Aerial Intelligence
into Revenue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1457432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4F6F9"/>
                </a:solidFill>
              </a:rPr>
              <a:t>How FALCON identifies high-value leads, optimises marketing spend,
and unlocks 105,000 unserved homes across Muscat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2286000" cy="1371600"/>
          </a:xfrm>
          <a:prstGeom prst="rect">
            <a:avLst/>
          </a:prstGeom>
          <a:solidFill>
            <a:srgbClr val="14263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A7"/>
                </a:solidFill>
              </a:rPr>
              <a:t>350K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5B2"/>
                </a:solidFill>
              </a:rPr>
              <a:t>Total Homes in 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4754880"/>
            <a:ext cx="2286000" cy="1371600"/>
          </a:xfrm>
          <a:prstGeom prst="rect">
            <a:avLst/>
          </a:prstGeom>
          <a:solidFill>
            <a:srgbClr val="14263D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4892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300"/>
                </a:solidFill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5532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5B2"/>
                </a:solidFill>
              </a:rPr>
              <a:t>Market Unserved Today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31536" y="4754880"/>
            <a:ext cx="2286000" cy="1371600"/>
          </a:xfrm>
          <a:prstGeom prst="rect">
            <a:avLst/>
          </a:prstGeom>
          <a:solidFill>
            <a:srgbClr val="14263D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6" y="4892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D7E14"/>
                </a:solidFill>
              </a:rPr>
              <a:t>776K OMR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5532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5B2"/>
                </a:solidFill>
              </a:rPr>
              <a:t>Addressable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914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</a:rPr>
              <a:t>Business Impact Deck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371600"/>
            <a:ext cx="11457432" cy="9525"/>
          </a:xfrm>
          <a:prstGeom prst="rect">
            <a:avLst/>
          </a:prstGeom>
          <a:solidFill>
            <a:srgbClr val="00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1600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C300"/>
                </a:solidFill>
              </a:rPr>
              <a:t>01  Market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22585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02  Business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291693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03  Lead Generation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357530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04  Campaign Optimisation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2336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05  Growth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A5B2"/>
                </a:solidFill>
              </a:rPr>
              <a:t>Waheb Telecom  ·  Muscat, Oman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902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4392" y="16459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A7"/>
                </a:solidFill>
              </a:rPr>
              <a:t>FALCON  |  Waheb Telecom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9A5B2"/>
                </a:solidFill>
              </a:rPr>
              <a:t>Muscat FTTH landscape — where Waheb stands and where the growth is hidden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A5B2"/>
                </a:solidFill>
              </a:rPr>
              <a:t>FALCON  ·  AI-Powered FTTH Expansion Intelligence  ·  Waheb Telecom  ·  Muscat, Oman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31752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C9A7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816352" cy="1600200"/>
          </a:xfrm>
          <a:prstGeom prst="rect">
            <a:avLst/>
          </a:prstGeom>
          <a:solidFill>
            <a:srgbClr val="0D1B2A"/>
          </a:solidFill>
          <a:ln w="19050">
            <a:solidFill>
              <a:srgbClr val="1A6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2633472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6EB5"/>
                </a:solidFill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039112"/>
            <a:ext cx="26700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Waheb's
Current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455164"/>
            <a:ext cx="2670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9A5B2"/>
                </a:solidFill>
              </a:rPr>
              <a:t>3rd place 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143000"/>
            <a:ext cx="2816352" cy="1600200"/>
          </a:xfrm>
          <a:prstGeom prst="rect">
            <a:avLst/>
          </a:prstGeom>
          <a:solidFill>
            <a:srgbClr val="14263D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234440"/>
            <a:ext cx="2633472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3A3A"/>
                </a:solidFill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039112"/>
            <a:ext cx="26700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RAMI
(Omantel)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55164"/>
            <a:ext cx="2670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9A5B2"/>
                </a:solidFill>
              </a:rPr>
              <a:t>Dominant player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143000"/>
            <a:ext cx="2816352" cy="1600200"/>
          </a:xfrm>
          <a:prstGeom prst="rect">
            <a:avLst/>
          </a:prstGeom>
          <a:solidFill>
            <a:srgbClr val="14263D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234440"/>
            <a:ext cx="2633472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D7E14"/>
                </a:solidFill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039112"/>
            <a:ext cx="26700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Don
(Ooredoo)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55164"/>
            <a:ext cx="2670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9A5B2"/>
                </a:solidFill>
              </a:rPr>
              <a:t>Fast-growing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8864" y="1143000"/>
            <a:ext cx="2816352" cy="16002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234440"/>
            <a:ext cx="2633472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039112"/>
            <a:ext cx="26700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Unserved
Homes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455164"/>
            <a:ext cx="2670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9A5B2"/>
                </a:solidFill>
              </a:rPr>
              <a:t>= 105,000 homes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28600" y="2880360"/>
          <a:ext cx="41148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ectangle 26"/>
          <p:cNvSpPr/>
          <p:nvPr/>
        </p:nvSpPr>
        <p:spPr>
          <a:xfrm>
            <a:off x="4526280" y="2880360"/>
            <a:ext cx="7406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9718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Revenue Opportunity at a Glance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56432"/>
            <a:ext cx="11457432" cy="152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3584448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639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Addressable Market (unserved 30%)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639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C9A7"/>
                </a:solidFill>
              </a:rPr>
              <a:t>105,000 homes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968496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Est. FTTH adoption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0233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6EB5"/>
                </a:solidFill>
              </a:rPr>
              <a:t>42%  →  44,100 subs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352544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ARPU (monthly)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4074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44F5A"/>
                </a:solidFill>
              </a:rPr>
              <a:t>OMR 5.50 / home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736592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47914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Annual revenue if Waheb captures 8% more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79145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8A745"/>
                </a:solidFill>
              </a:rPr>
              <a:t>OMR 776,160 / yr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120640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51755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Required investment (30 cabinets)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17550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D7E14"/>
                </a:solidFill>
              </a:rPr>
              <a:t>OMR 4,650,000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5504688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5559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Payback period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5595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99A5B2"/>
                </a:solidFill>
              </a:rPr>
              <a:t>≈ 71 months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5888736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Each 1% market-share gain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943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300"/>
                </a:solidFill>
              </a:rPr>
              <a:t>≈ OMR 700,000 / yr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6172200"/>
            <a:ext cx="7406640" cy="3383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619963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FALCON pinpoints exactly which zones to target — eliminating guesswork and cutting campaign waste by up to 60%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902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Impact of FALCON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4392" y="16459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A7"/>
                </a:solidFill>
              </a:rPr>
              <a:t>FALCON  |  Waheb Telecom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9A5B2"/>
                </a:solidFill>
              </a:rPr>
              <a:t>Replacing manual guesswork with AI-driven precision across the full FTTH value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A5B2"/>
                </a:solidFill>
              </a:rPr>
              <a:t>FALCON  ·  AI-Powered FTTH Expansion Intelligence  ·  Waheb Telecom  ·  Muscat, Oman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31752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C9A7"/>
                </a:solidFill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97280"/>
            <a:ext cx="5669280" cy="38404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15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BEFORE  — Traditional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69280" cy="384048"/>
          </a:xfrm>
          <a:prstGeom prst="rect">
            <a:avLst/>
          </a:prstGeom>
          <a:solidFill>
            <a:srgbClr val="00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15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AFTER  — FALCON AI 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600200"/>
            <a:ext cx="5669280" cy="676656"/>
          </a:xfrm>
          <a:prstGeom prst="rect">
            <a:avLst/>
          </a:prstGeom>
          <a:solidFill>
            <a:srgbClr val="F4F6F9"/>
          </a:solidFill>
          <a:ln w="635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733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Manual survey teams
(2–3 weeks per zone)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00200"/>
            <a:ext cx="5669280" cy="676656"/>
          </a:xfrm>
          <a:prstGeom prst="rect">
            <a:avLst/>
          </a:prstGeom>
          <a:solidFill>
            <a:srgbClr val="14263D"/>
          </a:solidFill>
          <a:ln w="635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733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YOLOv8 aerial scan
(seconds per zone)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331720"/>
            <a:ext cx="5669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0487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Gut-feel zone prioritisation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331720"/>
            <a:ext cx="5669280" cy="676656"/>
          </a:xfrm>
          <a:prstGeom prst="rect">
            <a:avLst/>
          </a:prstGeom>
          <a:solidFill>
            <a:srgbClr val="14263D"/>
          </a:solidFill>
          <a:ln w="635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0487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score (density + gap + population)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063240"/>
            <a:ext cx="5669280" cy="676656"/>
          </a:xfrm>
          <a:prstGeom prst="rect">
            <a:avLst/>
          </a:prstGeom>
          <a:solidFill>
            <a:srgbClr val="F4F6F9"/>
          </a:solidFill>
          <a:ln w="635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3639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Uniform marketing spend
across all zones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63240"/>
            <a:ext cx="5669280" cy="676656"/>
          </a:xfrm>
          <a:prstGeom prst="rect">
            <a:avLst/>
          </a:prstGeom>
          <a:solidFill>
            <a:srgbClr val="14263D"/>
          </a:solidFill>
          <a:ln w="635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3639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Budget allocated to top-tier zones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794760"/>
            <a:ext cx="5669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6791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Reactive competitive intel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794760"/>
            <a:ext cx="5669280" cy="676656"/>
          </a:xfrm>
          <a:prstGeom prst="rect">
            <a:avLst/>
          </a:prstGeom>
          <a:solidFill>
            <a:srgbClr val="14263D"/>
          </a:solidFill>
          <a:ln w="635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6791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Real-time Waheb / RAMI / Don gap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526280"/>
            <a:ext cx="5669280" cy="676656"/>
          </a:xfrm>
          <a:prstGeom prst="rect">
            <a:avLst/>
          </a:prstGeom>
          <a:solidFill>
            <a:srgbClr val="F4F6F9"/>
          </a:solidFill>
          <a:ln w="635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9943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12-month deployment cycles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526280"/>
            <a:ext cx="5669280" cy="676656"/>
          </a:xfrm>
          <a:prstGeom prst="rect">
            <a:avLst/>
          </a:prstGeom>
          <a:solidFill>
            <a:srgbClr val="14263D"/>
          </a:solidFill>
          <a:ln w="635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59943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30-day sprint on ranked opportunities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257800"/>
            <a:ext cx="5669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3309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F5A"/>
                </a:solidFill>
              </a:rPr>
              <a:t>~40% wrong-zone investment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257800"/>
            <a:ext cx="5669280" cy="676656"/>
          </a:xfrm>
          <a:prstGeom prst="rect">
            <a:avLst/>
          </a:prstGeom>
          <a:solidFill>
            <a:srgbClr val="14263D"/>
          </a:solidFill>
          <a:ln w="635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33095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Targeted ROI: 13-month payback confirmed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051560"/>
            <a:ext cx="457200" cy="54406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3657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126480"/>
            <a:ext cx="12188952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2" y="61447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</a:rPr>
              <a:t>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" y="636422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5B2"/>
                </a:solidFill>
              </a:rPr>
              <a:t>Less Campaign Waste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61447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</a:rPr>
              <a:t>8×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636422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5B2"/>
                </a:solidFill>
              </a:rPr>
              <a:t>Faster Zone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56048" y="61447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</a:rPr>
              <a:t>42%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636422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5B2"/>
                </a:solidFill>
              </a:rPr>
              <a:t>Lead Conversion Lift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1776" y="61447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</a:rPr>
              <a:t>OMR 776K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51776" y="636422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5B2"/>
                </a:solidFill>
              </a:rPr>
              <a:t>Additional Annual Revenue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47504" y="61447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</a:rPr>
              <a:t>71 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47504" y="636422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A5B2"/>
                </a:solidFill>
              </a:rPr>
              <a:t>Clear Payback Timeline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902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Lead Generation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4392" y="16459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A7"/>
                </a:solidFill>
              </a:rPr>
              <a:t>FALCON  |  Waheb Telecom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9A5B2"/>
                </a:solidFill>
              </a:rPr>
              <a:t>FALCON converts satellite imagery into a ranked pipeline of sales-ready 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A5B2"/>
                </a:solidFill>
              </a:rPr>
              <a:t>FALCON  ·  AI-Powered FTTH Expansion Intelligence  ·  Waheb Telecom  ·  Muscat, Oman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31752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C9A7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11731752" cy="621792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Priority Score  =  40% × Vehicle Density   +   35% × Coverage Gap   +   25% × 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856231"/>
            <a:ext cx="388620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11095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185415"/>
            <a:ext cx="3703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FFF0"/>
                </a:solidFill>
              </a:rPr>
              <a:t>Score ≥ 68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359151"/>
            <a:ext cx="3886200" cy="1143000"/>
          </a:xfrm>
          <a:prstGeom prst="rect">
            <a:avLst/>
          </a:prstGeom>
          <a:solidFill>
            <a:srgbClr val="14263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432303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Al Seeb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761487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298094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0 competitor cabinets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20954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OMR 185K / 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566159"/>
            <a:ext cx="3886200" cy="1143000"/>
          </a:xfrm>
          <a:prstGeom prst="rect">
            <a:avLst/>
          </a:prstGeom>
          <a:solidFill>
            <a:srgbClr val="14263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639311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Al Amerat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3968495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4187951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0 competitor cabinets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416551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OMR 150K / yr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773167"/>
            <a:ext cx="3886200" cy="1143000"/>
          </a:xfrm>
          <a:prstGeom prst="rect">
            <a:avLst/>
          </a:prstGeom>
          <a:solidFill>
            <a:srgbClr val="14263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4846319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Bawshar North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" y="517550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5394959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Low RAMI presence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5623559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OMR 120K / yr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1856231"/>
            <a:ext cx="388620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6824" y="1911095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MEDIUM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6824" y="2185415"/>
            <a:ext cx="3703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D1B2A"/>
                </a:solidFill>
              </a:rPr>
              <a:t>Score 40–68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5384" y="2359151"/>
            <a:ext cx="3886200" cy="1143000"/>
          </a:xfrm>
          <a:prstGeom prst="rect">
            <a:avLst/>
          </a:prstGeom>
          <a:solidFill>
            <a:srgbClr val="2A2400"/>
          </a:solidFill>
          <a:ln w="127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2432303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Sidab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2761487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298094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4 RAMI cabinets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20954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OMR 31K / yr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15384" y="3566159"/>
            <a:ext cx="3886200" cy="1143000"/>
          </a:xfrm>
          <a:prstGeom prst="rect">
            <a:avLst/>
          </a:prstGeom>
          <a:solidFill>
            <a:srgbClr val="2A2400"/>
          </a:solidFill>
          <a:ln w="127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5112" y="3639311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Al Khuwair South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5112" y="3968495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4187951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Mixed competition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4416551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OMR 68K / yr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4" y="4773167"/>
            <a:ext cx="3886200" cy="1143000"/>
          </a:xfrm>
          <a:prstGeom prst="rect">
            <a:avLst/>
          </a:prstGeom>
          <a:solidFill>
            <a:srgbClr val="2A2400"/>
          </a:solidFill>
          <a:ln w="127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5112" y="4846319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Madinat Sultan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5112" y="517550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5112" y="5394959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Don coverage gap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623559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OMR 55K / yr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02168" y="1856231"/>
            <a:ext cx="3886200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3608" y="1911095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WATCH 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3608" y="2185415"/>
            <a:ext cx="3703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FFF0"/>
                </a:solidFill>
              </a:rPr>
              <a:t>Score &lt; 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02168" y="2359151"/>
            <a:ext cx="3886200" cy="1143000"/>
          </a:xfrm>
          <a:prstGeom prst="rect">
            <a:avLst/>
          </a:prstGeom>
          <a:solidFill>
            <a:srgbClr val="2A1800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1896" y="2432303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Ruwi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1896" y="2761487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1896" y="298094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RAMI dominant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1896" y="320954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Monitor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02168" y="3566159"/>
            <a:ext cx="3886200" cy="1143000"/>
          </a:xfrm>
          <a:prstGeom prst="rect">
            <a:avLst/>
          </a:prstGeom>
          <a:solidFill>
            <a:srgbClr val="2A1800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1896" y="3639311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Mutrah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1896" y="3968495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1896" y="4187951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Saturated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4416551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Defensive play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02168" y="4773167"/>
            <a:ext cx="3886200" cy="1143000"/>
          </a:xfrm>
          <a:prstGeom prst="rect">
            <a:avLst/>
          </a:prstGeom>
          <a:solidFill>
            <a:srgbClr val="2A1800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1896" y="4846319"/>
            <a:ext cx="3666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Wattayah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1896" y="5175503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 29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1896" y="5394959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9A5B2"/>
                </a:solidFill>
              </a:rPr>
              <a:t>RAMI + Don overlap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11896" y="5623559"/>
            <a:ext cx="3666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Low priority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080760"/>
            <a:ext cx="12188952" cy="484632"/>
          </a:xfrm>
          <a:prstGeom prst="rect">
            <a:avLst/>
          </a:prstGeom>
          <a:solidFill>
            <a:srgbClr val="00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6108192"/>
            <a:ext cx="116403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FALCON automatically refreshes scores when new aerial imagery is ingested  |  Sales team receives ranked lead list every 24 hours  |  Each lead includes revenue estimate + competitive risk rating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902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Campaign Optimisation &amp; 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4392" y="16459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A7"/>
                </a:solidFill>
              </a:rPr>
              <a:t>FALCON  |  Waheb Telecom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9A5B2"/>
                </a:solidFill>
              </a:rPr>
              <a:t>Data-driven playbook: from targeted acquisition to 18% market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A5B2"/>
                </a:solidFill>
              </a:rPr>
              <a:t>FALCON  ·  AI-Powered FTTH Expansion Intelligence  ·  Waheb Telecom  ·  Muscat, Oman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31752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C9A7"/>
                </a:solidFill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5303520" cy="4937760"/>
          </a:xfrm>
          <a:prstGeom prst="rect">
            <a:avLst/>
          </a:prstGeom>
          <a:solidFill>
            <a:srgbClr val="14263D"/>
          </a:solidFill>
          <a:ln w="1270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Campaign Optimisation Playbook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27632"/>
            <a:ext cx="11457432" cy="9525"/>
          </a:xfrm>
          <a:prstGeom prst="rect">
            <a:avLst/>
          </a:prstGeom>
          <a:solidFill>
            <a:srgbClr val="00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37360"/>
            <a:ext cx="201168" cy="8229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755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9A7"/>
                </a:solidFill>
              </a:rPr>
              <a:t>HYPER-LOCAL TARGETING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9933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Serve digital ads only within High-Priority zone
boundaries detected by FALCON — eliminate 60% of
wasted impressions outside addressable homes.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16352"/>
            <a:ext cx="201168" cy="8229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D7E14"/>
                </a:solidFill>
              </a:rPr>
              <a:t>COMPETITIVE DISPLACEMENT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72384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When FALCON detects RAMI / Don cabinet deployment,
trigger 48-hour counter-campaign in adjacent blocks.
Respond before competitor locks-in subscribers.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95344"/>
            <a:ext cx="201168" cy="8229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13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300"/>
                </a:solidFill>
              </a:rPr>
              <a:t>LIFECYCLE UPSELL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15137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K-Means cluster segments (Premium / Mid / Value)
drive personalised bundle offers — 5G + FTTH cross-sell
boosts ARPU from OMR 5.50 to OMR 8.20 target.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74336"/>
            <a:ext cx="201168" cy="82296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9926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6EB5"/>
                </a:solidFill>
              </a:rPr>
              <a:t>CHURN FIREWALL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3036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Demand-score drop alerts signal risk zones; proactivly
deploy retention offers before subscribers switch to
RAMI or Don — projected churn reduction: 18%.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1115568"/>
            <a:ext cx="6172200" cy="4937760"/>
          </a:xfrm>
          <a:prstGeom prst="rect">
            <a:avLst/>
          </a:prstGeom>
          <a:solidFill>
            <a:srgbClr val="14263D"/>
          </a:solidFill>
          <a:ln w="12700">
            <a:solidFill>
              <a:srgbClr val="009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20700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12-Month Growth Roadmap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1627632"/>
            <a:ext cx="11457432" cy="9525"/>
          </a:xfrm>
          <a:prstGeom prst="rect">
            <a:avLst/>
          </a:prstGeom>
          <a:solidFill>
            <a:srgbClr val="00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0" y="1828800"/>
            <a:ext cx="822960" cy="320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1837944"/>
            <a:ext cx="804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 1–2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1792224"/>
            <a:ext cx="4983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Deploy 30 cabinets in Al Seeb &amp; Al Amerat.
Launch hyper-local digital acquisition campaigns.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2157984"/>
            <a:ext cx="38100" cy="38404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2633472"/>
            <a:ext cx="822960" cy="32004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2642616"/>
            <a:ext cx="804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 3–4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2596896"/>
            <a:ext cx="4983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FALCON re-scores all 15 zones with fresh data.
Trigger competitor-displacement campaigns in Sidab.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962656"/>
            <a:ext cx="38100" cy="384048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438144"/>
            <a:ext cx="822960" cy="3200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0448" y="3447288"/>
            <a:ext cx="804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 5–6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3401568"/>
            <a:ext cx="4983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K-Means upsell bundles live for 11,760 new subs.
Revenue run-rate reaches OMR 64,680 / month.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3767328"/>
            <a:ext cx="38100" cy="38404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2160" y="4242816"/>
            <a:ext cx="822960" cy="3200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0448" y="4251960"/>
            <a:ext cx="804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 7–9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206240"/>
            <a:ext cx="4983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Share target 14% — churn firewall active.
Add 10 more cabinets in Medium-Priority zones.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4572000"/>
            <a:ext cx="3810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5047488"/>
            <a:ext cx="82296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70448" y="5056632"/>
            <a:ext cx="804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 10–12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5010912"/>
            <a:ext cx="49834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F6F9"/>
                </a:solidFill>
              </a:rPr>
              <a:t>18% market share achieved  (+8 pts from today).
Annual incremental revenue: OMR 776,160.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44768"/>
            <a:ext cx="121889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81344"/>
            <a:ext cx="11640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Ready to act?  →  Run FALCON today:  python scripts/build_demo.py   |   Dashboard: localhost:8501   |   API: 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